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8: the summit of Unit 3. Twin of the Influencing Positively assignments.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Objectives map to the Chapter 8 bank.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16's visibility test governs the whole chapter.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Aristotle's kit, 23 centuries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stage must earn its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product, different discipline. Full autopsy in the study guide.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Liking is the sixth: rapport built before the pitch is groundwork; during, garnish.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large improbability becomes a sequence of small probabilities.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dilution effect: audiences average arguments rather than add them. Best three, always.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substance beats sizzle at business timescales.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internal proposal — the persuasive genre you'll write most.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Concreteness makes one donor's marginal effect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Honest authority-invoking: state the constraint, take no shelter behind it, own the easy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4: applied persuasion inside the organization — where most persuasive writing actually happens.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complete-ask standard from Chapter 6 plus the persuasive layer: reduced friction, honest scoping, specific ethos.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commitment ladder applied to careers. The criteria-setting ask is the underused move: it converts a possible no into a co-authored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Lateral persuasion is the purest test of the chapter. The timesheet case later runs this exact play.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hedging opener reads as considerate to the writer and as dread to the reader. The rewrite: findable ask, true ethos, transferred effort, dated 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5: outbound sales writing. Colder audience, higher volume, zero patience — the pipeline under maximum compression.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from the pipeline, compressed to inbox physics. The research-shown-in-sentence-one move is what separates outreach from spam.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P.S. research is old direct-mail wisdom that survives in email: it's prime real estate on the F-pattern's final fixation. One proof point beats five — the dilution effect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CTA craft is Chapter 6's dated-ask rule under conversion pressure. The either/or scheduling question is the classic friction-remover.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discipline: finish every feature sentence with 'which means you…' and then delete everything before 'you.' Features are evidence FOR outcomes, not substitutes for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Composite of the chapter's whole toolkit at minimum length. The 'what was deleted' framing teaches the dilution effect as a drafting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6: objection handling. Two-sided argument, systematized.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pre-mortem for persuasion. The three-pile sort keeps the message lean (dilution!) while ensuring the lethal objection gets daylight.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objection has a characteristic honest answer and a characteristic manipulative one. Price: reframe, don't hide fees. Risk: reduce, don't dismiss. Timing: real deadlines only. Status quo: respect, then arithmetic.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invisible-spend framing is the single most useful move in internal proposals: it converts 'new cost' into 'existing cost, finally on the books.'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Risk reversal is where the seller eats the uncertainty instead of arguing it away — the structural version of two-sided honesty.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7: framing effects. Powerful, well-replicated, and ethically double-edged — taught with the guardrails attached.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Loss aversion is among the most replicated effects in behavioral science. Both frames describe identical facts — which is exactly why framing carries an ethics load: choose the frame that helps the reader see accurately, not the one that scares best.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Anchoring works whether or not it's fair — which is the point of teaching the guardrail alongside. The problem-cost anchor is both the most effective and the most defensible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Choice architecture in one slide. The exit-friction call-out matters: students will recognize dark patterns from their own subscriptions, which makes the ethical line vivid.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8: executive persuasion — the highest-stakes, lowest-word-count version of everything so far.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proposal skeleton at executive compression. 'What happens if we don't' is the question that kills more proposals than any objection — because nobody wrote the answer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Reframing from 'pitch' to 'answer' lowers the performance anxiety and raises the quality: it's a prepared response to a predictable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Pre-wiring is standard senior practice that nobody teaches juniors. The reframe in the last bullet matters: students often read it as manipulation until they see it's just... listening, scheduled 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commitment ladder as a case: shrink the ask, co-design the evidence, let the skeptic own the win. 'Agreed metrics in advance' is the move that makes pilot results unarguable.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Persuasion includes losing well: it's a repeated game, and the person who takes a no professionally is the person whose next pitch gets a fair hearing.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chapter's closing audit, formalized — reversal test, visibility test, truth test, overlap test. Every technique in the deck passes or fails HERE, not in its conversion 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Recap. Unit 3 complete.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frame.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Async-ready.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Delivery-neutral closing. Unit 3 complete.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Persuasive Messages"/>
          <p:cNvSpPr>
            <a:spLocks noGrp="1"/>
          </p:cNvSpPr>
          <p:nvPr>
            <p:ph type="title"/>
          </p:nvPr>
        </p:nvSpPr>
        <p:spPr>
          <a:xfrm>
            <a:off x="822960" y="1920240"/>
            <a:ext cx="10515600" cy="1737360"/>
          </a:xfrm>
        </p:spPr>
        <p:txBody>
          <a:bodyPr wrap="square"/>
          <a:lstStyle/>
          <a:p>
            <a:pPr algn="l"/>
            <a:r>
              <a:rPr sz="4800" b="1">
                <a:solidFill>
                  <a:srgbClr val="FFFFFF"/>
                </a:solidFill>
                <a:latin typeface="Cambria"/>
              </a:rPr>
              <a:t>Persuasive Messages</a:t>
            </a:r>
          </a:p>
        </p:txBody>
      </p:sp>
      <p:sp>
        <p:nvSpPr>
          <p:cNvPr id="3" name="TextBox 2" descr="Course label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BFD8C6"/>
                </a:solidFill>
                <a:latin typeface="Calibri"/>
              </a:rPr>
              <a:t>BADM 225 · PROFESSIONAL COMMUNICATION FOR BUSINESS</a:t>
            </a:r>
          </a:p>
        </p:txBody>
      </p:sp>
      <p:sp>
        <p:nvSpPr>
          <p:cNvPr id="4" name="TextBox 3" descr="Subtitle"/>
          <p:cNvSpPr txBox="1"/>
          <p:nvPr/>
        </p:nvSpPr>
        <p:spPr>
          <a:xfrm>
            <a:off x="82296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EAF1EB"/>
                </a:solidFill>
                <a:latin typeface="Calibri"/>
              </a:rPr>
              <a:t>Moving readers who could say no toward yes — structure, evidence, and influence that survives scrutiny</a:t>
            </a:r>
          </a:p>
        </p:txBody>
      </p:sp>
      <p:sp>
        <p:nvSpPr>
          <p:cNvPr id="5" name="TextBox 4" descr="Attribution"/>
          <p:cNvSpPr txBox="1"/>
          <p:nvPr/>
        </p:nvSpPr>
        <p:spPr>
          <a:xfrm>
            <a:off x="822960" y="5852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A8C4B2"/>
                </a:solidFill>
                <a:latin typeface="Calibri"/>
              </a:rPr>
              <a:t>BADM 225 · Chapter 8  ·  Original material © 2026 Derek D. Bussan, PhD, MBA  ·  No publisher content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What you'll be able to do after this chapter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What you'll be able to do after this chapter</a:t>
            </a:r>
          </a:p>
        </p:txBody>
      </p:sp>
      <p:sp>
        <p:nvSpPr>
          <p:cNvPr id="3" name="TextBox 2" descr="Footer: BADM 225 · Chapter 8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8  ·  © Derek D. Bussan</a:t>
            </a:r>
          </a:p>
        </p:txBody>
      </p:sp>
      <p:sp>
        <p:nvSpPr>
          <p:cNvPr id="4" name="TextBox 3" descr="Slide number 2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Run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AIDA pipeline: reader-owned attention, accurate interest, evidence-built desire, one calibrated action.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Balance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triangle — ethos, pathos, logos — and diagnose which leg your pitches lack.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Argue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two-sided: concede and rebut the strongest real objection.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Climb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commitment ladder: pilots before rollouts, demos before contracts.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Keep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every lever ethical: true claims, real overlap, the visibility test.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What persuasion is (and is not)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What persuasion is (and is not)</a:t>
            </a:r>
          </a:p>
        </p:txBody>
      </p:sp>
      <p:sp>
        <p:nvSpPr>
          <p:cNvPr id="3" name="TextBox 2" descr="Footer: BADM 225 · Chapter 8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8  ·  © Derek D. Bussan</a:t>
            </a:r>
          </a:p>
        </p:txBody>
      </p:sp>
      <p:sp>
        <p:nvSpPr>
          <p:cNvPr id="4" name="TextBox 3" descr="Slide number 3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defining condition: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reader is FREE to refuse. You are earning a decision, not announcing one.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Consequence one: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reader's interests are the only fuel — the you-view becomes the engine.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Consequence two: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ethics stay load-bearing. True claims and real overlap survive scrutiny; everything else is manipulation on a timer.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test for every technique here: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would the reader, seeing it named, still feel respected?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appeals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The appeals</a:t>
            </a:r>
          </a:p>
        </p:txBody>
      </p:sp>
      <p:sp>
        <p:nvSpPr>
          <p:cNvPr id="3" name="TextBox 2" descr="Section number 01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01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Ethos, pathos, logos — the weakest leg fails first.</a:t>
            </a:r>
          </a:p>
        </p:txBody>
      </p:sp>
      <p:sp>
        <p:nvSpPr>
          <p:cNvPr id="5" name="TextBox 4" descr="Footer: BADM 225 · Chapter 8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8  ·  © Derek D. Bussan</a:t>
            </a:r>
          </a:p>
        </p:txBody>
      </p:sp>
      <p:sp>
        <p:nvSpPr>
          <p:cNvPr id="6" name="TextBox 5" descr="Slide number 4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Diagnosing with the triangle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Diagnosing with the triangle</a:t>
            </a:r>
          </a:p>
        </p:txBody>
      </p:sp>
      <p:sp>
        <p:nvSpPr>
          <p:cNvPr id="3" name="TextBox 2" descr="Footer: BADM 225 · Chapter 8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8  ·  © Derek D. Bussan</a:t>
            </a:r>
          </a:p>
        </p:txBody>
      </p:sp>
      <p:sp>
        <p:nvSpPr>
          <p:cNvPr id="4" name="TextBox 3" descr="Slide number 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5</a:t>
            </a:r>
          </a:p>
        </p:txBody>
      </p:sp>
      <p:sp>
        <p:nvSpPr>
          <p:cNvPr id="5" name="Oval 4" descr="Logos — the evidence architecture icon"/>
          <p:cNvSpPr/>
          <p:nvPr/>
        </p:nvSpPr>
        <p:spPr>
          <a:xfrm>
            <a:off x="640080" y="165506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🏛</a:t>
            </a:r>
          </a:p>
        </p:txBody>
      </p:sp>
      <p:sp>
        <p:nvSpPr>
          <p:cNvPr id="6" name="TextBox 5" descr="Logos — the evidence architecture"/>
          <p:cNvSpPr txBox="1"/>
          <p:nvPr/>
        </p:nvSpPr>
        <p:spPr>
          <a:xfrm>
            <a:off x="1417320" y="160020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Logos — the evidence architecture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Numbers, pilots, comparisons. Executives fund arithmetic.</a:t>
            </a:r>
          </a:p>
        </p:txBody>
      </p:sp>
      <p:sp>
        <p:nvSpPr>
          <p:cNvPr id="7" name="Oval 6" descr="Pathos — stakes, not tears icon"/>
          <p:cNvSpPr/>
          <p:nvPr/>
        </p:nvSpPr>
        <p:spPr>
          <a:xfrm>
            <a:off x="640080" y="284378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♥</a:t>
            </a:r>
          </a:p>
        </p:txBody>
      </p:sp>
      <p:sp>
        <p:nvSpPr>
          <p:cNvPr id="8" name="TextBox 7" descr="Pathos — stakes, not tears"/>
          <p:cNvSpPr txBox="1"/>
          <p:nvPr/>
        </p:nvSpPr>
        <p:spPr>
          <a:xfrm>
            <a:off x="1417320" y="278892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Pathos — stakes, not tears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Connection to what they already value: security, pride, fairness, time.</a:t>
            </a:r>
          </a:p>
        </p:txBody>
      </p:sp>
      <p:sp>
        <p:nvSpPr>
          <p:cNvPr id="9" name="Oval 8" descr="Ethos — permission to be believed icon"/>
          <p:cNvSpPr/>
          <p:nvPr/>
        </p:nvSpPr>
        <p:spPr>
          <a:xfrm>
            <a:off x="640080" y="403250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 descr="Ethos — permission to be believed"/>
          <p:cNvSpPr txBox="1"/>
          <p:nvPr/>
        </p:nvSpPr>
        <p:spPr>
          <a:xfrm>
            <a:off x="1417320" y="397764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Ethos — permission to be believed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Track record, demonstrated grasp of their world — and visible fairness in naming costs.</a:t>
            </a:r>
          </a:p>
        </p:txBody>
      </p:sp>
      <p:sp>
        <p:nvSpPr>
          <p:cNvPr id="11" name="Oval 10" descr="The diagnosis icon"/>
          <p:cNvSpPr/>
          <p:nvPr/>
        </p:nvSpPr>
        <p:spPr>
          <a:xfrm>
            <a:off x="640080" y="522122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⚖</a:t>
            </a:r>
          </a:p>
        </p:txBody>
      </p:sp>
      <p:sp>
        <p:nvSpPr>
          <p:cNvPr id="12" name="TextBox 11" descr="The diagnosis"/>
          <p:cNvSpPr txBox="1"/>
          <p:nvPr/>
        </p:nvSpPr>
        <p:spPr>
          <a:xfrm>
            <a:off x="1417320" y="516636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The diagnosis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Brilliant logic that died lacked ethos. The beloved presenter who went nowhere skipped logos.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pipeline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The pipeline</a:t>
            </a:r>
          </a:p>
        </p:txBody>
      </p:sp>
      <p:sp>
        <p:nvSpPr>
          <p:cNvPr id="3" name="TextBox 2" descr="Section number 02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02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AIDA: a sequence, not a paint-by-numbers.</a:t>
            </a:r>
          </a:p>
        </p:txBody>
      </p:sp>
      <p:sp>
        <p:nvSpPr>
          <p:cNvPr id="5" name="TextBox 4" descr="Footer: BADM 225 · Chapter 8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8  ·  © Derek D. Bussan</a:t>
            </a:r>
          </a:p>
        </p:txBody>
      </p:sp>
      <p:sp>
        <p:nvSpPr>
          <p:cNvPr id="6" name="TextBox 5" descr="Slide number 6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Attention → Interest → Desire → Action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Attention → Interest → Desire → Action</a:t>
            </a:r>
          </a:p>
        </p:txBody>
      </p:sp>
      <p:sp>
        <p:nvSpPr>
          <p:cNvPr id="3" name="TextBox 2" descr="Footer: BADM 225 · Chapter 8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8  ·  © Derek D. Bussan</a:t>
            </a:r>
          </a:p>
        </p:txBody>
      </p:sp>
      <p:sp>
        <p:nvSpPr>
          <p:cNvPr id="4" name="TextBox 3" descr="Slide number 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7</a:t>
            </a:r>
          </a:p>
        </p:txBody>
      </p:sp>
      <p:sp>
        <p:nvSpPr>
          <p:cNvPr id="5" name="Chevron 4" descr="Step 1: ATTENTION"/>
          <p:cNvSpPr/>
          <p:nvPr/>
        </p:nvSpPr>
        <p:spPr>
          <a:xfrm>
            <a:off x="548640" y="1828800"/>
            <a:ext cx="2706624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ATTENTION</a:t>
            </a:r>
          </a:p>
        </p:txBody>
      </p:sp>
      <p:sp>
        <p:nvSpPr>
          <p:cNvPr id="6" name="TextBox 5" descr="ATTENTION detail"/>
          <p:cNvSpPr txBox="1"/>
          <p:nvPr/>
        </p:nvSpPr>
        <p:spPr>
          <a:xfrm>
            <a:off x="548640" y="3154680"/>
            <a:ext cx="27066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The READER'S problem, quantified. Never “we are pleased to introduce…”</a:t>
            </a:r>
          </a:p>
        </p:txBody>
      </p:sp>
      <p:sp>
        <p:nvSpPr>
          <p:cNvPr id="7" name="Chevron 6" descr="Step 2: INTEREST"/>
          <p:cNvSpPr/>
          <p:nvPr/>
        </p:nvSpPr>
        <p:spPr>
          <a:xfrm>
            <a:off x="3364992" y="1828800"/>
            <a:ext cx="2706624" cy="1143000"/>
          </a:xfrm>
          <a:prstGeom prst="chevron">
            <a:avLst/>
          </a:prstGeom>
          <a:solidFill>
            <a:srgbClr val="5C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INTEREST</a:t>
            </a:r>
          </a:p>
        </p:txBody>
      </p:sp>
      <p:sp>
        <p:nvSpPr>
          <p:cNvPr id="8" name="TextBox 7" descr="INTEREST detail"/>
          <p:cNvSpPr txBox="1"/>
          <p:nvPr/>
        </p:nvSpPr>
        <p:spPr>
          <a:xfrm>
            <a:off x="3364992" y="3154680"/>
            <a:ext cx="27066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Their situation, named accurately — readers lean in when understood.</a:t>
            </a:r>
          </a:p>
        </p:txBody>
      </p:sp>
      <p:sp>
        <p:nvSpPr>
          <p:cNvPr id="9" name="Chevron 8" descr="Step 3: DESIRE"/>
          <p:cNvSpPr/>
          <p:nvPr/>
        </p:nvSpPr>
        <p:spPr>
          <a:xfrm>
            <a:off x="6181344" y="1828800"/>
            <a:ext cx="2706624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DESIRE</a:t>
            </a:r>
          </a:p>
        </p:txBody>
      </p:sp>
      <p:sp>
        <p:nvSpPr>
          <p:cNvPr id="10" name="TextBox 9" descr="DESIRE detail"/>
          <p:cNvSpPr txBox="1"/>
          <p:nvPr/>
        </p:nvSpPr>
        <p:spPr>
          <a:xfrm>
            <a:off x="6181344" y="3154680"/>
            <a:ext cx="27066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The evidence layer: numbers, social proof, the objection answered.</a:t>
            </a:r>
          </a:p>
        </p:txBody>
      </p:sp>
      <p:sp>
        <p:nvSpPr>
          <p:cNvPr id="11" name="Chevron 10" descr="Step 4: ACTION"/>
          <p:cNvSpPr/>
          <p:nvPr/>
        </p:nvSpPr>
        <p:spPr>
          <a:xfrm>
            <a:off x="8997696" y="1828800"/>
            <a:ext cx="2706624" cy="1143000"/>
          </a:xfrm>
          <a:prstGeom prst="chevron">
            <a:avLst/>
          </a:prstGeom>
          <a:solidFill>
            <a:srgbClr val="5C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ACTION</a:t>
            </a:r>
          </a:p>
        </p:txBody>
      </p:sp>
      <p:sp>
        <p:nvSpPr>
          <p:cNvPr id="12" name="TextBox 11" descr="ACTION detail"/>
          <p:cNvSpPr txBox="1"/>
          <p:nvPr/>
        </p:nvSpPr>
        <p:spPr>
          <a:xfrm>
            <a:off x="8997696" y="3154680"/>
            <a:ext cx="27066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One small, specific, dated ask. Yes, made easy.</a:t>
            </a:r>
          </a:p>
        </p:txBody>
      </p:sp>
      <p:sp>
        <p:nvSpPr>
          <p:cNvPr id="13" name="Rounded Rectangle 12" descr="Key insight"/>
          <p:cNvSpPr/>
          <p:nvPr/>
        </p:nvSpPr>
        <p:spPr>
          <a:xfrm>
            <a:off x="548640" y="4892040"/>
            <a:ext cx="11064240" cy="123444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E4D33"/>
                </a:solidFill>
                <a:latin typeface="Calibri"/>
              </a:rPr>
              <a:t>Key insight: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Four sentences or four pages — scale is stakes; sequence is structure. (Monroe's Motivated Sequence is the spoken sibling.)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same pitch, before and after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same pitch, before and after</a:t>
            </a:r>
          </a:p>
        </p:txBody>
      </p:sp>
      <p:sp>
        <p:nvSpPr>
          <p:cNvPr id="3" name="TextBox 2" descr="Footer: BADM 225 · Chapter 8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8  ·  © Derek D. Bussan</a:t>
            </a:r>
          </a:p>
        </p:txBody>
      </p:sp>
      <p:sp>
        <p:nvSpPr>
          <p:cNvPr id="4" name="TextBox 3" descr="Slide number 8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8</a:t>
            </a:r>
          </a:p>
        </p:txBody>
      </p:sp>
      <p:sp>
        <p:nvSpPr>
          <p:cNvPr id="5" name="Rounded Rectangle 4" descr="Before (vendor-view) panel"/>
          <p:cNvSpPr/>
          <p:nvPr/>
        </p:nvSpPr>
        <p:spPr>
          <a:xfrm>
            <a:off x="548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Before (vendor-view)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“Our company is a leading provider of innovative sample management solutions…”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“…barcode integration, customizable workflows, cloud backup, and much more!”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“We would love to schedule a demonstration!”</a:t>
            </a:r>
          </a:p>
        </p:txBody>
      </p:sp>
      <p:sp>
        <p:nvSpPr>
          <p:cNvPr id="6" name="Rounded Rectangle 5" descr="After (reader-owned) panel"/>
          <p:cNvSpPr/>
          <p:nvPr/>
        </p:nvSpPr>
        <p:spPr>
          <a:xfrm>
            <a:off x="6263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After (reader-owned)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“Your techs re-enter every sample twice — ~400 duplicate entries a week, your top audit risk.”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“In a 90-day pilot at a lab your size: entry time −41%, transcription findings zero. $6,800/yr against ~30 tech-hours/month burned now.”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“The two labs in your network using it will take your call. 30-minute demo Thursday, before Q4 audit prep?”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evidence layer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The evidence layer</a:t>
            </a:r>
          </a:p>
        </p:txBody>
      </p:sp>
      <p:sp>
        <p:nvSpPr>
          <p:cNvPr id="3" name="TextBox 2" descr="Section number 03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03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Where desire is actually built — and where ethics live.</a:t>
            </a:r>
          </a:p>
        </p:txBody>
      </p:sp>
      <p:sp>
        <p:nvSpPr>
          <p:cNvPr id="5" name="TextBox 4" descr="Footer: BADM 225 · Chapter 8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8  ·  © Derek D. Bussan</a:t>
            </a:r>
          </a:p>
        </p:txBody>
      </p:sp>
      <p:sp>
        <p:nvSpPr>
          <p:cNvPr id="6" name="TextBox 5" descr="Slide number 9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Cialdini's six levers — ethical exactly when true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Cialdini's six levers — ethical exactly when true</a:t>
            </a:r>
          </a:p>
        </p:txBody>
      </p:sp>
      <p:sp>
        <p:nvSpPr>
          <p:cNvPr id="3" name="TextBox 2" descr="Footer: BADM 225 · Chapter 8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8  ·  © Derek D. Bussan</a:t>
            </a:r>
          </a:p>
        </p:txBody>
      </p:sp>
      <p:sp>
        <p:nvSpPr>
          <p:cNvPr id="4" name="TextBox 3" descr="Slide number 10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10</a:t>
            </a:r>
          </a:p>
        </p:txBody>
      </p:sp>
      <p:sp>
        <p:nvSpPr>
          <p:cNvPr id="5" name="Oval 4" descr="Reciprocity icon"/>
          <p:cNvSpPr/>
          <p:nvPr/>
        </p:nvSpPr>
        <p:spPr>
          <a:xfrm>
            <a:off x="640080" y="165506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⇄</a:t>
            </a:r>
          </a:p>
        </p:txBody>
      </p:sp>
      <p:sp>
        <p:nvSpPr>
          <p:cNvPr id="6" name="TextBox 5" descr="Reciprocity"/>
          <p:cNvSpPr txBox="1"/>
          <p:nvPr/>
        </p:nvSpPr>
        <p:spPr>
          <a:xfrm>
            <a:off x="1417320" y="160020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Reciprocity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The favor precedes the ask — attach the free analysis, then request the meeting.</a:t>
            </a:r>
          </a:p>
        </p:txBody>
      </p:sp>
      <p:sp>
        <p:nvSpPr>
          <p:cNvPr id="7" name="Oval 6" descr="Consistency icon"/>
          <p:cNvSpPr/>
          <p:nvPr/>
        </p:nvSpPr>
        <p:spPr>
          <a:xfrm>
            <a:off x="640080" y="2679192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🪜</a:t>
            </a:r>
          </a:p>
        </p:txBody>
      </p:sp>
      <p:sp>
        <p:nvSpPr>
          <p:cNvPr id="8" name="TextBox 7" descr="Consistency"/>
          <p:cNvSpPr txBox="1"/>
          <p:nvPr/>
        </p:nvSpPr>
        <p:spPr>
          <a:xfrm>
            <a:off x="1417320" y="2624328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Consistency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Small yeses grow: pilots before rollouts. (The ladder, next slide.)</a:t>
            </a:r>
          </a:p>
        </p:txBody>
      </p:sp>
      <p:sp>
        <p:nvSpPr>
          <p:cNvPr id="9" name="Oval 8" descr="Social proof icon"/>
          <p:cNvSpPr/>
          <p:nvPr/>
        </p:nvSpPr>
        <p:spPr>
          <a:xfrm>
            <a:off x="640080" y="3703320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👥</a:t>
            </a:r>
          </a:p>
        </p:txBody>
      </p:sp>
      <p:sp>
        <p:nvSpPr>
          <p:cNvPr id="10" name="TextBox 9" descr="Social proof"/>
          <p:cNvSpPr txBox="1"/>
          <p:nvPr/>
        </p:nvSpPr>
        <p:spPr>
          <a:xfrm>
            <a:off x="1417320" y="3648456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Social proof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“4 of 5 regional labs switched” moves risk-averse readers more than adjectives.</a:t>
            </a:r>
          </a:p>
        </p:txBody>
      </p:sp>
      <p:sp>
        <p:nvSpPr>
          <p:cNvPr id="11" name="Oval 10" descr="Authority icon"/>
          <p:cNvSpPr/>
          <p:nvPr/>
        </p:nvSpPr>
        <p:spPr>
          <a:xfrm>
            <a:off x="640080" y="4727448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📜</a:t>
            </a:r>
          </a:p>
        </p:txBody>
      </p:sp>
      <p:sp>
        <p:nvSpPr>
          <p:cNvPr id="12" name="TextBox 11" descr="Authority"/>
          <p:cNvSpPr txBox="1"/>
          <p:nvPr/>
        </p:nvSpPr>
        <p:spPr>
          <a:xfrm>
            <a:off x="1417320" y="4672584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Authority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Cite the credential, the dataset, the named expert.</a:t>
            </a:r>
          </a:p>
        </p:txBody>
      </p:sp>
      <p:sp>
        <p:nvSpPr>
          <p:cNvPr id="13" name="Oval 12" descr="Scarcity icon"/>
          <p:cNvSpPr/>
          <p:nvPr/>
        </p:nvSpPr>
        <p:spPr>
          <a:xfrm>
            <a:off x="640080" y="5751576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⏳</a:t>
            </a:r>
          </a:p>
        </p:txBody>
      </p:sp>
      <p:sp>
        <p:nvSpPr>
          <p:cNvPr id="14" name="TextBox 13" descr="Scarcity"/>
          <p:cNvSpPr txBox="1"/>
          <p:nvPr/>
        </p:nvSpPr>
        <p:spPr>
          <a:xfrm>
            <a:off x="1417320" y="5696712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Scarcity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REAL deadlines move decisions. Invented ones detonate ethos on discovery — and discovery is certain.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commitment ladder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commitment ladder</a:t>
            </a:r>
          </a:p>
        </p:txBody>
      </p:sp>
      <p:sp>
        <p:nvSpPr>
          <p:cNvPr id="3" name="TextBox 2" descr="Footer: BADM 225 · Chapter 8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8  ·  © Derek D. Bussan</a:t>
            </a:r>
          </a:p>
        </p:txBody>
      </p:sp>
      <p:sp>
        <p:nvSpPr>
          <p:cNvPr id="4" name="TextBox 3" descr="Slide number 11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11</a:t>
            </a:r>
          </a:p>
        </p:txBody>
      </p:sp>
      <p:sp>
        <p:nvSpPr>
          <p:cNvPr id="5" name="Chevron 4" descr="Step 1: “Read the one-pager?”"/>
          <p:cNvSpPr/>
          <p:nvPr/>
        </p:nvSpPr>
        <p:spPr>
          <a:xfrm>
            <a:off x="548640" y="1828800"/>
            <a:ext cx="2706624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“Read the one-pager?”</a:t>
            </a:r>
          </a:p>
        </p:txBody>
      </p:sp>
      <p:sp>
        <p:nvSpPr>
          <p:cNvPr id="6" name="TextBox 5" descr="“Read the one-pager?” detail"/>
          <p:cNvSpPr txBox="1"/>
          <p:nvPr/>
        </p:nvSpPr>
        <p:spPr>
          <a:xfrm>
            <a:off x="548640" y="3154680"/>
            <a:ext cx="27066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30 seconds of yes</a:t>
            </a:r>
          </a:p>
        </p:txBody>
      </p:sp>
      <p:sp>
        <p:nvSpPr>
          <p:cNvPr id="7" name="Chevron 6" descr="Step 2: “Join the 20-min demo?”"/>
          <p:cNvSpPr/>
          <p:nvPr/>
        </p:nvSpPr>
        <p:spPr>
          <a:xfrm>
            <a:off x="3364992" y="1828800"/>
            <a:ext cx="2706624" cy="1143000"/>
          </a:xfrm>
          <a:prstGeom prst="chevron">
            <a:avLst/>
          </a:prstGeom>
          <a:solidFill>
            <a:srgbClr val="5C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“Join the 20-min demo?”</a:t>
            </a:r>
          </a:p>
        </p:txBody>
      </p:sp>
      <p:sp>
        <p:nvSpPr>
          <p:cNvPr id="8" name="TextBox 7" descr="“Join the 20-min demo?” detail"/>
          <p:cNvSpPr txBox="1"/>
          <p:nvPr/>
        </p:nvSpPr>
        <p:spPr>
          <a:xfrm>
            <a:off x="3364992" y="3154680"/>
            <a:ext cx="27066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Low-stakes second yes</a:t>
            </a:r>
          </a:p>
        </p:txBody>
      </p:sp>
      <p:sp>
        <p:nvSpPr>
          <p:cNvPr id="9" name="Chevron 8" descr="Step 3: “Run a 2-week pilot?”"/>
          <p:cNvSpPr/>
          <p:nvPr/>
        </p:nvSpPr>
        <p:spPr>
          <a:xfrm>
            <a:off x="6181344" y="1828800"/>
            <a:ext cx="2706624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“Run a 2-week pilot?”</a:t>
            </a:r>
          </a:p>
        </p:txBody>
      </p:sp>
      <p:sp>
        <p:nvSpPr>
          <p:cNvPr id="10" name="TextBox 9" descr="“Run a 2-week pilot?” detail"/>
          <p:cNvSpPr txBox="1"/>
          <p:nvPr/>
        </p:nvSpPr>
        <p:spPr>
          <a:xfrm>
            <a:off x="6181344" y="3154680"/>
            <a:ext cx="27066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Evidence generated together</a:t>
            </a:r>
          </a:p>
        </p:txBody>
      </p:sp>
      <p:sp>
        <p:nvSpPr>
          <p:cNvPr id="11" name="Chevron 10" descr="Step 4: “Adopt team-wide”"/>
          <p:cNvSpPr/>
          <p:nvPr/>
        </p:nvSpPr>
        <p:spPr>
          <a:xfrm>
            <a:off x="8997696" y="1828800"/>
            <a:ext cx="2706624" cy="1143000"/>
          </a:xfrm>
          <a:prstGeom prst="chevron">
            <a:avLst/>
          </a:prstGeom>
          <a:solidFill>
            <a:srgbClr val="5C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“Adopt team-wide”</a:t>
            </a:r>
          </a:p>
        </p:txBody>
      </p:sp>
      <p:sp>
        <p:nvSpPr>
          <p:cNvPr id="12" name="TextBox 11" descr="“Adopt team-wide” detail"/>
          <p:cNvSpPr txBox="1"/>
          <p:nvPr/>
        </p:nvSpPr>
        <p:spPr>
          <a:xfrm>
            <a:off x="8997696" y="3154680"/>
            <a:ext cx="27066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Now consistent with three prior yeses</a:t>
            </a:r>
          </a:p>
        </p:txBody>
      </p:sp>
      <p:sp>
        <p:nvSpPr>
          <p:cNvPr id="13" name="Rounded Rectangle 12" descr="Key insight"/>
          <p:cNvSpPr/>
          <p:nvPr/>
        </p:nvSpPr>
        <p:spPr>
          <a:xfrm>
            <a:off x="548640" y="4892040"/>
            <a:ext cx="11064240" cy="123444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E4D33"/>
                </a:solidFill>
                <a:latin typeface="Calibri"/>
              </a:rPr>
              <a:t>Key insight: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The most common persuasive error: asking for marriage on the first date. Calibrate the first rung to the audience — smallest for skeptics.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wo-sided beats one-sided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Two-sided beats one-sided</a:t>
            </a:r>
          </a:p>
        </p:txBody>
      </p:sp>
      <p:sp>
        <p:nvSpPr>
          <p:cNvPr id="3" name="TextBox 2" descr="Footer: BADM 225 · Chapter 8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8  ·  © Derek D. Bussan</a:t>
            </a:r>
          </a:p>
        </p:txBody>
      </p:sp>
      <p:sp>
        <p:nvSpPr>
          <p:cNvPr id="4" name="TextBox 3" descr="Slide number 12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12</a:t>
            </a:r>
          </a:p>
        </p:txBody>
      </p:sp>
      <p:sp>
        <p:nvSpPr>
          <p:cNvPr id="5" name="Rounded Rectangle 4" descr="One-sided panel"/>
          <p:cNvSpPr/>
          <p:nvPr/>
        </p:nvSpPr>
        <p:spPr>
          <a:xfrm>
            <a:off x="548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One-sided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Only your case, adjectives forward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Works only on the already-convinced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Collapses when they hear the counterargument later — and they will</a:t>
            </a:r>
          </a:p>
        </p:txBody>
      </p:sp>
      <p:sp>
        <p:nvSpPr>
          <p:cNvPr id="6" name="Rounded Rectangle 5" descr="Two-sided + rebuttal panel"/>
          <p:cNvSpPr/>
          <p:nvPr/>
        </p:nvSpPr>
        <p:spPr>
          <a:xfrm>
            <a:off x="6263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Two-sided + rebuttal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“Yes, it costs $2,400 — here's the six-week payback.”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Credibility earned at the point of concession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1">
                <a:solidFill>
                  <a:srgbClr val="0E4D33"/>
                </a:solidFill>
                <a:latin typeface="Calibri"/>
              </a:rPr>
              <a:t>Two disciplines: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concede the REAL objection, not a straw man — and prune: weak arguments DILUTE strong ones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Win the analyst, not just the room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Win the analyst, not just the room</a:t>
            </a:r>
          </a:p>
        </p:txBody>
      </p:sp>
      <p:sp>
        <p:nvSpPr>
          <p:cNvPr id="3" name="TextBox 2" descr="Footer: BADM 225 · Chapter 8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8  ·  © Derek D. Bussan</a:t>
            </a:r>
          </a:p>
        </p:txBody>
      </p:sp>
      <p:sp>
        <p:nvSpPr>
          <p:cNvPr id="4" name="TextBox 3" descr="Slide number 13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13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Two routes to yes (Petty &amp; Cacioppo, 1986):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central (scrutinized arguments) and peripheral (cues: charm, authority glow).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Central-route agreement is durable;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peripheral agreement evaporates under tomorrow's counterargument.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practical rule: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bring the numbers even when charm would carry the meeting — the room consults the analyst tomorrow.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Layer the message: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one-line social proof for the skimmer, the pilot data for the scrutinizer (Chapter 2's readers).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proposal skeleton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proposal skeleton</a:t>
            </a:r>
          </a:p>
        </p:txBody>
      </p:sp>
      <p:sp>
        <p:nvSpPr>
          <p:cNvPr id="3" name="TextBox 2" descr="Footer: BADM 225 · Chapter 8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8  ·  © Derek D. Bussan</a:t>
            </a:r>
          </a:p>
        </p:txBody>
      </p:sp>
      <p:sp>
        <p:nvSpPr>
          <p:cNvPr id="4" name="TextBox 3" descr="Slide number 14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14</a:t>
            </a:r>
          </a:p>
        </p:txBody>
      </p:sp>
      <p:sp>
        <p:nvSpPr>
          <p:cNvPr id="5" name="Chevron 4" descr="Step 1: HOOK"/>
          <p:cNvSpPr/>
          <p:nvPr/>
        </p:nvSpPr>
        <p:spPr>
          <a:xfrm>
            <a:off x="548640" y="1828800"/>
            <a:ext cx="2143353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HOOK</a:t>
            </a:r>
          </a:p>
        </p:txBody>
      </p:sp>
      <p:sp>
        <p:nvSpPr>
          <p:cNvPr id="6" name="TextBox 5" descr="HOOK detail"/>
          <p:cNvSpPr txBox="1"/>
          <p:nvPr/>
        </p:nvSpPr>
        <p:spPr>
          <a:xfrm>
            <a:off x="548640" y="3154680"/>
            <a:ext cx="214335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Their problem, quantified in their numbers</a:t>
            </a:r>
          </a:p>
        </p:txBody>
      </p:sp>
      <p:sp>
        <p:nvSpPr>
          <p:cNvPr id="7" name="Chevron 6" descr="Step 2: SOLUTION + VALUE"/>
          <p:cNvSpPr/>
          <p:nvPr/>
        </p:nvSpPr>
        <p:spPr>
          <a:xfrm>
            <a:off x="2801721" y="1828800"/>
            <a:ext cx="2143353" cy="1143000"/>
          </a:xfrm>
          <a:prstGeom prst="chevron">
            <a:avLst/>
          </a:prstGeom>
          <a:solidFill>
            <a:srgbClr val="5C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SOLUTION + VALUE</a:t>
            </a:r>
          </a:p>
        </p:txBody>
      </p:sp>
      <p:sp>
        <p:nvSpPr>
          <p:cNvPr id="8" name="TextBox 7" descr="SOLUTION + VALUE detail"/>
          <p:cNvSpPr txBox="1"/>
          <p:nvPr/>
        </p:nvSpPr>
        <p:spPr>
          <a:xfrm>
            <a:off x="2801721" y="3154680"/>
            <a:ext cx="214335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What it does to WTP or cost (Chapter 17's language)</a:t>
            </a:r>
          </a:p>
        </p:txBody>
      </p:sp>
      <p:sp>
        <p:nvSpPr>
          <p:cNvPr id="9" name="Chevron 8" descr="Step 3: EVIDENCE"/>
          <p:cNvSpPr/>
          <p:nvPr/>
        </p:nvSpPr>
        <p:spPr>
          <a:xfrm>
            <a:off x="5054803" y="1828800"/>
            <a:ext cx="2143353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EVIDENCE</a:t>
            </a:r>
          </a:p>
        </p:txBody>
      </p:sp>
      <p:sp>
        <p:nvSpPr>
          <p:cNvPr id="10" name="TextBox 9" descr="EVIDENCE detail"/>
          <p:cNvSpPr txBox="1"/>
          <p:nvPr/>
        </p:nvSpPr>
        <p:spPr>
          <a:xfrm>
            <a:off x="5054803" y="3154680"/>
            <a:ext cx="214335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Pilot data · references · the objection, answered in daylight</a:t>
            </a:r>
          </a:p>
        </p:txBody>
      </p:sp>
      <p:sp>
        <p:nvSpPr>
          <p:cNvPr id="11" name="Chevron 10" descr="Step 4: COST, FRAMED"/>
          <p:cNvSpPr/>
          <p:nvPr/>
        </p:nvSpPr>
        <p:spPr>
          <a:xfrm>
            <a:off x="7307884" y="1828800"/>
            <a:ext cx="2143353" cy="1143000"/>
          </a:xfrm>
          <a:prstGeom prst="chevron">
            <a:avLst/>
          </a:prstGeom>
          <a:solidFill>
            <a:srgbClr val="5C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COST, FRAMED</a:t>
            </a:r>
          </a:p>
        </p:txBody>
      </p:sp>
      <p:sp>
        <p:nvSpPr>
          <p:cNvPr id="12" name="TextBox 11" descr="COST, FRAMED detail"/>
          <p:cNvSpPr txBox="1"/>
          <p:nvPr/>
        </p:nvSpPr>
        <p:spPr>
          <a:xfrm>
            <a:off x="7307884" y="3154680"/>
            <a:ext cx="214335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Against the cost of doing nothing — “no” is never free</a:t>
            </a:r>
          </a:p>
        </p:txBody>
      </p:sp>
      <p:sp>
        <p:nvSpPr>
          <p:cNvPr id="13" name="Chevron 12" descr="Step 5: THE ASK"/>
          <p:cNvSpPr/>
          <p:nvPr/>
        </p:nvSpPr>
        <p:spPr>
          <a:xfrm>
            <a:off x="9560966" y="1828800"/>
            <a:ext cx="2143353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THE ASK</a:t>
            </a:r>
          </a:p>
        </p:txBody>
      </p:sp>
      <p:sp>
        <p:nvSpPr>
          <p:cNvPr id="14" name="TextBox 13" descr="THE ASK detail"/>
          <p:cNvSpPr txBox="1"/>
          <p:nvPr/>
        </p:nvSpPr>
        <p:spPr>
          <a:xfrm>
            <a:off x="9560966" y="3154680"/>
            <a:ext cx="214335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One rung, dated: “30-minute demo Thursday?”</a:t>
            </a:r>
          </a:p>
        </p:txBody>
      </p:sp>
      <p:sp>
        <p:nvSpPr>
          <p:cNvPr id="15" name="Rounded Rectangle 14" descr="Key insight"/>
          <p:cNvSpPr/>
          <p:nvPr/>
        </p:nvSpPr>
        <p:spPr>
          <a:xfrm>
            <a:off x="548640" y="4892040"/>
            <a:ext cx="11064240" cy="123444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E4D33"/>
                </a:solidFill>
                <a:latin typeface="Calibri"/>
              </a:rPr>
              <a:t>Key insight: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Absent by design: company history, feature tours, adjectives.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Case: the fundraising A/B test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Case: the fundraising A/B test</a:t>
            </a:r>
          </a:p>
        </p:txBody>
      </p:sp>
      <p:sp>
        <p:nvSpPr>
          <p:cNvPr id="3" name="TextBox 2" descr="Footer: BADM 225 · Chapter 8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8  ·  © Derek D. Bussan</a:t>
            </a:r>
          </a:p>
        </p:txBody>
      </p:sp>
      <p:sp>
        <p:nvSpPr>
          <p:cNvPr id="4" name="TextBox 3" descr="Slide number 1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15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Version A: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“Our university has a proud tradition of excellence… every gift matters… please consider giving.” Institution-view at every stage.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Version B: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“61 students stayed enrolled because alumni covered the gap… 74 are waitlisted. $180 covers one student's lab fees; 500 alumni clear the list. By Friday, when the enrollment hold lifts?”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Every lever, checkably true: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 named story (pathos as a person), donor-scale arithmetic, real scarcity, an ask that is small, specific, dated.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Result: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“not close.”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Case: persuading when you could command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Case: persuading when you could command</a:t>
            </a:r>
          </a:p>
        </p:txBody>
      </p:sp>
      <p:sp>
        <p:nvSpPr>
          <p:cNvPr id="3" name="TextBox 2" descr="Footer: BADM 225 · Chapter 8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8  ·  © Derek D. Bussan</a:t>
            </a:r>
          </a:p>
        </p:txBody>
      </p:sp>
      <p:sp>
        <p:nvSpPr>
          <p:cNvPr id="4" name="TextBox 3" descr="Slide number 16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16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mandate exists — finance requires mobile timesheets.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Draft one: “Mandatory per Finance. Training video attached. Non-compliance delays payroll.”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rewrite opens with the crew's own words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about reconstructing Fridays from memory — listening as ethos.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two-sided move: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“week one is clumsy” buys the credibility spent on Rob's crew's “never going back.”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ask: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two taps Monday, with the leader on the 6:30 call — skin in the game. Commands buy compliance; persuasion buys advocates.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Persuasive requests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Persuasive requests</a:t>
            </a:r>
          </a:p>
        </p:txBody>
      </p:sp>
      <p:sp>
        <p:nvSpPr>
          <p:cNvPr id="3" name="TextBox 2" descr="Section number 04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04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The everyday genre: favors, resources, and changes you can't command.</a:t>
            </a:r>
          </a:p>
        </p:txBody>
      </p:sp>
      <p:sp>
        <p:nvSpPr>
          <p:cNvPr id="5" name="TextBox 4" descr="Footer: BADM 225 · Chapter 8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8  ·  © Derek D. Bussan</a:t>
            </a:r>
          </a:p>
        </p:txBody>
      </p:sp>
      <p:sp>
        <p:nvSpPr>
          <p:cNvPr id="6" name="TextBox 5" descr="Slide number 1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Asking for a favor that gets granted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Asking for a favor that gets granted</a:t>
            </a:r>
          </a:p>
        </p:txBody>
      </p:sp>
      <p:sp>
        <p:nvSpPr>
          <p:cNvPr id="3" name="TextBox 2" descr="Footer: BADM 225 · Chapter 8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8  ·  © Derek D. Bussan</a:t>
            </a:r>
          </a:p>
        </p:txBody>
      </p:sp>
      <p:sp>
        <p:nvSpPr>
          <p:cNvPr id="4" name="TextBox 3" descr="Slide number 18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18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Make the ask immediately findable —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buried favor-asks read as ambushes when finally discovered in paragraph four.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Show you did the homework their yes requires.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'The dates that work are attached, the room is held, and I need only your slot preference' — effort transferred is friction removed.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Name why THEM, honestly.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'You ran this format twice' is flattering because it's specific and true. Generic flattery is a tell.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Size the ask accurately and say the size.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'This is roughly two hours across March' respects them; 'it won't take long' is what every large ask says.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raise (or promotion) case, in writing first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raise (or promotion) case, in writing first</a:t>
            </a:r>
          </a:p>
        </p:txBody>
      </p:sp>
      <p:sp>
        <p:nvSpPr>
          <p:cNvPr id="3" name="TextBox 2" descr="Footer: BADM 225 · Chapter 8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8  ·  © Derek D. Bussan</a:t>
            </a:r>
          </a:p>
        </p:txBody>
      </p:sp>
      <p:sp>
        <p:nvSpPr>
          <p:cNvPr id="4" name="TextBox 3" descr="Slide number 19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19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Build the memo before the meeting.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One page: scope changes, delivered results with numbers, market context — the conversation then has an exhibit.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Argue the role, not the need.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Rent going up is real and irrelevant; responsibility grown past the title is the fundable argument.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Pick the reader's moment.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Budget season, post-win, review cycle — timing is a persuasion lever you fully control (scarcity's quiet cousin).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Calibrate the rung: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sometimes the winning ask is 'what would the case for senior analyst need to show by Q4?' — a first yes that writes the criteria with them.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Persuading peers: the process change nobody ordered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Persuading peers: the process change nobody ordered</a:t>
            </a:r>
          </a:p>
        </p:txBody>
      </p:sp>
      <p:sp>
        <p:nvSpPr>
          <p:cNvPr id="3" name="TextBox 2" descr="Footer: BADM 225 · Chapter 8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8  ·  © Derek D. Bussan</a:t>
            </a:r>
          </a:p>
        </p:txBody>
      </p:sp>
      <p:sp>
        <p:nvSpPr>
          <p:cNvPr id="4" name="TextBox 3" descr="Slide number 20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20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You have no authority — which is the tell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that this is pure persuasion: their interests are the only fuel available.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Lead with THEIR pain, not your vision.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'You lose every Friday afternoon to the merge' beats 'I think we should modernize our workflow.'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Pilot small, report honestly.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'Two weeks, just our team, and we keep the old system running' — the reversible trial disarms the risk objection before it forms.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Let the early adopter sell it.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Rob saying 'never going back' at standup outpersuades your best paragraph (social proof from inside the room).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favor request: before and after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favor request: before and after</a:t>
            </a:r>
          </a:p>
        </p:txBody>
      </p:sp>
      <p:sp>
        <p:nvSpPr>
          <p:cNvPr id="3" name="TextBox 2" descr="Footer: BADM 225 · Chapter 8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8  ·  © Derek D. Bussan</a:t>
            </a:r>
          </a:p>
        </p:txBody>
      </p:sp>
      <p:sp>
        <p:nvSpPr>
          <p:cNvPr id="4" name="TextBox 3" descr="Slide number 21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21</a:t>
            </a:r>
          </a:p>
        </p:txBody>
      </p:sp>
      <p:sp>
        <p:nvSpPr>
          <p:cNvPr id="5" name="Rounded Rectangle 4" descr="Before panel"/>
          <p:cNvSpPr/>
          <p:nvPr/>
        </p:nvSpPr>
        <p:spPr>
          <a:xfrm>
            <a:off x="548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Before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'Hey! Hope you're doing well! So this is kind of a big ask, and totally understand if you're busy…'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Three paragraphs of apology-hedging before the ask surfaces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The ask, once found: vague scope, no dates, no materials</a:t>
            </a:r>
          </a:p>
        </p:txBody>
      </p:sp>
      <p:sp>
        <p:nvSpPr>
          <p:cNvPr id="6" name="Rounded Rectangle 5" descr="After panel"/>
          <p:cNvSpPr/>
          <p:nvPr/>
        </p:nvSpPr>
        <p:spPr>
          <a:xfrm>
            <a:off x="6263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After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'Could you give the 20-minute welcome talk at analyst onboarding on March 12 (10:00, recorded)?'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'Your session was rated #1 last cohort — the slot is genuinely yours to lose.'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'Deck template and last year's recording attached; A/V handled. Confirm by the 3rd and I'll take everything else.'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Sales messages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Sales messages</a:t>
            </a:r>
          </a:p>
        </p:txBody>
      </p:sp>
      <p:sp>
        <p:nvSpPr>
          <p:cNvPr id="3" name="TextBox 2" descr="Section number 05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05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Persuasion to strangers — where every weakness gets deleted, not debated.</a:t>
            </a:r>
          </a:p>
        </p:txBody>
      </p:sp>
      <p:sp>
        <p:nvSpPr>
          <p:cNvPr id="5" name="TextBox 4" descr="Footer: BADM 225 · Chapter 8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8  ·  © Derek D. Bussan</a:t>
            </a:r>
          </a:p>
        </p:txBody>
      </p:sp>
      <p:sp>
        <p:nvSpPr>
          <p:cNvPr id="6" name="TextBox 5" descr="Slide number 22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Cold outreach that survives the delete reflex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Cold outreach that survives the delete reflex</a:t>
            </a:r>
          </a:p>
        </p:txBody>
      </p:sp>
      <p:sp>
        <p:nvSpPr>
          <p:cNvPr id="3" name="TextBox 2" descr="Footer: BADM 225 · Chapter 8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8  ·  © Derek D. Bussan</a:t>
            </a:r>
          </a:p>
        </p:txBody>
      </p:sp>
      <p:sp>
        <p:nvSpPr>
          <p:cNvPr id="4" name="TextBox 3" descr="Slide number 23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23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You have one line and two seconds.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subject and first sentence do 90% of the work — spend your best material there, not in paragraph three.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Prove you know THIS reader in sentence one.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'Congrats on the Fargo expansion' beats 'Dear Decision Maker' by exactly the amount of research it took.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One idea per message.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cold email offering four products sells none — the confused reader deletes rather than chooses.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Make the first rung tiny.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'Worth a 15-minute look?' converts; 'schedule a comprehensive consultation' is marriage-on-the-first-date at inbox scale.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Anatomy of a sales message that work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Anatomy of a sales message that works</a:t>
            </a:r>
          </a:p>
        </p:txBody>
      </p:sp>
      <p:sp>
        <p:nvSpPr>
          <p:cNvPr id="3" name="TextBox 2" descr="Footer: BADM 225 · Chapter 8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8  ·  © Derek D. Bussan</a:t>
            </a:r>
          </a:p>
        </p:txBody>
      </p:sp>
      <p:sp>
        <p:nvSpPr>
          <p:cNvPr id="4" name="TextBox 3" descr="Slide number 24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24</a:t>
            </a:r>
          </a:p>
        </p:txBody>
      </p:sp>
      <p:sp>
        <p:nvSpPr>
          <p:cNvPr id="5" name="Oval 4" descr="Hook: their problem, quantified icon"/>
          <p:cNvSpPr/>
          <p:nvPr/>
        </p:nvSpPr>
        <p:spPr>
          <a:xfrm>
            <a:off x="640080" y="165506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6" name="TextBox 5" descr="Hook: their problem, quantified"/>
          <p:cNvSpPr txBox="1"/>
          <p:nvPr/>
        </p:nvSpPr>
        <p:spPr>
          <a:xfrm>
            <a:off x="1417320" y="160020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Hook: their problem, quantified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The reader's number, not your adjective — 'your team re-keys 400 entries a week.'</a:t>
            </a:r>
          </a:p>
        </p:txBody>
      </p:sp>
      <p:sp>
        <p:nvSpPr>
          <p:cNvPr id="7" name="Oval 6" descr="Bridge: the mechanism in one line icon"/>
          <p:cNvSpPr/>
          <p:nvPr/>
        </p:nvSpPr>
        <p:spPr>
          <a:xfrm>
            <a:off x="640080" y="2679192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💡</a:t>
            </a:r>
          </a:p>
        </p:txBody>
      </p:sp>
      <p:sp>
        <p:nvSpPr>
          <p:cNvPr id="8" name="TextBox 7" descr="Bridge: the mechanism in one line"/>
          <p:cNvSpPr txBox="1"/>
          <p:nvPr/>
        </p:nvSpPr>
        <p:spPr>
          <a:xfrm>
            <a:off x="1417320" y="2624328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Bridge: the mechanism in one line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How it works, minus the feature tour — just enough to be credible.</a:t>
            </a:r>
          </a:p>
        </p:txBody>
      </p:sp>
      <p:sp>
        <p:nvSpPr>
          <p:cNvPr id="9" name="Oval 8" descr="Proof: one number, one name icon"/>
          <p:cNvSpPr/>
          <p:nvPr/>
        </p:nvSpPr>
        <p:spPr>
          <a:xfrm>
            <a:off x="640080" y="3703320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10" name="TextBox 9" descr="Proof: one number, one name"/>
          <p:cNvSpPr txBox="1"/>
          <p:nvPr/>
        </p:nvSpPr>
        <p:spPr>
          <a:xfrm>
            <a:off x="1417320" y="3648456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Proof: one number, one name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The pilot result and the referenceable customer — pick your single best of each.</a:t>
            </a:r>
          </a:p>
        </p:txBody>
      </p:sp>
      <p:sp>
        <p:nvSpPr>
          <p:cNvPr id="11" name="Oval 10" descr="Ask: one small dated rung icon"/>
          <p:cNvSpPr/>
          <p:nvPr/>
        </p:nvSpPr>
        <p:spPr>
          <a:xfrm>
            <a:off x="640080" y="4727448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🪜</a:t>
            </a:r>
          </a:p>
        </p:txBody>
      </p:sp>
      <p:sp>
        <p:nvSpPr>
          <p:cNvPr id="12" name="TextBox 11" descr="Ask: one small dated rung"/>
          <p:cNvSpPr txBox="1"/>
          <p:nvPr/>
        </p:nvSpPr>
        <p:spPr>
          <a:xfrm>
            <a:off x="1417320" y="4672584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Ask: one small dated rung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The 15-minute call, the sample, the one-pager — never the contract.</a:t>
            </a:r>
          </a:p>
        </p:txBody>
      </p:sp>
      <p:sp>
        <p:nvSpPr>
          <p:cNvPr id="13" name="Oval 12" descr="P.S.: the second-most-read line icon"/>
          <p:cNvSpPr/>
          <p:nvPr/>
        </p:nvSpPr>
        <p:spPr>
          <a:xfrm>
            <a:off x="640080" y="5751576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✍</a:t>
            </a:r>
          </a:p>
        </p:txBody>
      </p:sp>
      <p:sp>
        <p:nvSpPr>
          <p:cNvPr id="14" name="TextBox 13" descr="P.S.: the second-most-read line"/>
          <p:cNvSpPr txBox="1"/>
          <p:nvPr/>
        </p:nvSpPr>
        <p:spPr>
          <a:xfrm>
            <a:off x="1417320" y="5696712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P.S.: the second-most-read line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Skimmers read greeting, bolded text, and the P.S. — put real content there, not an afterthought.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Calls to action that actually convert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Calls to action that actually convert</a:t>
            </a:r>
          </a:p>
        </p:txBody>
      </p:sp>
      <p:sp>
        <p:nvSpPr>
          <p:cNvPr id="3" name="TextBox 2" descr="Footer: BADM 225 · Chapter 8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8  ·  © Derek D. Bussan</a:t>
            </a:r>
          </a:p>
        </p:txBody>
      </p:sp>
      <p:sp>
        <p:nvSpPr>
          <p:cNvPr id="4" name="TextBox 3" descr="Slide number 2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25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One CTA per message.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'Reply, or call, or book here, or visit our site' is four ways to defer — a single button beats a menu of exits.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Specific beats available.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'Does Thursday 2:00 or Friday 10:00 work?' converts better than 'let me know if you're interested' — the reader edits instead of composing.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Lower the perceived cost in the verb.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'Take a look' outperforms 'review'; 'grab 15 minutes' outperforms 'schedule a meeting' — same act, lighter lift.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Date it or lose it.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An undated CTA is filed under 'someday.' A real deadline with a real reason ('pilot slots close June 1 — we onboard four labs per quarter') moves it to this week.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Features tell, outcomes sell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Features tell, outcomes sell</a:t>
            </a:r>
          </a:p>
        </p:txBody>
      </p:sp>
      <p:sp>
        <p:nvSpPr>
          <p:cNvPr id="3" name="TextBox 2" descr="Footer: BADM 225 · Chapter 8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8  ·  © Derek D. Bussan</a:t>
            </a:r>
          </a:p>
        </p:txBody>
      </p:sp>
      <p:sp>
        <p:nvSpPr>
          <p:cNvPr id="4" name="TextBox 3" descr="Slide number 26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26</a:t>
            </a:r>
          </a:p>
        </p:txBody>
      </p:sp>
      <p:sp>
        <p:nvSpPr>
          <p:cNvPr id="5" name="Rounded Rectangle 4" descr="Feature language (yours) panel"/>
          <p:cNvSpPr/>
          <p:nvPr/>
        </p:nvSpPr>
        <p:spPr>
          <a:xfrm>
            <a:off x="548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Feature language (yours)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'256-bit encryption with SOC 2 Type II compliance'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'Automated barcode-driven intake workflows'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'Configurable dashboard with 40+ report templates'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The reader must translate every line into 'so what?'</a:t>
            </a:r>
          </a:p>
        </p:txBody>
      </p:sp>
      <p:sp>
        <p:nvSpPr>
          <p:cNvPr id="6" name="Rounded Rectangle 5" descr="Outcome language (theirs) panel"/>
          <p:cNvSpPr/>
          <p:nvPr/>
        </p:nvSpPr>
        <p:spPr>
          <a:xfrm>
            <a:off x="6263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Outcome language (theirs)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'Your auditor's security questionnaire: pre-answered.'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'Sample check-in drops from 4 minutes to 40 seconds.'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'The Monday report builds itself before you log in.'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The translation is done — in the reader's units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Case: the cold email that got the meeting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Case: the cold email that got the meeting</a:t>
            </a:r>
          </a:p>
        </p:txBody>
      </p:sp>
      <p:sp>
        <p:nvSpPr>
          <p:cNvPr id="3" name="TextBox 2" descr="Footer: BADM 225 · Chapter 8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8  ·  © Derek D. Bussan</a:t>
            </a:r>
          </a:p>
        </p:txBody>
      </p:sp>
      <p:sp>
        <p:nvSpPr>
          <p:cNvPr id="4" name="TextBox 3" descr="Slide number 2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27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Subject: 'Your Fargo lab's audit prep — 30 tech-hours back per month.'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reader's site, the reader's pain, the reader's units — before the message even opens.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Body: five sentences.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duplicate-entry problem (researched from a job posting), the one-line mechanism, one pilot number, one referenceable lab, the Thursday-or-Friday ask.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What was deleted from draft one: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company history paragraph, two more proof points, three features, and every adjective. The delete pass WAS the persuasion.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Reply, 22 minutes later: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'Thursday. How did you know about the duplicate entry issue?' — research is the new charm.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Objections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Objections</a:t>
            </a:r>
          </a:p>
        </p:txBody>
      </p:sp>
      <p:sp>
        <p:nvSpPr>
          <p:cNvPr id="3" name="TextBox 2" descr="Section number 06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06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The reader's side of the argument — handle it before it's spoken.</a:t>
            </a:r>
          </a:p>
        </p:txBody>
      </p:sp>
      <p:sp>
        <p:nvSpPr>
          <p:cNvPr id="5" name="TextBox 4" descr="Footer: BADM 225 · Chapter 8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8  ·  © Derek D. Bussan</a:t>
            </a:r>
          </a:p>
        </p:txBody>
      </p:sp>
      <p:sp>
        <p:nvSpPr>
          <p:cNvPr id="6" name="TextBox 5" descr="Slide number 28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Inventory the objections before writing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Inventory the objections before writing</a:t>
            </a:r>
          </a:p>
        </p:txBody>
      </p:sp>
      <p:sp>
        <p:nvSpPr>
          <p:cNvPr id="3" name="TextBox 2" descr="Footer: BADM 225 · Chapter 8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8  ·  © Derek D. Bussan</a:t>
            </a:r>
          </a:p>
        </p:txBody>
      </p:sp>
      <p:sp>
        <p:nvSpPr>
          <p:cNvPr id="4" name="TextBox 3" descr="Slide number 29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29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List every reason they could say no —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price, risk, timing, effort, politics, past failures — before drafting a word of the pitch.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Sort into three piles: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answer in the message (the strongest one or two), hold for the meeting (the technical ones), and fix in the offer (the ones that are just true).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If an objection is correct, change the offer, not the wording.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No paragraph survives contact with a valid 'no' — that's product feedback wearing a rejection costume.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unanswered strongest objection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is where your pitch dies after you leave the room — someone will raise it, and your absence will answer it.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big four, and their honest answer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big four, and their honest answers</a:t>
            </a:r>
          </a:p>
        </p:txBody>
      </p:sp>
      <p:sp>
        <p:nvSpPr>
          <p:cNvPr id="3" name="TextBox 2" descr="Footer: BADM 225 · Chapter 8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8  ·  © Derek D. Bussan</a:t>
            </a:r>
          </a:p>
        </p:txBody>
      </p:sp>
      <p:sp>
        <p:nvSpPr>
          <p:cNvPr id="4" name="TextBox 3" descr="Slide number 30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30</a:t>
            </a:r>
          </a:p>
        </p:txBody>
      </p:sp>
      <p:sp>
        <p:nvSpPr>
          <p:cNvPr id="5" name="Oval 4" descr="Price: 'too expensive' icon"/>
          <p:cNvSpPr/>
          <p:nvPr/>
        </p:nvSpPr>
        <p:spPr>
          <a:xfrm>
            <a:off x="640080" y="165506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💰</a:t>
            </a:r>
          </a:p>
        </p:txBody>
      </p:sp>
      <p:sp>
        <p:nvSpPr>
          <p:cNvPr id="6" name="TextBox 5" descr="Price: 'too expensive'"/>
          <p:cNvSpPr txBox="1"/>
          <p:nvPr/>
        </p:nvSpPr>
        <p:spPr>
          <a:xfrm>
            <a:off x="1417320" y="160020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Price: 'too expensive'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Reframe against the cost of the problem: '$2,400 against 30 tech-hours a month' — no-cost is never zero-cost.</a:t>
            </a:r>
          </a:p>
        </p:txBody>
      </p:sp>
      <p:sp>
        <p:nvSpPr>
          <p:cNvPr id="7" name="Oval 6" descr="Risk: 'what if it fails?' icon"/>
          <p:cNvSpPr/>
          <p:nvPr/>
        </p:nvSpPr>
        <p:spPr>
          <a:xfrm>
            <a:off x="640080" y="284378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⚠</a:t>
            </a:r>
          </a:p>
        </p:txBody>
      </p:sp>
      <p:sp>
        <p:nvSpPr>
          <p:cNvPr id="8" name="TextBox 7" descr="Risk: 'what if it fails?'"/>
          <p:cNvSpPr txBox="1"/>
          <p:nvPr/>
        </p:nvSpPr>
        <p:spPr>
          <a:xfrm>
            <a:off x="1417320" y="278892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Risk: 'what if it fails?'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Shrink the bet, don't argue the odds: pilot, guarantee, exit clause — make failure cheap and reversible.</a:t>
            </a:r>
          </a:p>
        </p:txBody>
      </p:sp>
      <p:sp>
        <p:nvSpPr>
          <p:cNvPr id="9" name="Oval 8" descr="Timing: 'not now' icon"/>
          <p:cNvSpPr/>
          <p:nvPr/>
        </p:nvSpPr>
        <p:spPr>
          <a:xfrm>
            <a:off x="640080" y="403250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⏰</a:t>
            </a:r>
          </a:p>
        </p:txBody>
      </p:sp>
      <p:sp>
        <p:nvSpPr>
          <p:cNvPr id="10" name="TextBox 9" descr="Timing: 'not now'"/>
          <p:cNvSpPr txBox="1"/>
          <p:nvPr/>
        </p:nvSpPr>
        <p:spPr>
          <a:xfrm>
            <a:off x="1417320" y="397764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Timing: 'not now'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Find the real deadline in THEIR calendar: 'before Q4 audit prep' converts someday to a date.</a:t>
            </a:r>
          </a:p>
        </p:txBody>
      </p:sp>
      <p:sp>
        <p:nvSpPr>
          <p:cNvPr id="11" name="Oval 10" descr="Status quo: 'what we have works' icon"/>
          <p:cNvSpPr/>
          <p:nvPr/>
        </p:nvSpPr>
        <p:spPr>
          <a:xfrm>
            <a:off x="640080" y="522122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🪨</a:t>
            </a:r>
          </a:p>
        </p:txBody>
      </p:sp>
      <p:sp>
        <p:nvSpPr>
          <p:cNvPr id="12" name="TextBox 11" descr="Status quo: 'what we have works'"/>
          <p:cNvSpPr txBox="1"/>
          <p:nvPr/>
        </p:nvSpPr>
        <p:spPr>
          <a:xfrm>
            <a:off x="1417320" y="516636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Status quo: 'what we have works'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The strongest one — next slide. Never mock the current system; they chose it.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Your real competitor is the status quo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Your real competitor is the status quo</a:t>
            </a:r>
          </a:p>
        </p:txBody>
      </p:sp>
      <p:sp>
        <p:nvSpPr>
          <p:cNvPr id="3" name="TextBox 2" descr="Footer: BADM 225 · Chapter 8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8  ·  © Derek D. Bussan</a:t>
            </a:r>
          </a:p>
        </p:txBody>
      </p:sp>
      <p:sp>
        <p:nvSpPr>
          <p:cNvPr id="4" name="TextBox 3" descr="Slide number 31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31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Most pitches lose to 'do nothing' —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not to a rival. Doing nothing requires no meeting, no budget line, and no one's neck.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Status quo bias is rational-ish: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switching has certain costs and uncertain benefits; your job is making the costs of STAYING visible and checkable.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Quantify the drift: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'the current process costs 30 hours a month — that's $18K a year already being spent, invisibly' — no-decision is a decision with a price tag.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Honor what the old system got right.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'It served well at 200 samples a week; you're at 900' — respect converts defenders into evaluators.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Risk reversal: make yes cheap to un-choose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Risk reversal: make yes cheap to un-choose</a:t>
            </a:r>
          </a:p>
        </p:txBody>
      </p:sp>
      <p:sp>
        <p:nvSpPr>
          <p:cNvPr id="3" name="TextBox 2" descr="Footer: BADM 225 · Chapter 8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8  ·  © Derek D. Bussan</a:t>
            </a:r>
          </a:p>
        </p:txBody>
      </p:sp>
      <p:sp>
        <p:nvSpPr>
          <p:cNvPr id="4" name="TextBox 3" descr="Slide number 32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32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Pilots and trials: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two-week reversible test converts 'commit' into 'look' — the ladder's whole logic in one offer.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Guarantees with teeth: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'full refund, 90 days, no form' works precisely because it's expensive to offer — cheap guarantees signal cheap confidence.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Exit ramps in the contract: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'cancel quarterly' closes deals that 'three-year term' kills; the option's existence matters more than its use.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Keep the old system running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during the trial — 'we don't unplug anything until you say so' answers the fear nobody voices: being stranded.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Framing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Framing</a:t>
            </a:r>
          </a:p>
        </p:txBody>
      </p:sp>
      <p:sp>
        <p:nvSpPr>
          <p:cNvPr id="3" name="TextBox 2" descr="Section number 07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07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The same facts, arranged for a human brain — and the line that arrangement must not cross.</a:t>
            </a:r>
          </a:p>
        </p:txBody>
      </p:sp>
      <p:sp>
        <p:nvSpPr>
          <p:cNvPr id="5" name="TextBox 4" descr="Footer: BADM 225 · Chapter 8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8  ·  © Derek D. Bussan</a:t>
            </a:r>
          </a:p>
        </p:txBody>
      </p:sp>
      <p:sp>
        <p:nvSpPr>
          <p:cNvPr id="6" name="TextBox 5" descr="Slide number 33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Gain frame or loss frame?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Gain frame or loss frame?</a:t>
            </a:r>
          </a:p>
        </p:txBody>
      </p:sp>
      <p:sp>
        <p:nvSpPr>
          <p:cNvPr id="3" name="TextBox 2" descr="Footer: BADM 225 · Chapter 8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8  ·  © Derek D. Bussan</a:t>
            </a:r>
          </a:p>
        </p:txBody>
      </p:sp>
      <p:sp>
        <p:nvSpPr>
          <p:cNvPr id="4" name="TextBox 3" descr="Slide number 34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34</a:t>
            </a:r>
          </a:p>
        </p:txBody>
      </p:sp>
      <p:sp>
        <p:nvSpPr>
          <p:cNvPr id="5" name="Rounded Rectangle 4" descr="Gain frame panel"/>
          <p:cNvSpPr/>
          <p:nvPr/>
        </p:nvSpPr>
        <p:spPr>
          <a:xfrm>
            <a:off x="548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Gain frame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'Adopting this saves $18K a year'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Best for: encouraging action under low threat, building toward opportunity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Reads as optimistic — and is easier to ignore</a:t>
            </a:r>
          </a:p>
        </p:txBody>
      </p:sp>
      <p:sp>
        <p:nvSpPr>
          <p:cNvPr id="6" name="Rounded Rectangle 5" descr="Loss frame panel"/>
          <p:cNvSpPr/>
          <p:nvPr/>
        </p:nvSpPr>
        <p:spPr>
          <a:xfrm>
            <a:off x="6263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Loss frame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'Every quarter without it spends $4,500 on rework'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Losses loom roughly twice as large as equivalent gains in decision research (Kahneman &amp; Tversky)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Stronger motivator — and quicker to read as manipulation if overdone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1">
                <a:solidFill>
                  <a:srgbClr val="0E4D33"/>
                </a:solidFill>
                <a:latin typeface="Calibri"/>
              </a:rPr>
              <a:t>The rule: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frame honestly toward the reader's real situation, and never invent the loss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Anchoring and contrast — use with the safety on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Anchoring and contrast — use with the safety on</a:t>
            </a:r>
          </a:p>
        </p:txBody>
      </p:sp>
      <p:sp>
        <p:nvSpPr>
          <p:cNvPr id="3" name="TextBox 2" descr="Footer: BADM 225 · Chapter 8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8  ·  © Derek D. Bussan</a:t>
            </a:r>
          </a:p>
        </p:txBody>
      </p:sp>
      <p:sp>
        <p:nvSpPr>
          <p:cNvPr id="4" name="TextBox 3" descr="Slide number 3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35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first number in the conversation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gravitationally pulls every later number — which is why naming your price early (with justification) usually beats waiting.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Contrast is honest when both options are real: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'the full package is $9,600; the core module you actually need is $2,400' — orientation, not theater.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decoy trick — a fake option planted to steer —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fails the visibility test: seeing it named, the reader feels played. Because they were.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Anchor with the problem, not just the price: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'you're spending $18K on rework' is the anchor that makes $2,400 read as small AND true.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Defaults, friction, and the architecture of ye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Defaults, friction, and the architecture of yes</a:t>
            </a:r>
          </a:p>
        </p:txBody>
      </p:sp>
      <p:sp>
        <p:nvSpPr>
          <p:cNvPr id="3" name="TextBox 2" descr="Footer: BADM 225 · Chapter 8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8  ·  © Derek D. Bussan</a:t>
            </a:r>
          </a:p>
        </p:txBody>
      </p:sp>
      <p:sp>
        <p:nvSpPr>
          <p:cNvPr id="4" name="TextBox 3" descr="Slide number 36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36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Whatever happens by default, mostly happens.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Opt-out enrollment beats opt-in by decades of evidence — set defaults you'd defend in public.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Every step you remove doubles completion.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pre-filled form, the held room, the calendar link — friction removal is persuasion that requires no rhetoric at all.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Make the desired path the easy path,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and the message barely has to persuade: 'reply YES and I'll handle the rest' outperforms three paragraphs of reasons.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ethics mirror: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adding friction to the exit — cancellation mazes, buried unsubscribes — is the same science, running as a dark pattern. Don't.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Persuading upward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Persuading upward</a:t>
            </a:r>
          </a:p>
        </p:txBody>
      </p:sp>
      <p:sp>
        <p:nvSpPr>
          <p:cNvPr id="3" name="TextBox 2" descr="Section number 08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08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The pitch to power: one page, one decision, no adjectives.</a:t>
            </a:r>
          </a:p>
        </p:txBody>
      </p:sp>
      <p:sp>
        <p:nvSpPr>
          <p:cNvPr id="5" name="TextBox 4" descr="Footer: BADM 225 · Chapter 8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8  ·  © Derek D. Bussan</a:t>
            </a:r>
          </a:p>
        </p:txBody>
      </p:sp>
      <p:sp>
        <p:nvSpPr>
          <p:cNvPr id="6" name="TextBox 5" descr="Slide number 3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executive ask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executive ask</a:t>
            </a:r>
          </a:p>
        </p:txBody>
      </p:sp>
      <p:sp>
        <p:nvSpPr>
          <p:cNvPr id="3" name="TextBox 2" descr="Footer: BADM 225 · Chapter 8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8  ·  © Derek D. Bussan</a:t>
            </a:r>
          </a:p>
        </p:txBody>
      </p:sp>
      <p:sp>
        <p:nvSpPr>
          <p:cNvPr id="4" name="TextBox 3" descr="Slide number 38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38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One page. One decision.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Executives fund decisions, not documents — 'approve the $2,400 pilot' is a decision; 'thoughts?' is homework you assigned your boss.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Answer first (Chapter 3, always):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recommendation and its strongest number in the first two lines; the reasoning below for the readers who want it.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Translate everything into money or risk.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Hours, errors, and delays all have exchange rates — do the conversion yourself; unconverted currency doesn't spend.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Pre-answer the one question they always ask: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'what happens if we don't?' — the status quo cost, one line, near the top.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elevator answer (not pitch — answer)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elevator answer (not pitch — answer)</a:t>
            </a:r>
          </a:p>
        </p:txBody>
      </p:sp>
      <p:sp>
        <p:nvSpPr>
          <p:cNvPr id="3" name="TextBox 2" descr="Footer: BADM 225 · Chapter 8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8  ·  © Derek D. Bussan</a:t>
            </a:r>
          </a:p>
        </p:txBody>
      </p:sp>
      <p:sp>
        <p:nvSpPr>
          <p:cNvPr id="4" name="TextBox 3" descr="Slide number 39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39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question is always some form of 'what's this about?'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You get roughly 30 seconds — prepared beats improvised by embarrassing margins.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three-beat skeleton: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problem in their units → the fix in one sentence → the ask sized to the moment: 'can I get 20 minutes Thursday?'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Match the altitude.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CFO version leads with dollars; the ops version leads with hours; the same truth, denominated differently (Chapter 2's audiences).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End with the rung, not the vision.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Hallway yeses are small: the meeting, the intro, the read — the rollout was never going to happen next to the coffee machine.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Pre-wiring: the meeting before the meeting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Pre-wiring: the meeting before the meeting</a:t>
            </a:r>
          </a:p>
        </p:txBody>
      </p:sp>
      <p:sp>
        <p:nvSpPr>
          <p:cNvPr id="3" name="TextBox 2" descr="Footer: BADM 225 · Chapter 8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8  ·  © Derek D. Bussan</a:t>
            </a:r>
          </a:p>
        </p:txBody>
      </p:sp>
      <p:sp>
        <p:nvSpPr>
          <p:cNvPr id="4" name="TextBox 3" descr="Slide number 40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40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Big asks should never debut in the big room.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By decision day, every key attendee has seen the proposal and had their objection heard — privately, cheaply, first.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One-on-ones surface the real objections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that the meeting's audience dynamics would bury — people say 'this threatens my team' in private and 'interesting questions remain' in public.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Incorporate visibly: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'per Dana's point, the timeline now includes her team's freeze' — objectors who see their fingerprints become co-owners.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meeting then ratifies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what the hallway already decided. That's not politics corrupting persuasion — that's persuasion respecting how groups actually decide.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Case: the pilot that sold itself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Case: the pilot that sold itself</a:t>
            </a:r>
          </a:p>
        </p:txBody>
      </p:sp>
      <p:sp>
        <p:nvSpPr>
          <p:cNvPr id="3" name="TextBox 2" descr="Footer: BADM 225 · Chapter 8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8  ·  © Derek D. Bussan</a:t>
            </a:r>
          </a:p>
        </p:txBody>
      </p:sp>
      <p:sp>
        <p:nvSpPr>
          <p:cNvPr id="4" name="TextBox 3" descr="Slide number 41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41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analyst wanted the full $40K platform.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CFO's calendar said no before she could. So the ask shrank: one team, one module, $2,400, sixty days, kill-switch included.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pilot was designed to be reported: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baseline measured first, three metrics agreed in advance with the skeptic — so the results would be THEIR numbers, not hers.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Day 60: entry time −38%, zero audit findings,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and the skeptic presenting the results — social proof and consistency, wearing a lanyard.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full platform was approved in the same meeting.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Nobody was persuaded by the deck. They were persuaded by the yes they'd already said.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When the answer is no anyway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When the answer is no anyway</a:t>
            </a:r>
          </a:p>
        </p:txBody>
      </p:sp>
      <p:sp>
        <p:nvSpPr>
          <p:cNvPr id="3" name="TextBox 2" descr="Footer: BADM 225 · Chapter 8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8  ·  © Derek D. Bussan</a:t>
            </a:r>
          </a:p>
        </p:txBody>
      </p:sp>
      <p:sp>
        <p:nvSpPr>
          <p:cNvPr id="4" name="TextBox 3" descr="Slide number 42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42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Lose gracefully and visibly.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'Understood — thanks for the real look' preserves every relationship the pitch built; arguing past the no burns them.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Ask the diagnostic question: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'what would need to be true for this to work next cycle?' — a no with criteria is a yes with a date.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Log what the no taught: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which objection landed, which evidence was missing, who influenced whom — the second pitch starts from data, not scratch.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Some nos are the system working.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proposal that dies under honest scrutiny was going to die more expensively later — scrutiny did you a favor.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Influence or manipulation? The four-question audit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Influence or manipulation? The four-question audit</a:t>
            </a:r>
          </a:p>
        </p:txBody>
      </p:sp>
      <p:sp>
        <p:nvSpPr>
          <p:cNvPr id="3" name="TextBox 2" descr="Footer: BADM 225 · Chapter 8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8  ·  © Derek D. Bussan</a:t>
            </a:r>
          </a:p>
        </p:txBody>
      </p:sp>
      <p:sp>
        <p:nvSpPr>
          <p:cNvPr id="4" name="TextBox 3" descr="Slide number 43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43</a:t>
            </a:r>
          </a:p>
        </p:txBody>
      </p:sp>
      <p:sp>
        <p:nvSpPr>
          <p:cNvPr id="5" name="Rounded Rectangle 4" descr="It's influence if… panel"/>
          <p:cNvSpPr/>
          <p:nvPr/>
        </p:nvSpPr>
        <p:spPr>
          <a:xfrm>
            <a:off x="548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It's influence if…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Every factual claim survives checking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The reader, seeing the technique named, would still feel respected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You'd accept this message if you were the reader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Their genuine interest overlaps the action you're urging</a:t>
            </a:r>
          </a:p>
        </p:txBody>
      </p:sp>
      <p:sp>
        <p:nvSpPr>
          <p:cNvPr id="6" name="Rounded Rectangle 5" descr="It's manipulation if… panel"/>
          <p:cNvSpPr/>
          <p:nvPr/>
        </p:nvSpPr>
        <p:spPr>
          <a:xfrm>
            <a:off x="6263640" y="1554480"/>
            <a:ext cx="5394960" cy="4572000"/>
          </a:xfrm>
          <a:prstGeom prst="roundRect">
            <a:avLst/>
          </a:prstGeom>
          <a:solidFill>
            <a:srgbClr val="F7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B23A31"/>
                </a:solidFill>
                <a:latin typeface="Cambria"/>
              </a:rPr>
              <a:t>It's manipulation if…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The scarcity, the anchor, or the social proof is invented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It works only while the reader doesn't notice it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You'd be angry receiving it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It moves them toward YOUR interest against their own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Key takeaway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Key takeaways</a:t>
            </a:r>
          </a:p>
        </p:txBody>
      </p:sp>
      <p:sp>
        <p:nvSpPr>
          <p:cNvPr id="3" name="TextBox 2" descr="Footer: BADM 225 · Chapter 8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8  ·  © Derek D. Bussan</a:t>
            </a:r>
          </a:p>
        </p:txBody>
      </p:sp>
      <p:sp>
        <p:nvSpPr>
          <p:cNvPr id="4" name="TextBox 3" descr="Slide number 44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44</a:t>
            </a:r>
          </a:p>
        </p:txBody>
      </p:sp>
      <p:sp>
        <p:nvSpPr>
          <p:cNvPr id="5" name="Oval 4" descr="Checkmark"/>
          <p:cNvSpPr/>
          <p:nvPr/>
        </p:nvSpPr>
        <p:spPr>
          <a:xfrm>
            <a:off x="640080" y="157276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" name="TextBox 5" descr="Takeaway 1"/>
          <p:cNvSpPr txBox="1"/>
          <p:nvPr/>
        </p:nvSpPr>
        <p:spPr>
          <a:xfrm>
            <a:off x="1325880" y="1554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Persuasion earns decisions from readers free to refuse — their interests are the only fuel.</a:t>
            </a:r>
          </a:p>
        </p:txBody>
      </p:sp>
      <p:sp>
        <p:nvSpPr>
          <p:cNvPr id="7" name="Oval 6" descr="Checkmark"/>
          <p:cNvSpPr/>
          <p:nvPr/>
        </p:nvSpPr>
        <p:spPr>
          <a:xfrm>
            <a:off x="640080" y="221284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 descr="Takeaway 2"/>
          <p:cNvSpPr txBox="1"/>
          <p:nvPr/>
        </p:nvSpPr>
        <p:spPr>
          <a:xfrm>
            <a:off x="1325880" y="21945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Balance ethos, pathos, logos; diagnose failed pitches by the missing leg.</a:t>
            </a:r>
          </a:p>
        </p:txBody>
      </p:sp>
      <p:sp>
        <p:nvSpPr>
          <p:cNvPr id="9" name="Oval 8" descr="Checkmark"/>
          <p:cNvSpPr/>
          <p:nvPr/>
        </p:nvSpPr>
        <p:spPr>
          <a:xfrm>
            <a:off x="640080" y="285292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 descr="Takeaway 3"/>
          <p:cNvSpPr txBox="1"/>
          <p:nvPr/>
        </p:nvSpPr>
        <p:spPr>
          <a:xfrm>
            <a:off x="1325880" y="2834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Run the pipeline: reader-owned hook, accurate interest, evidence-built desire, calibrated ask.</a:t>
            </a:r>
          </a:p>
        </p:txBody>
      </p:sp>
      <p:sp>
        <p:nvSpPr>
          <p:cNvPr id="11" name="Oval 10" descr="Checkmark"/>
          <p:cNvSpPr/>
          <p:nvPr/>
        </p:nvSpPr>
        <p:spPr>
          <a:xfrm>
            <a:off x="640080" y="349300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 descr="Takeaway 4"/>
          <p:cNvSpPr txBox="1"/>
          <p:nvPr/>
        </p:nvSpPr>
        <p:spPr>
          <a:xfrm>
            <a:off x="1325880" y="3474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Concede the strongest real objection; prune the weak arguments that dilute your best.</a:t>
            </a:r>
          </a:p>
        </p:txBody>
      </p:sp>
      <p:sp>
        <p:nvSpPr>
          <p:cNvPr id="13" name="Oval 12" descr="Checkmark"/>
          <p:cNvSpPr/>
          <p:nvPr/>
        </p:nvSpPr>
        <p:spPr>
          <a:xfrm>
            <a:off x="640080" y="413308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 descr="Takeaway 5"/>
          <p:cNvSpPr txBox="1"/>
          <p:nvPr/>
        </p:nvSpPr>
        <p:spPr>
          <a:xfrm>
            <a:off x="1325880" y="41148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Climb the ladder — small dated yeses — and frame cost against the cost of doing nothing.</a:t>
            </a:r>
          </a:p>
        </p:txBody>
      </p:sp>
      <p:sp>
        <p:nvSpPr>
          <p:cNvPr id="15" name="Oval 14" descr="Checkmark"/>
          <p:cNvSpPr/>
          <p:nvPr/>
        </p:nvSpPr>
        <p:spPr>
          <a:xfrm>
            <a:off x="640080" y="477316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 descr="Takeaway 6"/>
          <p:cNvSpPr txBox="1"/>
          <p:nvPr/>
        </p:nvSpPr>
        <p:spPr>
          <a:xfrm>
            <a:off x="1325880" y="47548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Every lever passes the truth test, or it passes nothing for long.</a:t>
            </a:r>
          </a:p>
        </p:txBody>
      </p:sp>
      <p:sp>
        <p:nvSpPr>
          <p:cNvPr id="17" name="Rounded Rectangle 16" descr="Practice reminder"/>
          <p:cNvSpPr/>
          <p:nvPr/>
        </p:nvSpPr>
        <p:spPr>
          <a:xfrm>
            <a:off x="548640" y="5468112"/>
            <a:ext cx="10424160" cy="685800"/>
          </a:xfrm>
          <a:prstGeom prst="roundRect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Practice now: course site → Chapter 8 → Practice, then the graded homework before the weekly deadline.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Worth keeping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400" b="1">
                <a:solidFill>
                  <a:srgbClr val="0E4D33"/>
                </a:solidFill>
                <a:latin typeface="Cambria"/>
              </a:rPr>
              <a:t>Worth keeping</a:t>
            </a:r>
          </a:p>
        </p:txBody>
      </p:sp>
      <p:sp>
        <p:nvSpPr>
          <p:cNvPr id="3" name="TextBox 2" descr="Quotation"/>
          <p:cNvSpPr txBox="1"/>
          <p:nvPr/>
        </p:nvSpPr>
        <p:spPr>
          <a:xfrm>
            <a:off x="1280160" y="219456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700" b="0" i="1">
                <a:solidFill>
                  <a:srgbClr val="212A26"/>
                </a:solidFill>
                <a:latin typeface="Cambria"/>
              </a:rPr>
              <a:t>“The reader is free to refuse. Everything in this chapter is just respect for that freedom, organized.”</a:t>
            </a:r>
          </a:p>
        </p:txBody>
      </p:sp>
      <p:sp>
        <p:nvSpPr>
          <p:cNvPr id="4" name="TextBox 3" descr="Attribution"/>
          <p:cNvSpPr txBox="1"/>
          <p:nvPr/>
        </p:nvSpPr>
        <p:spPr>
          <a:xfrm>
            <a:off x="1280160" y="47548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5E6B64"/>
                </a:solidFill>
                <a:latin typeface="Calibri"/>
              </a:rPr>
              <a:t>— this chapter, compressed</a:t>
            </a:r>
          </a:p>
        </p:txBody>
      </p:sp>
      <p:sp>
        <p:nvSpPr>
          <p:cNvPr id="5" name="TextBox 4" descr="Footer: BADM 225 · Chapter 8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8  ·  © Derek D. Bussan</a:t>
            </a:r>
          </a:p>
        </p:txBody>
      </p:sp>
      <p:sp>
        <p:nvSpPr>
          <p:cNvPr id="6" name="TextBox 5" descr="Slide number 4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Discussion question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Discussion questions</a:t>
            </a:r>
          </a:p>
        </p:txBody>
      </p:sp>
      <p:sp>
        <p:nvSpPr>
          <p:cNvPr id="3" name="TextBox 2" descr="Discussion questions"/>
          <p:cNvSpPr txBox="1"/>
          <p:nvPr/>
        </p:nvSpPr>
        <p:spPr>
          <a:xfrm>
            <a:off x="731520" y="17373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1.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Bring the best persuasive message you ever received. Which single choice made it work?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2.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Which Cialdini lever does your industry overuse into self-parody — and what has that cost it?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3.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Defend or attack: “Name your price early — always.” Use the two-sided research.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4.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Build the commitment ladder for something you actually want this term, with dates.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5.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Where is the line between calibrating to an audience and pandering? Construct the test.</a:t>
            </a:r>
          </a:p>
        </p:txBody>
      </p:sp>
      <p:sp>
        <p:nvSpPr>
          <p:cNvPr id="4" name="TextBox 3" descr="Footer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8C4B2"/>
                </a:solidFill>
                <a:latin typeface="Calibri"/>
              </a:rPr>
              <a:t>BADM 225 · Chapter 8  ·  © Derek D. Bussan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Your next step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Your next steps</a:t>
            </a:r>
          </a:p>
        </p:txBody>
      </p:sp>
      <p:sp>
        <p:nvSpPr>
          <p:cNvPr id="3" name="TextBox 2" descr="Footer: BADM 225 · Chapter 8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8  ·  © Derek D. Bussan</a:t>
            </a:r>
          </a:p>
        </p:txBody>
      </p:sp>
      <p:sp>
        <p:nvSpPr>
          <p:cNvPr id="4" name="TextBox 3" descr="Slide number 4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47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Practice: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Course site → Chapter 8 → Practice questions (instant feedback, unlimited tries).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Graded: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Complete the Chapter 8 homework on the site; paste your completion code into the Blackboard assignment before the weekly deadline.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Apply: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This chapter is the written theory of your Influencing Positively work — bring the pipeline to it.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Read: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Chapter 8 Study Guide — both cases, the dilution research, and the before/after pitch autopsy.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Coming next: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Unit 4 — Chapter 9: informal reports, where evidence gets sections and headings.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