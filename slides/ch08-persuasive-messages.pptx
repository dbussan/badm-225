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8: the summit of Unit 3. Twin of the Influencing Positively assignments.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8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16's visibility test governs the whole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Aristotle's kit, 23 centuries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stage must earn its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product, different discipline. Full autopsy in the study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Liking is the sixth: rapport built before the pitch is groundwork; during, garnish.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large improbability becomes a sequence of small probabilities.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dilution effect: audiences average arguments rather than add them. Best three,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substance beats sizzle at business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internal proposal — the persuasive genre you'll write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Concreteness makes one donor's marginal effect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authority-invoking: state the constraint, take no shelter behind it, own the easy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Unit 3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Unit 3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ersuasive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Persuasive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Moving readers who could say no toward yes — structure, evidence, and influence that survives scrutiny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8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AIDA pipeline: reader-owned attention, accurate interest, evidence-built desire, one calibrated action.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Balance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triangle — ethos, pathos, logos — and diagnose which leg your pitches lack.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Argue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two-sided: concede and rebut the strongest real objection.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Climb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commitment ladder: pilots before rollouts, demos before contracts.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lever ethical: true claims, real overlap, the visibility test.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persuasion is (and is not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persuasion is (and is not)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defining condition: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reader is FREE to refuse. You are earning a decision, not announcing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Consequence 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reader's interests are the only fuel — the you-view becomes the engine.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Consequence two: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ethics stay load-bearing. True claims and real overlap survive scrutiny; everything else is manipulation on a timer.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 for every technique here: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would the reader, seeing it named, still feel respected?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ppeal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appeals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Ethos, pathos, logos — the weakest leg fails first.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agnosing with the triang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Diagnosing with the triangle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Oval 4" descr="Logos — the evidence architectur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🏛</a:t>
            </a:r>
          </a:p>
        </p:txBody>
      </p:sp>
      <p:sp>
        <p:nvSpPr>
          <p:cNvPr id="6" name="TextBox 5" descr="Logos — the evidence architectur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Logos — the evidence architecture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Numbers, pilots, comparisons. Executives fund arithmetic.</a:t>
            </a:r>
          </a:p>
        </p:txBody>
      </p:sp>
      <p:sp>
        <p:nvSpPr>
          <p:cNvPr id="7" name="Oval 6" descr="Pathos — stakes, not tears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♥</a:t>
            </a:r>
          </a:p>
        </p:txBody>
      </p:sp>
      <p:sp>
        <p:nvSpPr>
          <p:cNvPr id="8" name="TextBox 7" descr="Pathos — stakes, not tears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Pathos — stakes, not tears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Connection to what they already value: security, pride, fairness, time.</a:t>
            </a:r>
          </a:p>
        </p:txBody>
      </p:sp>
      <p:sp>
        <p:nvSpPr>
          <p:cNvPr id="9" name="Oval 8" descr="Ethos — permission to be believed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Ethos — permission to be believed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Ethos — permission to be believed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Track record, demonstrated grasp of their world — and visible fairness in naming costs.</a:t>
            </a:r>
          </a:p>
        </p:txBody>
      </p:sp>
      <p:sp>
        <p:nvSpPr>
          <p:cNvPr id="11" name="Oval 10" descr="The diagnosis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⚖</a:t>
            </a:r>
          </a:p>
        </p:txBody>
      </p:sp>
      <p:sp>
        <p:nvSpPr>
          <p:cNvPr id="12" name="TextBox 11" descr="The diagnosis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diagnosis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Brilliant logic that died lacked ethos. The beloved presenter who went nowhere skipped logos.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ipelin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pipeline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AIDA: a sequence, not a paint-by-numbers.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ttention → Interest → Desire → Ac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Attention → Interest → Desire → Action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Chevron 4" descr="Step 1: ATTENTION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ATTENTION</a:t>
            </a:r>
          </a:p>
        </p:txBody>
      </p:sp>
      <p:sp>
        <p:nvSpPr>
          <p:cNvPr id="6" name="TextBox 5" descr="ATTENTION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READER'S problem, quantified. Never “we are pleased to introduce…”</a:t>
            </a:r>
          </a:p>
        </p:txBody>
      </p:sp>
      <p:sp>
        <p:nvSpPr>
          <p:cNvPr id="7" name="Chevron 6" descr="Step 2: INTEREST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INTEREST</a:t>
            </a:r>
          </a:p>
        </p:txBody>
      </p:sp>
      <p:sp>
        <p:nvSpPr>
          <p:cNvPr id="8" name="TextBox 7" descr="INTEREST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situation, named accurately — readers lean in when understood.</a:t>
            </a:r>
          </a:p>
        </p:txBody>
      </p:sp>
      <p:sp>
        <p:nvSpPr>
          <p:cNvPr id="9" name="Chevron 8" descr="Step 3: DESIRE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DESIRE</a:t>
            </a:r>
          </a:p>
        </p:txBody>
      </p:sp>
      <p:sp>
        <p:nvSpPr>
          <p:cNvPr id="10" name="TextBox 9" descr="DESIRE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evidence layer: numbers, social proof, the objection answered.</a:t>
            </a:r>
          </a:p>
        </p:txBody>
      </p:sp>
      <p:sp>
        <p:nvSpPr>
          <p:cNvPr id="11" name="Chevron 10" descr="Step 4: ACTION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2" name="TextBox 11" descr="ACTION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One small, specific, dated ask. Yes, made easy.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Four sentences or four pages — scale is stakes; sequence is structure. (Monroe's Motivated Sequence is the spoken sibling.)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ame pitch, before and af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same pitch, before and after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 descr="Before (vendor-view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Before (vendor-view)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“Our company is a leading provider of innovative sample management solutions…”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“…barcode integration, customizable workflows, cloud backup, and much more!”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“We would love to schedule a demonstration!”</a:t>
            </a:r>
          </a:p>
        </p:txBody>
      </p:sp>
      <p:sp>
        <p:nvSpPr>
          <p:cNvPr id="6" name="Rounded Rectangle 5" descr="After (reader-owned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After (reader-owned)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“Your techs re-enter every sample twice — ~400 duplicate entries a week, your top audit risk.”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“In a 90-day pilot at a lab your size: entry time −41%, transcription findings zero. $6,800/yr against ~30 tech-hours/month burned now.”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“The two labs in your network using it will take your call. 30-minute demo Thursday, before Q4 audit prep?”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vidence layer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evidence layer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Where desire is actually built — and where ethics live.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ialdini's six levers — ethical exactly when tru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Cialdini's six levers — ethical exactly when true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Oval 4" descr="Reciprocity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⇄</a:t>
            </a:r>
          </a:p>
        </p:txBody>
      </p:sp>
      <p:sp>
        <p:nvSpPr>
          <p:cNvPr id="6" name="TextBox 5" descr="Reciprocity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Reciprocity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favor precedes the ask — attach the free analysis, then request the meeting.</a:t>
            </a:r>
          </a:p>
        </p:txBody>
      </p:sp>
      <p:sp>
        <p:nvSpPr>
          <p:cNvPr id="7" name="Oval 6" descr="Consistency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🪜</a:t>
            </a:r>
          </a:p>
        </p:txBody>
      </p:sp>
      <p:sp>
        <p:nvSpPr>
          <p:cNvPr id="8" name="TextBox 7" descr="Consistency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Consistency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Small yeses grow: pilots before rollouts. (The ladder, next slide.)</a:t>
            </a:r>
          </a:p>
        </p:txBody>
      </p:sp>
      <p:sp>
        <p:nvSpPr>
          <p:cNvPr id="9" name="Oval 8" descr="Social proof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10" name="TextBox 9" descr="Social proof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Social proof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“4 of 5 regional labs switched” moves risk-averse readers more than adjectives.</a:t>
            </a:r>
          </a:p>
        </p:txBody>
      </p:sp>
      <p:sp>
        <p:nvSpPr>
          <p:cNvPr id="11" name="Oval 10" descr="Authority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📜</a:t>
            </a:r>
          </a:p>
        </p:txBody>
      </p:sp>
      <p:sp>
        <p:nvSpPr>
          <p:cNvPr id="12" name="TextBox 11" descr="Authority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Authority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Cite the credential, the dataset, the named expert.</a:t>
            </a:r>
          </a:p>
        </p:txBody>
      </p:sp>
      <p:sp>
        <p:nvSpPr>
          <p:cNvPr id="13" name="Oval 12" descr="Scarcity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⏳</a:t>
            </a:r>
          </a:p>
        </p:txBody>
      </p:sp>
      <p:sp>
        <p:nvSpPr>
          <p:cNvPr id="14" name="TextBox 13" descr="Scarcity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Scarcity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REAL deadlines move decisions. Invented ones detonate ethos on discovery — and discovery is certain.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mmitment ladd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commitment ladder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Chevron 4" descr="Step 1: “Read the one-pager?”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“Read the one-pager?”</a:t>
            </a:r>
          </a:p>
        </p:txBody>
      </p:sp>
      <p:sp>
        <p:nvSpPr>
          <p:cNvPr id="6" name="TextBox 5" descr="“Read the one-pager?”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30 seconds of yes</a:t>
            </a:r>
          </a:p>
        </p:txBody>
      </p:sp>
      <p:sp>
        <p:nvSpPr>
          <p:cNvPr id="7" name="Chevron 6" descr="Step 2: “Join the 20-min demo?”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“Join the 20-min demo?”</a:t>
            </a:r>
          </a:p>
        </p:txBody>
      </p:sp>
      <p:sp>
        <p:nvSpPr>
          <p:cNvPr id="8" name="TextBox 7" descr="“Join the 20-min demo?”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Low-stakes second yes</a:t>
            </a:r>
          </a:p>
        </p:txBody>
      </p:sp>
      <p:sp>
        <p:nvSpPr>
          <p:cNvPr id="9" name="Chevron 8" descr="Step 3: “Run a 2-week pilot?”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“Run a 2-week pilot?”</a:t>
            </a:r>
          </a:p>
        </p:txBody>
      </p:sp>
      <p:sp>
        <p:nvSpPr>
          <p:cNvPr id="10" name="TextBox 9" descr="“Run a 2-week pilot?”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Evidence generated together</a:t>
            </a:r>
          </a:p>
        </p:txBody>
      </p:sp>
      <p:sp>
        <p:nvSpPr>
          <p:cNvPr id="11" name="Chevron 10" descr="Step 4: “Adopt team-wide”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“Adopt team-wide”</a:t>
            </a:r>
          </a:p>
        </p:txBody>
      </p:sp>
      <p:sp>
        <p:nvSpPr>
          <p:cNvPr id="12" name="TextBox 11" descr="“Adopt team-wide”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Now consistent with three prior yeses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most common persuasive error: asking for marriage on the first date. Calibrate the first rung to the audience — smallest for skeptics.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-sided beats one-sid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Two-sided beats one-sided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One-sided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One-sided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Only your case, adjectives forward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Works only on the already-convinced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Collapses when they hear the counterargument later — and they will</a:t>
            </a:r>
          </a:p>
        </p:txBody>
      </p:sp>
      <p:sp>
        <p:nvSpPr>
          <p:cNvPr id="6" name="Rounded Rectangle 5" descr="Two-sided + rebuttal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Two-sided + rebuttal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“Yes, it costs $2,400 — here's the six-week payback.”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Credibility earned at the point of concession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Two disciplines: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concede the REAL objection, not a straw man — and prune: weak arguments DILUTE strong ones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in the analyst, not just the ro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Win the analyst, not just the room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routes to yes (Petty &amp; Cacioppo, 1986):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central (scrutinized arguments) and peripheral (cues: charm, authority glow).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Central-route agreement is durable;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peripheral agreement evaporates under tomorrow's counterargument.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practical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bring the numbers even when charm would carry the meeting — the room consults the analyst tomorrow.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Layer the message: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one-line social proof for the skimmer, the pilot data for the scrutinizer (Chapter 2's readers).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posal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proposal skeleton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Chevron 4" descr="Step 1: HOOK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HOOK</a:t>
            </a:r>
          </a:p>
        </p:txBody>
      </p:sp>
      <p:sp>
        <p:nvSpPr>
          <p:cNvPr id="6" name="TextBox 5" descr="HOOK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problem, quantified in their numbers</a:t>
            </a:r>
          </a:p>
        </p:txBody>
      </p:sp>
      <p:sp>
        <p:nvSpPr>
          <p:cNvPr id="7" name="Chevron 6" descr="Step 2: SOLUTION + VALUE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SOLUTION + VALUE</a:t>
            </a:r>
          </a:p>
        </p:txBody>
      </p:sp>
      <p:sp>
        <p:nvSpPr>
          <p:cNvPr id="8" name="TextBox 7" descr="SOLUTION + VALUE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it does to WTP or cost (Chapter 17's language)</a:t>
            </a:r>
          </a:p>
        </p:txBody>
      </p:sp>
      <p:sp>
        <p:nvSpPr>
          <p:cNvPr id="9" name="Chevron 8" descr="Step 3: EVIDENCE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0" name="TextBox 9" descr="EVIDENCE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Pilot data · references · the objection, answered in daylight</a:t>
            </a:r>
          </a:p>
        </p:txBody>
      </p:sp>
      <p:sp>
        <p:nvSpPr>
          <p:cNvPr id="11" name="Chevron 10" descr="Step 4: COST, FRAMED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COST, FRAMED</a:t>
            </a:r>
          </a:p>
        </p:txBody>
      </p:sp>
      <p:sp>
        <p:nvSpPr>
          <p:cNvPr id="12" name="TextBox 11" descr="COST, FRAMED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Against the cost of doing nothing — “no” is never free</a:t>
            </a:r>
          </a:p>
        </p:txBody>
      </p:sp>
      <p:sp>
        <p:nvSpPr>
          <p:cNvPr id="13" name="Chevron 12" descr="Step 5: THE ASK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4" name="TextBox 13" descr="THE ASK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One rung, dated: “30-minute demo Thursday?”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Absent by design: company history, feature tours, adjectives.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fundraising A/B t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fundraising A/B test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Version A: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“Our university has a proud tradition of excellence… every gift matters… please consider giving.” Institution-view at every stage.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Version B: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“61 students stayed enrolled because alumni covered the gap… 74 are waitlisted. $180 covers one student's lab fees; 500 alumni clear the list. By Friday, when the enrollment hold lifts?”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lever, checkably true: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named story (pathos as a person), donor-scale arithmetic, real scarcity, an ask that is small, specific, dated.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Result: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“not close.”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persuading when you could comman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persuading when you could command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mandate exists — finance requires mobile timesheets.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Draft one: “Mandatory per Finance. Training video attached. Non-compliance delays payroll.”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rewrite opens with the crew's own words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about reconstructing Fridays from memory — listening as ethos.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two-sided move: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“week one is clumsy” buys the credibility spent on Rob's crew's “never going back.”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ask: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taps Monday, with the leader on the 6:30 call — skin in the game. Commands buy compliance; persuasion buys advocates.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Persuasion earns decisions from readers free to refuse — their interests are the only fuel.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Balance ethos, pathos, logos; diagnose failed pitches by the missing leg.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Run the pipeline: reader-owned hook, accurate interest, evidence-built desire, calibrated ask.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Concede the strongest real objection; prune the weak arguments that dilute your best.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Climb the ladder — small dated yeses — and frame cost against the cost of doing nothing.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lever passes the truth test, or it passes nothing for long.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8 → Practice, then the graded homework before the weekly deadline.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reader is free to refuse. Everything in this chapter is just respect for that freedom, organized.”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Bring the best persuasive message you ever received. Which single choice made it work?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Cialdini lever does your industry overuse into self-parody — and what has that cost it?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Defend or attack: “Name your price early — always.” Use the two-sided research.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Build the commitment ladder for something you actually want this term, with dates.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 is the line between calibrating to an audience and pandering? Construct the test.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8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8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This chapter is the written theory of your Influencing Positively work — bring the pipeline to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8 Study Guide — both cases, the dilution research, and the before/after pitch autopsy.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Unit 4 — Chapter 9: informal reports, where evidence gets sections and headings.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