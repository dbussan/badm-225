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Chapter 12: the spoken genre. Everything from the writing chapters applies — plus a body, a voice, and a room.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Objectives map to the Chapter 12 practice bank and the course presentation assignment.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Framing: high stakes, learnable craft. The fear normalization matters — set it here and return to it in the delivery section.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1: purpose and audience for talks — the planning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takeaway-first discipline is the single highest-leverage habit in presenting. It's the pyramid summit, spoken.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audience machinery as Chapter 2, with the live-room additions: authority and attention.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 bad talks are category errors: a pitch built like a briefing (no ask) or a briefing built like a pitch (advocacy where analysis was owed).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build order is the anti-pattern-breaker: students who start in the slide tool produce slide-shaped talks.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2: the frame. Primacy and recency — audiences retain beginnings and endings disproportionately.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memorized first minute is the practical nerve hack: it carries you through peak adrenaline on autopilot until your footing arrives.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no-scroll-back point is the deep difference between writing and speaking: redundancy that would be padding on the page is navigation in the air.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Questions-then-close is the structural fix most student talks need — it costs nothing and reclaims the recency effect.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Spoken transitions must be heavier than written ones — the listener has no visual paragraph breaks. The pause-as-spotlight point sets up the voice toolbox.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3: the middle — selection and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eleven-things line gives students permission to convert overloaded talks back into documents — often the genuinely right call.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Ear-rounding numbers is a spoken-genre rule students haven't met: precision that works on the page dies in the air.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'announce the point' rule fixes the most common story failure: the anecdote that entertained but never attached to the argument.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4: slide design. The attention economics come first; the rules follow from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read-vs-listen conflict is the physics under every rule. The blank-slide permission genuinely surprises students.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'A copy of everything comes to you after this' is the one-sentence fix for the note-taking room — it buys back all the eyes. One deck cannot do both jobs.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titles-only test is the headings-only test from Chapter 3, ported. Same audit, new artifact.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apology line is the tell of an unrebuilt slide. 'Highlight the one line, gray the rest' is the single most useful data-slide repair.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Hygiene items are invisible when right and loud when wrong. The projector-contrast warning saves real presentations.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5: delivery and nerves. The most feared section and the most technique-rich.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reframe (arousal, not verdict) is well-supported performance psychology; the three-aloud-passes spec is the actionable floor.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Selective memorization is the practical answer to 'script or wing it?' — script the load-bearing joints, converse the spans.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tool is practicable in one rehearsal pass. The uptalk line, delivered as written, teaches itself.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touch-turn-talk rule fixes the most common physical habit: presenting to the projection wall.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blank-recovery protocol matters most: knowing there's a procedure removes half the fear of needing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6: virtual and asynchronous presenting — now a permanent professional genre.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+20% energy rule and the pre-sent deck are the two highest-value virtual habits.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Async presenting is where this course's delivery-neutral design pays off — students in online sections live in this genre.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7: questions and multi-presenter craft.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five-hostile-questions prep is the pre-mortem from Chapter 8, applied to the podium.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two-exchange rule prevents the duel that hijacks talks. Everything here is composure mechanics from Chapter 7, standing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idle-presenter warning lands hardest — students have all seen it and never audited themselves for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backup-recording rule from the evidence slide, paying off. The CTO's read is the meta-lesson: audiences evaluate the recovery as a sample of future behavior.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 frame.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Async-ready.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Delivery-neutral closing. Unit 4 complete.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Business Presentations"/>
          <p:cNvSpPr>
            <a:spLocks noGrp="1"/>
          </p:cNvSpPr>
          <p:nvPr>
            <p:ph type="title"/>
          </p:nvPr>
        </p:nvSpPr>
        <p:spPr>
          <a:xfrm>
            <a:off x="822960" y="1920240"/>
            <a:ext cx="10515600" cy="1737360"/>
          </a:xfrm>
        </p:spPr>
        <p:txBody>
          <a:bodyPr wrap="square"/>
          <a:lstStyle/>
          <a:p>
            <a:pPr algn="l"/>
            <a:r>
              <a:rPr sz="4800" b="1">
                <a:solidFill>
                  <a:srgbClr val="FFFFFF"/>
                </a:solidFill>
                <a:latin typeface="Cambria"/>
              </a:rPr>
              <a:t>Business Presentations</a:t>
            </a:r>
          </a:p>
        </p:txBody>
      </p:sp>
      <p:sp>
        <p:nvSpPr>
          <p:cNvPr id="3" name="TextBox 2" descr="Course label"/>
          <p:cNvSpPr txBox="1"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BFD8C6"/>
                </a:solidFill>
                <a:latin typeface="Calibri"/>
              </a:rPr>
              <a:t>BADM 225 · PROFESSIONAL COMMUNICATION FOR BUSINESS</a:t>
            </a:r>
          </a:p>
        </p:txBody>
      </p:sp>
      <p:sp>
        <p:nvSpPr>
          <p:cNvPr id="4" name="TextBox 3" descr="Subtitle"/>
          <p:cNvSpPr txBox="1"/>
          <p:nvPr/>
        </p:nvSpPr>
        <p:spPr>
          <a:xfrm>
            <a:off x="82296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EAF1EB"/>
                </a:solidFill>
                <a:latin typeface="Calibri"/>
              </a:rPr>
              <a:t>One takeaway · slides as billboards · delivery you can rehearse · nerves you can manage</a:t>
            </a:r>
          </a:p>
        </p:txBody>
      </p:sp>
      <p:sp>
        <p:nvSpPr>
          <p:cNvPr id="5" name="TextBox 4" descr="Attribution"/>
          <p:cNvSpPr txBox="1"/>
          <p:nvPr/>
        </p:nvSpPr>
        <p:spPr>
          <a:xfrm>
            <a:off x="822960" y="5852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A8C4B2"/>
                </a:solidFill>
                <a:latin typeface="Calibri"/>
              </a:rPr>
              <a:t>BADM 225 · Chapter 12  ·  Original instructional material — no publisher content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What you'll be able to do after this chapter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What you'll be able to do after this chapter</a:t>
            </a:r>
          </a:p>
        </p:txBody>
      </p:sp>
      <p:sp>
        <p:nvSpPr>
          <p:cNvPr id="3" name="TextBox 2" descr="Footer: BADM 225 · Chapter 12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12  ·  © Derek D. Bussan</a:t>
            </a:r>
          </a:p>
        </p:txBody>
      </p:sp>
      <p:sp>
        <p:nvSpPr>
          <p:cNvPr id="4" name="TextBox 3" descr="Slide number 2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Build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a talk backward from its one repeatable takeaway — never forward from your slides.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Open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with the audience's stakes, roadmap the middle, and close with the ask and the echo.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Design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slides as billboards: one point each, takeaway titles, data the back row can read.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Deliver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with rehearsed voice and body — and run nerves as fuel instead of freight.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Handle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Q&amp;A, hostile questions, cameras, and team handoffs without losing the room.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The talk is the visibility event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The talk is the visibility event</a:t>
            </a:r>
          </a:p>
        </p:txBody>
      </p:sp>
      <p:sp>
        <p:nvSpPr>
          <p:cNvPr id="3" name="TextBox 2" descr="Footer: BADM 225 · Chapter 12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12  ·  © Derek D. Bussan</a:t>
            </a:r>
          </a:p>
        </p:txBody>
      </p:sp>
      <p:sp>
        <p:nvSpPr>
          <p:cNvPr id="4" name="TextBox 3" descr="Slide number 3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3</a:t>
            </a:r>
          </a:p>
        </p:txBody>
      </p:sp>
      <p:sp>
        <p:nvSpPr>
          <p:cNvPr id="5" name="Rounded Rectangle 4" descr="Highlighted statistic"/>
          <p:cNvSpPr/>
          <p:nvPr/>
        </p:nvSpPr>
        <p:spPr>
          <a:xfrm>
            <a:off x="548640" y="1645920"/>
            <a:ext cx="4206240" cy="4206240"/>
          </a:xfrm>
          <a:prstGeom prst="roundRect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>
              <a:spcAft>
                <a:spcPts val="400"/>
              </a:spcAft>
            </a:pPr>
            <a:r>
              <a:rPr sz="6400" b="1">
                <a:solidFill>
                  <a:srgbClr val="FFFFFF"/>
                </a:solidFill>
                <a:latin typeface="Cambria"/>
              </a:rPr>
              <a:t>1:100</a:t>
            </a:r>
          </a:p>
          <a:p>
            <a:pPr algn="ctr">
              <a:spcAft>
                <a:spcPts val="800"/>
              </a:spcAft>
            </a:pPr>
            <a:r>
              <a:rPr sz="1500" b="0" i="0">
                <a:solidFill>
                  <a:srgbClr val="EAF1EB"/>
                </a:solidFill>
                <a:latin typeface="Calibri"/>
              </a:rPr>
              <a:t>You'll write a hundred documents for every talk you give — but the talks are where the organization actually watches you think.</a:t>
            </a:r>
          </a:p>
        </p:txBody>
      </p:sp>
      <p:sp>
        <p:nvSpPr>
          <p:cNvPr id="6" name="TextBox 5" descr="Supporting points"/>
          <p:cNvSpPr txBox="1"/>
          <p:nvPr/>
        </p:nvSpPr>
        <p:spPr>
          <a:xfrm>
            <a:off x="5212080" y="1737360"/>
            <a:ext cx="6400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>
                <a:solidFill>
                  <a:srgbClr val="8A6410"/>
                </a:solidFill>
                <a:latin typeface="Calibri"/>
              </a:rPr>
              <a:t>▪  </a:t>
            </a:r>
            <a:r>
              <a:rPr sz="1600" b="1">
                <a:solidFill>
                  <a:srgbClr val="0E4D33"/>
                </a:solidFill>
                <a:latin typeface="Calibri"/>
              </a:rPr>
              <a:t>Presentations compress judgment:  </a:t>
            </a:r>
            <a:r>
              <a:rPr sz="1600" b="0" i="0">
                <a:solidFill>
                  <a:srgbClr val="212A26"/>
                </a:solidFill>
                <a:latin typeface="Calibri"/>
              </a:rPr>
              <a:t>selection, structure, and composure, performed live — the skills of this whole course, visible at once.</a:t>
            </a:r>
          </a:p>
          <a:p>
            <a:pPr algn="l">
              <a:spcAft>
                <a:spcPts val="1400"/>
              </a:spcAft>
            </a:pPr>
            <a:r>
              <a:rPr sz="1600">
                <a:solidFill>
                  <a:srgbClr val="8A6410"/>
                </a:solidFill>
                <a:latin typeface="Calibri"/>
              </a:rPr>
              <a:t>▪  </a:t>
            </a:r>
            <a:r>
              <a:rPr sz="1600" b="1">
                <a:solidFill>
                  <a:srgbClr val="0E4D33"/>
                </a:solidFill>
                <a:latin typeface="Calibri"/>
              </a:rPr>
              <a:t>The fear is standard equipment:  </a:t>
            </a:r>
            <a:r>
              <a:rPr sz="1600" b="0" i="0">
                <a:solidFill>
                  <a:srgbClr val="212A26"/>
                </a:solidFill>
                <a:latin typeface="Calibri"/>
              </a:rPr>
              <a:t>public-speaking anxiety is among the most common fears reported — the pros aren't fearless, they're rehearsed.</a:t>
            </a:r>
          </a:p>
          <a:p>
            <a:pPr algn="l">
              <a:spcAft>
                <a:spcPts val="1400"/>
              </a:spcAft>
            </a:pPr>
            <a:r>
              <a:rPr sz="1600">
                <a:solidFill>
                  <a:srgbClr val="8A6410"/>
                </a:solidFill>
                <a:latin typeface="Calibri"/>
              </a:rPr>
              <a:t>▪  </a:t>
            </a:r>
            <a:r>
              <a:rPr sz="1600" b="1">
                <a:solidFill>
                  <a:srgbClr val="0E4D33"/>
                </a:solidFill>
                <a:latin typeface="Calibri"/>
              </a:rPr>
              <a:t>The good news:  </a:t>
            </a:r>
            <a:r>
              <a:rPr sz="1600" b="0" i="0">
                <a:solidFill>
                  <a:srgbClr val="212A26"/>
                </a:solidFill>
                <a:latin typeface="Calibri"/>
              </a:rPr>
              <a:t>every part of a talk is buildable with technique. Nothing in this chapter requires talent.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One takeaway"/>
          <p:cNvSpPr>
            <a:spLocks noGrp="1"/>
          </p:cNvSpPr>
          <p:nvPr>
            <p:ph type="title"/>
          </p:nvPr>
        </p:nvSpPr>
        <p:spPr>
          <a:xfrm>
            <a:off x="822960" y="2834640"/>
            <a:ext cx="10515600" cy="914400"/>
          </a:xfrm>
        </p:spPr>
        <p:txBody>
          <a:bodyPr wrap="square"/>
          <a:lstStyle/>
          <a:p>
            <a:pPr algn="l"/>
            <a:r>
              <a:rPr sz="4000" b="1">
                <a:solidFill>
                  <a:srgbClr val="FFFFFF"/>
                </a:solidFill>
                <a:latin typeface="Cambria"/>
              </a:rPr>
              <a:t>One takeaway</a:t>
            </a:r>
          </a:p>
        </p:txBody>
      </p:sp>
      <p:sp>
        <p:nvSpPr>
          <p:cNvPr id="3" name="TextBox 2" descr="Section number 01"/>
          <p:cNvSpPr txBox="1"/>
          <p:nvPr/>
        </p:nvSpPr>
        <p:spPr>
          <a:xfrm>
            <a:off x="822960" y="11887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8000" b="1" i="0">
                <a:solidFill>
                  <a:srgbClr val="C9931A"/>
                </a:solidFill>
                <a:latin typeface="Cambria"/>
              </a:rPr>
              <a:t>01</a:t>
            </a:r>
          </a:p>
        </p:txBody>
      </p:sp>
      <p:sp>
        <p:nvSpPr>
          <p:cNvPr id="4" name="TextBox 3" descr="Section note"/>
          <p:cNvSpPr txBox="1"/>
          <p:nvPr/>
        </p:nvSpPr>
        <p:spPr>
          <a:xfrm>
            <a:off x="822960" y="402336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EAF1EB"/>
                </a:solidFill>
                <a:latin typeface="Calibri"/>
              </a:rPr>
              <a:t>Build backward from the sentence they'll repeat tomorrow.</a:t>
            </a:r>
          </a:p>
        </p:txBody>
      </p:sp>
      <p:sp>
        <p:nvSpPr>
          <p:cNvPr id="5" name="TextBox 4" descr="Footer: BADM 225 · Chapter 12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12  ·  © Derek D. Bussan</a:t>
            </a:r>
          </a:p>
        </p:txBody>
      </p:sp>
      <p:sp>
        <p:nvSpPr>
          <p:cNvPr id="6" name="TextBox 5" descr="Slide number 4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Start with the sentence they'll repeat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Start with the sentence they'll repeat</a:t>
            </a:r>
          </a:p>
        </p:txBody>
      </p:sp>
      <p:sp>
        <p:nvSpPr>
          <p:cNvPr id="3" name="TextBox 2" descr="Footer: BADM 225 · Chapter 12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12  ·  © Derek D. Bussan</a:t>
            </a:r>
          </a:p>
        </p:txBody>
      </p:sp>
      <p:sp>
        <p:nvSpPr>
          <p:cNvPr id="4" name="TextBox 3" descr="Slide number 5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5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Write the takeaway first: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'Renew with TechServe — it saves $23K a year' — one sentence a listener could relay to someone who wasn't there.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If you can't write it, you're not ready to build slides.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A talk without a takeaway is a document without a pyramid: material in search of a point.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Everything auditions against it: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each slide, story, and number either serves the sentence or leaves the talk (Chapter 2's unity test, standing up).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Say it early, prove it in the middle, say it again at the end.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Audiences remember what's stated, supported, and repeated — not what's implied.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Audience analysis, standing up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Audience analysis, standing up</a:t>
            </a:r>
          </a:p>
        </p:txBody>
      </p:sp>
      <p:sp>
        <p:nvSpPr>
          <p:cNvPr id="3" name="TextBox 2" descr="Footer: BADM 225 · Chapter 12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12  ·  © Derek D. Bussan</a:t>
            </a:r>
          </a:p>
        </p:txBody>
      </p:sp>
      <p:sp>
        <p:nvSpPr>
          <p:cNvPr id="4" name="TextBox 3" descr="Slide number 6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6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What do they already believe about this topic?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You're moving them FROM somewhere — a talk that ignores the starting point moves no one.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What can they actually decide?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Pitch the decision this room owns; asks above or below the room's authority land as noise.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How much do they know?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expert audience resents the basics; the general audience drowns without them — when mixed, layer (Chapter 2).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How long is their attention, really?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30-minute slot with phones out is a 10-minute attention budget — build for the real number.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Informing and persuading are different builds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Informing and persuading are different builds</a:t>
            </a:r>
          </a:p>
        </p:txBody>
      </p:sp>
      <p:sp>
        <p:nvSpPr>
          <p:cNvPr id="3" name="TextBox 2" descr="Footer: BADM 225 · Chapter 12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12  ·  © Derek D. Bussan</a:t>
            </a:r>
          </a:p>
        </p:txBody>
      </p:sp>
      <p:sp>
        <p:nvSpPr>
          <p:cNvPr id="4" name="TextBox 3" descr="Slide number 7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7</a:t>
            </a:r>
          </a:p>
        </p:txBody>
      </p:sp>
      <p:sp>
        <p:nvSpPr>
          <p:cNvPr id="5" name="Rounded Rectangle 4" descr="The BRIEFING (informing) panel"/>
          <p:cNvSpPr/>
          <p:nvPr/>
        </p:nvSpPr>
        <p:spPr>
          <a:xfrm>
            <a:off x="548640" y="1554480"/>
            <a:ext cx="5394960" cy="4572000"/>
          </a:xfrm>
          <a:prstGeom prst="roundRect">
            <a:avLst/>
          </a:prstGeom>
          <a:solidFill>
            <a:srgbClr val="EA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0E4D33"/>
                </a:solidFill>
                <a:latin typeface="Cambria"/>
              </a:rPr>
              <a:t>The BRIEFING (informing)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Takeaway = the finding: 'the pilot worked; here's what we learned'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Structure: answer first, then the evidence tour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Success = the audience can explain it afterward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Neutral tone; completeness matters (Chapter 9)</a:t>
            </a:r>
          </a:p>
        </p:txBody>
      </p:sp>
      <p:sp>
        <p:nvSpPr>
          <p:cNvPr id="6" name="Rounded Rectangle 5" descr="The PITCH (persuading) panel"/>
          <p:cNvSpPr/>
          <p:nvPr/>
        </p:nvSpPr>
        <p:spPr>
          <a:xfrm>
            <a:off x="6263640" y="1554480"/>
            <a:ext cx="5394960" cy="4572000"/>
          </a:xfrm>
          <a:prstGeom prst="roundRect">
            <a:avLst/>
          </a:prstGeom>
          <a:solidFill>
            <a:srgbClr val="EA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0E4D33"/>
                </a:solidFill>
                <a:latin typeface="Cambria"/>
              </a:rPr>
              <a:t>The PITCH (persuading)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Takeaway = the ask: 'approve the two-bench rollout'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Structure: AIDA on its feet (Chapter 8)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Success = the audience does something afterward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Objections pre-answered; one calibrated ask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Building the talk, in order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Building the talk, in order</a:t>
            </a:r>
          </a:p>
        </p:txBody>
      </p:sp>
      <p:sp>
        <p:nvSpPr>
          <p:cNvPr id="3" name="TextBox 2" descr="Footer: BADM 225 · Chapter 12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12  ·  © Derek D. Bussan</a:t>
            </a:r>
          </a:p>
        </p:txBody>
      </p:sp>
      <p:sp>
        <p:nvSpPr>
          <p:cNvPr id="4" name="TextBox 3" descr="Slide number 8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8</a:t>
            </a:r>
          </a:p>
        </p:txBody>
      </p:sp>
      <p:sp>
        <p:nvSpPr>
          <p:cNvPr id="5" name="Chevron 4" descr="Step 1: TAKEAWAY"/>
          <p:cNvSpPr/>
          <p:nvPr/>
        </p:nvSpPr>
        <p:spPr>
          <a:xfrm>
            <a:off x="548640" y="1828800"/>
            <a:ext cx="2143353" cy="1143000"/>
          </a:xfrm>
          <a:prstGeom prst="chevron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TAKEAWAY</a:t>
            </a:r>
          </a:p>
        </p:txBody>
      </p:sp>
      <p:sp>
        <p:nvSpPr>
          <p:cNvPr id="6" name="TextBox 5" descr="TAKEAWAY detail"/>
          <p:cNvSpPr txBox="1"/>
          <p:nvPr/>
        </p:nvSpPr>
        <p:spPr>
          <a:xfrm>
            <a:off x="548640" y="3154680"/>
            <a:ext cx="2143353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The one repeatable sentence — written first</a:t>
            </a:r>
          </a:p>
        </p:txBody>
      </p:sp>
      <p:sp>
        <p:nvSpPr>
          <p:cNvPr id="7" name="Chevron 6" descr="Step 2: THREE POINTS"/>
          <p:cNvSpPr/>
          <p:nvPr/>
        </p:nvSpPr>
        <p:spPr>
          <a:xfrm>
            <a:off x="2801721" y="1828800"/>
            <a:ext cx="2143353" cy="1143000"/>
          </a:xfrm>
          <a:prstGeom prst="chevron">
            <a:avLst/>
          </a:prstGeom>
          <a:solidFill>
            <a:srgbClr val="5C8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THREE POINTS</a:t>
            </a:r>
          </a:p>
        </p:txBody>
      </p:sp>
      <p:sp>
        <p:nvSpPr>
          <p:cNvPr id="8" name="TextBox 7" descr="THREE POINTS detail"/>
          <p:cNvSpPr txBox="1"/>
          <p:nvPr/>
        </p:nvSpPr>
        <p:spPr>
          <a:xfrm>
            <a:off x="2801721" y="3154680"/>
            <a:ext cx="2143353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The MECE reasons that carry it (Chapter 9)</a:t>
            </a:r>
          </a:p>
        </p:txBody>
      </p:sp>
      <p:sp>
        <p:nvSpPr>
          <p:cNvPr id="9" name="Chevron 8" descr="Step 3: EVIDENCE"/>
          <p:cNvSpPr/>
          <p:nvPr/>
        </p:nvSpPr>
        <p:spPr>
          <a:xfrm>
            <a:off x="5054803" y="1828800"/>
            <a:ext cx="2143353" cy="1143000"/>
          </a:xfrm>
          <a:prstGeom prst="chevron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EVIDENCE</a:t>
            </a:r>
          </a:p>
        </p:txBody>
      </p:sp>
      <p:sp>
        <p:nvSpPr>
          <p:cNvPr id="10" name="TextBox 9" descr="EVIDENCE detail"/>
          <p:cNvSpPr txBox="1"/>
          <p:nvPr/>
        </p:nvSpPr>
        <p:spPr>
          <a:xfrm>
            <a:off x="5054803" y="3154680"/>
            <a:ext cx="2143353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Per point: a number, a story, or a demonstration</a:t>
            </a:r>
          </a:p>
        </p:txBody>
      </p:sp>
      <p:sp>
        <p:nvSpPr>
          <p:cNvPr id="11" name="Chevron 10" descr="Step 4: OPEN + CLOSE"/>
          <p:cNvSpPr/>
          <p:nvPr/>
        </p:nvSpPr>
        <p:spPr>
          <a:xfrm>
            <a:off x="7307884" y="1828800"/>
            <a:ext cx="2143353" cy="1143000"/>
          </a:xfrm>
          <a:prstGeom prst="chevron">
            <a:avLst/>
          </a:prstGeom>
          <a:solidFill>
            <a:srgbClr val="5C8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OPEN + CLOSE</a:t>
            </a:r>
          </a:p>
        </p:txBody>
      </p:sp>
      <p:sp>
        <p:nvSpPr>
          <p:cNvPr id="12" name="TextBox 11" descr="OPEN + CLOSE detail"/>
          <p:cNvSpPr txBox="1"/>
          <p:nvPr/>
        </p:nvSpPr>
        <p:spPr>
          <a:xfrm>
            <a:off x="7307884" y="3154680"/>
            <a:ext cx="2143353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Built LAST, once you know what they frame</a:t>
            </a:r>
          </a:p>
        </p:txBody>
      </p:sp>
      <p:sp>
        <p:nvSpPr>
          <p:cNvPr id="13" name="Chevron 12" descr="Step 5: SLIDES"/>
          <p:cNvSpPr/>
          <p:nvPr/>
        </p:nvSpPr>
        <p:spPr>
          <a:xfrm>
            <a:off x="9560966" y="1828800"/>
            <a:ext cx="2143353" cy="1143000"/>
          </a:xfrm>
          <a:prstGeom prst="chevron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SLIDES</a:t>
            </a:r>
          </a:p>
        </p:txBody>
      </p:sp>
      <p:sp>
        <p:nvSpPr>
          <p:cNvPr id="14" name="TextBox 13" descr="SLIDES detail"/>
          <p:cNvSpPr txBox="1"/>
          <p:nvPr/>
        </p:nvSpPr>
        <p:spPr>
          <a:xfrm>
            <a:off x="9560966" y="3154680"/>
            <a:ext cx="2143353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Built last of all — the talk exists before the deck</a:t>
            </a:r>
          </a:p>
        </p:txBody>
      </p:sp>
      <p:sp>
        <p:nvSpPr>
          <p:cNvPr id="15" name="Rounded Rectangle 14" descr="Key insight"/>
          <p:cNvSpPr/>
          <p:nvPr/>
        </p:nvSpPr>
        <p:spPr>
          <a:xfrm>
            <a:off x="548640" y="4892040"/>
            <a:ext cx="11064240" cy="1234440"/>
          </a:xfrm>
          <a:prstGeom prst="roundRect">
            <a:avLst/>
          </a:prstGeom>
          <a:solidFill>
            <a:srgbClr val="EA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0E4D33"/>
                </a:solidFill>
                <a:latin typeface="Calibri"/>
              </a:rPr>
              <a:t>Key insight: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Slides come LAST. A talk built by opening PowerPoint first becomes a tour of slides — structure by template, not by thought.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Openings and closings"/>
          <p:cNvSpPr>
            <a:spLocks noGrp="1"/>
          </p:cNvSpPr>
          <p:nvPr>
            <p:ph type="title"/>
          </p:nvPr>
        </p:nvSpPr>
        <p:spPr>
          <a:xfrm>
            <a:off x="822960" y="2834640"/>
            <a:ext cx="10515600" cy="914400"/>
          </a:xfrm>
        </p:spPr>
        <p:txBody>
          <a:bodyPr wrap="square"/>
          <a:lstStyle/>
          <a:p>
            <a:pPr algn="l"/>
            <a:r>
              <a:rPr sz="4000" b="1">
                <a:solidFill>
                  <a:srgbClr val="FFFFFF"/>
                </a:solidFill>
                <a:latin typeface="Cambria"/>
              </a:rPr>
              <a:t>Openings and closings</a:t>
            </a:r>
          </a:p>
        </p:txBody>
      </p:sp>
      <p:sp>
        <p:nvSpPr>
          <p:cNvPr id="3" name="TextBox 2" descr="Section number 02"/>
          <p:cNvSpPr txBox="1"/>
          <p:nvPr/>
        </p:nvSpPr>
        <p:spPr>
          <a:xfrm>
            <a:off x="822960" y="11887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8000" b="1" i="0">
                <a:solidFill>
                  <a:srgbClr val="C9931A"/>
                </a:solidFill>
                <a:latin typeface="Cambria"/>
              </a:rPr>
              <a:t>02</a:t>
            </a:r>
          </a:p>
        </p:txBody>
      </p:sp>
      <p:sp>
        <p:nvSpPr>
          <p:cNvPr id="4" name="TextBox 3" descr="Section note"/>
          <p:cNvSpPr txBox="1"/>
          <p:nvPr/>
        </p:nvSpPr>
        <p:spPr>
          <a:xfrm>
            <a:off x="822960" y="402336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EAF1EB"/>
                </a:solidFill>
                <a:latin typeface="Calibri"/>
              </a:rPr>
              <a:t>The two moments every audience remembers.</a:t>
            </a:r>
          </a:p>
        </p:txBody>
      </p:sp>
      <p:sp>
        <p:nvSpPr>
          <p:cNvPr id="5" name="TextBox 4" descr="Footer: BADM 225 · Chapter 12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12  ·  © Derek D. Bussan</a:t>
            </a:r>
          </a:p>
        </p:txBody>
      </p:sp>
      <p:sp>
        <p:nvSpPr>
          <p:cNvPr id="6" name="TextBox 5" descr="Slide number 9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Openings that earn the next ten minutes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Openings that earn the next ten minutes</a:t>
            </a:r>
          </a:p>
        </p:txBody>
      </p:sp>
      <p:sp>
        <p:nvSpPr>
          <p:cNvPr id="3" name="TextBox 2" descr="Footer: BADM 225 · Chapter 12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12  ·  © Derek D. Bussan</a:t>
            </a:r>
          </a:p>
        </p:txBody>
      </p:sp>
      <p:sp>
        <p:nvSpPr>
          <p:cNvPr id="4" name="TextBox 3" descr="Slide number 10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10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Open with their stakes, not your name.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'Every week, this lab loses thirty tech-hours to duplicate entry' beats 'Hi, I'm… and today I'll talk about…'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Strong openers: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striking number, the short story, the question they can't unhear, the before/after — all pointed at the takeaway.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Never open with an apology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('I'm not much of a presenter,' 'there wasn't much time') — you're teaching the room how little to expect.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Memorize the first minute cold.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It's the nerves' worst window and the audience's judgment window — script it, rehearse it, own it.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The roadmap: tell them where this is going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The roadmap: tell them where this is going</a:t>
            </a:r>
          </a:p>
        </p:txBody>
      </p:sp>
      <p:sp>
        <p:nvSpPr>
          <p:cNvPr id="3" name="TextBox 2" descr="Footer: BADM 225 · Chapter 12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12  ·  © Derek D. Bussan</a:t>
            </a:r>
          </a:p>
        </p:txBody>
      </p:sp>
      <p:sp>
        <p:nvSpPr>
          <p:cNvPr id="4" name="TextBox 3" descr="Slide number 11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11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After the hook, the map: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'I'll show you the problem's cost, the fix we piloted, and the decision I'm asking for.'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Three stops, named memorably —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roadmap is your pyramid's second layer, read aloud.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map is a promise;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keep it visibly: 'that's the cost — now the fix' lets the audience always know where they are.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Lost audiences don't re-engage.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Unlike readers, listeners can't scroll back — signposting isn't style, it's the only navigation they get.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Closings: the ask and the echo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Closings: the ask and the echo</a:t>
            </a:r>
          </a:p>
        </p:txBody>
      </p:sp>
      <p:sp>
        <p:nvSpPr>
          <p:cNvPr id="3" name="TextBox 2" descr="Footer: BADM 225 · Chapter 12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12  ·  © Derek D. Bussan</a:t>
            </a:r>
          </a:p>
        </p:txBody>
      </p:sp>
      <p:sp>
        <p:nvSpPr>
          <p:cNvPr id="4" name="TextBox 3" descr="Slide number 12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12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Never end on Q&amp;A —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take questions, THEN close. The last thing in the room should be your sentence, not a stranger's tangent.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close has two beats: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echo ('renew with TechServe — $23K a year') and the ask ('I need the committee's decision by the 25th').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Make the ask concrete and dated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(Chapter 6's rule, spoken): 'think it over' converts nobody; 'approve the pilot today' converts the convinced.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'Thank you' is not a closing.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It's a signal you ran out of material. Close with the takeaway; the thanks can ride along after.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Transitions carry the structure out loud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Transitions carry the structure out loud</a:t>
            </a:r>
          </a:p>
        </p:txBody>
      </p:sp>
      <p:sp>
        <p:nvSpPr>
          <p:cNvPr id="3" name="TextBox 2" descr="Footer: BADM 225 · Chapter 12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12  ·  © Derek D. Bussan</a:t>
            </a:r>
          </a:p>
        </p:txBody>
      </p:sp>
      <p:sp>
        <p:nvSpPr>
          <p:cNvPr id="4" name="TextBox 3" descr="Slide number 13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13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Between points, land and launch: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'So the current process costs $67K — that's the problem. Here's the fix we tested.'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mini-summary is the listener's save point: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every few minutes, one sentence of 'where we've been' rescues everyone who drifted.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Number the journey: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'the second of three reasons' does for a talk what headings do for a memo (Chapter 3).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Silence is a transition too: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a two-second pause before a big point is a spotlight; constant talking is fog.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The body of the talk"/>
          <p:cNvSpPr>
            <a:spLocks noGrp="1"/>
          </p:cNvSpPr>
          <p:nvPr>
            <p:ph type="title"/>
          </p:nvPr>
        </p:nvSpPr>
        <p:spPr>
          <a:xfrm>
            <a:off x="822960" y="2834640"/>
            <a:ext cx="10515600" cy="914400"/>
          </a:xfrm>
        </p:spPr>
        <p:txBody>
          <a:bodyPr wrap="square"/>
          <a:lstStyle/>
          <a:p>
            <a:pPr algn="l"/>
            <a:r>
              <a:rPr sz="4000" b="1">
                <a:solidFill>
                  <a:srgbClr val="FFFFFF"/>
                </a:solidFill>
                <a:latin typeface="Cambria"/>
              </a:rPr>
              <a:t>The body of the talk</a:t>
            </a:r>
          </a:p>
        </p:txBody>
      </p:sp>
      <p:sp>
        <p:nvSpPr>
          <p:cNvPr id="3" name="TextBox 2" descr="Section number 03"/>
          <p:cNvSpPr txBox="1"/>
          <p:nvPr/>
        </p:nvSpPr>
        <p:spPr>
          <a:xfrm>
            <a:off x="822960" y="11887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8000" b="1" i="0">
                <a:solidFill>
                  <a:srgbClr val="C9931A"/>
                </a:solidFill>
                <a:latin typeface="Cambria"/>
              </a:rPr>
              <a:t>03</a:t>
            </a:r>
          </a:p>
        </p:txBody>
      </p:sp>
      <p:sp>
        <p:nvSpPr>
          <p:cNvPr id="4" name="TextBox 3" descr="Section note"/>
          <p:cNvSpPr txBox="1"/>
          <p:nvPr/>
        </p:nvSpPr>
        <p:spPr>
          <a:xfrm>
            <a:off x="822960" y="402336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EAF1EB"/>
                </a:solidFill>
                <a:latin typeface="Calibri"/>
              </a:rPr>
              <a:t>Three points, proven three ways.</a:t>
            </a:r>
          </a:p>
        </p:txBody>
      </p:sp>
      <p:sp>
        <p:nvSpPr>
          <p:cNvPr id="5" name="TextBox 4" descr="Footer: BADM 225 · Chapter 12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12  ·  © Derek D. Bussan</a:t>
            </a:r>
          </a:p>
        </p:txBody>
      </p:sp>
      <p:sp>
        <p:nvSpPr>
          <p:cNvPr id="6" name="TextBox 5" descr="Slide number 14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Three points, not eleven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Three points, not eleven</a:t>
            </a:r>
          </a:p>
        </p:txBody>
      </p:sp>
      <p:sp>
        <p:nvSpPr>
          <p:cNvPr id="3" name="TextBox 2" descr="Footer: BADM 225 · Chapter 12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12  ·  © Derek D. Bussan</a:t>
            </a:r>
          </a:p>
        </p:txBody>
      </p:sp>
      <p:sp>
        <p:nvSpPr>
          <p:cNvPr id="4" name="TextBox 3" descr="Slide number 15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15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Working memory applies to listeners double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(Miller, 1956) — they can't re-read, so three chunked points is the ceiling, not a style choice.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Depth beats coverage: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three points with evidence outperform seven points with adjectives — the dilution effect works on rooms too (Chapter 8).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Cut by the takeaway test: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fascinating tangent that doesn't serve the sentence goes to the appendix slide — or the parking lot.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If it must be eleven things,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it's a document, not a talk. Send the memo; present the three that matter.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Evidence variety: number, story, demonstration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Evidence variety: number, story, demonstration</a:t>
            </a:r>
          </a:p>
        </p:txBody>
      </p:sp>
      <p:sp>
        <p:nvSpPr>
          <p:cNvPr id="3" name="TextBox 2" descr="Footer: BADM 225 · Chapter 12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12  ·  © Derek D. Bussan</a:t>
            </a:r>
          </a:p>
        </p:txBody>
      </p:sp>
      <p:sp>
        <p:nvSpPr>
          <p:cNvPr id="4" name="TextBox 3" descr="Slide number 16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16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Numbers convince the analyst: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one strong figure per point, sourced, rounded for the ear — '$67K a year' lands; '$66,847.13' evaporates.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Stories convince everyone else: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ninety seconds, named human, real stakes, pointed at the takeaway — narrative is the brain's native format.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Demonstrations convince the skeptics: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live before/after beats both — with a recorded backup for when the demo gods are angry (see the case).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Rotate the three: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a talk that's all numbers is an actuarial table; all stories, a campfire. Each point gets its best-fit proof.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Business storytelling without the campfire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Business storytelling without the campfire</a:t>
            </a:r>
          </a:p>
        </p:txBody>
      </p:sp>
      <p:sp>
        <p:nvSpPr>
          <p:cNvPr id="3" name="TextBox 2" descr="Footer: BADM 225 · Chapter 12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12  ·  © Derek D. Bussan</a:t>
            </a:r>
          </a:p>
        </p:txBody>
      </p:sp>
      <p:sp>
        <p:nvSpPr>
          <p:cNvPr id="4" name="TextBox 3" descr="Slide number 17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17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four-beat skeleton: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a person, a problem, what they tried, what changed — sixty to ninety seconds, no subplot survives.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Real and checkable: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'a lab tech named Priya, on the Tuesday shift' — invented stories are discovered, and the discovery costs everything (Chapter 8's truth test).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story serves the point, announced: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land it — 'that's what thirty lost hours a week looks like' — or the room enjoys it and misses it.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One story per talk does real work.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Three stories is a variety show; the number-story-demo rotation keeps proportion.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Slides"/>
          <p:cNvSpPr>
            <a:spLocks noGrp="1"/>
          </p:cNvSpPr>
          <p:nvPr>
            <p:ph type="title"/>
          </p:nvPr>
        </p:nvSpPr>
        <p:spPr>
          <a:xfrm>
            <a:off x="822960" y="2834640"/>
            <a:ext cx="10515600" cy="914400"/>
          </a:xfrm>
        </p:spPr>
        <p:txBody>
          <a:bodyPr wrap="square"/>
          <a:lstStyle/>
          <a:p>
            <a:pPr algn="l"/>
            <a:r>
              <a:rPr sz="4000" b="1">
                <a:solidFill>
                  <a:srgbClr val="FFFFFF"/>
                </a:solidFill>
                <a:latin typeface="Cambria"/>
              </a:rPr>
              <a:t>Slides</a:t>
            </a:r>
          </a:p>
        </p:txBody>
      </p:sp>
      <p:sp>
        <p:nvSpPr>
          <p:cNvPr id="3" name="TextBox 2" descr="Section number 04"/>
          <p:cNvSpPr txBox="1"/>
          <p:nvPr/>
        </p:nvSpPr>
        <p:spPr>
          <a:xfrm>
            <a:off x="822960" y="11887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8000" b="1" i="0">
                <a:solidFill>
                  <a:srgbClr val="C9931A"/>
                </a:solidFill>
                <a:latin typeface="Cambria"/>
              </a:rPr>
              <a:t>04</a:t>
            </a:r>
          </a:p>
        </p:txBody>
      </p:sp>
      <p:sp>
        <p:nvSpPr>
          <p:cNvPr id="4" name="TextBox 3" descr="Section note"/>
          <p:cNvSpPr txBox="1"/>
          <p:nvPr/>
        </p:nvSpPr>
        <p:spPr>
          <a:xfrm>
            <a:off x="822960" y="402336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EAF1EB"/>
                </a:solidFill>
                <a:latin typeface="Calibri"/>
              </a:rPr>
              <a:t>Billboards, not documents — the audience reads or listens, never both.</a:t>
            </a:r>
          </a:p>
        </p:txBody>
      </p:sp>
      <p:sp>
        <p:nvSpPr>
          <p:cNvPr id="5" name="TextBox 4" descr="Footer: BADM 225 · Chapter 12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12  ·  © Derek D. Bussan</a:t>
            </a:r>
          </a:p>
        </p:txBody>
      </p:sp>
      <p:sp>
        <p:nvSpPr>
          <p:cNvPr id="6" name="TextBox 5" descr="Slide number 18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The billboard rules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The billboard rules</a:t>
            </a:r>
          </a:p>
        </p:txBody>
      </p:sp>
      <p:sp>
        <p:nvSpPr>
          <p:cNvPr id="3" name="TextBox 2" descr="Footer: BADM 225 · Chapter 12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12  ·  © Derek D. Bussan</a:t>
            </a:r>
          </a:p>
        </p:txBody>
      </p:sp>
      <p:sp>
        <p:nvSpPr>
          <p:cNvPr id="4" name="TextBox 3" descr="Slide number 19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19</a:t>
            </a:r>
          </a:p>
        </p:txBody>
      </p:sp>
      <p:sp>
        <p:nvSpPr>
          <p:cNvPr id="5" name="TextBox 4" descr="Context"/>
          <p:cNvSpPr txBox="1"/>
          <p:nvPr/>
        </p:nvSpPr>
        <p:spPr>
          <a:xfrm>
            <a:off x="548640" y="1417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1">
                <a:solidFill>
                  <a:srgbClr val="5E6B64"/>
                </a:solidFill>
                <a:latin typeface="Calibri"/>
              </a:rPr>
              <a:t>Audiences read faster than you talk — whatever's on screen, they've finished before you have.</a:t>
            </a:r>
          </a:p>
        </p:txBody>
      </p:sp>
      <p:sp>
        <p:nvSpPr>
          <p:cNvPr id="6" name="Oval 5" descr="One point per slide icon"/>
          <p:cNvSpPr/>
          <p:nvPr/>
        </p:nvSpPr>
        <p:spPr>
          <a:xfrm>
            <a:off x="640080" y="1975104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 descr="One point per slide"/>
          <p:cNvSpPr txBox="1"/>
          <p:nvPr/>
        </p:nvSpPr>
        <p:spPr>
          <a:xfrm>
            <a:off x="1417320" y="192024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One point per slide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The slide makes the claim; YOU carry the detail. More points = a document leaking into the room.</a:t>
            </a:r>
          </a:p>
        </p:txBody>
      </p:sp>
      <p:sp>
        <p:nvSpPr>
          <p:cNvPr id="8" name="Oval 7" descr="Readable in three seconds icon"/>
          <p:cNvSpPr/>
          <p:nvPr/>
        </p:nvSpPr>
        <p:spPr>
          <a:xfrm>
            <a:off x="640080" y="2999232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👀</a:t>
            </a:r>
          </a:p>
        </p:txBody>
      </p:sp>
      <p:sp>
        <p:nvSpPr>
          <p:cNvPr id="9" name="TextBox 8" descr="Readable in three seconds"/>
          <p:cNvSpPr txBox="1"/>
          <p:nvPr/>
        </p:nvSpPr>
        <p:spPr>
          <a:xfrm>
            <a:off x="1417320" y="2944368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Readable in three seconds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If the back row must study it, it's competing with you — and the slide always wins.</a:t>
            </a:r>
          </a:p>
        </p:txBody>
      </p:sp>
      <p:sp>
        <p:nvSpPr>
          <p:cNvPr id="10" name="Oval 9" descr="Big type, few words icon"/>
          <p:cNvSpPr/>
          <p:nvPr/>
        </p:nvSpPr>
        <p:spPr>
          <a:xfrm>
            <a:off x="640080" y="4023360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🔤</a:t>
            </a:r>
          </a:p>
        </p:txBody>
      </p:sp>
      <p:sp>
        <p:nvSpPr>
          <p:cNvPr id="11" name="TextBox 10" descr="Big type, few words"/>
          <p:cNvSpPr txBox="1"/>
          <p:nvPr/>
        </p:nvSpPr>
        <p:spPr>
          <a:xfrm>
            <a:off x="1417320" y="3968496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Big type, few words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Sentence-fragment bullets, generous space — if it needs 14-point type, it needs fewer words.</a:t>
            </a:r>
          </a:p>
        </p:txBody>
      </p:sp>
      <p:sp>
        <p:nvSpPr>
          <p:cNvPr id="12" name="Oval 11" descr="Visuals that ARE the point icon"/>
          <p:cNvSpPr/>
          <p:nvPr/>
        </p:nvSpPr>
        <p:spPr>
          <a:xfrm>
            <a:off x="640080" y="5047488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🖼</a:t>
            </a:r>
          </a:p>
        </p:txBody>
      </p:sp>
      <p:sp>
        <p:nvSpPr>
          <p:cNvPr id="13" name="TextBox 12" descr="Visuals that ARE the point"/>
          <p:cNvSpPr txBox="1"/>
          <p:nvPr/>
        </p:nvSpPr>
        <p:spPr>
          <a:xfrm>
            <a:off x="1417320" y="4992624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Visuals that ARE the point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The chart, the photo, the diagram — decoration is noise wearing a picture costume.</a:t>
            </a:r>
          </a:p>
        </p:txBody>
      </p:sp>
      <p:sp>
        <p:nvSpPr>
          <p:cNvPr id="14" name="Oval 13" descr="The empty slide is legal icon"/>
          <p:cNvSpPr/>
          <p:nvPr/>
        </p:nvSpPr>
        <p:spPr>
          <a:xfrm>
            <a:off x="640080" y="6071616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⬛</a:t>
            </a:r>
          </a:p>
        </p:txBody>
      </p:sp>
      <p:sp>
        <p:nvSpPr>
          <p:cNvPr id="15" name="TextBox 14" descr="The empty slide is legal"/>
          <p:cNvSpPr txBox="1"/>
          <p:nvPr/>
        </p:nvSpPr>
        <p:spPr>
          <a:xfrm>
            <a:off x="1417320" y="6016752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The empty slide is legal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Nothing on screen = all eyes on you. Use it for the story and the big ask.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The deck and the document are different artifacts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The deck and the document are different artifacts</a:t>
            </a:r>
          </a:p>
        </p:txBody>
      </p:sp>
      <p:sp>
        <p:nvSpPr>
          <p:cNvPr id="3" name="TextBox 2" descr="Footer: BADM 225 · Chapter 12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12  ·  © Derek D. Bussan</a:t>
            </a:r>
          </a:p>
        </p:txBody>
      </p:sp>
      <p:sp>
        <p:nvSpPr>
          <p:cNvPr id="4" name="TextBox 3" descr="Slide number 20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20</a:t>
            </a:r>
          </a:p>
        </p:txBody>
      </p:sp>
      <p:sp>
        <p:nvSpPr>
          <p:cNvPr id="5" name="Rounded Rectangle 4" descr="The PRESENTATION deck panel"/>
          <p:cNvSpPr/>
          <p:nvPr/>
        </p:nvSpPr>
        <p:spPr>
          <a:xfrm>
            <a:off x="548640" y="1554480"/>
            <a:ext cx="5394960" cy="4572000"/>
          </a:xfrm>
          <a:prstGeom prst="roundRect">
            <a:avLst/>
          </a:prstGeom>
          <a:solidFill>
            <a:srgbClr val="EA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0E4D33"/>
                </a:solidFill>
                <a:latin typeface="Cambria"/>
              </a:rPr>
              <a:t>The PRESENTATION deck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Billboards — one claim, big type, visual proof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Meaningless without the speaker (by design)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Built for the room's attention</a:t>
            </a:r>
          </a:p>
        </p:txBody>
      </p:sp>
      <p:sp>
        <p:nvSpPr>
          <p:cNvPr id="6" name="Rounded Rectangle 5" descr="The LEAVE-BEHIND (slide-doc) panel"/>
          <p:cNvSpPr/>
          <p:nvPr/>
        </p:nvSpPr>
        <p:spPr>
          <a:xfrm>
            <a:off x="6263640" y="1554480"/>
            <a:ext cx="5394960" cy="4572000"/>
          </a:xfrm>
          <a:prstGeom prst="roundRect">
            <a:avLst/>
          </a:prstGeom>
          <a:solidFill>
            <a:srgbClr val="EA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0E4D33"/>
                </a:solidFill>
                <a:latin typeface="Cambria"/>
              </a:rPr>
              <a:t>The LEAVE-BEHIND (slide-doc)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Sections, takeaway titles, full evidence — readable alone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Built for the forward, the absent, the archive (Chapter 9)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Send it AFTER — announce it up front so nobody transcribes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Takeaway titles, on slides too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Takeaway titles, on slides too</a:t>
            </a:r>
          </a:p>
        </p:txBody>
      </p:sp>
      <p:sp>
        <p:nvSpPr>
          <p:cNvPr id="3" name="TextBox 2" descr="Footer: BADM 225 · Chapter 12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12  ·  © Derek D. Bussan</a:t>
            </a:r>
          </a:p>
        </p:txBody>
      </p:sp>
      <p:sp>
        <p:nvSpPr>
          <p:cNvPr id="4" name="TextBox 3" descr="Slide number 21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21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title line carries the claim: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'Pilot cut intake time 38%' — not 'Pilot Results' (Chapter 9's chart-title rule, at 30 points bold).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Read the deck by titles only: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if the title sequence tells the whole story, the deck is built; if it reads 'Background, Data, Discussion' — it isn't.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Takeaway titles survive the skim: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exec who flips your leave-behind in ninety seconds gets the entire argument from titles alone.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They discipline you, too: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a slide whose honest title you can't write is a slide that doesn't know its job. Cut it.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Data on slides: the two-second read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Data on slides: the two-second read</a:t>
            </a:r>
          </a:p>
        </p:txBody>
      </p:sp>
      <p:sp>
        <p:nvSpPr>
          <p:cNvPr id="3" name="TextBox 2" descr="Footer: BADM 225 · Chapter 12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12  ·  © Derek D. Bussan</a:t>
            </a:r>
          </a:p>
        </p:txBody>
      </p:sp>
      <p:sp>
        <p:nvSpPr>
          <p:cNvPr id="4" name="TextBox 3" descr="Slide number 22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22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One chart, one point, announced in the title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— the full Chapter 9 canon applies, at projection distance.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Strip to the point: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gridlines, legends, and six data series die at the back row — highlight THE line, gray the context.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Round for the ear, label for the eye: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say '$67K'; let the slide hold the precise figure for the skeptic.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Never apologize for a busy slide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('I know this is hard to read…') — if you know, why is it here? Rebuild it or cut it.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Slide hygiene: the quiet credibility layer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Slide hygiene: the quiet credibility layer</a:t>
            </a:r>
          </a:p>
        </p:txBody>
      </p:sp>
      <p:sp>
        <p:nvSpPr>
          <p:cNvPr id="3" name="TextBox 2" descr="Footer: BADM 225 · Chapter 12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12  ·  © Derek D. Bussan</a:t>
            </a:r>
          </a:p>
        </p:txBody>
      </p:sp>
      <p:sp>
        <p:nvSpPr>
          <p:cNvPr id="4" name="TextBox 3" descr="Slide number 23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23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One template, consistently: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same fonts, same colors, same title position — every deviation is a speed bump the audience feels.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Contrast that survives the projector: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elegant gray-on-white that worked on your laptop vanishes under fluorescent light. Test at distance.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Accessibility is part of the craft: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high contrast, 24-point floors, color never carrying meaning alone (Chapter 9), alt text on the shared copy.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Proofread the deck like a document: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typo on screen is a typo at billboard scale, with witnesses (Chapter 4).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Delivery"/>
          <p:cNvSpPr>
            <a:spLocks noGrp="1"/>
          </p:cNvSpPr>
          <p:nvPr>
            <p:ph type="title"/>
          </p:nvPr>
        </p:nvSpPr>
        <p:spPr>
          <a:xfrm>
            <a:off x="822960" y="2834640"/>
            <a:ext cx="10515600" cy="914400"/>
          </a:xfrm>
        </p:spPr>
        <p:txBody>
          <a:bodyPr wrap="square"/>
          <a:lstStyle/>
          <a:p>
            <a:pPr algn="l"/>
            <a:r>
              <a:rPr sz="4000" b="1">
                <a:solidFill>
                  <a:srgbClr val="FFFFFF"/>
                </a:solidFill>
                <a:latin typeface="Cambria"/>
              </a:rPr>
              <a:t>Delivery</a:t>
            </a:r>
          </a:p>
        </p:txBody>
      </p:sp>
      <p:sp>
        <p:nvSpPr>
          <p:cNvPr id="3" name="TextBox 2" descr="Section number 05"/>
          <p:cNvSpPr txBox="1"/>
          <p:nvPr/>
        </p:nvSpPr>
        <p:spPr>
          <a:xfrm>
            <a:off x="822960" y="11887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8000" b="1" i="0">
                <a:solidFill>
                  <a:srgbClr val="C9931A"/>
                </a:solidFill>
                <a:latin typeface="Cambria"/>
              </a:rPr>
              <a:t>05</a:t>
            </a:r>
          </a:p>
        </p:txBody>
      </p:sp>
      <p:sp>
        <p:nvSpPr>
          <p:cNvPr id="4" name="TextBox 3" descr="Section note"/>
          <p:cNvSpPr txBox="1"/>
          <p:nvPr/>
        </p:nvSpPr>
        <p:spPr>
          <a:xfrm>
            <a:off x="822960" y="402336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EAF1EB"/>
                </a:solidFill>
                <a:latin typeface="Calibri"/>
              </a:rPr>
              <a:t>Voice and body are instruments — rehearsal is how you tune them.</a:t>
            </a:r>
          </a:p>
        </p:txBody>
      </p:sp>
      <p:sp>
        <p:nvSpPr>
          <p:cNvPr id="5" name="TextBox 4" descr="Footer: BADM 225 · Chapter 12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12  ·  © Derek D. Bussan</a:t>
            </a:r>
          </a:p>
        </p:txBody>
      </p:sp>
      <p:sp>
        <p:nvSpPr>
          <p:cNvPr id="6" name="TextBox 5" descr="Slide number 24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Everyone's nervous; the rehearsed are nervous AND ready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Everyone's nervous; the rehearsed are nervous AND ready</a:t>
            </a:r>
          </a:p>
        </p:txBody>
      </p:sp>
      <p:sp>
        <p:nvSpPr>
          <p:cNvPr id="3" name="TextBox 2" descr="Footer: BADM 225 · Chapter 12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12  ·  © Derek D. Bussan</a:t>
            </a:r>
          </a:p>
        </p:txBody>
      </p:sp>
      <p:sp>
        <p:nvSpPr>
          <p:cNvPr id="4" name="TextBox 3" descr="Slide number 25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25</a:t>
            </a:r>
          </a:p>
        </p:txBody>
      </p:sp>
      <p:sp>
        <p:nvSpPr>
          <p:cNvPr id="5" name="Rounded Rectangle 4" descr="Highlighted statistic"/>
          <p:cNvSpPr/>
          <p:nvPr/>
        </p:nvSpPr>
        <p:spPr>
          <a:xfrm>
            <a:off x="548640" y="1645920"/>
            <a:ext cx="4206240" cy="4206240"/>
          </a:xfrm>
          <a:prstGeom prst="roundRect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>
              <a:spcAft>
                <a:spcPts val="400"/>
              </a:spcAft>
            </a:pPr>
            <a:r>
              <a:rPr sz="6400" b="1">
                <a:solidFill>
                  <a:srgbClr val="FFFFFF"/>
                </a:solidFill>
                <a:latin typeface="Cambria"/>
              </a:rPr>
              <a:t>3×</a:t>
            </a:r>
          </a:p>
          <a:p>
            <a:pPr algn="ctr">
              <a:spcAft>
                <a:spcPts val="800"/>
              </a:spcAft>
            </a:pPr>
            <a:r>
              <a:rPr sz="1500" b="0" i="0">
                <a:solidFill>
                  <a:srgbClr val="EAF1EB"/>
                </a:solidFill>
                <a:latin typeface="Calibri"/>
              </a:rPr>
              <a:t>Rehearsing a talk aloud three times, in realistic conditions, is the single most reliable anxiety reducer in the speaker's toolkit.</a:t>
            </a:r>
          </a:p>
        </p:txBody>
      </p:sp>
      <p:sp>
        <p:nvSpPr>
          <p:cNvPr id="6" name="TextBox 5" descr="Supporting points"/>
          <p:cNvSpPr txBox="1"/>
          <p:nvPr/>
        </p:nvSpPr>
        <p:spPr>
          <a:xfrm>
            <a:off x="5212080" y="1737360"/>
            <a:ext cx="6400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>
                <a:solidFill>
                  <a:srgbClr val="8A6410"/>
                </a:solidFill>
                <a:latin typeface="Calibri"/>
              </a:rPr>
              <a:t>▪  </a:t>
            </a:r>
            <a:r>
              <a:rPr sz="1600" b="1">
                <a:solidFill>
                  <a:srgbClr val="0E4D33"/>
                </a:solidFill>
                <a:latin typeface="Calibri"/>
              </a:rPr>
              <a:t>Nerves are arousal, not verdict:  </a:t>
            </a:r>
            <a:r>
              <a:rPr sz="1600" b="0" i="0">
                <a:solidFill>
                  <a:srgbClr val="212A26"/>
                </a:solidFill>
                <a:latin typeface="Calibri"/>
              </a:rPr>
              <a:t>the same adrenaline reads as dread or as readiness — preparation is what flips the label.</a:t>
            </a:r>
          </a:p>
          <a:p>
            <a:pPr algn="l">
              <a:spcAft>
                <a:spcPts val="1400"/>
              </a:spcAft>
            </a:pPr>
            <a:r>
              <a:rPr sz="1600">
                <a:solidFill>
                  <a:srgbClr val="8A6410"/>
                </a:solidFill>
                <a:latin typeface="Calibri"/>
              </a:rPr>
              <a:t>▪  </a:t>
            </a:r>
            <a:r>
              <a:rPr sz="1600" b="1">
                <a:solidFill>
                  <a:srgbClr val="0E4D33"/>
                </a:solidFill>
                <a:latin typeface="Calibri"/>
              </a:rPr>
              <a:t>Aloud means aloud:  </a:t>
            </a:r>
            <a:r>
              <a:rPr sz="1600" b="0" i="0">
                <a:solidFill>
                  <a:srgbClr val="212A26"/>
                </a:solidFill>
                <a:latin typeface="Calibri"/>
              </a:rPr>
              <a:t>reading slides silently rehearses nothing — the mouth, the transitions, and the clock only train out loud.</a:t>
            </a:r>
          </a:p>
          <a:p>
            <a:pPr algn="l">
              <a:spcAft>
                <a:spcPts val="1400"/>
              </a:spcAft>
            </a:pPr>
            <a:r>
              <a:rPr sz="1600">
                <a:solidFill>
                  <a:srgbClr val="8A6410"/>
                </a:solidFill>
                <a:latin typeface="Calibri"/>
              </a:rPr>
              <a:t>▪  </a:t>
            </a:r>
            <a:r>
              <a:rPr sz="1600" b="1">
                <a:solidFill>
                  <a:srgbClr val="0E4D33"/>
                </a:solidFill>
                <a:latin typeface="Calibri"/>
              </a:rPr>
              <a:t>Realistic means standing,  </a:t>
            </a:r>
            <a:r>
              <a:rPr sz="1600" b="0" i="0">
                <a:solidFill>
                  <a:srgbClr val="212A26"/>
                </a:solidFill>
                <a:latin typeface="Calibri"/>
              </a:rPr>
              <a:t>projecting, with the clicker and the timer — the conditions you'll actually face.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Rehearsal that actually works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Rehearsal that actually works</a:t>
            </a:r>
          </a:p>
        </p:txBody>
      </p:sp>
      <p:sp>
        <p:nvSpPr>
          <p:cNvPr id="3" name="TextBox 2" descr="Footer: BADM 225 · Chapter 12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12  ·  © Derek D. Bussan</a:t>
            </a:r>
          </a:p>
        </p:txBody>
      </p:sp>
      <p:sp>
        <p:nvSpPr>
          <p:cNvPr id="4" name="TextBox 3" descr="Slide number 26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26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Pass one: find the shape.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Talk through it rough — discover where the transitions stick and what runs long.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Pass two: fix and time it.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Cut to 90% of the slot; Q&amp;A and reality always eat the margin.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Pass three: simulate.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Standing, aloud, timed, with one human or a camera — review the recording once, kindly.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Rehearse transitions hardest: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openings and slide-to-slide joins are where talks stumble; the middles carry themselves.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Don't memorize the middle: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memorize the first minute, the transitions, and the close — the rest stays conversational from bullets.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The voice toolbox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The voice toolbox</a:t>
            </a:r>
          </a:p>
        </p:txBody>
      </p:sp>
      <p:sp>
        <p:nvSpPr>
          <p:cNvPr id="3" name="TextBox 2" descr="Footer: BADM 225 · Chapter 12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12  ·  © Derek D. Bussan</a:t>
            </a:r>
          </a:p>
        </p:txBody>
      </p:sp>
      <p:sp>
        <p:nvSpPr>
          <p:cNvPr id="4" name="TextBox 3" descr="Slide number 27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27</a:t>
            </a:r>
          </a:p>
        </p:txBody>
      </p:sp>
      <p:sp>
        <p:nvSpPr>
          <p:cNvPr id="5" name="Oval 4" descr="Pace icon"/>
          <p:cNvSpPr/>
          <p:nvPr/>
        </p:nvSpPr>
        <p:spPr>
          <a:xfrm>
            <a:off x="640080" y="1655064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🐢</a:t>
            </a:r>
          </a:p>
        </p:txBody>
      </p:sp>
      <p:sp>
        <p:nvSpPr>
          <p:cNvPr id="6" name="TextBox 5" descr="Pace"/>
          <p:cNvSpPr txBox="1"/>
          <p:nvPr/>
        </p:nvSpPr>
        <p:spPr>
          <a:xfrm>
            <a:off x="1417320" y="1600200"/>
            <a:ext cx="1024128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Pace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Nerves accelerate everyone. Aim slower than natural — what feels sluggish inside sounds composed outside.</a:t>
            </a:r>
          </a:p>
        </p:txBody>
      </p:sp>
      <p:sp>
        <p:nvSpPr>
          <p:cNvPr id="7" name="Oval 6" descr="The pause icon"/>
          <p:cNvSpPr/>
          <p:nvPr/>
        </p:nvSpPr>
        <p:spPr>
          <a:xfrm>
            <a:off x="640080" y="2843784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⏸</a:t>
            </a:r>
          </a:p>
        </p:txBody>
      </p:sp>
      <p:sp>
        <p:nvSpPr>
          <p:cNvPr id="8" name="TextBox 7" descr="The pause"/>
          <p:cNvSpPr txBox="1"/>
          <p:nvPr/>
        </p:nvSpPr>
        <p:spPr>
          <a:xfrm>
            <a:off x="1417320" y="2788920"/>
            <a:ext cx="1024128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The pause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Two silent seconds after a big point is emphasis; filling every gap with 'um' spends it. Silence is a power tool.</a:t>
            </a:r>
          </a:p>
        </p:txBody>
      </p:sp>
      <p:sp>
        <p:nvSpPr>
          <p:cNvPr id="9" name="Oval 8" descr="Volume &amp; projection icon"/>
          <p:cNvSpPr/>
          <p:nvPr/>
        </p:nvSpPr>
        <p:spPr>
          <a:xfrm>
            <a:off x="640080" y="4032504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📶</a:t>
            </a:r>
          </a:p>
        </p:txBody>
      </p:sp>
      <p:sp>
        <p:nvSpPr>
          <p:cNvPr id="10" name="TextBox 9" descr="Volume &amp; projection"/>
          <p:cNvSpPr txBox="1"/>
          <p:nvPr/>
        </p:nvSpPr>
        <p:spPr>
          <a:xfrm>
            <a:off x="1417320" y="3977640"/>
            <a:ext cx="1024128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Volume &amp; projection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Speak to the back row's chair. Variation is emphasis; monotone is a lullaby with data.</a:t>
            </a:r>
          </a:p>
        </p:txBody>
      </p:sp>
      <p:sp>
        <p:nvSpPr>
          <p:cNvPr id="11" name="Oval 10" descr="Pitch &amp; inflection icon"/>
          <p:cNvSpPr/>
          <p:nvPr/>
        </p:nvSpPr>
        <p:spPr>
          <a:xfrm>
            <a:off x="640080" y="5221224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🎵</a:t>
            </a:r>
          </a:p>
        </p:txBody>
      </p:sp>
      <p:sp>
        <p:nvSpPr>
          <p:cNvPr id="12" name="TextBox 11" descr="Pitch &amp; inflection"/>
          <p:cNvSpPr txBox="1"/>
          <p:nvPr/>
        </p:nvSpPr>
        <p:spPr>
          <a:xfrm>
            <a:off x="1417320" y="5166360"/>
            <a:ext cx="1024128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Pitch &amp; inflection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Downward inflection ends claims with authority; uptalk turns findings into questions? Don't.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The body: stance, eyes, hands, feet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The body: stance, eyes, hands, feet</a:t>
            </a:r>
          </a:p>
        </p:txBody>
      </p:sp>
      <p:sp>
        <p:nvSpPr>
          <p:cNvPr id="3" name="TextBox 2" descr="Footer: BADM 225 · Chapter 12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12  ·  © Derek D. Bussan</a:t>
            </a:r>
          </a:p>
        </p:txBody>
      </p:sp>
      <p:sp>
        <p:nvSpPr>
          <p:cNvPr id="4" name="TextBox 3" descr="Slide number 28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28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Plant the stance: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weight even, shoulders open — the sway and the lean broadcast the nerves you're managing.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Eye contact in sentences: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land a full thought on one person, then move — the lighthouse sweep connects with no one.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Hands above the waist, describing: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gesture reinforces shape and size naturally; pockets and clasps read as guarded.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Move with purpose or stand still: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cross the stage to change topics; pacing is a metronome the audience can't unsee.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On the slide glance: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look, turn back, THEN talk — the screen can't hear you, and the room stops trying.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Nerves in the moment: the field kit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Nerves in the moment: the field kit</a:t>
            </a:r>
          </a:p>
        </p:txBody>
      </p:sp>
      <p:sp>
        <p:nvSpPr>
          <p:cNvPr id="3" name="TextBox 2" descr="Footer: BADM 225 · Chapter 12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12  ·  © Derek D. Bussan</a:t>
            </a:r>
          </a:p>
        </p:txBody>
      </p:sp>
      <p:sp>
        <p:nvSpPr>
          <p:cNvPr id="4" name="TextBox 3" descr="Slide number 29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29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Before: slow exhales, twice as long as the inhale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— the one physiological lever that actually downshifts arousal on demand.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first minute is scripted (see: openings)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— autopilot carries you through the adrenaline spike.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Find the three friendly faces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and open to them; every room has them, and confidence is borrowable.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When you blank: pause, look at the slide title, breathe.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room reads two silent seconds as thoughtfulness — the panic is only visible from inside.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audience wants you to succeed.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Nobody came hoping for a bad talk — the room is on your side until proven otherwise.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On camera"/>
          <p:cNvSpPr>
            <a:spLocks noGrp="1"/>
          </p:cNvSpPr>
          <p:nvPr>
            <p:ph type="title"/>
          </p:nvPr>
        </p:nvSpPr>
        <p:spPr>
          <a:xfrm>
            <a:off x="822960" y="2834640"/>
            <a:ext cx="10515600" cy="914400"/>
          </a:xfrm>
        </p:spPr>
        <p:txBody>
          <a:bodyPr wrap="square"/>
          <a:lstStyle/>
          <a:p>
            <a:pPr algn="l"/>
            <a:r>
              <a:rPr sz="4000" b="1">
                <a:solidFill>
                  <a:srgbClr val="FFFFFF"/>
                </a:solidFill>
                <a:latin typeface="Cambria"/>
              </a:rPr>
              <a:t>On camera</a:t>
            </a:r>
          </a:p>
        </p:txBody>
      </p:sp>
      <p:sp>
        <p:nvSpPr>
          <p:cNvPr id="3" name="TextBox 2" descr="Section number 06"/>
          <p:cNvSpPr txBox="1"/>
          <p:nvPr/>
        </p:nvSpPr>
        <p:spPr>
          <a:xfrm>
            <a:off x="822960" y="11887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8000" b="1" i="0">
                <a:solidFill>
                  <a:srgbClr val="C9931A"/>
                </a:solidFill>
                <a:latin typeface="Cambria"/>
              </a:rPr>
              <a:t>06</a:t>
            </a:r>
          </a:p>
        </p:txBody>
      </p:sp>
      <p:sp>
        <p:nvSpPr>
          <p:cNvPr id="4" name="TextBox 3" descr="Section note"/>
          <p:cNvSpPr txBox="1"/>
          <p:nvPr/>
        </p:nvSpPr>
        <p:spPr>
          <a:xfrm>
            <a:off x="822960" y="402336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EAF1EB"/>
                </a:solidFill>
                <a:latin typeface="Calibri"/>
              </a:rPr>
              <a:t>The webcam talk and the recorded lecture are their own genre.</a:t>
            </a:r>
          </a:p>
        </p:txBody>
      </p:sp>
      <p:sp>
        <p:nvSpPr>
          <p:cNvPr id="5" name="TextBox 4" descr="Footer: BADM 225 · Chapter 12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12  ·  © Derek D. Bussan</a:t>
            </a:r>
          </a:p>
        </p:txBody>
      </p:sp>
      <p:sp>
        <p:nvSpPr>
          <p:cNvPr id="6" name="TextBox 5" descr="Slide number 30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Presenting on a live video call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Presenting on a live video call</a:t>
            </a:r>
          </a:p>
        </p:txBody>
      </p:sp>
      <p:sp>
        <p:nvSpPr>
          <p:cNvPr id="3" name="TextBox 2" descr="Footer: BADM 225 · Chapter 12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12  ·  © Derek D. Bussan</a:t>
            </a:r>
          </a:p>
        </p:txBody>
      </p:sp>
      <p:sp>
        <p:nvSpPr>
          <p:cNvPr id="4" name="TextBox 3" descr="Slide number 31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31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Lens at eye level, look AT it for key lines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— the lens is the room's eyes; your notes sit just beneath it (Chapter 1's virtual nonverbals).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Energy up 20%: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camera flattens everything — conversational-you arrives as flat-you; slightly-too-much arrives as engaged.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Shorter arcs, more checkpoints: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attention decays faster on screens — make it 'three five-minute chapters with questions between,' not one twenty-minute pour.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Run the tech rehearsal: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screen share, audio, the slide advance — ten minutes early, every time. The fumbling open costs more on camera than in person.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Have the failure plan: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deck sent in advance means a dead screen-share becomes 'go to slide 4' instead of dead air.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The recorded (async) presentation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The recorded (async) presentation</a:t>
            </a:r>
          </a:p>
        </p:txBody>
      </p:sp>
      <p:sp>
        <p:nvSpPr>
          <p:cNvPr id="3" name="TextBox 2" descr="Footer: BADM 225 · Chapter 12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12  ·  © Derek D. Bussan</a:t>
            </a:r>
          </a:p>
        </p:txBody>
      </p:sp>
      <p:sp>
        <p:nvSpPr>
          <p:cNvPr id="4" name="TextBox 3" descr="Slide number 32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32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Recorded talks get the skip bar —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front-load harder than live: takeaway in the first thirty seconds, or the viewer is gone.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Chapter it: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timestamps or section markers let viewers navigate — the roadmap, made clickable.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Shorter is a feature: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8-minute focused recording beats the 40-minute meeting capture for every future viewer.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Pair with text (Chapter 5's rule):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recording carries tone; the written summary carries the searchable decisions.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One clean take beats five perfect ones: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minor stumbles read as human; re-record only for structural failures.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Q&amp;A and team talks"/>
          <p:cNvSpPr>
            <a:spLocks noGrp="1"/>
          </p:cNvSpPr>
          <p:nvPr>
            <p:ph type="title"/>
          </p:nvPr>
        </p:nvSpPr>
        <p:spPr>
          <a:xfrm>
            <a:off x="822960" y="2834640"/>
            <a:ext cx="10515600" cy="914400"/>
          </a:xfrm>
        </p:spPr>
        <p:txBody>
          <a:bodyPr wrap="square"/>
          <a:lstStyle/>
          <a:p>
            <a:pPr algn="l"/>
            <a:r>
              <a:rPr sz="4000" b="1">
                <a:solidFill>
                  <a:srgbClr val="FFFFFF"/>
                </a:solidFill>
                <a:latin typeface="Cambria"/>
              </a:rPr>
              <a:t>Q&amp;A and team talks</a:t>
            </a:r>
          </a:p>
        </p:txBody>
      </p:sp>
      <p:sp>
        <p:nvSpPr>
          <p:cNvPr id="3" name="TextBox 2" descr="Section number 07"/>
          <p:cNvSpPr txBox="1"/>
          <p:nvPr/>
        </p:nvSpPr>
        <p:spPr>
          <a:xfrm>
            <a:off x="822960" y="11887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8000" b="1" i="0">
                <a:solidFill>
                  <a:srgbClr val="C9931A"/>
                </a:solidFill>
                <a:latin typeface="Cambria"/>
              </a:rPr>
              <a:t>07</a:t>
            </a:r>
          </a:p>
        </p:txBody>
      </p:sp>
      <p:sp>
        <p:nvSpPr>
          <p:cNvPr id="4" name="TextBox 3" descr="Section note"/>
          <p:cNvSpPr txBox="1"/>
          <p:nvPr/>
        </p:nvSpPr>
        <p:spPr>
          <a:xfrm>
            <a:off x="822960" y="402336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EAF1EB"/>
                </a:solidFill>
                <a:latin typeface="Calibri"/>
              </a:rPr>
              <a:t>The unscripted parts — where credibility is confirmed or refunded.</a:t>
            </a:r>
          </a:p>
        </p:txBody>
      </p:sp>
      <p:sp>
        <p:nvSpPr>
          <p:cNvPr id="5" name="TextBox 4" descr="Footer: BADM 225 · Chapter 12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12  ·  © Derek D. Bussan</a:t>
            </a:r>
          </a:p>
        </p:txBody>
      </p:sp>
      <p:sp>
        <p:nvSpPr>
          <p:cNvPr id="6" name="TextBox 5" descr="Slide number 33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Q&amp;A craft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Q&amp;A craft</a:t>
            </a:r>
          </a:p>
        </p:txBody>
      </p:sp>
      <p:sp>
        <p:nvSpPr>
          <p:cNvPr id="3" name="TextBox 2" descr="Footer: BADM 225 · Chapter 12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12  ·  © Derek D. Bussan</a:t>
            </a:r>
          </a:p>
        </p:txBody>
      </p:sp>
      <p:sp>
        <p:nvSpPr>
          <p:cNvPr id="4" name="TextBox 3" descr="Slide number 34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34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Repeat or restate the question first: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room hears it, the camera records it, and you buy five seconds of thinking.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Answer the question asked — briefly —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then stop. The three-minute answer to a ten-second question loses the room you just won.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'I don't know' with a delivery date beats a bluff: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'I'll have that number to you Friday' is credible; improvised statistics are time bombs (Chapter 12 meets Chapter 4's verification).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Bridge stray questions home: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'that's really about phase two — for TODAY'S decision, here's what matters' — courteous, and back on the takeaway.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Plant the seeds: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prepare for the five questions you'd ask if you wanted to sink this talk. You know what they are.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The hostile question, handled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The hostile question, handled</a:t>
            </a:r>
          </a:p>
        </p:txBody>
      </p:sp>
      <p:sp>
        <p:nvSpPr>
          <p:cNvPr id="3" name="TextBox 2" descr="Footer: BADM 225 · Chapter 12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12  ·  © Derek D. Bussan</a:t>
            </a:r>
          </a:p>
        </p:txBody>
      </p:sp>
      <p:sp>
        <p:nvSpPr>
          <p:cNvPr id="4" name="TextBox 3" descr="Slide number 35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35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Depersonalize on arrival: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answer the substance inside the hostility and skip the bait — the room is watching your temperature, not theirs (Chapter 7).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Concede what's true: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'you're right that the pilot was one team' — then the context: 'which is why the metrics were agreed with finance in advance.'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Never argue one-on-one past two exchanges: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'let's take this offline — I want the detail' returns the room to everyone who owns it.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stumped moment: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acknowledge, commit, deliver — 'good catch; I'll verify and reply to the group by Friday.' Then actually do it (Chapter 11's follow-through).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Team presentations: one talk, several voices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Team presentations: one talk, several voices</a:t>
            </a:r>
          </a:p>
        </p:txBody>
      </p:sp>
      <p:sp>
        <p:nvSpPr>
          <p:cNvPr id="3" name="TextBox 2" descr="Footer: BADM 225 · Chapter 12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12  ·  © Derek D. Bussan</a:t>
            </a:r>
          </a:p>
        </p:txBody>
      </p:sp>
      <p:sp>
        <p:nvSpPr>
          <p:cNvPr id="4" name="TextBox 3" descr="Slide number 36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36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One structure, one designer: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talk is built as ONE pyramid, then divided — not stapled from four solo acts (Chapter 10's team-writing rules).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Handoffs are rehearsed lines: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'…and that's the cost case. Maya will show you the pilot that answers it.' Name, topic, momentum — no 'um, I guess now…'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Everyone owns Q&amp;A routing: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lead routes each question to its expert by name; six people shrugging at each other is the classic team-talk death.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Match the register: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agree on formality, pace, and slide style — one deck, one voice, several speakers.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Idle presenters are still on stage: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teammate checking their phone during your section is the slide everyone remembers.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Case: the demo that died and the talk that didn't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Case: the demo that died and the talk that didn't</a:t>
            </a:r>
          </a:p>
        </p:txBody>
      </p:sp>
      <p:sp>
        <p:nvSpPr>
          <p:cNvPr id="3" name="TextBox 2" descr="Footer: BADM 225 · Chapter 12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12  ·  © Derek D. Bussan</a:t>
            </a:r>
          </a:p>
        </p:txBody>
      </p:sp>
      <p:sp>
        <p:nvSpPr>
          <p:cNvPr id="4" name="TextBox 3" descr="Slide number 37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37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Ninety seconds into the live demo,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staging server returned errors in front of the client's leadership team.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presenter didn't debug on stage.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One sentence — 'the demo gods have voted; here's the recording from this morning' — and the backup video ran.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recording showed the same workflow,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narrated live; the ask stayed on schedule; the contract closed that month.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client's CTO later said the recovery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sold them harder than the demo would have: 'that's how they'll handle OUR incidents.' Composure is a product feature.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Key takeaways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Key takeaways</a:t>
            </a:r>
          </a:p>
        </p:txBody>
      </p:sp>
      <p:sp>
        <p:nvSpPr>
          <p:cNvPr id="3" name="TextBox 2" descr="Footer: BADM 225 · Chapter 12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12  ·  © Derek D. Bussan</a:t>
            </a:r>
          </a:p>
        </p:txBody>
      </p:sp>
      <p:sp>
        <p:nvSpPr>
          <p:cNvPr id="4" name="TextBox 3" descr="Slide number 38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38</a:t>
            </a:r>
          </a:p>
        </p:txBody>
      </p:sp>
      <p:sp>
        <p:nvSpPr>
          <p:cNvPr id="5" name="Oval 4" descr="Checkmark"/>
          <p:cNvSpPr/>
          <p:nvPr/>
        </p:nvSpPr>
        <p:spPr>
          <a:xfrm>
            <a:off x="640080" y="1572768"/>
            <a:ext cx="420624" cy="420624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6" name="TextBox 5" descr="Takeaway 1"/>
          <p:cNvSpPr txBox="1"/>
          <p:nvPr/>
        </p:nvSpPr>
        <p:spPr>
          <a:xfrm>
            <a:off x="1325880" y="15544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Build backward from one repeatable sentence; slides come last, not first.</a:t>
            </a:r>
          </a:p>
        </p:txBody>
      </p:sp>
      <p:sp>
        <p:nvSpPr>
          <p:cNvPr id="7" name="Oval 6" descr="Checkmark"/>
          <p:cNvSpPr/>
          <p:nvPr/>
        </p:nvSpPr>
        <p:spPr>
          <a:xfrm>
            <a:off x="640080" y="2212848"/>
            <a:ext cx="420624" cy="420624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8" name="TextBox 7" descr="Takeaway 2"/>
          <p:cNvSpPr txBox="1"/>
          <p:nvPr/>
        </p:nvSpPr>
        <p:spPr>
          <a:xfrm>
            <a:off x="1325880" y="21945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Open with their stakes, roadmap the middle, close with the ask AND the echo — after Q&amp;A.</a:t>
            </a:r>
          </a:p>
        </p:txBody>
      </p:sp>
      <p:sp>
        <p:nvSpPr>
          <p:cNvPr id="9" name="Oval 8" descr="Checkmark"/>
          <p:cNvSpPr/>
          <p:nvPr/>
        </p:nvSpPr>
        <p:spPr>
          <a:xfrm>
            <a:off x="640080" y="2852928"/>
            <a:ext cx="420624" cy="420624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0" name="TextBox 9" descr="Takeaway 3"/>
          <p:cNvSpPr txBox="1"/>
          <p:nvPr/>
        </p:nvSpPr>
        <p:spPr>
          <a:xfrm>
            <a:off x="1325880" y="2834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Three points, proven with a rotation of number, story, and demonstration.</a:t>
            </a:r>
          </a:p>
        </p:txBody>
      </p:sp>
      <p:sp>
        <p:nvSpPr>
          <p:cNvPr id="11" name="Oval 10" descr="Checkmark"/>
          <p:cNvSpPr/>
          <p:nvPr/>
        </p:nvSpPr>
        <p:spPr>
          <a:xfrm>
            <a:off x="640080" y="3493008"/>
            <a:ext cx="420624" cy="420624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2" name="TextBox 11" descr="Takeaway 4"/>
          <p:cNvSpPr txBox="1"/>
          <p:nvPr/>
        </p:nvSpPr>
        <p:spPr>
          <a:xfrm>
            <a:off x="1325880" y="34747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Slides are billboards: one point, three-second reads, takeaway titles, blank when you matter more.</a:t>
            </a:r>
          </a:p>
        </p:txBody>
      </p:sp>
      <p:sp>
        <p:nvSpPr>
          <p:cNvPr id="13" name="Oval 12" descr="Checkmark"/>
          <p:cNvSpPr/>
          <p:nvPr/>
        </p:nvSpPr>
        <p:spPr>
          <a:xfrm>
            <a:off x="640080" y="4133088"/>
            <a:ext cx="420624" cy="420624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4" name="TextBox 13" descr="Takeaway 5"/>
          <p:cNvSpPr txBox="1"/>
          <p:nvPr/>
        </p:nvSpPr>
        <p:spPr>
          <a:xfrm>
            <a:off x="1325880" y="41148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Rehearse aloud three times; memorize the first minute, the transitions, and the close.</a:t>
            </a:r>
          </a:p>
        </p:txBody>
      </p:sp>
      <p:sp>
        <p:nvSpPr>
          <p:cNvPr id="15" name="Oval 14" descr="Checkmark"/>
          <p:cNvSpPr/>
          <p:nvPr/>
        </p:nvSpPr>
        <p:spPr>
          <a:xfrm>
            <a:off x="640080" y="4773168"/>
            <a:ext cx="420624" cy="420624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6" name="TextBox 15" descr="Takeaway 6"/>
          <p:cNvSpPr txBox="1"/>
          <p:nvPr/>
        </p:nvSpPr>
        <p:spPr>
          <a:xfrm>
            <a:off x="1325880" y="47548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Q&amp;A: restate, answer briefly, bridge home — and never bluff what you can deliver Friday.</a:t>
            </a:r>
          </a:p>
        </p:txBody>
      </p:sp>
      <p:sp>
        <p:nvSpPr>
          <p:cNvPr id="17" name="Rounded Rectangle 16" descr="Practice reminder"/>
          <p:cNvSpPr/>
          <p:nvPr/>
        </p:nvSpPr>
        <p:spPr>
          <a:xfrm>
            <a:off x="548640" y="5468112"/>
            <a:ext cx="10424160" cy="685800"/>
          </a:xfrm>
          <a:prstGeom prst="roundRect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Practice now: course site → Chapter 12 → Practice, then the graded homework before the weekly deadline.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Worth keeping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400" b="1">
                <a:solidFill>
                  <a:srgbClr val="0E4D33"/>
                </a:solidFill>
                <a:latin typeface="Cambria"/>
              </a:rPr>
              <a:t>Worth keeping</a:t>
            </a:r>
          </a:p>
        </p:txBody>
      </p:sp>
      <p:sp>
        <p:nvSpPr>
          <p:cNvPr id="3" name="TextBox 2" descr="Quotation"/>
          <p:cNvSpPr txBox="1"/>
          <p:nvPr/>
        </p:nvSpPr>
        <p:spPr>
          <a:xfrm>
            <a:off x="1280160" y="219456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700" b="0" i="1">
                <a:solidFill>
                  <a:srgbClr val="212A26"/>
                </a:solidFill>
                <a:latin typeface="Cambria"/>
              </a:rPr>
              <a:t>“The audience will forget your slides by lunch. They will remember one sentence and how you handled the hard moment — so choose the sentence, and rehearse the moment.”</a:t>
            </a:r>
          </a:p>
        </p:txBody>
      </p:sp>
      <p:sp>
        <p:nvSpPr>
          <p:cNvPr id="4" name="TextBox 3" descr="Attribution"/>
          <p:cNvSpPr txBox="1"/>
          <p:nvPr/>
        </p:nvSpPr>
        <p:spPr>
          <a:xfrm>
            <a:off x="1280160" y="47548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5E6B64"/>
                </a:solidFill>
                <a:latin typeface="Calibri"/>
              </a:rPr>
              <a:t>— this chapter, compressed</a:t>
            </a:r>
          </a:p>
        </p:txBody>
      </p:sp>
      <p:sp>
        <p:nvSpPr>
          <p:cNvPr id="5" name="TextBox 4" descr="Footer: BADM 225 · Chapter 12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12  ·  © Derek D. Bussan</a:t>
            </a:r>
          </a:p>
        </p:txBody>
      </p:sp>
      <p:sp>
        <p:nvSpPr>
          <p:cNvPr id="6" name="TextBox 5" descr="Slide number 39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Discussion questions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400" b="1">
                <a:solidFill>
                  <a:srgbClr val="FFFFFF"/>
                </a:solidFill>
                <a:latin typeface="Cambria"/>
              </a:rPr>
              <a:t>Discussion questions</a:t>
            </a:r>
          </a:p>
        </p:txBody>
      </p:sp>
      <p:sp>
        <p:nvSpPr>
          <p:cNvPr id="3" name="TextBox 2" descr="Discussion questions"/>
          <p:cNvSpPr txBox="1"/>
          <p:nvPr/>
        </p:nvSpPr>
        <p:spPr>
          <a:xfrm>
            <a:off x="731520" y="17373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00"/>
              </a:spcAft>
            </a:pPr>
            <a:r>
              <a:rPr sz="1800" b="1">
                <a:solidFill>
                  <a:srgbClr val="C9931A"/>
                </a:solidFill>
                <a:latin typeface="Calibri"/>
              </a:rPr>
              <a:t>1.  </a:t>
            </a:r>
            <a:r>
              <a:rPr sz="1800" b="0" i="0">
                <a:solidFill>
                  <a:srgbClr val="FFFFFF"/>
                </a:solidFill>
                <a:latin typeface="Calibri"/>
              </a:rPr>
              <a:t>Take a talk you've given or seen: what WAS its one repeatable sentence? If you can't state it, diagnose why.</a:t>
            </a:r>
          </a:p>
          <a:p>
            <a:pPr algn="l">
              <a:spcAft>
                <a:spcPts val="1800"/>
              </a:spcAft>
            </a:pPr>
            <a:r>
              <a:rPr sz="1800" b="1">
                <a:solidFill>
                  <a:srgbClr val="C9931A"/>
                </a:solidFill>
                <a:latin typeface="Calibri"/>
              </a:rPr>
              <a:t>2.  </a:t>
            </a:r>
            <a:r>
              <a:rPr sz="1800" b="0" i="0">
                <a:solidFill>
                  <a:srgbClr val="FFFFFF"/>
                </a:solidFill>
                <a:latin typeface="Calibri"/>
              </a:rPr>
              <a:t>Rebuild a documented bad slide (you've all seen one) into a billboard. What moved to the speaker's notes?</a:t>
            </a:r>
          </a:p>
          <a:p>
            <a:pPr algn="l">
              <a:spcAft>
                <a:spcPts val="1800"/>
              </a:spcAft>
            </a:pPr>
            <a:r>
              <a:rPr sz="1800" b="1">
                <a:solidFill>
                  <a:srgbClr val="C9931A"/>
                </a:solidFill>
                <a:latin typeface="Calibri"/>
              </a:rPr>
              <a:t>3.  </a:t>
            </a:r>
            <a:r>
              <a:rPr sz="1800" b="0" i="0">
                <a:solidFill>
                  <a:srgbClr val="FFFFFF"/>
                </a:solidFill>
                <a:latin typeface="Calibri"/>
              </a:rPr>
              <a:t>Which delivery habit is your tell under nerves — pace, uptalk, the slide-wall stare? What's the rehearsal fix?</a:t>
            </a:r>
          </a:p>
          <a:p>
            <a:pPr algn="l">
              <a:spcAft>
                <a:spcPts val="1800"/>
              </a:spcAft>
            </a:pPr>
            <a:r>
              <a:rPr sz="1800" b="1">
                <a:solidFill>
                  <a:srgbClr val="C9931A"/>
                </a:solidFill>
                <a:latin typeface="Calibri"/>
              </a:rPr>
              <a:t>4.  </a:t>
            </a:r>
            <a:r>
              <a:rPr sz="1800" b="0" i="0">
                <a:solidFill>
                  <a:srgbClr val="FFFFFF"/>
                </a:solidFill>
                <a:latin typeface="Calibri"/>
              </a:rPr>
              <a:t>Design the five hostile questions for your own upcoming presentation — and draft the concede-then-context answers.</a:t>
            </a:r>
          </a:p>
          <a:p>
            <a:pPr algn="l">
              <a:spcAft>
                <a:spcPts val="1800"/>
              </a:spcAft>
            </a:pPr>
            <a:r>
              <a:rPr sz="1800" b="1">
                <a:solidFill>
                  <a:srgbClr val="C9931A"/>
                </a:solidFill>
                <a:latin typeface="Calibri"/>
              </a:rPr>
              <a:t>5.  </a:t>
            </a:r>
            <a:r>
              <a:rPr sz="1800" b="0" i="0">
                <a:solidFill>
                  <a:srgbClr val="FFFFFF"/>
                </a:solidFill>
                <a:latin typeface="Calibri"/>
              </a:rPr>
              <a:t>Live demo or recorded backup: argue the risk math for a career-stakes pitch.</a:t>
            </a:r>
          </a:p>
        </p:txBody>
      </p:sp>
      <p:sp>
        <p:nvSpPr>
          <p:cNvPr id="4" name="TextBox 3" descr="Footer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8C4B2"/>
                </a:solidFill>
                <a:latin typeface="Calibri"/>
              </a:rPr>
              <a:t>BADM 225 · Chapter 12  ·  © Derek D. Bussan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Your next steps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Your next steps</a:t>
            </a:r>
          </a:p>
        </p:txBody>
      </p:sp>
      <p:sp>
        <p:nvSpPr>
          <p:cNvPr id="3" name="TextBox 2" descr="Footer: BADM 225 · Chapter 12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12  ·  © Derek D. Bussan</a:t>
            </a:r>
          </a:p>
        </p:txBody>
      </p:sp>
      <p:sp>
        <p:nvSpPr>
          <p:cNvPr id="4" name="TextBox 3" descr="Slide number 41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41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Practice: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Course site → Chapter 12 → Practice questions (instant feedback, unlimited tries).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Graded: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Complete the Chapter 12 homework on the site; paste your completion code into the Blackboard assignment before the weekly deadline.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Build: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Your course presentation with this chapter's order: takeaway → three points → evidence → frame → slides.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Rehearse: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Three aloud passes, one recorded — review it once, kindly, with the delivery slides open.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Coming next: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Unit 5 — Chapter 13: the job search and résumés, where you become the product and the proposal.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