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4: the phase amateurs skip. Companion study guide includes the ten-repair workshop and the Oakhurst comma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4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discipline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Typo blindness is expertise misfiring, not carelessness.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Sixth target on next slide with the shrink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Zinsser: clutter is the disease of American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claims survive forwarding to the expert scrutinizer.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Proofreading exists because software cannot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routine attacks the brain's prediction habit a different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is how the error survived. Verification replaces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case, real money. Punctuation is load-bearing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Perfect paragraphs cannot rescue a wrong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study guide's ten-repair workshop — full set with answers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Division of labor between writer and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2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Revising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Conciseness · clarity · proofreading — the judging phase, where drafts become sendable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4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Revise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three separated passes — structure, sentences, proof — instead of one anxious reread.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 kinds of flab: lead-ins, there-is openers, redundancies, flabby phrases, hedges, noun stacks.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Replace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abstractions with checkable claims — numbers and examples that survive forwarding.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Catch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spellcheck cannot: real-word errors, homophones, wrong names, wrong numbers.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pre-send ritual: read aloud, verify, last-thing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on is a syste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Revision is a system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problems live at three altitudes. The eye can't patrol all three at once.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ree-pass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three-pass system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PASS 1 · STRUCTURE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1 · STRUCTURE</a:t>
            </a:r>
          </a:p>
        </p:txBody>
      </p:sp>
      <p:sp>
        <p:nvSpPr>
          <p:cNvPr id="6" name="TextBox 5" descr="PASS 1 · STRUCTURE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Right strategy? Main point findable? Every section earning its place?</a:t>
            </a:r>
          </a:p>
        </p:txBody>
      </p:sp>
      <p:sp>
        <p:nvSpPr>
          <p:cNvPr id="7" name="Chevron 6" descr="Step 2: PASS 2 · SENTENCES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2 · SENTENCES</a:t>
            </a:r>
          </a:p>
        </p:txBody>
      </p:sp>
      <p:sp>
        <p:nvSpPr>
          <p:cNvPr id="8" name="TextBox 7" descr="PASS 2 · SENTENCES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Concise, clear, active, parallel, old→new flow.</a:t>
            </a:r>
          </a:p>
        </p:txBody>
      </p:sp>
      <p:sp>
        <p:nvSpPr>
          <p:cNvPr id="9" name="Chevron 8" descr="Step 3: PASS 3 · PROOF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3 · PROOF</a:t>
            </a:r>
          </a:p>
        </p:txBody>
      </p:sp>
      <p:sp>
        <p:nvSpPr>
          <p:cNvPr id="10" name="TextBox 9" descr="PASS 3 · PROOF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Spelling, names, numbers, dates — what software cannot see.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Structure first — there is no point polishing a paragraph pass one will delete. Three passes are faster than one muddled read repeated four times.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oling-off perio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cooling-off period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Fresh from drafting, you cannot proofread your own work.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brain already knows what the text should say — and shows you that instead.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science: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writers read from intended meaning; the brain fills gaps and glides over transpositions a stranger would catch instantly.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antidote is distance.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Overnight for anything substantial; even twenty minutes resets the eyes meaningfully.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 it into deadlines: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document due Friday is drafted Wednesday. On purpose.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cisene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Conciseness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Respect, measured in words.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ix flab targ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six flab targets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Long lead-in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6" name="TextBox 5" descr="Long lead-in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Long lead-ins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 am writing this email to let you know that…” → start where the news starts.</a:t>
            </a:r>
          </a:p>
        </p:txBody>
      </p:sp>
      <p:sp>
        <p:nvSpPr>
          <p:cNvPr id="7" name="Oval 6" descr="There is / it is opener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8" name="TextBox 7" descr="There is / it is opener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There is / it is openers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“There are three issues that remain” → “Three issues remain.”</a:t>
            </a:r>
          </a:p>
        </p:txBody>
      </p:sp>
      <p:sp>
        <p:nvSpPr>
          <p:cNvPr id="9" name="Oval 8" descr="Redundant pair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0" name="TextBox 9" descr="Redundant pair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Redundant pairs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“Each and every” · “final outcome” · “past history” — one word was already working.</a:t>
            </a:r>
          </a:p>
        </p:txBody>
      </p:sp>
      <p:sp>
        <p:nvSpPr>
          <p:cNvPr id="11" name="Oval 10" descr="Flabby phrase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2" name="TextBox 11" descr="Flabby phrase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Flabby phrases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“Due to the fact that” = because · “at this point in time” = now · “in order to” = to.</a:t>
            </a:r>
          </a:p>
        </p:txBody>
      </p:sp>
      <p:sp>
        <p:nvSpPr>
          <p:cNvPr id="13" name="Oval 12" descr="Hedges &amp; intensifier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4" name="TextBox 13" descr="Hedges &amp; intensifier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Hedges &amp; intensifiers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“Very, really, quite, rather” add heat, not light. Nothing is “very unique.”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hri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shrink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43→6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“Please be advised that in the event that you should have any questions… do not hesitate to reach out to the undersigned at your earliest convenience.” → “Questions? Call me any time.”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Same meaning. 86% lighter.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reader keeps the difference.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Noun stacks get untangled too: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“employee parking permit application process revision” → “revising how employees apply for parking permits.”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classic rule: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“Omit needless words” — not all sentences short, but every word telling (Strunk &amp; White).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rit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Clarity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Concrete beats abstract — let the reader verify, not trust.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bstraction ladder — climb dow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abstraction ladder — climb down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“Improved performance”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“Improved performance”</a:t>
            </a:r>
          </a:p>
        </p:txBody>
      </p:sp>
      <p:sp>
        <p:nvSpPr>
          <p:cNvPr id="6" name="TextBox 5" descr="“Improved performance”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Abstract: believe me.</a:t>
            </a:r>
          </a:p>
        </p:txBody>
      </p:sp>
      <p:sp>
        <p:nvSpPr>
          <p:cNvPr id="7" name="Chevron 6" descr="Step 2: “Faster support responses”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“Faster support responses”</a:t>
            </a:r>
          </a:p>
        </p:txBody>
      </p:sp>
      <p:sp>
        <p:nvSpPr>
          <p:cNvPr id="8" name="TextBox 7" descr="“Faster support responses”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Directional: trust me.</a:t>
            </a:r>
          </a:p>
        </p:txBody>
      </p:sp>
      <p:sp>
        <p:nvSpPr>
          <p:cNvPr id="9" name="Chevron 8" descr="Step 3: “9 hrs → 2.1 hrs in the 90-day pilot”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“9 hrs → 2.1 hrs in the 90-day pilot”</a:t>
            </a:r>
          </a:p>
        </p:txBody>
      </p:sp>
      <p:sp>
        <p:nvSpPr>
          <p:cNvPr id="10" name="TextBox 9" descr="“9 hrs → 2.1 hrs in the 90-day pilot”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Concrete: CHECK me.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“significant,” “substantial,” and “streamlined” is a rung begging for the number beneath it. No number exists? The abstraction was hiding that too.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ofread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Proofreading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hunt for what software cannot see.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spellcheck reliably miss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spellcheck reliably misses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Oval 4" descr="Real words, wrong pla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👻</a:t>
            </a:r>
          </a:p>
        </p:txBody>
      </p:sp>
      <p:sp>
        <p:nvSpPr>
          <p:cNvPr id="6" name="TextBox 5" descr="Real words, wrong pla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Real words, wrong place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manger/manager · form/from · pubic/public — correctly spelled, catastrophically placed.</a:t>
            </a:r>
          </a:p>
        </p:txBody>
      </p:sp>
      <p:sp>
        <p:nvSpPr>
          <p:cNvPr id="7" name="Oval 6" descr="Homophone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8" name="TextBox 7" descr="Homophone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Homophones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their/there · its/it's · affect/effect — grammatically invisible to most tools.</a:t>
            </a:r>
          </a:p>
        </p:txBody>
      </p:sp>
      <p:sp>
        <p:nvSpPr>
          <p:cNvPr id="9" name="Oval 8" descr="Names &amp; numbers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0" name="TextBox 9" descr="Names &amp; numbers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Names &amp; numbers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Katherine vs. Kathryn · $45,000 vs. $450,000 · March 12 vs. 21 — highest stakes, weakest tooling.</a:t>
            </a:r>
          </a:p>
        </p:txBody>
      </p:sp>
      <p:sp>
        <p:nvSpPr>
          <p:cNvPr id="11" name="Oval 10" descr="Grammar ghost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2" name="TextBox 11" descr="Grammar ghost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Grammar ghosts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Subject–verb slips, dangling modifiers, and the missing word you read as present.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ur routines that actually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Four routines that actually work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Read it ALOU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6" name="TextBox 5" descr="Read it ALOU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Read it ALOUD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Ears catch what eyes forgive — the single highest-yield technique available.</a:t>
            </a:r>
          </a:p>
        </p:txBody>
      </p:sp>
      <p:sp>
        <p:nvSpPr>
          <p:cNvPr id="7" name="Oval 6" descr="One error type per sweep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 descr="One error type per sweep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error type per sweep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numbers-only pass, a names-only pass, an its/it's pass. Searching beats reading.</a:t>
            </a:r>
          </a:p>
        </p:txBody>
      </p:sp>
      <p:sp>
        <p:nvSpPr>
          <p:cNvPr id="9" name="Oval 8" descr="Change the costum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👕</a:t>
            </a:r>
          </a:p>
        </p:txBody>
      </p:sp>
      <p:sp>
        <p:nvSpPr>
          <p:cNvPr id="10" name="TextBox 9" descr="Change the costum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Change the costume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Print it, or change the font — unfamiliarity resets the blindness.</a:t>
            </a:r>
          </a:p>
        </p:txBody>
      </p:sp>
      <p:sp>
        <p:nvSpPr>
          <p:cNvPr id="11" name="Oval 10" descr="The last-thing check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☑</a:t>
            </a:r>
          </a:p>
        </p:txBody>
      </p:sp>
      <p:sp>
        <p:nvSpPr>
          <p:cNvPr id="12" name="TextBox 11" descr="The last-thing check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last-thing check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 line · recipient list · attachment. Three seconds against the classic disasters.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ify — don't read — the high-stakes categori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Verify — don't read — the high-stakes categories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 against the person's own signature block, never against memory. A misspelled name is a personal insult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 every figure against its source. A transposed digit in a price is a contractual event.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“4 March 2026” — a format no country misreads. 3/4/26 is two different meetings on two continents.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attachments for the recipient: “Okafor-CoverLetter-May2026.docx” cannot be confused with a competitor's.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$5 million missing comma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$5 million missing comma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Maine's overtime law exempted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“…storing, packing for shipment or distribution of” perishable foods — no comma after “shipment.”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Delivery drivers argued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“packing for shipment or distribution” was ONE activity — packing — which they didn't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court agreed the sentence was ambiguous.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Oakhurst Dairy settled for $5 million (O'Connor v. Oakhurst Dairy, 2017).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serial comma is free insurance · ambiguity transfers money · a numbered vertical list would have made the ambiguity impossible.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ply-all résumé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reply-all résumé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cover letter was perfect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drafts, two reviewers, flawless prose.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went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“Dear Ms. Hartman” to a recruiter named Okafor · subject line “appliaction materials” · attachment missing · follow-up attached the WRONG FIRM'S letter.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was never proofread: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everything typed last and everything outside the prose — exactly where the last-thing check lives.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meta-lesson: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 is judged at the weakest point of the transmission, not the average of the paragraphs.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n-second repairs you'll use forev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Ten-second repairs you'll use forever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 am writing to inform you that there has been a change in the schedule…”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committee reached a final conclusion that the systems should be merged together.”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“Sales showed significant improvement.”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“Its important the team knows there going to get they're bonuses.”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meeting moved to 3:00.”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committee decided to merge the systems.”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“Sales rose 12% in Q2.”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“It's important the team knows they're going to get their bonuses.” — spellcheck passed the original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ols are pass zero — not the walkthroug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Tools are pass zero — not the walkthrough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them — they're free quality.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Grammarly, Word's editor, and AI review catch more than ever.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still miss verification errors entirely: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wrong names, wrong numbers, wrong files, wrong recipients.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cannot judge structure or emphasis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whether the main point is findable is invisible to a grammar engine.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 stays yours: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name is on it (Chapter 15's rule). Automated passes are smoke detectors, not judges.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passes at three altitudes: structure, sentences, proof — never one anxious reread.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Cool the draft; distance converts the writer back into a reader.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Cut the six flab targets on sight; omit needless words.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Climb down the abstraction ladder until claims are checkable.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Verify names, numbers, and dates against sources — spellcheck cannot see the high-stakes errors.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last-thing check (subject · recipients · attachment) prevents what perfect prose cannot.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4 → Practice, then the graded homework before the weekly deadline.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“Errors are the one writing flaw every reader can see. Revision is how professionals make sure the flaw they show the world is never that one.”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flab target is your signature? Bring three examples from your own writing, repaired.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can a cooling period realistically live in your workflow — and for which documents is it non-negotiable?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public sentence whose ambiguity could cost money. Rewrite it so no second reading exists.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Automated tools pass all ten workshop sentences. What does that say about you versus your tools?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the serial comma should be mandatory in business writing.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4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4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4 Study Guide — the ten-repair workshop and the full Oakhurst analysis.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Build your five-item pre-send checklist and use it on everything with stakes this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3 begins — Chapter 5: short workplace messages and digital media, where all four foundation chapters meet the inbox.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