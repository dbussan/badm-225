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4: the phase amateurs skip. Companion study guide includes the ten-repair workshop and the Oakhurst comma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4 practice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discipline of the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Typo blindness is expertise misfiring, not carelessness.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Sixth target on next slide with the shrink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Zinsser: clutter is the disease of American writing.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claims survive forwarding to the expert scrutinizer.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Proofreading exists because software cannot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routine attacks the brain's prediction habit a different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Reading is how the error survived. Verification replaces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case, real money. Punctuation is load-bearing syntax.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Perfect paragraphs cannot rescue a wrong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the study guide's ten-repair workshop — full set with answers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Division of labor between writer and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tone as a revision altitude. A message can be structurally sound, concise, and error-free — and still land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Tone errors are invisible to every tool and most writers — they require deliberately switching seats. The forward test catches the sentences people regret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Frame: bias-free language is a precision skill — the biased version usually states something the writer didn't mean to claim. Shorter and more accurate, not censored.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Peer review etiquette. The reviewer's job is to make the document better AND keep the writer improving — both, not either.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professional skill is separating identity from output. Writers who can't be edited stop being given important documents to write.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deadline triage. The full system when there's time; the ranked shortlist when there isn't.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Triage logic: allocate scarce proofreading minutes by expected damage, not by document order. The last-thing check is first because those errors are both common and unrecoverable.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is the best pass-zero tool yet built and still misses the verification errors entirely. Treat it as a tireless junior reviewer, not a sign-off authority.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Ties conciseness, active voice, and concreteness to tone. The rewrite is shorter, riskier-feeling to write, and completely disarming to receive — Chapter 7 develops this 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 Unit 2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vising Business Message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Revising Business Messages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Conciseness · clarity · proofreading — the judging phase, where drafts become sendable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4  ·  Original material © 2026 Derek D. Bussan, PhD, MBA  · 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  ·  © Derek D. Bussan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Revise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 three separated passes — structure, sentences, proof — instead of one anxious reread.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Cut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six kinds of flab: lead-ins, there-is openers, redundancies, flabby phrases, hedges, noun stacks.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Replace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abstractions with checkable claims — numbers and examples that survive forwarding.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Catch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 spellcheck cannot: real-word errors, homophones, wrong names, wrong numbers.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Run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pre-send ritual: read aloud, verify, last-thing check.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vision is a system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Revision is a system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Three problems live at three altitudes. The eye can't patrol all three at once.</a:t>
            </a:r>
          </a:p>
        </p:txBody>
      </p:sp>
      <p:sp>
        <p:nvSpPr>
          <p:cNvPr id="5" name="TextBox 4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  ·  © Derek D. Bussan</a:t>
            </a:r>
          </a:p>
        </p:txBody>
      </p:sp>
      <p:sp>
        <p:nvSpPr>
          <p:cNvPr id="6" name="TextBox 5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three-pass syste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three-pass system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  ·  © Derek D. Bussan</a:t>
            </a:r>
          </a:p>
        </p:txBody>
      </p:sp>
      <p:sp>
        <p:nvSpPr>
          <p:cNvPr id="4" name="TextBox 3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  <p:sp>
        <p:nvSpPr>
          <p:cNvPr id="5" name="Chevron 4" descr="Step 1: PASS 1 · STRUCTURE"/>
          <p:cNvSpPr/>
          <p:nvPr/>
        </p:nvSpPr>
        <p:spPr>
          <a:xfrm>
            <a:off x="548640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PASS 1 · STRUCTURE</a:t>
            </a:r>
          </a:p>
        </p:txBody>
      </p:sp>
      <p:sp>
        <p:nvSpPr>
          <p:cNvPr id="6" name="TextBox 5" descr="PASS 1 · STRUCTURE detail"/>
          <p:cNvSpPr txBox="1"/>
          <p:nvPr/>
        </p:nvSpPr>
        <p:spPr>
          <a:xfrm>
            <a:off x="548640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Right strategy? Main point findable? Every section earning its place?</a:t>
            </a:r>
          </a:p>
        </p:txBody>
      </p:sp>
      <p:sp>
        <p:nvSpPr>
          <p:cNvPr id="7" name="Chevron 6" descr="Step 2: PASS 2 · SENTENCES"/>
          <p:cNvSpPr/>
          <p:nvPr/>
        </p:nvSpPr>
        <p:spPr>
          <a:xfrm>
            <a:off x="4303776" y="1828800"/>
            <a:ext cx="3645408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PASS 2 · SENTENCES</a:t>
            </a:r>
          </a:p>
        </p:txBody>
      </p:sp>
      <p:sp>
        <p:nvSpPr>
          <p:cNvPr id="8" name="TextBox 7" descr="PASS 2 · SENTENCES detail"/>
          <p:cNvSpPr txBox="1"/>
          <p:nvPr/>
        </p:nvSpPr>
        <p:spPr>
          <a:xfrm>
            <a:off x="4303776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Concise, clear, active, parallel, old→new flow.</a:t>
            </a:r>
          </a:p>
        </p:txBody>
      </p:sp>
      <p:sp>
        <p:nvSpPr>
          <p:cNvPr id="9" name="Chevron 8" descr="Step 3: PASS 3 · PROOF"/>
          <p:cNvSpPr/>
          <p:nvPr/>
        </p:nvSpPr>
        <p:spPr>
          <a:xfrm>
            <a:off x="8058912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PASS 3 · PROOF</a:t>
            </a:r>
          </a:p>
        </p:txBody>
      </p:sp>
      <p:sp>
        <p:nvSpPr>
          <p:cNvPr id="10" name="TextBox 9" descr="PASS 3 · PROOF detail"/>
          <p:cNvSpPr txBox="1"/>
          <p:nvPr/>
        </p:nvSpPr>
        <p:spPr>
          <a:xfrm>
            <a:off x="8058912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Spelling, names, numbers, dates — what software cannot see.</a:t>
            </a:r>
          </a:p>
        </p:txBody>
      </p:sp>
      <p:sp>
        <p:nvSpPr>
          <p:cNvPr id="11" name="Rounded Rectangle 10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Structure first — there is no point polishing a paragraph pass one will delete. Three passes are faster than one muddled read repeated four times.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ooling-off perio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cooling-off period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  ·  © Derek D. Bussan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Fresh from drafting, you cannot proofread your own work.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brain already knows what the text should say — and shows you that instead.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science: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writers read from intended meaning; the brain fills gaps and glides over transpositions a stranger would catch instantly.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antidote is distance.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Overnight for anything substantial; even twenty minutes resets the eyes meaningfully.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Plan it into deadlines: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document due Friday is drafted Wednesday. On purpose.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ncisenes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Conciseness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Respect, measured in words.</a:t>
            </a:r>
          </a:p>
        </p:txBody>
      </p:sp>
      <p:sp>
        <p:nvSpPr>
          <p:cNvPr id="5" name="TextBox 4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  ·  © Derek D. Bussan</a:t>
            </a:r>
          </a:p>
        </p:txBody>
      </p:sp>
      <p:sp>
        <p:nvSpPr>
          <p:cNvPr id="6" name="TextBox 5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ix flab targe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six flab targets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  ·  © Derek D. Bussan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Oval 4" descr="Long lead-ins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✂</a:t>
            </a:r>
          </a:p>
        </p:txBody>
      </p:sp>
      <p:sp>
        <p:nvSpPr>
          <p:cNvPr id="6" name="TextBox 5" descr="Long lead-ins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Long lead-ins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“I am writing this email to let you know that…” → start where the news starts.</a:t>
            </a:r>
          </a:p>
        </p:txBody>
      </p:sp>
      <p:sp>
        <p:nvSpPr>
          <p:cNvPr id="7" name="Oval 6" descr="There is / it is openers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✂</a:t>
            </a:r>
          </a:p>
        </p:txBody>
      </p:sp>
      <p:sp>
        <p:nvSpPr>
          <p:cNvPr id="8" name="TextBox 7" descr="There is / it is openers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There is / it is openers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“There are three issues that remain” → “Three issues remain.”</a:t>
            </a:r>
          </a:p>
        </p:txBody>
      </p:sp>
      <p:sp>
        <p:nvSpPr>
          <p:cNvPr id="9" name="Oval 8" descr="Redundant pairs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✂</a:t>
            </a:r>
          </a:p>
        </p:txBody>
      </p:sp>
      <p:sp>
        <p:nvSpPr>
          <p:cNvPr id="10" name="TextBox 9" descr="Redundant pairs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Redundant pairs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“Each and every” · “final outcome” · “past history” — one word was already working.</a:t>
            </a:r>
          </a:p>
        </p:txBody>
      </p:sp>
      <p:sp>
        <p:nvSpPr>
          <p:cNvPr id="11" name="Oval 10" descr="Flabby phrases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✂</a:t>
            </a:r>
          </a:p>
        </p:txBody>
      </p:sp>
      <p:sp>
        <p:nvSpPr>
          <p:cNvPr id="12" name="TextBox 11" descr="Flabby phrases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Flabby phrases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“Due to the fact that” = because · “at this point in time” = now · “in order to” = to.</a:t>
            </a:r>
          </a:p>
        </p:txBody>
      </p:sp>
      <p:sp>
        <p:nvSpPr>
          <p:cNvPr id="13" name="Oval 12" descr="Hedges &amp; intensifiers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✂</a:t>
            </a:r>
          </a:p>
        </p:txBody>
      </p:sp>
      <p:sp>
        <p:nvSpPr>
          <p:cNvPr id="14" name="TextBox 13" descr="Hedges &amp; intensifiers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Hedges &amp; intensifiers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“Very, really, quite, rather” add heat, not light. Nothing is “very unique.”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hrin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shrink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  ·  © Derek D. Bussan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43→6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“Please be advised that in the event that you should have any questions… do not hesitate to reach out to the undersigned at your earliest convenience.” → “Questions? Call me any time.”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Same meaning. 86% lighter.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The reader keeps the difference.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Noun stacks get untangled too: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“employee parking permit application process revision” → “revising how employees apply for parking permits.”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classic rule: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“Omit needless words” — not all sentences short, but every word telling (Strunk &amp; White).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larity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Clarity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Concrete beats abstract — let the reader verify, not trust.</a:t>
            </a:r>
          </a:p>
        </p:txBody>
      </p:sp>
      <p:sp>
        <p:nvSpPr>
          <p:cNvPr id="5" name="TextBox 4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  ·  © Derek D. Bussan</a:t>
            </a:r>
          </a:p>
        </p:txBody>
      </p:sp>
      <p:sp>
        <p:nvSpPr>
          <p:cNvPr id="6" name="TextBox 5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abstraction ladder — climb dow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abstraction ladder — climb down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  ·  © Derek D. Bussan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Chevron 4" descr="Step 1: “Improved performance”"/>
          <p:cNvSpPr/>
          <p:nvPr/>
        </p:nvSpPr>
        <p:spPr>
          <a:xfrm>
            <a:off x="548640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“Improved performance”</a:t>
            </a:r>
          </a:p>
        </p:txBody>
      </p:sp>
      <p:sp>
        <p:nvSpPr>
          <p:cNvPr id="6" name="TextBox 5" descr="“Improved performance” detail"/>
          <p:cNvSpPr txBox="1"/>
          <p:nvPr/>
        </p:nvSpPr>
        <p:spPr>
          <a:xfrm>
            <a:off x="548640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Abstract: believe me.</a:t>
            </a:r>
          </a:p>
        </p:txBody>
      </p:sp>
      <p:sp>
        <p:nvSpPr>
          <p:cNvPr id="7" name="Chevron 6" descr="Step 2: “Faster support responses”"/>
          <p:cNvSpPr/>
          <p:nvPr/>
        </p:nvSpPr>
        <p:spPr>
          <a:xfrm>
            <a:off x="4303776" y="1828800"/>
            <a:ext cx="3645408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“Faster support responses”</a:t>
            </a:r>
          </a:p>
        </p:txBody>
      </p:sp>
      <p:sp>
        <p:nvSpPr>
          <p:cNvPr id="8" name="TextBox 7" descr="“Faster support responses” detail"/>
          <p:cNvSpPr txBox="1"/>
          <p:nvPr/>
        </p:nvSpPr>
        <p:spPr>
          <a:xfrm>
            <a:off x="4303776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Directional: trust me.</a:t>
            </a:r>
          </a:p>
        </p:txBody>
      </p:sp>
      <p:sp>
        <p:nvSpPr>
          <p:cNvPr id="9" name="Chevron 8" descr="Step 3: “9 hrs → 2.1 hrs in the 90-day pilot”"/>
          <p:cNvSpPr/>
          <p:nvPr/>
        </p:nvSpPr>
        <p:spPr>
          <a:xfrm>
            <a:off x="8058912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“9 hrs → 2.1 hrs in the 90-day pilot”</a:t>
            </a:r>
          </a:p>
        </p:txBody>
      </p:sp>
      <p:sp>
        <p:nvSpPr>
          <p:cNvPr id="10" name="TextBox 9" descr="“9 hrs → 2.1 hrs in the 90-day pilot” detail"/>
          <p:cNvSpPr txBox="1"/>
          <p:nvPr/>
        </p:nvSpPr>
        <p:spPr>
          <a:xfrm>
            <a:off x="8058912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Concrete: CHECK me.</a:t>
            </a:r>
          </a:p>
        </p:txBody>
      </p:sp>
      <p:sp>
        <p:nvSpPr>
          <p:cNvPr id="11" name="Rounded Rectangle 10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Every “significant,” “substantial,” and “streamlined” is a rung begging for the number beneath it. No number exists? The abstraction was hiding that too.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oofreading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Proofreading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hunt for what software cannot see.</a:t>
            </a:r>
          </a:p>
        </p:txBody>
      </p:sp>
      <p:sp>
        <p:nvSpPr>
          <p:cNvPr id="5" name="TextBox 4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  ·  © Derek D. Bussan</a:t>
            </a:r>
          </a:p>
        </p:txBody>
      </p:sp>
      <p:sp>
        <p:nvSpPr>
          <p:cNvPr id="6" name="TextBox 5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spellcheck reliably miss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spellcheck reliably misses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  ·  © Derek D. Bussan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Oval 4" descr="Real words, wrong place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👻</a:t>
            </a:r>
          </a:p>
        </p:txBody>
      </p:sp>
      <p:sp>
        <p:nvSpPr>
          <p:cNvPr id="6" name="TextBox 5" descr="Real words, wrong place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Real words, wrong place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manger/manager · form/from · pubic/public — correctly spelled, catastrophically placed.</a:t>
            </a:r>
          </a:p>
        </p:txBody>
      </p:sp>
      <p:sp>
        <p:nvSpPr>
          <p:cNvPr id="7" name="Oval 6" descr="Homophones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8" name="TextBox 7" descr="Homophones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Homophones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their/there · its/it's · affect/effect — grammatically invisible to most tools.</a:t>
            </a:r>
          </a:p>
        </p:txBody>
      </p:sp>
      <p:sp>
        <p:nvSpPr>
          <p:cNvPr id="9" name="Oval 8" descr="Names &amp; numbers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10" name="TextBox 9" descr="Names &amp; numbers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Names &amp; numbers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Katherine vs. Kathryn · $45,000 vs. $450,000 · March 12 vs. 21 — highest stakes, weakest tooling.</a:t>
            </a:r>
          </a:p>
        </p:txBody>
      </p:sp>
      <p:sp>
        <p:nvSpPr>
          <p:cNvPr id="11" name="Oval 10" descr="Grammar ghosts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12" name="TextBox 11" descr="Grammar ghosts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Grammar ghosts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Subject–verb slips, dangling modifiers, and the missing word you read as present.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Four routines that actually wor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Four routines that actually work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  ·  © Derek D. Bussan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Oval 4" descr="Read it ALOUD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🗣</a:t>
            </a:r>
          </a:p>
        </p:txBody>
      </p:sp>
      <p:sp>
        <p:nvSpPr>
          <p:cNvPr id="6" name="TextBox 5" descr="Read it ALOUD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Read it ALOUD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Ears catch what eyes forgive — the single highest-yield technique available.</a:t>
            </a:r>
          </a:p>
        </p:txBody>
      </p:sp>
      <p:sp>
        <p:nvSpPr>
          <p:cNvPr id="7" name="Oval 6" descr="One error type per sweep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 descr="One error type per sweep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One error type per sweep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 numbers-only pass, a names-only pass, an its/it's pass. Searching beats reading.</a:t>
            </a:r>
          </a:p>
        </p:txBody>
      </p:sp>
      <p:sp>
        <p:nvSpPr>
          <p:cNvPr id="9" name="Oval 8" descr="Change the costume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👕</a:t>
            </a:r>
          </a:p>
        </p:txBody>
      </p:sp>
      <p:sp>
        <p:nvSpPr>
          <p:cNvPr id="10" name="TextBox 9" descr="Change the costume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Change the costume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Print it, or change the font — unfamiliarity resets the blindness.</a:t>
            </a:r>
          </a:p>
        </p:txBody>
      </p:sp>
      <p:sp>
        <p:nvSpPr>
          <p:cNvPr id="11" name="Oval 10" descr="The last-thing check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☑</a:t>
            </a:r>
          </a:p>
        </p:txBody>
      </p:sp>
      <p:sp>
        <p:nvSpPr>
          <p:cNvPr id="12" name="TextBox 11" descr="The last-thing check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last-thing check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Subject line · recipient list · attachment. Three seconds against the classic disasters.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Verify — don't read — the high-stakes categori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Verify — don't read — the high-stakes categories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  ·  © Derek D. Bussan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Names: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check against the person's own signature block, never against memory. A misspelled name is a personal insult in writing.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Numbers: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check every figure against its source. A transposed digit in a price is a contractual event.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Dates: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“4 March 2026” — a format no country misreads. 3/4/26 is two different meetings on two continents.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Files: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name attachments for the recipient: “Okafor-CoverLetter-May2026.docx” cannot be confused with a competitor's.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$5 million missing comma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$5 million missing comma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  ·  © Derek D. Bussan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Maine's overtime law exempted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“…storing, packing for shipment or distribution of” perishable foods — no comma after “shipment.”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Delivery drivers argued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“packing for shipment or distribution” was ONE activity — packing — which they didn't do.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court agreed the sentence was ambiguous.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Oakhurst Dairy settled for $5 million (O'Connor v. Oakhurst Dairy, 2017).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serial comma is free insurance · ambiguity transfers money · a numbered vertical list would have made the ambiguity impossible.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reply-all résumé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reply-all résumé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  ·  © Derek D. Bussan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cover letter was perfect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three drafts, two reviewers, flawless prose.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What went out: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“Dear Ms. Hartman” to a recruiter named Okafor · subject line “appliaction materials” · attachment missing · follow-up attached the WRONG FIRM'S letter.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What was never proofread: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everything typed last and everything outside the prose — exactly where the last-thing check lives.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meta-lesson: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quality is judged at the weakest point of the transmission, not the average of the paragraphs.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en-second repairs you'll use forev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Ten-second repairs you'll use forever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  ·  © Derek D. Bussan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Rounded Rectangle 4" descr="Before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Before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“I am writing to inform you that there has been a change in the schedule…”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“The committee reached a final conclusion that the systems should be merged together.”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“Sales showed significant improvement.”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“Its important the team knows there going to get they're bonuses.”</a:t>
            </a:r>
          </a:p>
        </p:txBody>
      </p:sp>
      <p:sp>
        <p:nvSpPr>
          <p:cNvPr id="6" name="Rounded Rectangle 5" descr="After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After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“The meeting moved to 3:00.”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“The committee decided to merge the systems.”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“Sales rose 12% in Q2.”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“It's important the team knows they're going to get their bonuses.” — spellcheck passed the original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ools are pass zero — not the walkthrough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Tools are pass zero — not the walkthrough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  ·  © Derek D. Bussan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Run them — they're free quality.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Grammarly, Word's editor, and AI review catch more than ever.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They still miss verification errors entirely: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wrong names, wrong numbers, wrong files, wrong recipients.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They cannot judge structure or emphasis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whether the main point is findable is invisible to a grammar engine.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standard stays yours: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name is on it (Chapter 15's rule). Automated passes are smoke detectors, not judges.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tone pas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tone pass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Correct isn't the same as right. Read once more for how it sounds.</a:t>
            </a:r>
          </a:p>
        </p:txBody>
      </p:sp>
      <p:sp>
        <p:nvSpPr>
          <p:cNvPr id="5" name="TextBox 4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  ·  © Derek D. Bussan</a:t>
            </a:r>
          </a:p>
        </p:txBody>
      </p:sp>
      <p:sp>
        <p:nvSpPr>
          <p:cNvPr id="6" name="TextBox 5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one: the pass most writers never ru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Tone: the pass most writers never run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  ·  © Derek D. Bussan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 it as the recipient.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'is this what I meant?' but 'how does this feel arriving in MY inbox on a bad day?'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Hunt the accidental accusations.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 failed to include the form' → 'The form wasn't attached — could you resend it?' Same fact, no finger.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Check the temperature of imperatives.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'Send me the report' reads colder in text than it sounded in your head. Please is free.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Confidence without arrogance.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 believe this might possibly work' undersells; 'obviously this is the answer' overplays. State it plainly and stand behind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forward test.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Would this sentence embarrass you if forwarded to the person it's about? Then it's not done.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ias-free language: precision, not politic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Bias-free language: precision, not politics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  ·  © Derek D. Bussan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Rounded Rectangle 4" descr="The patterns to catch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patterns to catch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Gendered job titles: chairman, salesman, manpower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Unnecessary demographic tags: 'the female engineer'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Age assumptions: 'young and energetic team'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Disability phrasing that leads with the condition</a:t>
            </a:r>
          </a:p>
        </p:txBody>
      </p:sp>
      <p:sp>
        <p:nvSpPr>
          <p:cNvPr id="6" name="Rounded Rectangle 5" descr="The repairs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repairs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Chair, sales rep, staffing — the neutral term is usually shorter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Mention demographics only when relevant to the point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Describe the behavior, not the birth year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Person-first or identity-first per the person's own preference; when unknown, person-first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viewing someone else's draf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Reviewing someone else's draft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  ·  © Derek D. Bussan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Comment on the work, never the writer.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paragraph buries the request' — not 'you always bury your requests.'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Triage your comments.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structural issue outweighs nine comma notes. Lead with what matters; don't drown the writer in trivia.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Suggest, don't seize.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Rewriting their document in your voice teaches nothing and breeds resentment. Mark the problem; let them solve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Say what works.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'Keep this opening — it's exactly right' is information too. All-negative reviews get ignored as noise.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ceiving edits without bleed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Receiving edits without bleeding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  ·  © Derek D. Bussan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document is not you.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Detach on purpose: every mark is a reader telling you where they stumbled — free intelligence, painfully delivered.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Stumbles are data, wording is negotiable.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a reviewer misread the sentence, the sentence is guilty. You don't have to accept their fix — you do have to fix the stumble.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the clarifying question.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did you expect this section to say?' turns a vague 'this is confusing' into an actionable repair.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Thank the harsh reviewer.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colleague who marks everything is doing what your future readers would have done silently.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vision under pressur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Revision under pressure</a:t>
            </a:r>
          </a:p>
        </p:txBody>
      </p:sp>
      <p:sp>
        <p:nvSpPr>
          <p:cNvPr id="3" name="TextBox 2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No time for three passes? There's still a system for five minutes.</a:t>
            </a:r>
          </a:p>
        </p:txBody>
      </p:sp>
      <p:sp>
        <p:nvSpPr>
          <p:cNvPr id="5" name="TextBox 4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  ·  © Derek D. Bussan</a:t>
            </a:r>
          </a:p>
        </p:txBody>
      </p:sp>
      <p:sp>
        <p:nvSpPr>
          <p:cNvPr id="6" name="TextBox 5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ive-minute triage (in strict order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five-minute triage (in strict order)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  ·  © Derek D. Bussan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When time is short, spend it where errors cost most — not evenly.</a:t>
            </a:r>
          </a:p>
        </p:txBody>
      </p:sp>
      <p:sp>
        <p:nvSpPr>
          <p:cNvPr id="6" name="Oval 5" descr="The last-thing check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 descr="The last-thing check"/>
          <p:cNvSpPr txBox="1"/>
          <p:nvPr/>
        </p:nvSpPr>
        <p:spPr>
          <a:xfrm>
            <a:off x="1417320" y="19202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last-thing check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Recipients · subject line · attachment. Twenty seconds against the classic catastrophes.</a:t>
            </a:r>
          </a:p>
        </p:txBody>
      </p:sp>
      <p:sp>
        <p:nvSpPr>
          <p:cNvPr id="8" name="Oval 7" descr="Names and numbers icon"/>
          <p:cNvSpPr/>
          <p:nvPr/>
        </p:nvSpPr>
        <p:spPr>
          <a:xfrm>
            <a:off x="640080" y="299923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 descr="Names and numbers"/>
          <p:cNvSpPr txBox="1"/>
          <p:nvPr/>
        </p:nvSpPr>
        <p:spPr>
          <a:xfrm>
            <a:off x="1417320" y="294436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Names and numbers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Verify every one against its source — highest damage per error, fastest to check.</a:t>
            </a:r>
          </a:p>
        </p:txBody>
      </p:sp>
      <p:sp>
        <p:nvSpPr>
          <p:cNvPr id="10" name="Oval 9" descr="The first sentence icon"/>
          <p:cNvSpPr/>
          <p:nvPr/>
        </p:nvSpPr>
        <p:spPr>
          <a:xfrm>
            <a:off x="640080" y="402336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 descr="The first sentence"/>
          <p:cNvSpPr txBox="1"/>
          <p:nvPr/>
        </p:nvSpPr>
        <p:spPr>
          <a:xfrm>
            <a:off x="1417320" y="396849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first sentence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Is the main point there? A buried lead fails even with perfect grammar.</a:t>
            </a:r>
          </a:p>
        </p:txBody>
      </p:sp>
      <p:sp>
        <p:nvSpPr>
          <p:cNvPr id="12" name="Oval 11" descr="Read the riskiest paragraph aloud icon"/>
          <p:cNvSpPr/>
          <p:nvPr/>
        </p:nvSpPr>
        <p:spPr>
          <a:xfrm>
            <a:off x="640080" y="504748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 descr="Read the riskiest paragraph aloud"/>
          <p:cNvSpPr txBox="1"/>
          <p:nvPr/>
        </p:nvSpPr>
        <p:spPr>
          <a:xfrm>
            <a:off x="1417320" y="499262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Read the riskiest paragraph aloud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one with the bad news, the money, or the ask — ears on the highest-stakes prose only.</a:t>
            </a:r>
          </a:p>
        </p:txBody>
      </p:sp>
      <p:sp>
        <p:nvSpPr>
          <p:cNvPr id="14" name="Oval 13" descr="One flab sweep of the opening icon"/>
          <p:cNvSpPr/>
          <p:nvPr/>
        </p:nvSpPr>
        <p:spPr>
          <a:xfrm>
            <a:off x="640080" y="607161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 descr="One flab sweep of the opening"/>
          <p:cNvSpPr txBox="1"/>
          <p:nvPr/>
        </p:nvSpPr>
        <p:spPr>
          <a:xfrm>
            <a:off x="1417320" y="601675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One flab sweep of the opening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Readers judge in the first three lines; trim those hardest.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I as a revision assistant — the right promp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AI as a revision assistant — the right prompts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  ·  © Derek D. Bussan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for critique, not rewrites.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'List the three biggest clarity problems' keeps you the writer; 'rewrite this' makes you the typist of someone else's voice.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targeted passes.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'Check subject-verb agreement only' · 'flag every abstract claim that lacks a number' — the tool is excellent at single-error sweeps.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Verify its catches.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AI flags phantom errors confidently; accept or reject each one deliberately, exactly as with a human reviewer.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paste what can't leak.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Names, salaries, unreleased numbers — confidentiality rules apply to AI tools like any external service.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Your name ships on it.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judgment layer — tone, stakes, structure — stays yours (Chapter 15's rule).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apology that needed one more pas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apology that needed one more pass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  ·  © Derek D. Bussan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draft was accurate: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'We regret any inconvenience that may have been experienced as a result of the billing discrepancy.'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word defensible. Every word wrong.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Passive, conditional, abstract — 'may have been experienced' implies the customer might be imagining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tone-pass rewrite: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'We billed you twice, and that's our error. The refund is processing today, and here's what we changed so it can't recur.'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six flab targets and the passive-as-camouflage habit aren't just style issues — under pressure, they read as evasion.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  ·  © Derek D. Bussan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Three passes at three altitudes: structure, sentences, proof — never one anxious reread.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Cool the draft; distance converts the writer back into a reader.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Cut the six flab targets on sight; omit needless words.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Climb down the abstraction ladder until claims are checkable.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Verify names, numbers, and dates against sources — spellcheck cannot see the high-stakes errors.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last-thing check (subject · recipients · attachment) prevents what perfect prose cannot.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4 → Practice, then the graded homework before the weekly deadline.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“Errors are the one writing flaw every reader can see. Revision is how professionals make sure the flaw they show the world is never that one.”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  ·  © Derek D. Bussan</a:t>
            </a:r>
          </a:p>
        </p:txBody>
      </p:sp>
      <p:sp>
        <p:nvSpPr>
          <p:cNvPr id="6" name="TextBox 5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Which flab target is your signature? Bring three examples from your own writing, repaired.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Where can a cooling period realistically live in your workflow — and for which documents is it non-negotiable?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Find a public sentence whose ambiguity could cost money. Rewrite it so no second reading exists.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Automated tools pass all ten workshop sentences. What does that say about you versus your tools?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Defend or attack: the serial comma should be mandatory in business writing.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4  ·  © Derek D. Bussan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  ·  © Derek D. Bussan</a:t>
            </a:r>
          </a:p>
        </p:txBody>
      </p:sp>
      <p:sp>
        <p:nvSpPr>
          <p:cNvPr id="4" name="TextBox 3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4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4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Chapter 4 Study Guide — the ten-repair workshop and the full Oakhurst analysis.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Build your five-item pre-send checklist and use it on everything with stakes this week.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Unit 3 begins — Chapter 5: short workplace messages and digital media, where all four foundation chapters meet the inbox.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