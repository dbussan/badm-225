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Chapter 1. This deck covers why communication is the most portable career skill, how the communication process works, and the habits of professional communicators.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objectives. Each maps to a section of this deck and to the practice questions on the course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Employer surveys — NACE and similar — routinely place communication at or near the top of desired skills. The point is not one statistic; it is that this skill is portable, compounding, and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the communication process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each stage. Emphasize: the receiver reconstructs meaning; the message that matters is the one that was received, not the one that was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employees can decode one memo differently because each decodes through their own experience. The fix is sender-side: anticipate, translate, test, invite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noise: fix the environment or channel. Semantic: fix the wording. Psychological: fix timing, tone, and trust. Ask students for one example of each from their own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as a diagnosis exercise before revealing the bullets: where did this message break down? Most real communication failures are multi-point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channel selection and media richness.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Richness = capacity to carry multiple cues and immediate feedback. The skill is matching the channel to the message, not defaulting to your comfort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pairing: deliver hard news rich (conversation), then confirm lean (written follow-up). You get empathy AND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commit to an answer before revealing. The pattern: emotional impact and complexity push rich; routine and documentation push 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grapevine cannot be eliminated, only outrun: fast, honest formal communication shrinks the space rumors grow in. Upward filtering is why leaders must actively reward bad news delivered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listening as a professional skill with technique and reps, exactly like writing. The next slides give the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Hearing is passive; listening is five active stages. Where do most failures happen for you? Usually focus (distraction) or interpretation (assumption).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speed gap is real: we process words several times faster than people speak. Skilled listeners spend the spare capacity summarizing and anticipating, not drifting.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Paraphrase is the highest-value habit: it catches misunderstanding at the cheapest possible moment —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nonverbal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Nonverbal cues are continuous and mostly involuntary — which is exactly why audiences trust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fake precision (the old '93% of meaning is nonverbal' myth misquotes narrow studies). The defensible claim: in conflicts, nonverbal usually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underestimate written nonverbals: response latency, formatting, and punctuation all get read as attitude.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intercultural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Neither style is better; each decodes the other as rude or evasive. Global teams need explicit norms about which style the team will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Diverse teams communicate better with explicit norms. The professional move is curiosity before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ethics and professionalism.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dilemma is choosing between two rights; a lapse is choosing wrong over right. Most career-ending events are lapses that started as small rationalizations.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Fast, memorable filters for everyday choices — expense wording, status report spin, whom to CC. Most ethics failures happen at typing speed, not in big dramatic moments.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Professionalism is not formality — it is predictability plus respect, demonstrated in small repeated behaviors.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 scare slide — a strategy slide. The same permanence that makes careless posts dangerous makes thoughtful posts a standing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Remote work turns communication from a soft skill into the operating system of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of Chapter 15. Framing: AI raises the floor of writing quality; your judgment sets the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Direct students to the practice site for Chapter 1 questions and writing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Widely attributed to Shaw; attribution noted as such. A good closing frame: assume the illusion, then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in live session or as async discussion-board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 slide (no 'next class' phrasing — works for asynchronous sections). Standard pattern across all chapter decks: practice, graded work, writing, reflection,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mmunicating in Today's Workplace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Communicating in Today's Workplace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Communication foundations · listening · nonverbal signals · ethics · professionalism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1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Explain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communication process and identify where messages break down.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Choose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right channel for a message based on richness, sensitivity, and the need for a record.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Listen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actively — and prove it with paraphrase and follow-up questions.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nonverbal signals and manage the ones you send, in person and on camera.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Apply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quick ethics tests to everyday workplace decisions.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Present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yourself professionally in every channel, including social media.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most portable skill you will ever buil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most portable skill you will ever build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#1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Communication consistently tops employer surveys of the skills they want most — across industries and job titles.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It travels.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Technical tools change; the ability to write, speak, and listen clearly moves with you to every job you will ever hold.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It compounds.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Strong communicators get trusted with bigger audiences, bigger decisions, and bigger teams.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It is visible.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Most of what your manager and colleagues know about your thinking arrives through what you write and say.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How communication actually work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How communication actually works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A message seems simple — until you watch how many places it can fail.</a:t>
            </a:r>
          </a:p>
        </p:txBody>
      </p:sp>
      <p:sp>
        <p:nvSpPr>
          <p:cNvPr id="5" name="TextBox 4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ommunication proces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communication process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Chevron 4" descr="Step 1: Sender has an idea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Sender has an idea</a:t>
            </a:r>
          </a:p>
        </p:txBody>
      </p:sp>
      <p:sp>
        <p:nvSpPr>
          <p:cNvPr id="6" name="TextBox 5" descr="Sender has an idea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You know what you mean — the idea exists only in your head.</a:t>
            </a:r>
          </a:p>
        </p:txBody>
      </p:sp>
      <p:sp>
        <p:nvSpPr>
          <p:cNvPr id="7" name="Chevron 6" descr="Step 2: Encode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Encode</a:t>
            </a:r>
          </a:p>
        </p:txBody>
      </p:sp>
      <p:sp>
        <p:nvSpPr>
          <p:cNvPr id="8" name="TextBox 7" descr="Encode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You translate the idea into words, images, numbers, or gestures.</a:t>
            </a:r>
          </a:p>
        </p:txBody>
      </p:sp>
      <p:sp>
        <p:nvSpPr>
          <p:cNvPr id="9" name="Chevron 8" descr="Step 3: Transmit via channel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Transmit via channel</a:t>
            </a:r>
          </a:p>
        </p:txBody>
      </p:sp>
      <p:sp>
        <p:nvSpPr>
          <p:cNvPr id="10" name="TextBox 9" descr="Transmit via channel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Email, call, meeting, chat, report — the carrier of the message.</a:t>
            </a:r>
          </a:p>
        </p:txBody>
      </p:sp>
      <p:sp>
        <p:nvSpPr>
          <p:cNvPr id="11" name="Chevron 10" descr="Step 4: Decode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Decode</a:t>
            </a:r>
          </a:p>
        </p:txBody>
      </p:sp>
      <p:sp>
        <p:nvSpPr>
          <p:cNvPr id="12" name="TextBox 11" descr="Decode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receiver translates your words back into meaning — through their frame of reference.</a:t>
            </a:r>
          </a:p>
        </p:txBody>
      </p:sp>
      <p:sp>
        <p:nvSpPr>
          <p:cNvPr id="13" name="Chevron 12" descr="Step 5: Feedback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14" name="TextBox 13" descr="Feedback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receiver responds; only now do you learn what actually landed.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Meaning is never 'sent.' It is reconstructed by the receiver — which is why skilled communicators check what landed instead of assuming.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rame of reference: why the same memo reads two 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Frame of reference: why the same memo reads two ways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 descr="What shapes a frame of reference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What shapes a frame of reference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Education, training, and vocabulary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Experience with the topic — expert vs. first-timer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Culture, language, and generation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Mood, workload, and history with the sender</a:t>
            </a:r>
          </a:p>
        </p:txBody>
      </p:sp>
      <p:sp>
        <p:nvSpPr>
          <p:cNvPr id="6" name="Rounded Rectangle 5" descr="What skilled senders do about it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What skilled senders do about it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Anticipate.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Ask: what does this reader already know? What do they fear or want?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Translate.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Replace jargon with the reader's vocabulary.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Test.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For high-stakes messages, have an outsider read it first.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Invite feedback.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Make it easy for the receiver to ask, push back, or confirm.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oise: everything that degrades the messag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Noise: everything that degrades the message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Diagnose which kind of noise you are fighting — each has a different fix.</a:t>
            </a:r>
          </a:p>
        </p:txBody>
      </p:sp>
      <p:sp>
        <p:nvSpPr>
          <p:cNvPr id="6" name="Oval 5" descr="Physical noise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7" name="TextBox 6" descr="Physical noise"/>
          <p:cNvSpPr txBox="1"/>
          <p:nvPr/>
        </p:nvSpPr>
        <p:spPr>
          <a:xfrm>
            <a:off x="1417320" y="19202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Physical noise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 loud HVAC unit on the call, a glitchy connection, a cluttered slide — interference in the channel itself.</a:t>
            </a:r>
          </a:p>
        </p:txBody>
      </p:sp>
      <p:sp>
        <p:nvSpPr>
          <p:cNvPr id="8" name="Oval 7" descr="Semantic noise icon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9" name="TextBox 8" descr="Semantic noise"/>
          <p:cNvSpPr txBox="1"/>
          <p:nvPr/>
        </p:nvSpPr>
        <p:spPr>
          <a:xfrm>
            <a:off x="1417320" y="31089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Semantic noise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Jargon, vague wording, or a term the audience decodes differently than you intended.</a:t>
            </a:r>
          </a:p>
        </p:txBody>
      </p:sp>
      <p:sp>
        <p:nvSpPr>
          <p:cNvPr id="10" name="Oval 9" descr="Psychological noise icon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1" name="TextBox 10" descr="Psychological noise"/>
          <p:cNvSpPr txBox="1"/>
          <p:nvPr/>
        </p:nvSpPr>
        <p:spPr>
          <a:xfrm>
            <a:off x="1417320" y="429768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Psychological noise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Stress, distraction, bias, or a bad history with the sender — static inside the receiver.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safety memo nobody follow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safety memo nobody followed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situation: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safety engineer emails dense technical instructions to office staff. A week later, compliance is near zero.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Encoding failure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memo used specialist vocabulary the audience could not decode (semantic noise).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Channel failure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mass email for a behavior change that needed discussion and demonstration.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Feedback failure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 confirmation loop, so the sender learned about the breakdown a week late.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fix: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plain-language rewrite, a five-minute demo at the staff meeting, and a one-question reply to confirm understanding.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hoosing the channel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Choosing the channel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same words succeed in one channel and fail in another.</a:t>
            </a:r>
          </a:p>
        </p:txBody>
      </p:sp>
      <p:sp>
        <p:nvSpPr>
          <p:cNvPr id="5" name="TextBox 4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6" name="TextBox 5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richness continuu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richness continuum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Chevron 4" descr="Step 1: Face-to-face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Face-to-face</a:t>
            </a:r>
          </a:p>
        </p:txBody>
      </p:sp>
      <p:sp>
        <p:nvSpPr>
          <p:cNvPr id="6" name="TextBox 5" descr="Face-to-face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Richest: words + tone + expression + instant feedback.</a:t>
            </a:r>
          </a:p>
        </p:txBody>
      </p:sp>
      <p:sp>
        <p:nvSpPr>
          <p:cNvPr id="7" name="Chevron 6" descr="Step 2: Video call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Video call</a:t>
            </a:r>
          </a:p>
        </p:txBody>
      </p:sp>
      <p:sp>
        <p:nvSpPr>
          <p:cNvPr id="8" name="TextBox 7" descr="Video call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Nearly as rich; watch for camera and connection limits.</a:t>
            </a:r>
          </a:p>
        </p:txBody>
      </p:sp>
      <p:sp>
        <p:nvSpPr>
          <p:cNvPr id="9" name="Chevron 8" descr="Step 3: Phone call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Phone call</a:t>
            </a:r>
          </a:p>
        </p:txBody>
      </p:sp>
      <p:sp>
        <p:nvSpPr>
          <p:cNvPr id="10" name="TextBox 9" descr="Phone call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Tone and immediacy, but no visual cues.</a:t>
            </a:r>
          </a:p>
        </p:txBody>
      </p:sp>
      <p:sp>
        <p:nvSpPr>
          <p:cNvPr id="11" name="Chevron 10" descr="Step 4: Email / memo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Email / memo</a:t>
            </a:r>
          </a:p>
        </p:txBody>
      </p:sp>
      <p:sp>
        <p:nvSpPr>
          <p:cNvPr id="12" name="TextBox 11" descr="Email / memo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Lean but permanent — creates the record.</a:t>
            </a:r>
          </a:p>
        </p:txBody>
      </p:sp>
      <p:sp>
        <p:nvSpPr>
          <p:cNvPr id="13" name="Chevron 12" descr="Step 5: Text / chat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Text / chat</a:t>
            </a:r>
          </a:p>
        </p:txBody>
      </p:sp>
      <p:sp>
        <p:nvSpPr>
          <p:cNvPr id="14" name="TextBox 13" descr="Text / chat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Fast, informal, easily misread; no nuance.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Richer is not always better. Routine facts belong in lean, documented channels; sensitive or complex topics need rich 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Match the channel to the messag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Match the channel to the message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 descr="Choose a RICH channel when…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Choose a RICH channel when…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topic is sensitive, emotional, or personal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message is complex or likely to raise questions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You need immediate feedback or negotiation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Trust is low or the news is bad</a:t>
            </a:r>
          </a:p>
        </p:txBody>
      </p:sp>
      <p:sp>
        <p:nvSpPr>
          <p:cNvPr id="6" name="Rounded Rectangle 5" descr="Choose a LEAN channel when…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Choose a LEAN channel when…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content is routine and factual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You need a permanent, searchable record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Many people need identical information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receiver needs time to process before responding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 make the cal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 make the call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For each situation: rich or lean — and in what order?</a:t>
            </a:r>
          </a:p>
        </p:txBody>
      </p:sp>
      <p:sp>
        <p:nvSpPr>
          <p:cNvPr id="6" name="Oval 5" descr="Performance problem with a teammate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 descr="Performance problem with a teammate"/>
          <p:cNvSpPr txBox="1"/>
          <p:nvPr/>
        </p:nvSpPr>
        <p:spPr>
          <a:xfrm>
            <a:off x="1417320" y="19202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Performance problem with a teammate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Rich first: private face-to-face or video conversation; written summary afterward.</a:t>
            </a:r>
          </a:p>
        </p:txBody>
      </p:sp>
      <p:sp>
        <p:nvSpPr>
          <p:cNvPr id="8" name="Oval 7" descr="New parking policy, effective next month icon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 descr="New parking policy, effective next month"/>
          <p:cNvSpPr txBox="1"/>
          <p:nvPr/>
        </p:nvSpPr>
        <p:spPr>
          <a:xfrm>
            <a:off x="1417320" y="31089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New parking policy, effective next month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Lean: email or intranet post — routine, factual, needs a record.</a:t>
            </a:r>
          </a:p>
        </p:txBody>
      </p:sp>
      <p:sp>
        <p:nvSpPr>
          <p:cNvPr id="10" name="Oval 9" descr="Department restructuring announcement icon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 descr="Department restructuring announcement"/>
          <p:cNvSpPr txBox="1"/>
          <p:nvPr/>
        </p:nvSpPr>
        <p:spPr>
          <a:xfrm>
            <a:off x="1417320" y="429768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Department restructuring announcement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Rich first (live meeting with Q&amp;A), written follow-up for the record.</a:t>
            </a:r>
          </a:p>
        </p:txBody>
      </p:sp>
      <p:sp>
        <p:nvSpPr>
          <p:cNvPr id="12" name="Oval 11" descr="Reminder: timesheets due Friday icon"/>
          <p:cNvSpPr/>
          <p:nvPr/>
        </p:nvSpPr>
        <p:spPr>
          <a:xfrm>
            <a:off x="640080" y="55412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 descr="Reminder: timesheets due Friday"/>
          <p:cNvSpPr txBox="1"/>
          <p:nvPr/>
        </p:nvSpPr>
        <p:spPr>
          <a:xfrm>
            <a:off x="1417320" y="54864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Reminder: timesheets due Friday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Lean and brief: chat or email; nobody needs a meeting for this.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How information moves inside an organiz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How information moves inside an organization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Oval 4" descr="Downward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6" name="TextBox 5" descr="Downward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Downward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Leadership to staff: goals, policies, feedback. Risk: sounds clear at the top, arrives vague at the bottom.</a:t>
            </a:r>
          </a:p>
        </p:txBody>
      </p:sp>
      <p:sp>
        <p:nvSpPr>
          <p:cNvPr id="7" name="Oval 6" descr="Upward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8" name="TextBox 7" descr="Upward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Upward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Staff to leadership: status reports, problems, ideas. Risk: bad news gets filtered on the way up.</a:t>
            </a:r>
          </a:p>
        </p:txBody>
      </p:sp>
      <p:sp>
        <p:nvSpPr>
          <p:cNvPr id="9" name="Oval 8" descr="Lateral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 descr="Lateral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Lateral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Peer to peer across teams: coordination, requests. Risk: turf friction and inconsistent records.</a:t>
            </a:r>
          </a:p>
        </p:txBody>
      </p:sp>
      <p:sp>
        <p:nvSpPr>
          <p:cNvPr id="11" name="Oval 10" descr="The grapevine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2" name="TextBox 11" descr="The grapevine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grapevine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informal network. Fast, inevitable, mostly accurate — and it fills every silence leadership leaves.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istening like a professional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Listening like a professional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Most people listen to reply. Professionals listen to understand.</a:t>
            </a:r>
          </a:p>
        </p:txBody>
      </p:sp>
      <p:sp>
        <p:nvSpPr>
          <p:cNvPr id="5" name="TextBox 4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6" name="TextBox 5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oor listening is expensiv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Poor listening is expensive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Instructions repeated, work redone, deadlines missed — the tax on every misheard detail.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Customers who feel unheard leave quietly; colleagues who feel unheard stop offering ideas.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Most people retain only a fraction of what they hear — attention drifts, memory edits, assumptions fill gaps.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upside: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listening is a learnable skill with visible technique — not a personality trait.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happens between hearing and remember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happens between hearing and remembering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Chevron 4" descr="Step 1: Hear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Hear</a:t>
            </a:r>
          </a:p>
        </p:txBody>
      </p:sp>
      <p:sp>
        <p:nvSpPr>
          <p:cNvPr id="6" name="TextBox 5" descr="Hear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Sound reaches you — this part is passive.</a:t>
            </a:r>
          </a:p>
        </p:txBody>
      </p:sp>
      <p:sp>
        <p:nvSpPr>
          <p:cNvPr id="7" name="Chevron 6" descr="Step 2: Focus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8" name="TextBox 7" descr="Focus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You choose what gets attention; multitasking ends listening here.</a:t>
            </a:r>
          </a:p>
        </p:txBody>
      </p:sp>
      <p:sp>
        <p:nvSpPr>
          <p:cNvPr id="9" name="Chevron 8" descr="Step 3: Interpret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Interpret</a:t>
            </a:r>
          </a:p>
        </p:txBody>
      </p:sp>
      <p:sp>
        <p:nvSpPr>
          <p:cNvPr id="10" name="TextBox 9" descr="Interpret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You assign meaning — through your frame of reference.</a:t>
            </a:r>
          </a:p>
        </p:txBody>
      </p:sp>
      <p:sp>
        <p:nvSpPr>
          <p:cNvPr id="11" name="Chevron 10" descr="Step 4: Evaluate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12" name="TextBox 11" descr="Evaluate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You judge: credible? complete? What's opinion vs. fact?</a:t>
            </a:r>
          </a:p>
        </p:txBody>
      </p:sp>
      <p:sp>
        <p:nvSpPr>
          <p:cNvPr id="13" name="Chevron 12" descr="Step 5: Respond &amp; retain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Respond &amp; retain</a:t>
            </a:r>
          </a:p>
        </p:txBody>
      </p:sp>
      <p:sp>
        <p:nvSpPr>
          <p:cNvPr id="14" name="TextBox 13" descr="Respond &amp; retain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You confirm, ask, act — and what you processed is what you keep.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Listening fails silently at the middle stages. You can be nodding while interpreting wrongly — which is why confirmation matters.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gets in the wa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gets in the way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Rounded Rectangle 4" descr="External barrier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External barriers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Noise, interruptions, uncomfortable settings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Devices — the open laptop during meetings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Speed gap: minds process faster than people talk, so attention wanders</a:t>
            </a:r>
          </a:p>
        </p:txBody>
      </p:sp>
      <p:sp>
        <p:nvSpPr>
          <p:cNvPr id="6" name="Rounded Rectangle 5" descr="Internal barriers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Internal barriers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Rehearsing your reply while they're still talking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Prejudging the speaker or dismissing the topic early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Emotional triggers — a word lands wrong and you stop processing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Faking it: nodding along while mentally absent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ctive listening: the visible techniqu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Active listening: the visible techniques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Oval 4" descr="Attend fully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👁</a:t>
            </a:r>
          </a:p>
        </p:txBody>
      </p:sp>
      <p:sp>
        <p:nvSpPr>
          <p:cNvPr id="6" name="TextBox 5" descr="Attend fully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Attend fully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Devices down, eye contact on, body turned toward the speaker. Attention is visible.</a:t>
            </a:r>
          </a:p>
        </p:txBody>
      </p:sp>
      <p:sp>
        <p:nvSpPr>
          <p:cNvPr id="7" name="Oval 6" descr="Capture, don't transcribe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8" name="TextBox 7" descr="Capture, don't transcribe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Capture, don't transcribe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Note key points and commitments — writing everything means processing nothing.</a:t>
            </a:r>
          </a:p>
        </p:txBody>
      </p:sp>
      <p:sp>
        <p:nvSpPr>
          <p:cNvPr id="9" name="Oval 8" descr="Paraphrase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↺</a:t>
            </a:r>
          </a:p>
        </p:txBody>
      </p:sp>
      <p:sp>
        <p:nvSpPr>
          <p:cNvPr id="10" name="TextBox 9" descr="Paraphrase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Paraphrase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“So the deadline moves only if the client signs by Tuesday — did I get that right?” Confirms meaning on the spot.</a:t>
            </a:r>
          </a:p>
        </p:txBody>
      </p:sp>
      <p:sp>
        <p:nvSpPr>
          <p:cNvPr id="11" name="Oval 10" descr="Ask real questions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2" name="TextBox 11" descr="Ask real questions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Ask real questions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Open questions that explore, not leading questions that steer.</a:t>
            </a:r>
          </a:p>
        </p:txBody>
      </p:sp>
      <p:sp>
        <p:nvSpPr>
          <p:cNvPr id="13" name="Oval 12" descr="Let silence work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⏸</a:t>
            </a:r>
          </a:p>
        </p:txBody>
      </p:sp>
      <p:sp>
        <p:nvSpPr>
          <p:cNvPr id="14" name="TextBox 13" descr="Let silence work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Let silence work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Pause before replying. The speaker often adds the most important sentence into that silence.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onverbal communication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Nonverbal communication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Your body is broadcasting whether you script it or not.</a:t>
            </a:r>
          </a:p>
        </p:txBody>
      </p:sp>
      <p:sp>
        <p:nvSpPr>
          <p:cNvPr id="5" name="TextBox 4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6" name="TextBox 5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hannels you're always transmitting 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channels you're always transmitting on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Oval 4" descr="Face &amp; eyes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😐</a:t>
            </a:r>
          </a:p>
        </p:txBody>
      </p:sp>
      <p:sp>
        <p:nvSpPr>
          <p:cNvPr id="6" name="TextBox 5" descr="Face &amp; eyes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Face &amp; eyes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Expression and eye contact carry attitude and confidence — the first thing audiences read.</a:t>
            </a:r>
          </a:p>
        </p:txBody>
      </p:sp>
      <p:sp>
        <p:nvSpPr>
          <p:cNvPr id="7" name="Oval 6" descr="Posture &amp; gesture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🧍</a:t>
            </a:r>
          </a:p>
        </p:txBody>
      </p:sp>
      <p:sp>
        <p:nvSpPr>
          <p:cNvPr id="8" name="TextBox 7" descr="Posture &amp; gesture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Posture &amp; gesture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Open posture signals engagement; folded arms and turned shoulders read as resistance.</a:t>
            </a:r>
          </a:p>
        </p:txBody>
      </p:sp>
      <p:sp>
        <p:nvSpPr>
          <p:cNvPr id="9" name="Oval 8" descr="Voice (paralanguage)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🗣</a:t>
            </a:r>
          </a:p>
        </p:txBody>
      </p:sp>
      <p:sp>
        <p:nvSpPr>
          <p:cNvPr id="10" name="TextBox 9" descr="Voice (paralanguage)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Voice (paralanguage)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Tone, pace, volume, and pauses — how you say it can invert what you say.</a:t>
            </a:r>
          </a:p>
        </p:txBody>
      </p:sp>
      <p:sp>
        <p:nvSpPr>
          <p:cNvPr id="11" name="Oval 10" descr="Time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12" name="TextBox 11" descr="Time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Time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Punctuality, response speed, and how long you give someone signal respect — or its absence.</a:t>
            </a:r>
          </a:p>
        </p:txBody>
      </p:sp>
      <p:sp>
        <p:nvSpPr>
          <p:cNvPr id="13" name="Oval 12" descr="Space &amp; appearance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🪑</a:t>
            </a:r>
          </a:p>
        </p:txBody>
      </p:sp>
      <p:sp>
        <p:nvSpPr>
          <p:cNvPr id="14" name="TextBox 13" descr="Space &amp; appearance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Space &amp; appearance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Distance, setting, dress, and your video background all frame the message before a word lands.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en words and body language disagre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When words and body language disagree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Body wins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When verbal and nonverbal signals conflict, listeners overwhelmingly believe the nonverbal one.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Why: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nonverbal signals are harder to fake, so audiences treat them as the honest channel.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Implication for you: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a confident report delivered with slumped shoulders and a flat voice reads as doubt.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fix is alignment: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prepare your delivery like you prepare your content — posture, voice, and eye contact rehearsed alongside the words.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onverbal signals on camera and in writ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Nonverbal signals on camera and in writing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Rounded Rectangle 4" descr="On video call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On video calls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Camera at eye level; look at the lens when speaking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Frame yourself: face visible, decent light, tidy background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Mute discipline and patient turn-taking replace body language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Being visibly present — not typing — is the new eye contact</a:t>
            </a:r>
          </a:p>
        </p:txBody>
      </p:sp>
      <p:sp>
        <p:nvSpPr>
          <p:cNvPr id="6" name="Rounded Rectangle 5" descr="In writing (yes, text has nonverbals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In writing (yes, text has nonverbals)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Response time signals priority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Formatting is posture: clean structure reads as competence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ALL CAPS, terse one-liners, and exclamation marks!!! carry tone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Emoji: match the norms of the room; when unsure, leave them out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mmunicating across cultur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Communicating across cultures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rules you consider universal are local.</a:t>
            </a:r>
          </a:p>
        </p:txBody>
      </p:sp>
      <p:sp>
        <p:nvSpPr>
          <p:cNvPr id="5" name="TextBox 4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6" name="TextBox 5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High-context vs. low-context communic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High-context vs. low-context communication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Rounded Rectangle 4" descr="Low-context culture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Low-context cultures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Meaning lives in the explicit words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Directness is respect; vagueness is confusing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Contracts and written detail carry the weight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“Say what you mean, mean what you say”</a:t>
            </a:r>
          </a:p>
        </p:txBody>
      </p:sp>
      <p:sp>
        <p:nvSpPr>
          <p:cNvPr id="6" name="Rounded Rectangle 5" descr="High-context cultures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High-context cultures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Meaning lives in relationships, tone, and situation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Indirectness is respect; blunt refusals can insult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Trust and history carry the weight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“Read the room; hear what wasn't said”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king across cultures without stepping on rak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Working across cultures without stepping on rakes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Slow down the judgment.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something reads as rude or evasive, first ask whether it's a style difference.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plainly.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Short sentences, no idioms or sports metaphors — “touch base” and “home run” don't travel.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Confirm in writing.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After spoken agreements, send a short summary — it catches decode errors gently.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Watch the calendar and the clock.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Holidays, workweeks, and norms about punctuality differ; assume nothing.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Ask, don't assume.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“How do you prefer to receive feedback?” is a professional question, not an awkward one.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thics and professionalism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Ethics and professionalism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Your reputation is built one message at a time — and spent the same way.</a:t>
            </a:r>
          </a:p>
        </p:txBody>
      </p:sp>
      <p:sp>
        <p:nvSpPr>
          <p:cNvPr id="5" name="TextBox 4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6" name="TextBox 5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thical dilemma vs. ethical lapse — know the differe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Ethical dilemma vs. ethical lapse — know the difference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Rounded Rectangle 4" descr="Ethical DILEMMA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Ethical DILEMMA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Two defensible values in genuine conflict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Honesty to a customer vs. loyalty to a teammate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Transparency vs. a confidentiality promise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Response: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reason carefully, consult, document</a:t>
            </a:r>
          </a:p>
        </p:txBody>
      </p:sp>
      <p:sp>
        <p:nvSpPr>
          <p:cNvPr id="6" name="Rounded Rectangle 5" descr="Ethical LAPSE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Ethical LAPSE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 clear wrong, chosen anyway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Inflating numbers, taking credit, hiding an error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Usually rationalized: “everyone does it,” “just this once”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Response: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don't. And speak up when you see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our quick tests before you hit sen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Four quick tests before you hit send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Oval 4" descr="The publicity test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📰</a:t>
            </a:r>
          </a:p>
        </p:txBody>
      </p:sp>
      <p:sp>
        <p:nvSpPr>
          <p:cNvPr id="6" name="TextBox 5" descr="The publicity test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publicity test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Comfortable if this message appeared in the news or before your family? If not, stop.</a:t>
            </a:r>
          </a:p>
        </p:txBody>
      </p:sp>
      <p:sp>
        <p:nvSpPr>
          <p:cNvPr id="7" name="Oval 6" descr="The reversal test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8" name="TextBox 7" descr="The reversal test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reversal test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Would you accept being on the receiving end of this?</a:t>
            </a:r>
          </a:p>
        </p:txBody>
      </p:sp>
      <p:sp>
        <p:nvSpPr>
          <p:cNvPr id="9" name="Oval 8" descr="The whole-truth test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🧾</a:t>
            </a:r>
          </a:p>
        </p:txBody>
      </p:sp>
      <p:sp>
        <p:nvSpPr>
          <p:cNvPr id="10" name="TextBox 9" descr="The whole-truth test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whole-truth test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Is it literally true but designed to mislead? Deception by selection is still deception.</a:t>
            </a:r>
          </a:p>
        </p:txBody>
      </p:sp>
      <p:sp>
        <p:nvSpPr>
          <p:cNvPr id="11" name="Oval 10" descr="The sleep test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12" name="TextBox 11" descr="The sleep test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sleep test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Still defending it comfortably tomorrow morning? Discomfort is data.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ofessionalism: the daily behaviors that build tru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Professionalism: the daily behaviors that build trust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Reliability.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Deadlines met, promises kept, meetings attended on time — trust is built on boring consistency.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Responsiveness.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Acknowledge messages within a business day, even if the full answer comes later.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Polish.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Proofread everything; a typo in your email is a smudge on your credibility.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Composure.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Never send angry. Draft it, sleep on it, edit it — or delete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Discretion.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What colleagues tell you in confidence stays in confidence.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ocial media: the permanent record you're writ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Social media: the permanent record you're writing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∞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Assume everything you post is public and permanent — regardless of your settings.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Screenshots outlive deletions.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The delete button removes your copy, not everyone else's.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Employers look.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Recruiters routinely review candidates' public profiles — before the interview.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flip side: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a thoughtful professional presence is an asset: it can demonstrate judgment, expertise, and communication skill before you ever walk 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mmunicating when nobody can see you work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Communicating when nobody can see you working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Overcommunicate status.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Distributed teams can't see effort — visible written updates replace the hallway.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Default to writing.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Decisions made in calls get a two-line written summary; unwritten decisions evaporate.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Respect asynchrony.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Write messages that can be answered hours later without a follow-up question.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Guard the rich channels.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Use live meetings for what actually needs them: conflict, complexity, connection.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 reachable predictably.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Published working hours and response norms beat 24/7 availability.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 word about AI — your new co-writer (and its limits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 word about AI — your new co-writer (and its limits)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AI drafts fast.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Modern AI tools produce competent first drafts of emails, summaries, and reports in seconds.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still own the message.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AI doesn't know your reader, your history, or your intent — the judgment layer is yours.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Verify before you trust.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AI states errors with confidence. Facts, numbers, names: check them.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Disclose honestly.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Follow your instructor's and employer's rules for AI use and attribution.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in Chapter 15: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using AI and AI agents professionally — as a skill, not a shortcut.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3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33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Meaning is reconstructed by the receiver — check what landed, not what you sent.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Match the channel to the message: rich for sensitive and complex, lean for routine and documented.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Listening is a technique: attend, capture, paraphrase, question, pause.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When words and body language conflict, audiences believe the body — align them.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Ethics at typing speed: publicity test, reversal test, whole truth, sleep test.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Professionalism is small behaviors, repeated: reliable, responsive, polished, composed, discreet.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1 → Practice, then the graded homework when you're ready.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“The single biggest problem in communication is the illusion that it has taken place.”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attributed to George Bernard Shaw</a:t>
            </a:r>
          </a:p>
        </p:txBody>
      </p:sp>
      <p:sp>
        <p:nvSpPr>
          <p:cNvPr id="5" name="TextBox 4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6" name="TextBox 5" descr="Slide number 3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Describe a message you sent that was decoded very differently than you intended. Which stage of the process failed?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What channel does your workplace or team overuse? What belongs somewhere else?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active-listening technique would change your next meeting the most — and what makes it hard to do?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Find the semantic noise: rewrite one jargon-heavy sentence from your field for a general audience.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 colleague asks you to 'soften' bad numbers in a status update. Dilemma or lapse? Apply the four tests.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</a:t>
            </a:r>
          </a:p>
        </p:txBody>
      </p:sp>
      <p:sp>
        <p:nvSpPr>
          <p:cNvPr id="4" name="TextBox 3" descr="Slide number 3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1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1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Try one Chapter 1 writing prompt and self-check it against the model guidance.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Reflect: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Watch one speaker you admire this week — list two nonverbal habits worth stealing.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2 — planning messages: purpose, audience, and the choices before you write a word.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