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7: bad news craft. Companion guide has both cases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bad-news-to-customers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psychology: a blunt opening no turns the rest of your message into opposition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buffers: agreement, appreciation, facts, good-news-first,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Refusals are won or lost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place the indirect pattern briefly becomes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genuinely nothing exists, close with respect — no manufactured silver linings.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clean apology outperforms five grovels.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than fifty years of replication. Chapter 1's upward filter,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1's pairing at its highest-stakes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no; opposite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was staked on the reporting, not the outcome — and the reporting held. The client ALWAYS finds out; the only variable is from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from the guide's worked examples: buffer, reasons, one no, concrete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applied refusals. Same skeleton — buffer, reasons, one no, pivot — tuned to four recurring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Low-stakes refusals are where students practice the pattern safely. The speed point is underrated: slow nos are a tax on the asker.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audience for an internal refusal is bigger than the proposer — everyone watching learns whether proposing is safe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Candidates talk, review sites exist, and today's rejected applicant is next year's client-side buyer. The rejection letter is brand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nos are where companies bleed goodwill invisibly. The 'adjacent yes' habit converts a stonewall into a negotiation.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policy, same no. Version B converts pricing rigidity into a fairness story and still finds a concession that costs less than a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feedback. The negative message where the reader has to keep working with you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Situation-Behavior-Impact plus the request. Every element is checkable — which is what makes it hearable.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rules, all violations common. The 'one thing' rule is the least practiced — feedback hoarding produces annual avalanches.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sandwich critique matters: it's still taught, and it trains teams to distrust praise. Honest, kind, separate is the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of Chapter 4's receiving-edits slide, at relationship stakes. People stop giving feedback to those who bleed on them — and being feedback-starved is a career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handling incoming heat. The skill that makes everything else in the chapter possible under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selective-response move — answer substance, ignore bait — is the single most effective de-escalation technique in writing, and it's teachable.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beats, in order. Most technical people skip straight to INFORM and are baffled when accurate information makes things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1's composure rule with mechanics. The 'draft outside the reply window' trick prevents the classic catastrophe of the accidental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element is teachable: selective response, ownership, channel shift, CC discipline, written confirmation. The 'adds no new CCs' detail is the quiet masterstroke.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organizational crisis. Same anatomy — own, inform, act — executed publicly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Crisis compresses the MUM effect to hours. The 'honest unknowns' move — saying clearly what you don't know yet — is what separates credible statements from lawyerly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hours, operationalized. Minimizing-before-counting is the classic self-inflicted wound — the correction becomes a second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failure column is recognizable from every mishandled breach of the last decade. Passive camouflage callbacks: Chapter 3's incident report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case built on the recurring public pattern. The point for students: the event is rarely the reputational damage — the handling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8: the boundaries around the craft — what negative messages must respect beyond the reader's feelings.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legal advice — professional awareness. The sympathy-vs-admission distinction is the practical one students will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pattern is not culturally universal in its calibration — the sequence survives, the bluntness dial moves. The soft-no decoder is immediately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own integrity check. Indirectness is defensible exactly as far as it serves the reader's ability to hear — one inch past that, it's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gative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Negative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Saying no · delivering bad news · apologizing — the messages that test everything, when it matters most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7  ·  Original material © 2026 Derek D. Bussan, PhD, MBA  · 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Stage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indirect pattern: honest buffer, reasons first, the no once, a concrete pivot.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Craft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news sentence between its two failure modes — evasion and cruelty.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Apologize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 anatomy: own the act, name the impact, prevent, stop.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Beat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MUM effect: report problems small and early, paired with a plan.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Pair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channels for consequential news: rich conversation first, written record same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indirect patter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indirect pattern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Sequencing for a reader you are about to hurt.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ffer → Reasons → News → Pivo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Buffer → Reasons → News → Pivot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Chevron 4" descr="Step 1: BUFFER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BUFFER</a:t>
            </a:r>
          </a:p>
        </p:txBody>
      </p:sp>
      <p:sp>
        <p:nvSpPr>
          <p:cNvPr id="6" name="TextBox 5" descr="BUFFER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True common ground. One or two sentences. Promises NOTHING.</a:t>
            </a:r>
          </a:p>
        </p:txBody>
      </p:sp>
      <p:sp>
        <p:nvSpPr>
          <p:cNvPr id="7" name="Chevron 6" descr="Step 2: REASONS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REASONS</a:t>
            </a:r>
          </a:p>
        </p:txBody>
      </p:sp>
      <p:sp>
        <p:nvSpPr>
          <p:cNvPr id="8" name="TextBox 7" descr="REASONS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real why, before the no — reaching a mind not yet defending itself.</a:t>
            </a:r>
          </a:p>
        </p:txBody>
      </p:sp>
      <p:sp>
        <p:nvSpPr>
          <p:cNvPr id="9" name="Chevron 8" descr="Step 3: THE NEWS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NEWS</a:t>
            </a:r>
          </a:p>
        </p:txBody>
      </p:sp>
      <p:sp>
        <p:nvSpPr>
          <p:cNvPr id="10" name="TextBox 9" descr="THE NEWS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Once. Clear. Brief. Owned.</a:t>
            </a:r>
          </a:p>
        </p:txBody>
      </p:sp>
      <p:sp>
        <p:nvSpPr>
          <p:cNvPr id="11" name="Chevron 10" descr="Step 4: PIVOT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PIVOT</a:t>
            </a:r>
          </a:p>
        </p:txBody>
      </p:sp>
      <p:sp>
        <p:nvSpPr>
          <p:cNvPr id="12" name="TextBox 11" descr="PIVOT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Whatever yes exists: alternative, partial, path back, referral.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Not evasion — sequencing. Every fact arrives, in the order a human can hear it. Scope: consequential news only; trivial nos stay direct.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ffers: the two fatal failure mod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Buffers: the two fatal failure modes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 descr="False hop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False hope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“Great news about your application process!”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Converts disappointment into betrayal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reader replays your cheer as mockery</a:t>
            </a:r>
          </a:p>
        </p:txBody>
      </p:sp>
      <p:sp>
        <p:nvSpPr>
          <p:cNvPr id="6" name="Rounded Rectangle 5" descr="Padding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Padding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Three paragraphs of weather before the point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Reads as the writer stalling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Stalling reads as dread — and dread is contagious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craft: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true · relevant ·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asons: the load-bearing midd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Reasons: the load-bearing middle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Give the real reason when you can.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Readers detect boilerplate; a true constraint respects them enough to argue with.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Frame on facts and shared interests,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personal judgment: “the budget closed in March” survives scrutiny; “not a priority” starts a war.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Explain — don't beg.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 decision is defensible, defend it plainly. If it isn't, the problem is the decision, not the paragraph.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news sentence: between evasion and cruelt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news sentence: between evasion and cruelty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 descr="The failure mode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failure modes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Evasion: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“It may prove difficult at this juncture to accommodate…” — the reader must hunt for their own rejection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Cruelty: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“Denied. Your proposal failed on multiple criteria.” — the no, weaponized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Camouflage: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“A decision has been made” — owns nothing, fools no one</a:t>
            </a:r>
          </a:p>
        </p:txBody>
      </p:sp>
      <p:sp>
        <p:nvSpPr>
          <p:cNvPr id="6" name="Rounded Rectangle 5" descr="The craft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craft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“We can't fund the March cohort this year.”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Once — repetition grinds the wound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Clear — never make them ask “is this a no?”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Softening that works: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subordinate clause — “Although we couldn't fund March, September…”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ivot: every no carries whatever yes exis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pivot: every no carries whatever yes exists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Concrete or nothing: “feel free to reach out in the future” is upholstery, not a pivot.</a:t>
            </a:r>
          </a:p>
        </p:txBody>
      </p:sp>
      <p:sp>
        <p:nvSpPr>
          <p:cNvPr id="6" name="Oval 5" descr="The alternative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↪</a:t>
            </a:r>
          </a:p>
        </p:txBody>
      </p:sp>
      <p:sp>
        <p:nvSpPr>
          <p:cNvPr id="7" name="TextBox 6" descr="The alternative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alternative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“September has space — I can hold a seat until Friday.”</a:t>
            </a:r>
          </a:p>
        </p:txBody>
      </p:sp>
      <p:sp>
        <p:nvSpPr>
          <p:cNvPr id="8" name="Oval 7" descr="The partial yes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½</a:t>
            </a:r>
          </a:p>
        </p:txBody>
      </p:sp>
      <p:sp>
        <p:nvSpPr>
          <p:cNvPr id="9" name="TextBox 8" descr="The partial yes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partial yes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“We can fund two of the three positions.”</a:t>
            </a:r>
          </a:p>
        </p:txBody>
      </p:sp>
      <p:sp>
        <p:nvSpPr>
          <p:cNvPr id="10" name="Oval 9" descr="The path back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🛤</a:t>
            </a:r>
          </a:p>
        </p:txBody>
      </p:sp>
      <p:sp>
        <p:nvSpPr>
          <p:cNvPr id="11" name="TextBox 10" descr="The path back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path back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“Resubmission opens August 1 — Q3 data would make yours lead the cycle.”</a:t>
            </a:r>
          </a:p>
        </p:txBody>
      </p:sp>
      <p:sp>
        <p:nvSpPr>
          <p:cNvPr id="12" name="Oval 11" descr="The referral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 descr="The referral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referral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“Meridian Labs runs exactly this analysis; ask for Dr. Chen.”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pologi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Apologies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negative message about yourself — where directness IS the respect.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pology anatomy (Lazare, 2004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Apology anatomy (Lazare, 2004)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Chevron 4" descr="Step 1: OWN IT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OWN IT</a:t>
            </a:r>
          </a:p>
        </p:txBody>
      </p:sp>
      <p:sp>
        <p:nvSpPr>
          <p:cNvPr id="6" name="TextBox 5" descr="OWN IT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“I missed the deadline I committed to.” No “mistakes were made.” No “if you were offended.”</a:t>
            </a:r>
          </a:p>
        </p:txBody>
      </p:sp>
      <p:sp>
        <p:nvSpPr>
          <p:cNvPr id="7" name="Chevron 6" descr="Step 2: NAME THE IMPACT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NAME THE IMPACT</a:t>
            </a:r>
          </a:p>
        </p:txBody>
      </p:sp>
      <p:sp>
        <p:nvSpPr>
          <p:cNvPr id="8" name="TextBox 7" descr="NAME THE IMPACT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“…which delayed your review a week.” Proof you understand the cost.</a:t>
            </a:r>
          </a:p>
        </p:txBody>
      </p:sp>
      <p:sp>
        <p:nvSpPr>
          <p:cNvPr id="9" name="Chevron 8" descr="Step 3: REPAIR + PREVENT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REPAIR + PREVENT</a:t>
            </a:r>
          </a:p>
        </p:txBody>
      </p:sp>
      <p:sp>
        <p:nvSpPr>
          <p:cNvPr id="10" name="TextBox 9" descr="REPAIR + PREVENT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What's happening now — and what stops a repeat. THE trust sentence.</a:t>
            </a:r>
          </a:p>
        </p:txBody>
      </p:sp>
      <p:sp>
        <p:nvSpPr>
          <p:cNvPr id="11" name="Chevron 10" descr="Step 4: STOP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STOP</a:t>
            </a:r>
          </a:p>
        </p:txBody>
      </p:sp>
      <p:sp>
        <p:nvSpPr>
          <p:cNvPr id="12" name="TextBox 11" descr="STOP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No third apology. The reader needs the fix, not your feelings.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Most failed apologies fail at step one. “If you were offended” relocates the offense into the reader's sensitivity.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arly and upward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Early and upward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MUM effect — and the career advantage of beating it.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ad news travels slowest when it matters mo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Bad news travels slowest when it matters most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MUM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People delay, soften, and reroute bad news — even when blameless for it (Rosen &amp; Tesser, 1970). It's why managers hear about problems six weeks late.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protocol: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report while it's small · pair it with a plan · calibrate honestly (“yellow, trending red”).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formula: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own it → cause in one line → recovery plan with a date → the ask.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career math: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leaders trust big things to the people who told the truth about small things, early, on purpose.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annel and timing for consequential new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Channel and timing for consequential news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Rich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conversation or call — empathy has bandwidth, questions get absorbed, dignity stays private.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Record second, same day: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terms, dates, next steps in writing.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Email-only for personal bad news reads as cowardice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because it usually 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Timing: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 early as certainty allows. Never Friday 4:55 as avoidance. Never “after the holidays” while they plan around a fiction.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ame denial, twi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same denial, twice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Version A (email):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“Your request has been denied as the program does not meet eligibility criteria. Consult the policy manual. Future requests should be submitted with closer attention…”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the employee hears: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“you were careless” — a denial converted into a reprimand.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Version B (conversation + confirmation):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true buffer, the real constraint stated checkably, an owned no — and two concrete yeses (covered fall program; travel days as work time).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Eleven extra minutes.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version books a withdrawal that compounds through the grapevine; the other, a deposit: “she fought for me and the policy blocked it.”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lipping launch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slipping launch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Week 3: launch will slip a month.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Account lead: “Why alarm them with maybes? Wait for the retest.” PM overrules — calls the client that afternoon.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structure: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known · unknown · recovery plan · “new date confirmed by Tuesday; updates weekly.”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retest fails too. The slip grows.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client extends the contract anyway — citing the vendor management.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control group: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 identical slip on another account, held for certainty. That client learned four days out — from their own integration team.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 refusals you can reuse this wee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 refusals you can reuse this week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 descr="To a colleagu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To a colleague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“Thanks for thinking of me — I've enjoyed the past two panels.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I'm committed to the audit closeout through the 22nd, and panel prep deserves real attention, so I have to pass this cycle.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Dana ran the rubric with me last year and would be excellent; happy to brief whoever steps in.”</a:t>
            </a:r>
          </a:p>
        </p:txBody>
      </p:sp>
      <p:sp>
        <p:nvSpPr>
          <p:cNvPr id="6" name="Rounded Rectangle 5" descr="To a customer (claim denial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To a customer (claim denial)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“Thanks for the photos — they made review easy.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damage is consistent with a post-delivery drop, which warranty and carrier coverage don't extend to. We can't replace at no cost.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What we can do: repair at $180 — a third of replacement — scheduled this week. And the reinforced case on p. 12 prevents exactly this break.”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aying no, genre by genr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Saying no, genre by genre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pattern is one; the craft is knowing how it bends per situation.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fusing a favor or invit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Refusing a favor or invitation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Fast beats padded.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quick, warm no lets them ask the next person today; a slow, agonized no costs them the week you spent dreading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real reason, not three excuses.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'I'm committed through the 22nd' closes the case; a pile of small excuses invites rebuttal of each.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Protect the relationship, not the fiction.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Never invent a conflict — invented conflicts get discovered at exactly the wrong party.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Pivot if you mean it, close if you don't.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'Ask me again for the spring cycle' is a promise; don't issue it as decoration.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fusing an internal proposa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Refusing an internal proposal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Honor the work first — specifically.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vendor comparison in section two is the best I've seen this year' — a real buffer, because real effort preceded the no.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Give the decision-grade reason.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Budget, timing, strategy conflict — the actual constraint, stated so the proposer could verify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Separate the idea's fate from the person's.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isn't fundable this cycle' must not decode as 'stop bringing me ideas' — say the second part out loud: 'bring me the Q4 version.'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no without a reason teaches people to stop proposing.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long-term cost of lazy refusals is an organization that goes quiet (Chapter 1's upward filter, self-inflicted).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urning down a candidat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Turning down a candidate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Tell them promptly.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day of silence after their interview is a day they held their life in a hold pattern for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Buffer with the true positive,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then the news in one clean sentence: 'we've offered the role to another candidate.' No euphemism maze.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Don't machine-audit them.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rejection is not the moment for a feedback report; offer feedback only if they ask and you can give it usefully.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Leave the door authentically.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'I'd genuinely encourage you to apply for the analyst opening in the fall' — only if true; candidates remember which companies meant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olicy no: refusing a customer requ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policy no: refusing a customer request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Explain the policy's why, not just its existence.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'Returns close at 90 days because we can't resell after that window' beats the wall of 'per our policy.'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hide behind the system.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system won't let me' reads as 'I stopped trying' — because it 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Find the adjacent yes.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Can't refund? Maybe credit. Can't expedite? Maybe partial-ship. The pivot slide's four moves apply verbatim.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Know your own escalation line.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you'd grant it as the manager, escalate it as the rep — routing a borderline case up IS good refusal craft.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iscount request: two refusal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discount request: two refusals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 descr="Version A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Version A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'Unfortunately we are unable to offer discounting at this time due to company policy.'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reason a reader could verify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pivot — the sentence is a wall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Customer hears: 'we don't value you enough to explain'</a:t>
            </a:r>
          </a:p>
        </p:txBody>
      </p:sp>
      <p:sp>
        <p:nvSpPr>
          <p:cNvPr id="6" name="Rounded Rectangle 5" descr="Version B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Version B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'Our pricing stays flat because we don't pad list prices for negotiation — everyone gets the same number.'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'What I can do: waive onboarding ($400) and lock this rate for 24 months.'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no arrives WITH its logic and a real yes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Customer hears: 'the price is honest and they worked for me'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riticism and performance feedbac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Criticism and performance feedback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Negative news about someone's work — delivered so the work improves.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BI-R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SBI-R skeleton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Chevron 4" descr="Step 1: SITUATION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 descr="SITUATION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Anchor it: 'In Tuesday's client call…' — not 'you always…'</a:t>
            </a:r>
          </a:p>
        </p:txBody>
      </p:sp>
      <p:sp>
        <p:nvSpPr>
          <p:cNvPr id="7" name="Chevron 6" descr="Step 2: BEHAVIOR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8" name="TextBox 7" descr="BEHAVIOR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happened, observably: 'the pricing slide had last quarter's numbers.'</a:t>
            </a:r>
          </a:p>
        </p:txBody>
      </p:sp>
      <p:sp>
        <p:nvSpPr>
          <p:cNvPr id="9" name="Chevron 8" descr="Step 3: IMPACT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" name="TextBox 9" descr="IMPACT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consequence: 'the client caught it, and we spent ten minutes rebuilding credibility.'</a:t>
            </a:r>
          </a:p>
        </p:txBody>
      </p:sp>
      <p:sp>
        <p:nvSpPr>
          <p:cNvPr id="11" name="Chevron 10" descr="Step 4: REQUEST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12" name="TextBox 11" descr="REQUEST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forward ask: 'run the numbers check before client decks — want me to show you my checklist?'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Behavior is the hinge: 'the slide was wrong' can be fixed; 'you're careless' can only be resented.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riticism that land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Criticism that lands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Private, always.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Public correction is punishment theater; the audience learns fear, not the lesson.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Prompt, not ambush.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Feedback about March delivered in June is an indictment, not a correction — nothing can be done about March in June.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behavior, never the person.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report buries the recommendation' is workable; 'you're a poor writer' is a verdict (Chapter 4's review rules, higher stakes).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thing at a time.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six-issue feedback session fixes zero issues; pick the one that matters most this month.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End at the future.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last sentence is what happens next, not a replay of the failure.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eedback failure mod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Feedback failure modes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Rounded Rectangle 4" descr="The sandwich (praise-criticism-praise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sandwich (praise-criticism-praise)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Predictable structure teaches people to dread compliments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criticism gets lost in the bread on purpose — that's the problem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Better: honest sequencing — real praise when earned, clear criticism when needed, separately</a:t>
            </a:r>
          </a:p>
        </p:txBody>
      </p:sp>
      <p:sp>
        <p:nvSpPr>
          <p:cNvPr id="6" name="Rounded Rectangle 5" descr="The other classic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other classics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drive-by: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criticism in passing, in chat, at 4:58 — stakes deserve a conversation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vague wince: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'just tighten it up' — unactionable disappointment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pile-on: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saving twelve items for one meeting — an avalanche is not feedback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proxy: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criticism routed through a third person arrives as gossip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aking criticism about your wor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Taking criticism about your work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First response: understand, not defend.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'Can you show me where it lost you?' — the defensive reflex kills the information flow permanently.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Extract the checkable core.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Even badly delivered criticism usually contains a real stumble — mine it for the data and discard the delivery.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Close the loop visibly.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reworked the opening per your note — better?' teaches people that feedback to you is a good investment.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You're allowed to disagree — after understanding.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see why it read that way; here's why I kept it' is a professional sentence. Reflexive rejection isn't.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ger and de-escalati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Anger and de-escalation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When the negative message is the one arriving — flaming, at 9 a.m.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swering the angry emai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Answering the angry email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 not match the temperature.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Anger answered with anger produces a thread nobody survives with dignity — one of you has to be the professional; it's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Acknowledge the frustration as real,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without conceding facts you haven't verified: 'I understand this outage hit you mid-launch — let me find out exactly what happened.'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the substance, skip the bait.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three insults get no reply; the two legitimate questions get complete ones. Watch the thread cool.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Shift channels deliberately.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hot replies means pick up the phone — voice carries the empathy that text strips (Chapter 1's richness, applied).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e-escalation seque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de-escalation sequence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Chevron 4" descr="Step 1: ACKNOWLEDGE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ACKNOWLEDGE</a:t>
            </a:r>
          </a:p>
        </p:txBody>
      </p:sp>
      <p:sp>
        <p:nvSpPr>
          <p:cNvPr id="6" name="TextBox 5" descr="ACKNOWLEDGE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experience is real before anything else: 'that delay cost you a weekend.'</a:t>
            </a:r>
          </a:p>
        </p:txBody>
      </p:sp>
      <p:sp>
        <p:nvSpPr>
          <p:cNvPr id="7" name="Chevron 6" descr="Step 2: ALIGN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ALIGN</a:t>
            </a:r>
          </a:p>
        </p:txBody>
      </p:sp>
      <p:sp>
        <p:nvSpPr>
          <p:cNvPr id="8" name="TextBox 7" descr="ALIGN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Signal the shared goal: 'we both need this live before Monday.'</a:t>
            </a:r>
          </a:p>
        </p:txBody>
      </p:sp>
      <p:sp>
        <p:nvSpPr>
          <p:cNvPr id="9" name="Chevron 8" descr="Step 3: INFORM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INFORM</a:t>
            </a:r>
          </a:p>
        </p:txBody>
      </p:sp>
      <p:sp>
        <p:nvSpPr>
          <p:cNvPr id="10" name="TextBox 9" descr="INFORM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Facts, cleanly: what happened, what's known, what isn't yet.</a:t>
            </a:r>
          </a:p>
        </p:txBody>
      </p:sp>
      <p:sp>
        <p:nvSpPr>
          <p:cNvPr id="11" name="Chevron 10" descr="Step 4: ACT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2" name="TextBox 11" descr="ACT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concrete step, with a time: 'you'll have the patch or a call from me by 3:00.'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Skipping ACKNOWLEDGE and jumping to facts reads as 'your anger is irrelevant' — and re-arms it. The sequence exists because the order matters.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message you must never sen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message you must never send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9 p.m. flame reply: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write it if you must — in a document, never in the reply window with a live To: field.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Sleep is an editor.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Overnight, the devastating rebuttal becomes visibly career-limiting; the morning edit is always shorter and always calmer.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Sarcasm reads twice as hostile in print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lives forever (Chapter 5's permanence — your worst sentence is a screenshot on layaway).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 before sending anything heated: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would you stand behind every sentence in a meeting with both your managers present? That meeting is one forward away.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thread one calm reply end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thread one calm reply ended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Eleven messages deep: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departments, escalating CCs, bolded accusations about a missed handoff — the thread had become the conflict.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reply that ended it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answered only the two factual questions, owned the one piece that was genuinely hers, proposed a 15-minute call, and CC'd no one new.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call took nine minutes.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written summary afterward — three lines, decisions and owners — was the first message in the thread anyone kept.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 a hot thread, the person who narrows the audience, owns their piece, and changes the channel is the one everyone remembers as the adult.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ad news at scal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Bad news at scale</a:t>
            </a:r>
          </a:p>
        </p:txBody>
      </p:sp>
      <p:sp>
        <p:nvSpPr>
          <p:cNvPr id="3" name="TextBox 2" descr="Section number 07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07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Crisis communication: the chapter's rules, under stadium lights.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risis response seque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crisis response sequence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Chevron 4" descr="Step 1: ACKNOWLEDGE FAST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ACKNOWLEDGE FAST</a:t>
            </a:r>
          </a:p>
        </p:txBody>
      </p:sp>
      <p:sp>
        <p:nvSpPr>
          <p:cNvPr id="6" name="TextBox 5" descr="ACKNOWLEDGE FAST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Hours, not days. Silence gets narrated by everyone except you.</a:t>
            </a:r>
          </a:p>
        </p:txBody>
      </p:sp>
      <p:sp>
        <p:nvSpPr>
          <p:cNvPr id="7" name="Chevron 6" descr="Step 2: FACTS + HONEST UNKNOWNS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FACTS + HONEST UNKNOWNS</a:t>
            </a:r>
          </a:p>
        </p:txBody>
      </p:sp>
      <p:sp>
        <p:nvSpPr>
          <p:cNvPr id="8" name="TextBox 7" descr="FACTS + HONEST UNKNOWNS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know, what you don't yet — stated as confidently as the knowns.</a:t>
            </a:r>
          </a:p>
        </p:txBody>
      </p:sp>
      <p:sp>
        <p:nvSpPr>
          <p:cNvPr id="9" name="Chevron 8" descr="Step 3: THE ACTION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ACTION</a:t>
            </a:r>
          </a:p>
        </p:txBody>
      </p:sp>
      <p:sp>
        <p:nvSpPr>
          <p:cNvPr id="10" name="TextBox 9" descr="THE ACTION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What's being done right now, and who owns it.</a:t>
            </a:r>
          </a:p>
        </p:txBody>
      </p:sp>
      <p:sp>
        <p:nvSpPr>
          <p:cNvPr id="11" name="Chevron 10" descr="Step 4: THE CADENCE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CADENCE</a:t>
            </a:r>
          </a:p>
        </p:txBody>
      </p:sp>
      <p:sp>
        <p:nvSpPr>
          <p:cNvPr id="12" name="TextBox 11" descr="THE CADENCE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'Next update at 4:00' — a promised rhythm kills the refresh-and-rumor cycle.</a:t>
            </a:r>
          </a:p>
        </p:txBody>
      </p:sp>
      <p:sp>
        <p:nvSpPr>
          <p:cNvPr id="13" name="Chevron 12" descr="Step 5: FOLLOW THROUGH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FOLLOW THROUGH</a:t>
            </a:r>
          </a:p>
        </p:txBody>
      </p:sp>
      <p:sp>
        <p:nvSpPr>
          <p:cNvPr id="14" name="TextBox 13" descr="FOLLOW THROUGH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Keep every promised update, especially the ones where nothing changed.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cadence is the underrated step: a promised 4:00 update, kept, buys calm that no wording can.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holding statement: when you know almost noth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holding statement: when you know almost nothing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can always say four true things: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we know something happened · we're investigating now · here's who's affected as far as we know · here's when we'll say more.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speculate to fill the silence.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guessed cause you retract tomorrow costs more credibility than a day of 'we're still confirming.'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minimize on arrival.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 small number of accounts' announced before you've counted becomes the quote in every follow-up story.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holding statement buys time honestly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which is its entire job. It promises the next communication, not the answers.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risis communication: the recor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Crisis communication: the record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Rounded Rectangle 4" descr="What work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works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Named human spokesperson, consistent across updates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Plain language — jargon reads as evasion under stress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Affected people hear it from you before the press does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Sympathy stated plainly: 'we're sorry this happened to you' (see the legal slide — sympathy ≠ admission)</a:t>
            </a:r>
          </a:p>
        </p:txBody>
      </p:sp>
      <p:sp>
        <p:nvSpPr>
          <p:cNvPr id="6" name="Rounded Rectangle 5" descr="What fails, every tim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fails, every time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'We take this very seriously' as the entire content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Passive camouflage: 'access was gained,' 'errors occurred'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Legal review that strips every human sentence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staged apology that arrives after the stock dip, not the harm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wo product recall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two product recalls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Company A announced the recall itself,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day the defect was confirmed: plain-language notice, prepaid return labels, a named VP on every update, weekly cadence until closed.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Company B waited for the regulator,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issued a statement 'out of an abundance of caution' that named no defect, and routed press questions to a form.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year later: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Company A's recall is a customer-service case study its own sales team cites. Company B's is the first search result for its brand.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asymmetry: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recall cost both companies the same money. The narration cost one of them the reputation.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ne print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fine print</a:t>
            </a:r>
          </a:p>
        </p:txBody>
      </p:sp>
      <p:sp>
        <p:nvSpPr>
          <p:cNvPr id="3" name="TextBox 2" descr="Section number 08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08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Law, culture, and the ethics of sequencing.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3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gative messages have legal gravit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Negative messages have legal gravity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3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Everything is discoverable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including the snarky draft you deleted and the 'candid' chat beside the official letter (Chapter 5's permanence, with subpoenas).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Sympathy is not admission.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'We're sorry this happened to you' is human; 'this was our fault' is a legal conclusion — know which one you're authorized to write.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References and rejections: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stick to verifiable facts and the decision itself; characterizations of the person are where defamation exposure lives.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liability is plausible, loop in counsel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but fight for the human sentences. 'Legally clean and emotionally dead' is a failure mode too, and it also ends up in court.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ad news across cultur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Bad news across cultures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4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Directness is calibrated locally.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clean, owned no this chapter teaches reads as refreshing in low-context cultures — and as brutal in high-context ones (Chapter 1).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Watch for the soft no.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would be very difficult' or 'we will study it carefully' IS the refusal in much of the world; pressing for a 'real answer' insults twice.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Preserve face deliberately.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Bad news delivered so the receiver can maintain dignity in front of their own organization is a design requirement, not a nicety.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cultures mix, name the norm.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'I'm going to be very direct, in the way of my field' — announcing your register buys tolerance for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thics line: sequencing is not spi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ethics line: sequencing is not spin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4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after your indirect message, does the reader know everything a blunt version would have told them? If yes — craft. If no — deception with a structure.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Buffers may not promise,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reasons may not be invented, pivots may not be decorative. Every element carries a truth requirement.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Delay is a decision with an owner.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'Waiting for certainty' past the point of usefulness is the MUM effect wearing a prudence costume — see the slipping-launch case.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publicity test (Chapter 1) applies to structure: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would you be comfortable explaining WHY you ordered the message this way? 'So they'd hear the reasons first' survives. 'So they wouldn't notice' doesn't.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4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42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Indirect structure is sequencing, not evasion: reasons reach an unwounded mind; every fact arrives.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Buffers: true, relevant, brief — never false hope, never padding.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news sentence: findable, unambiguous, once, owned.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no carries whatever yes exists — concretely, or not at all.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Apologies: own the act, name the impact, prevent, stop.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Beat the MUM effect: small, early, with a plan. Rich first, record second, never Friday 4:55.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7 → Practice, then the graded homework before the weekly deadline.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reader always finds out. The only variable you control is whether they find out from you, early, with a plan — or from the grapevine, late, with a grievance.”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6" name="TextBox 5" descr="Slide number 4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When is directness the KINDER structure for bad news? Build the decision rule with two real examples.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Describe a rejection you received that was well done. What will you steal from it?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Why do organizations reward MUM-effect behavior while claiming to want transparency? What changes the incentive?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Take a public corporate apology and rewrite its worst sentence to pass the anatomy.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Draft the structure for announcing a price increase to loyal customers: what buffers, reasons, and pivots honestly exist?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7  ·  © Derek D. Bussan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7  ·  © Derek D. Bussan</a:t>
            </a:r>
          </a:p>
        </p:txBody>
      </p:sp>
      <p:sp>
        <p:nvSpPr>
          <p:cNvPr id="4" name="TextBox 3" descr="Slide number 4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7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7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This chapter IS the toolkit for the bad-news-to-customers assignment.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7 Study Guide — both cases in full, plus the apology anatomy.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8 — persuasive messages: moving readers who could say no toward yes.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