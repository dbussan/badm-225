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7: bad news craft. Companion guide has both cases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bad-news-to-customers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psychology: a blunt opening no turns the rest of your message into opposition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buffers: agreement, appreciation, facts, good-news-first,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Refusals are won or lost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place the indirect pattern briefly becomes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genuinely nothing exists, close with respect — no manufactured silver linings.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clean apology outperforms five grovels.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Fifty-five years of replication. Chapter 1's upward filter,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pairing at its highest-stakes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no; opposite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was staked on the reporting, not the outcome — and the reporting held. The client ALWAYS finds out; the only variable is from whom.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guide's worked examples: buffer, reasons, one no, concrete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Negative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Saying no · delivering bad news · apologizing — the messages that test everything, when it matters most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7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Stage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indirect pattern: honest buffer, reasons first, the no once, a concrete pivot.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Craft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 sentence between its two failure modes — evasion and cruelty.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Apologize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anatomy: own the act, name the impact, prevent,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MUM effect: report problems small and early, paired with a plan.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channels for consequential news: rich conversation first, written record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direct patter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indirect pattern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Sequencing for a reader you are about to hurt.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 → Reasons → News →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 → Reasons → News → Pivot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BUFF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BUFFER</a:t>
            </a:r>
          </a:p>
        </p:txBody>
      </p:sp>
      <p:sp>
        <p:nvSpPr>
          <p:cNvPr id="6" name="TextBox 5" descr="BUFF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True common ground. One or two sentences. Promises NOTHING.</a:t>
            </a:r>
          </a:p>
        </p:txBody>
      </p:sp>
      <p:sp>
        <p:nvSpPr>
          <p:cNvPr id="7" name="Chevron 6" descr="Step 2: REASON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8" name="TextBox 7" descr="REASON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real why, before the no — reaching a mind not yet defending itself.</a:t>
            </a:r>
          </a:p>
        </p:txBody>
      </p:sp>
      <p:sp>
        <p:nvSpPr>
          <p:cNvPr id="9" name="Chevron 8" descr="Step 3: THE NEW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NEWS</a:t>
            </a:r>
          </a:p>
        </p:txBody>
      </p:sp>
      <p:sp>
        <p:nvSpPr>
          <p:cNvPr id="10" name="TextBox 9" descr="THE NEW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Once. Clear. Brief. Owned.</a:t>
            </a:r>
          </a:p>
        </p:txBody>
      </p:sp>
      <p:sp>
        <p:nvSpPr>
          <p:cNvPr id="11" name="Chevron 10" descr="Step 4: PIVO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PIVOT</a:t>
            </a:r>
          </a:p>
        </p:txBody>
      </p:sp>
      <p:sp>
        <p:nvSpPr>
          <p:cNvPr id="12" name="TextBox 11" descr="PIVO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Whatever yes exists: alternative, partial, path back, referral.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 evasion — sequencing. Every fact arrives, in the order a human can hear it. Scope: consequential news only; trivial nos stay direct.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s: the two fatal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Buffers: the two fatal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False hop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False hope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“Great news about your application process!”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Converts disappointment into betrayal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replays your cheer as mockery</a:t>
            </a:r>
          </a:p>
        </p:txBody>
      </p:sp>
      <p:sp>
        <p:nvSpPr>
          <p:cNvPr id="6" name="Rounded Rectangle 5" descr="Padd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Padding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weather before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the writer stalling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Stalling reads as dread — and dread is contagious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craft: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true · relevant ·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sons: the load-bearing midd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Reasons: the load-bearing middle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real reason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Readers detect boilerplate; a true constraint respects them enough to argue with.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on facts and shared interests,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personal judgment: “the budget closed in March” survives scrutiny; “not a priority” starts a war.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— don't beg.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decision is defensible, defend it plainly. If it isn't, the problem is the decision, not the paragraph.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ws sentence: between evasion and cruel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news sentence: between evasion and cruelty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failure mod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failure modes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Evasion: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 may prove difficult at this juncture to accommodate…” — the reader must hunt for their own rejection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Cruelty: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“Denied. Your proposal failed on multiple criteria.” — the no, weaponized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Camouflage: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 decision has been made” — owns nothing, fools no one</a:t>
            </a:r>
          </a:p>
        </p:txBody>
      </p:sp>
      <p:sp>
        <p:nvSpPr>
          <p:cNvPr id="6" name="Rounded Rectangle 5" descr="The craf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craft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can't fund the March cohort this year.”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Once — repetition grinds the wound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Clear — never make them ask “is this a no?”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Softening that works: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subordinate clause — “Although we couldn't fund March, September…”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vot: every no carries whatever yes exis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pivot: every no carries whatever yes exists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Concrete or nothing: “feel free to reach out in the future” is upholstery, not a pivot.</a:t>
            </a:r>
          </a:p>
        </p:txBody>
      </p:sp>
      <p:sp>
        <p:nvSpPr>
          <p:cNvPr id="6" name="Oval 5" descr="The alternativ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↪</a:t>
            </a:r>
          </a:p>
        </p:txBody>
      </p:sp>
      <p:sp>
        <p:nvSpPr>
          <p:cNvPr id="7" name="TextBox 6" descr="The alternativ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alternative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“September has space — I can hold a seat until Friday.”</a:t>
            </a:r>
          </a:p>
        </p:txBody>
      </p:sp>
      <p:sp>
        <p:nvSpPr>
          <p:cNvPr id="8" name="Oval 7" descr="The partial ye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½</a:t>
            </a:r>
          </a:p>
        </p:txBody>
      </p:sp>
      <p:sp>
        <p:nvSpPr>
          <p:cNvPr id="9" name="TextBox 8" descr="The partial ye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partial 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“We can fund two of the three positions.”</a:t>
            </a:r>
          </a:p>
        </p:txBody>
      </p:sp>
      <p:sp>
        <p:nvSpPr>
          <p:cNvPr id="10" name="Oval 9" descr="The path back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🛤</a:t>
            </a:r>
          </a:p>
        </p:txBody>
      </p:sp>
      <p:sp>
        <p:nvSpPr>
          <p:cNvPr id="11" name="TextBox 10" descr="The path back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path back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“Resubmission opens August 1 — Q3 data would make yours lead the cycle.”</a:t>
            </a:r>
          </a:p>
        </p:txBody>
      </p:sp>
      <p:sp>
        <p:nvSpPr>
          <p:cNvPr id="12" name="Oval 11" descr="The referral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3" name="TextBox 12" descr="The referral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referral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“Meridian Labs runs exactly this analysis; ask for Dr. Chen.”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Apologies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negative message about yourself — where directness IS the respect.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y anatomy (Lazare, 2004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Apology anatomy (Lazare, 2004)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OWN I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OWN IT</a:t>
            </a:r>
          </a:p>
        </p:txBody>
      </p:sp>
      <p:sp>
        <p:nvSpPr>
          <p:cNvPr id="6" name="TextBox 5" descr="OWN I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“I missed the deadline I committed to.” No “mistakes were made.” No “if you were offended.”</a:t>
            </a:r>
          </a:p>
        </p:txBody>
      </p:sp>
      <p:sp>
        <p:nvSpPr>
          <p:cNvPr id="7" name="Chevron 6" descr="Step 2: NAME THE IMPAC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NAME THE IMPACT</a:t>
            </a:r>
          </a:p>
        </p:txBody>
      </p:sp>
      <p:sp>
        <p:nvSpPr>
          <p:cNvPr id="8" name="TextBox 7" descr="NAME THE IMPAC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“…which delayed your review a week.” Proof you understand the cost.</a:t>
            </a:r>
          </a:p>
        </p:txBody>
      </p:sp>
      <p:sp>
        <p:nvSpPr>
          <p:cNvPr id="9" name="Chevron 8" descr="Step 3: REPAIR +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REPAIR + PREVENT</a:t>
            </a:r>
          </a:p>
        </p:txBody>
      </p:sp>
      <p:sp>
        <p:nvSpPr>
          <p:cNvPr id="10" name="TextBox 9" descr="REPAIR + 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happening now — and what stops a repeat. THE trust sentence.</a:t>
            </a:r>
          </a:p>
        </p:txBody>
      </p:sp>
      <p:sp>
        <p:nvSpPr>
          <p:cNvPr id="11" name="Chevron 10" descr="Step 4: STOP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STOP</a:t>
            </a:r>
          </a:p>
        </p:txBody>
      </p:sp>
      <p:sp>
        <p:nvSpPr>
          <p:cNvPr id="12" name="TextBox 11" descr="STOP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third apology. The reader needs the fix, not your feelings.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Most failed apologies fail at step one. “If you were offended” relocates the offense into the reader's sensitivity.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 and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Early and upward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MUM effect — and the career advantage of beating it.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travels slowest when it matters mo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travels slowest when it matters most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MUM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People delay, soften, and reroute bad news — even when blameless for it (Rosen &amp; Tesser, 1970). It's why managers hear about problems six weeks late.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protocol: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report while it's small · pair it with a plan · calibrate honestly (“yellow, trending red”).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formula: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own it → cause in one line → recovery plan with a date → the ask.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career math: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leaders trust big things to the people who told the truth about small things, early, on purpose.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 and timing for consequential new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 and timing for consequential news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Rich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conversation or call — empathy has bandwidth, questions get absorbed, dignity stays private.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second, same day: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terms, dates, next steps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Email-only for personal bad news reads as cowardice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because it usually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early as certainty allows. Never Friday 4:55 as avoidance. Never “after the holidays” while they plan around a fiction.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denial, tw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denial, twice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 (email):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request has been denied as the program does not meet eligibility criteria. Consult the policy manual. Future requests should be submitted with closer attention…”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the employee hears: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 were careless” — a denial converted into a reprimand.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 (conversation + confirmation):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true buffer, the real constraint stated checkably, an owned no — and two concrete yeses (covered fall program; travel days as work time).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extra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version books a withdrawal that compounds through the grapevine; the other, a deposit: “she fought for me and the policy blocked it.”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lipping laun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slipping launch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Week 3: launch will slip a month.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Account lead: “Why alarm them with maybes? Wait for the retest.” PM overrules — calls the client that afternoon.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known · unknown · recovery plan · “new date confirmed by Tuesday; updates weekly.”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retest fails too. The slip grows.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client extends the contract anyway — citing the vendor management.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control group: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identical slip on another account, held for certainty. That client learned four days out — from their own integration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refusals you can re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refusals you can reuse this week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To a colleagu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colleague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thinking of me — I've enjoyed the past two panels.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committed to the audit closeout through the 22nd, and panel prep deserves real attention, so I have to pass this cycle.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Dana ran the rubric with me last year and would be excellent; happy to brief whoever steps in.”</a:t>
            </a:r>
          </a:p>
        </p:txBody>
      </p:sp>
      <p:sp>
        <p:nvSpPr>
          <p:cNvPr id="6" name="Rounded Rectangle 5" descr="To a customer (claim denial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customer (claim denial)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the photos — they made review easy.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damage is consistent with a post-delivery drop, which warranty and carrier coverage don't extend to. We can't replace at no cost.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What we can do: repair at $180 — a third of replacement — scheduled this week. And the reinforced case on p. 12 prevents exactly this break.”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Indirect structure is sequencing, not evasion: reasons reach an unwounded mind; every fact arrives.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Buffers: true, relevant, brief — never false hope, never padding.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sentence: findable, unambiguous, once, owned.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no carries whatever yes exists — concretely, or not at all.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Apologies: own the act, name the impact, prevent, stop.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MUM effect: small, early, with a plan. Rich first, record second, never Friday 4:55.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7 → Practice, then the graded homework before the weekly deadline.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always finds out. The only variable you control is whether they find out from you, early, with a plan — or from the grapevine, late, with a grievance.”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is directness the KINDER structure for bad news? Build the decision rule with two real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rejection you received that was well done. What will you steal from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MUM-effect behavior while claiming to want transparency? What changes the incentive?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public corporate apology and rewrite its worst sentence to pass the anatomy.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structure for announcing a price increase to loyal customers: what buffers, reasons, and pivots honestly exist?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toolkit for the bad-news-to-customers assignment.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7 Study Guide — both cases in full, plus the apology anatomy.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8 — persuasive messages: moving readers who could say no toward 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