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13: Unit 5 opens. The most personally urgent chapter in the course — every skill so far, aimed at the student's own next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Objectives map to the Chapter 13 practice bank and the résumé assignment.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Ladders/TheLadders eye-tracking work is the usual citation — keep it approximate. The 'survive the scan' reframe governs the whole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1: strategy before documents. The campaign frame beats the application-spray frame on every measured outcome.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campaign math: tailored applications with referrals convert at multiples of cold portal submissions. Effort concentrated beats effort scattered.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posting-as-requirements-document reframe converts application writing into the proposal writing students already learned (Chapter 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tracker converts an anxious open-ended ordeal into a managed process with statuses — psychologically as valuable as it is tactically.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sequencing rule (path before portal) is the tactical detail students don't know and recruiters confirm.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2: networking, de-icked. It's Chapter 6 requests plus Chapter 8 laddering, aimed at career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reframe does the heavy lifting: students hate 'networking' because they picture the transactional version. The advice-ask version is just... professional curiosity.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no-ambush rule is ethical AND tactical: the informational that stays informational produces more referrals than the one that pivots.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five-sentence spec with the cold-email anatomy from Chapter 8. Students can template this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Grant's giver research (Chapter 6) underwrites this slide. The loose-ties point is Granovetter: weak ties carry the most job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3: the résumé at the strategic level, before the bullets.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writing-sample point reframes the whole course as résumé prep: the document IS the first work product the employer sees.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pure-functional warning is consensus recruiter advice. Hybrid gets career-changers the benefit without the red flag.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objectives-are-dead note and the student education-flip are the two most-asked format questions, answered.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summary is optional but the discipline isn't: knowing your one-sentence thesis improves every other line even if you cut the summary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4: the bullet workshop. This is where résumés are won.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formula is the chapter's core deliverable. Students should leave able to rewrite any duty bullet into this shape.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'Any holder could write it' is the duty-bullet test. The rewrite direction is always: what changed because it was YOU in the chair?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conservative-reconstruction license is what students need to hear: most real work IS countable if they think back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master-résumé workflow is the practical unlock — it converts tailoring from a rewrite into a selection, which is why campaigns can sustain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chapter's most encouraging slide, and the most needed: students discard their best material because it didn't happen in an office.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5: applicant tracking systems — the mechanical gate before any human scan.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Demystification slide: the ATS is a database with search, not an AI judge. That model makes all the formatting rules obvious rather than superstitious.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Mirroring is translation, not fabrication — the integrity line recurs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designer-template warning matters most: the prettiest résumés students buy are the least parseable. Boring formatting is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length question, answered with the scan model rather than folklore: density that defeats the seven-second read defeats the résumé.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6: cover letters — shorter treatment, but the genre still decides close calls and signals writing skill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skeleton maps to AIDA. The company clause is the anti-mail-merge signal — one specific sentence separates you from the template pile.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working openers, one anti-pattern. All three front-load the reader's interest (Chapter 8's hook discipline).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connection pattern is need→evidence, explicitly paired. Two of these paragraphs and the letter has done its whole job.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7: the online presence — Chapter 5's permanence and Chapter 1's standing portfolio, at hiring 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Landing-page framing: the profile's job is that a recruiter arriving cold leaves knowing your thesis. Same summit as the résumé.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logged-out search is the actionable step; the date-match rule is the specific thing recruiters actually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capstone-as-portfolio note closes a loop across the course: the assignments are designed to be showable.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8: the ethics floor and the supporting 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termination-later point is what students underweight: the lie doesn't expire when hired — it compounds.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'comfortable being a STRONG reference' phrasing is the load-bearing detail — it engineers the graceful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closing case makes the chapter's stakes concrete: identical inputs, divergent outcomes, and writing was the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Async-ready. Question one produces the best homework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Delivery-neutral closing.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Job Search and Résumés in the Digital Age"/>
          <p:cNvSpPr>
            <a:spLocks noGrp="1"/>
          </p:cNvSpPr>
          <p:nvPr>
            <p:ph type="title"/>
          </p:nvPr>
        </p:nvSpPr>
        <p:spPr>
          <a:xfrm>
            <a:off x="822960" y="1920240"/>
            <a:ext cx="10515600" cy="1737360"/>
          </a:xfrm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Cambria"/>
              </a:rPr>
              <a:t>The Job Search and Résumés in the Digital Age</a:t>
            </a:r>
          </a:p>
        </p:txBody>
      </p:sp>
      <p:sp>
        <p:nvSpPr>
          <p:cNvPr id="3" name="TextBox 2" descr="Course label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BFD8C6"/>
                </a:solidFill>
                <a:latin typeface="Calibri"/>
              </a:rPr>
              <a:t>BADM 225 · PROFESSIONAL COMMUNICATION FOR BUSINESS</a:t>
            </a:r>
          </a:p>
        </p:txBody>
      </p:sp>
      <p:sp>
        <p:nvSpPr>
          <p:cNvPr id="4" name="TextBox 3" descr="Subtitle"/>
          <p:cNvSpPr txBox="1"/>
          <p:nvPr/>
        </p:nvSpPr>
        <p:spPr>
          <a:xfrm>
            <a:off x="82296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EAF1EB"/>
                </a:solidFill>
                <a:latin typeface="Calibri"/>
              </a:rPr>
              <a:t>The search as a campaign · bullets that sell · the ATS game · the digital layer that interviews first</a:t>
            </a:r>
          </a:p>
        </p:txBody>
      </p:sp>
      <p:sp>
        <p:nvSpPr>
          <p:cNvPr id="5" name="TextBox 4" descr="Attribution"/>
          <p:cNvSpPr txBox="1"/>
          <p:nvPr/>
        </p:nvSpPr>
        <p:spPr>
          <a:xfrm>
            <a:off x="822960" y="5852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 i="0">
                <a:solidFill>
                  <a:srgbClr val="A8C4B2"/>
                </a:solidFill>
                <a:latin typeface="Calibri"/>
              </a:rPr>
              <a:t>BADM 225 · Chapter 13  ·  Original instructional material — no publisher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you'll be able to do after this chapter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you'll be able to do after this chapter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Run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search as a targeted campaign — researched employers, tracked pipeline, warm paths in.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Network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without the ick: small honest asks, informational interviews, give-first maintenance.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Write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résumé bullets on the achievement pattern: action verb, task, measurable result.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Beat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applicant tracking system honestly: mirrored keywords, parseable formatting.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Pair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résumé with a cover letter that connects YOUR evidence to THEIR need.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Align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digital layer — profile, portfolio, search results — with the paper 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irst read is a sca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first read is a scan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 descr="Highlighted statistic"/>
          <p:cNvSpPr/>
          <p:nvPr/>
        </p:nvSpPr>
        <p:spPr>
          <a:xfrm>
            <a:off x="548640" y="1645920"/>
            <a:ext cx="4206240" cy="420624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  <a:latin typeface="Cambria"/>
              </a:rPr>
              <a:t>~7 sec</a:t>
            </a:r>
          </a:p>
          <a:p>
            <a:pPr algn="ctr">
              <a:spcAft>
                <a:spcPts val="800"/>
              </a:spcAft>
            </a:pPr>
            <a:r>
              <a:rPr sz="1500" b="0" i="0">
                <a:solidFill>
                  <a:srgbClr val="EAF1EB"/>
                </a:solidFill>
                <a:latin typeface="Calibri"/>
              </a:rPr>
              <a:t>Recruiter eye-tracking studies consistently find the first résumé pass lasts seconds, not minutes — a scan of names, titles, dates, and keywords.</a:t>
            </a:r>
          </a:p>
        </p:txBody>
      </p:sp>
      <p:sp>
        <p:nvSpPr>
          <p:cNvPr id="6" name="TextBox 5" descr="Supporting points"/>
          <p:cNvSpPr txBox="1"/>
          <p:nvPr/>
        </p:nvSpPr>
        <p:spPr>
          <a:xfrm>
            <a:off x="5212080" y="17373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design consequence: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your best material must live where the scan goes — top third, left edge, bolded titles (the F-pattern, Chapter 3, applied to you).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writing consequence: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every bullet competes for a seconds-long audition — flabby bullets don't lose slowly, they lose instantly.</a:t>
            </a:r>
          </a:p>
          <a:p>
            <a:pPr algn="l">
              <a:spcAft>
                <a:spcPts val="1400"/>
              </a:spcAft>
            </a:pPr>
            <a:r>
              <a:rPr sz="1600">
                <a:solidFill>
                  <a:srgbClr val="8A6410"/>
                </a:solidFill>
                <a:latin typeface="Calibri"/>
              </a:rPr>
              <a:t>▪  </a:t>
            </a:r>
            <a:r>
              <a:rPr sz="1600" b="1">
                <a:solidFill>
                  <a:srgbClr val="0E4D33"/>
                </a:solidFill>
                <a:latin typeface="Calibri"/>
              </a:rPr>
              <a:t>The strategic consequence:  </a:t>
            </a:r>
            <a:r>
              <a:rPr sz="1600" b="0" i="0">
                <a:solidFill>
                  <a:srgbClr val="212A26"/>
                </a:solidFill>
                <a:latin typeface="Calibri"/>
              </a:rPr>
              <a:t>the résumé's job is not to get you the job. It's to survive the scan and get you the conversation.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search as a campaign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search as a campaign</a:t>
            </a:r>
          </a:p>
        </p:txBody>
      </p:sp>
      <p:sp>
        <p:nvSpPr>
          <p:cNvPr id="3" name="TextBox 2" descr="Section number 01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01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Researched targets, tracked pipeline, warm paths — not a hundred identical arrows.</a:t>
            </a:r>
          </a:p>
        </p:txBody>
      </p:sp>
      <p:sp>
        <p:nvSpPr>
          <p:cNvPr id="5" name="TextBox 4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6" name="TextBox 5" descr="Slide number 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wo ways to run a search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Two ways to run a search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5</a:t>
            </a:r>
          </a:p>
        </p:txBody>
      </p:sp>
      <p:sp>
        <p:nvSpPr>
          <p:cNvPr id="5" name="Rounded Rectangle 4" descr="The VOLUME game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VOLUME game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Same résumé to 200 postings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Competing at the widest point of the funnel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No research, so no tailoring, so no signal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Feels productive; converts at lottery rates</a:t>
            </a:r>
          </a:p>
        </p:txBody>
      </p:sp>
      <p:sp>
        <p:nvSpPr>
          <p:cNvPr id="6" name="Rounded Rectangle 5" descr="The CAMPAIGN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The CAMPAIGN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15–25 researched targets that actually fit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Each application tailored to the posting's language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Warm paths hunted before the portal is touched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Slower per application; wildly better per offer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uild the target list like an analys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Build the target list like an analyst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Define the role family first: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'quality roles in medical devices' beats 'anything in business' — focus is what makes research possible.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Research each target like Chapter 8 taught: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their products, their pain, their language — the job posting is a requirements document; read it like 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Mine the posting for the employer's OWN words: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those exact phrases are your keyword list, your cover letter's vocabulary, and your interview prep.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Tier the list: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dream targets get the full campaign; solid fits get strong tailoring; the rest aren't on the list — that's the point of a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rack the pipeline or lose i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Track the pipeline or lose it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sheet, one row per application: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company, role, date, version sent, contact, status, next action — the search is a project; run it like one (Chapter 9).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Every application gets a follow-up date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when you submit it — two weeks silent means a polite nudge, not a shrug.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Track which versions convert: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if the analyst résumé gets callbacks and the coordinator one doesn't, the data just told you something.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tracker keeps you honest on volume: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three tailored applications a week, every week, beats thirty in a panicked weekend.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warm path: referrals move résumé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warm path: referrals move résumés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 referred résumé skips the pile's worst odds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referrals convert to interviews at several times the portal rate at most employers.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Warm doesn't mean connected-at-birth: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alumni, former colleagues, that guest speaker, the friend's manager — second-degree paths are everywhere once mapped.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ask is small and specific (Chapter 8):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'Would you be willing to submit my résumé for req 4471?' — never 'can you get me a job?'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Work the path BEFORE applying when possible: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referral attached to a fresh application beats the one chasing a two-week-old rejection.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Networking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Networking</a:t>
            </a:r>
          </a:p>
        </p:txBody>
      </p:sp>
      <p:sp>
        <p:nvSpPr>
          <p:cNvPr id="3" name="TextBox 2" descr="Section number 02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02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Small honest asks of people positioned to answer them.</a:t>
            </a:r>
          </a:p>
        </p:txBody>
      </p:sp>
      <p:sp>
        <p:nvSpPr>
          <p:cNvPr id="5" name="TextBox 4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6" name="TextBox 5" descr="Slide number 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Networking without the ick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Networking without the ick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1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Reframe: you're not asking for a job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you're asking for twenty minutes of perspective from someone who has the view you need.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People genuinely like giving advice: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informational ask flatters honestly ('you've done what I'm attempting') and costs the giver little.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Start with the network you already have: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professors, classmates, past supervisors, family friends — the map is bigger than it feels.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It's a lifetime system, not a job-search sprint: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network built only when needy smells needy — see the give-first slide.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informational interview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informational interview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1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ask: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'Could I take twenty minutes of your time to ask how you got from QA tech to quality manager?' — specific, small, dated, flattering-because-true.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Come with five real questions,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ask three, listen hard (Chapter 1): their path, what the work is actually like, what separates good hires.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ambush with a job request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meeting's integrity is the meeting's value. If they offer to pass your résumé, that's THEIR move.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Close the loop twice: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thanks within a day, and the 'your advice worked' note weeks later — the second one is the one nobody sends and everybody remembers (Chapter 6).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outreach message, engineer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outreach message, engineered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1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Subject or opener names the connection: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'Dr. Reyes suggested I reach out' or 'Fellow alum working in med devices' — the warm element goes first.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One sentence of who you are,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of why THEM specifically ('your path from bench to management'), then the small dated ask.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Make yes effortless: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'any twenty minutes in the next two weeks — I'll work around your calendar' (Chapter 8's friction rule).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Five sentences, total.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life story goes in the conversation, not the cold message — this is a knock, not a memoir.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Maintain the network: give first, al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Maintain the network: give first, always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1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Send value with no ask attached: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article that fits their project, the intro they'd want, congratulations on the promotion (Chapter 6's five-quality notes).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Deposit before you need to withdraw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(Chapter 11's trust account, career edition) — the network built during employment is the one that works between jobs.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Keep loose ties warm cheaply: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two-line check-in twice a year keeps a contact live; silence for five years then a favor request reads exactly like what it is.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Track it lightly: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birthdays-and-projects note per contact turns 'networking' into remembering — which is all it ever was.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ésumé strategy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Résumé strategy</a:t>
            </a:r>
          </a:p>
        </p:txBody>
      </p:sp>
      <p:sp>
        <p:nvSpPr>
          <p:cNvPr id="3" name="TextBox 2" descr="Section number 03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03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One document, one job: get the conversation.</a:t>
            </a:r>
          </a:p>
        </p:txBody>
      </p:sp>
      <p:sp>
        <p:nvSpPr>
          <p:cNvPr id="5" name="TextBox 4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6" name="TextBox 5" descr="Slide number 1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hat a résumé is (and isn't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What a résumé is (and isn't)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It's an ad for an interview,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not an autobiography — completeness is not a virtue; relevance is the only virtue.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It's a claims document that will be audited: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line is fair game in the interview — write nothing you can't discuss for five minutes.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It's tailored per target family: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one master document holds everything; each sent version selects what THIS posting values.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It's judged as a writing sample first: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before anyone weighs your experience, they've weighed your formatting, precision, and typos (Chapter 4 — at maximum stakes).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hronological or hybrid?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Chronological or hybrid?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16</a:t>
            </a:r>
          </a:p>
        </p:txBody>
      </p:sp>
      <p:sp>
        <p:nvSpPr>
          <p:cNvPr id="5" name="Rounded Rectangle 4" descr="REVERSE-CHRONOLOGICAL (default)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REVERSE-CHRONOLOGICAL (default)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Experience newest-first with dates — the format recruiters and ATS parse best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Best when your history points at the target role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Gaps are visible — handle them honestly (later slide)</a:t>
            </a:r>
          </a:p>
        </p:txBody>
      </p:sp>
      <p:sp>
        <p:nvSpPr>
          <p:cNvPr id="6" name="Rounded Rectangle 5" descr="HYBRID (skills-forward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HYBRID (skills-forward)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 skills/summary block up top, chronology beneath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Best for career changers and thin-experience starters — leads with what transfers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1">
                <a:solidFill>
                  <a:srgbClr val="0E4D33"/>
                </a:solidFill>
                <a:latin typeface="Calibri"/>
              </a:rPr>
              <a:t>Avoid pure-functional (no dates):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recruiters read it as 'hiding something' — because it usually is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ésumé anatomy, top to bottom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Résumé anatomy, top to bottom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17</a:t>
            </a:r>
          </a:p>
        </p:txBody>
      </p:sp>
      <p:sp>
        <p:nvSpPr>
          <p:cNvPr id="5" name="TextBox 4" descr="Context"/>
          <p:cNvSpPr txBox="1"/>
          <p:nvPr/>
        </p:nvSpPr>
        <p:spPr>
          <a:xfrm>
            <a:off x="54864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1">
                <a:solidFill>
                  <a:srgbClr val="5E6B64"/>
                </a:solidFill>
                <a:latin typeface="Calibri"/>
              </a:rPr>
              <a:t>Every section answers the scan's question: 'is this person plausible for THIS role?'</a:t>
            </a:r>
          </a:p>
        </p:txBody>
      </p:sp>
      <p:sp>
        <p:nvSpPr>
          <p:cNvPr id="6" name="Oval 5" descr="Header icon"/>
          <p:cNvSpPr/>
          <p:nvPr/>
        </p:nvSpPr>
        <p:spPr>
          <a:xfrm>
            <a:off x="640080" y="1975104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📇</a:t>
            </a:r>
          </a:p>
        </p:txBody>
      </p:sp>
      <p:sp>
        <p:nvSpPr>
          <p:cNvPr id="7" name="TextBox 6" descr="Header"/>
          <p:cNvSpPr txBox="1"/>
          <p:nvPr/>
        </p:nvSpPr>
        <p:spPr>
          <a:xfrm>
            <a:off x="1417320" y="19202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Header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Name large, then city, phone, professional email, LinkedIn — no street address, no photo (US norms), no 'Résumé' title.</a:t>
            </a:r>
          </a:p>
        </p:txBody>
      </p:sp>
      <p:sp>
        <p:nvSpPr>
          <p:cNvPr id="8" name="Oval 7" descr="Summary line (optional, earned) icon"/>
          <p:cNvSpPr/>
          <p:nvPr/>
        </p:nvSpPr>
        <p:spPr>
          <a:xfrm>
            <a:off x="640080" y="2999232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9" name="TextBox 8" descr="Summary line (optional, earned)"/>
          <p:cNvSpPr txBox="1"/>
          <p:nvPr/>
        </p:nvSpPr>
        <p:spPr>
          <a:xfrm>
            <a:off x="1417320" y="2944368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Summary line (optional, earned)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One tailored sentence of what you are and bring — or nothing. Objectives about YOUR hopes died a decade ago.</a:t>
            </a:r>
          </a:p>
        </p:txBody>
      </p:sp>
      <p:sp>
        <p:nvSpPr>
          <p:cNvPr id="10" name="Oval 9" descr="Experience icon"/>
          <p:cNvSpPr/>
          <p:nvPr/>
        </p:nvSpPr>
        <p:spPr>
          <a:xfrm>
            <a:off x="640080" y="4023360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💼</a:t>
            </a:r>
          </a:p>
        </p:txBody>
      </p:sp>
      <p:sp>
        <p:nvSpPr>
          <p:cNvPr id="11" name="TextBox 10" descr="Experience"/>
          <p:cNvSpPr txBox="1"/>
          <p:nvPr/>
        </p:nvSpPr>
        <p:spPr>
          <a:xfrm>
            <a:off x="1417320" y="3968496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Experience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Newest first: title, employer, dates — then the achievement bullets that are the document's whole engine.</a:t>
            </a:r>
          </a:p>
        </p:txBody>
      </p:sp>
      <p:sp>
        <p:nvSpPr>
          <p:cNvPr id="12" name="Oval 11" descr="Education icon"/>
          <p:cNvSpPr/>
          <p:nvPr/>
        </p:nvSpPr>
        <p:spPr>
          <a:xfrm>
            <a:off x="640080" y="5047488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🎓</a:t>
            </a:r>
          </a:p>
        </p:txBody>
      </p:sp>
      <p:sp>
        <p:nvSpPr>
          <p:cNvPr id="13" name="TextBox 12" descr="Education"/>
          <p:cNvSpPr txBox="1"/>
          <p:nvPr/>
        </p:nvSpPr>
        <p:spPr>
          <a:xfrm>
            <a:off x="1417320" y="4992624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Education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Degree, school, date; GPA if strong and recent. Flips above experience for current students.</a:t>
            </a:r>
          </a:p>
        </p:txBody>
      </p:sp>
      <p:sp>
        <p:nvSpPr>
          <p:cNvPr id="14" name="Oval 13" descr="Skills icon"/>
          <p:cNvSpPr/>
          <p:nvPr/>
        </p:nvSpPr>
        <p:spPr>
          <a:xfrm>
            <a:off x="640080" y="6071616"/>
            <a:ext cx="566928" cy="566928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🛠</a:t>
            </a:r>
          </a:p>
        </p:txBody>
      </p:sp>
      <p:sp>
        <p:nvSpPr>
          <p:cNvPr id="15" name="TextBox 14" descr="Skills"/>
          <p:cNvSpPr txBox="1"/>
          <p:nvPr/>
        </p:nvSpPr>
        <p:spPr>
          <a:xfrm>
            <a:off x="1417320" y="6016752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0E4D33"/>
                </a:solidFill>
                <a:latin typeface="Cambria"/>
              </a:rPr>
              <a:t>Skills</a:t>
            </a:r>
          </a:p>
          <a:p>
            <a:pPr algn="l">
              <a:spcAft>
                <a:spcPts val="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Concrete and checkable: software, languages, certifications — never 'hard worker' (that's a bullet's job to prove).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summary line: one sentence, fully loaded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summary line: one sentence, fully loaded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pattern: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what you are + strongest credential + what you're aimed at: 'Finance graduate with two audit internships and advanced Excel, targeting analyst roles in healthcare.'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Tailored per application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it's the thesis of THIS version of you; the summary that fits every job fits none.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Earn it or cut it: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 vague summary ('motivated professional seeking opportunities') is negative space — it spends the scan's best seconds on nothing.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It's your pyramid summit (Chapter 9):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one sentence the recruiter should carry into the pile discussion.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Bullets that sell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Bullets that sell</a:t>
            </a:r>
          </a:p>
        </p:txBody>
      </p:sp>
      <p:sp>
        <p:nvSpPr>
          <p:cNvPr id="3" name="TextBox 2" descr="Section number 04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04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Action verb, task, measurable result — the achievement engine.</a:t>
            </a:r>
          </a:p>
        </p:txBody>
      </p:sp>
      <p:sp>
        <p:nvSpPr>
          <p:cNvPr id="5" name="TextBox 4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6" name="TextBox 5" descr="Slide number 1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achievement bullet formula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achievement bullet formula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2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20</a:t>
            </a:r>
          </a:p>
        </p:txBody>
      </p:sp>
      <p:sp>
        <p:nvSpPr>
          <p:cNvPr id="5" name="Chevron 4" descr="Step 1: ACTION VERB"/>
          <p:cNvSpPr/>
          <p:nvPr/>
        </p:nvSpPr>
        <p:spPr>
          <a:xfrm>
            <a:off x="548640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ACTION VERB</a:t>
            </a:r>
          </a:p>
        </p:txBody>
      </p:sp>
      <p:sp>
        <p:nvSpPr>
          <p:cNvPr id="6" name="TextBox 5" descr="ACTION VERB detail"/>
          <p:cNvSpPr txBox="1"/>
          <p:nvPr/>
        </p:nvSpPr>
        <p:spPr>
          <a:xfrm>
            <a:off x="548640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Led, built, cut, redesigned — first word, past tense, no 'responsible for'</a:t>
            </a:r>
          </a:p>
        </p:txBody>
      </p:sp>
      <p:sp>
        <p:nvSpPr>
          <p:cNvPr id="7" name="Chevron 6" descr="Step 2: THE TASK"/>
          <p:cNvSpPr/>
          <p:nvPr/>
        </p:nvSpPr>
        <p:spPr>
          <a:xfrm>
            <a:off x="4303776" y="1828800"/>
            <a:ext cx="3645408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TASK</a:t>
            </a:r>
          </a:p>
        </p:txBody>
      </p:sp>
      <p:sp>
        <p:nvSpPr>
          <p:cNvPr id="8" name="TextBox 7" descr="THE TASK detail"/>
          <p:cNvSpPr txBox="1"/>
          <p:nvPr/>
        </p:nvSpPr>
        <p:spPr>
          <a:xfrm>
            <a:off x="4303776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What you actually did, specifically</a:t>
            </a:r>
          </a:p>
        </p:txBody>
      </p:sp>
      <p:sp>
        <p:nvSpPr>
          <p:cNvPr id="9" name="Chevron 8" descr="Step 3: THE RESULT"/>
          <p:cNvSpPr/>
          <p:nvPr/>
        </p:nvSpPr>
        <p:spPr>
          <a:xfrm>
            <a:off x="8058912" y="1828800"/>
            <a:ext cx="3645408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RESULT</a:t>
            </a:r>
          </a:p>
        </p:txBody>
      </p:sp>
      <p:sp>
        <p:nvSpPr>
          <p:cNvPr id="10" name="TextBox 9" descr="THE RESULT detail"/>
          <p:cNvSpPr txBox="1"/>
          <p:nvPr/>
        </p:nvSpPr>
        <p:spPr>
          <a:xfrm>
            <a:off x="8058912" y="3154680"/>
            <a:ext cx="36454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 number, the outcome, the change — what was different because you did it</a:t>
            </a:r>
          </a:p>
        </p:txBody>
      </p:sp>
      <p:sp>
        <p:nvSpPr>
          <p:cNvPr id="11" name="Rounded Rectangle 10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'Cut intake errors 38% by redesigning the sample-tracking checklist' — verb, task, result. Every bullet auditions against this shape.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uty bullets vs. achievement bullet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Duty bullets vs. achievement bullets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2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21</a:t>
            </a:r>
          </a:p>
        </p:txBody>
      </p:sp>
      <p:sp>
        <p:nvSpPr>
          <p:cNvPr id="5" name="Rounded Rectangle 4" descr="Duties (what the job was)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F7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23A31"/>
                </a:solidFill>
                <a:latin typeface="Cambria"/>
              </a:rPr>
              <a:t>Duties (what the job was)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'Responsible for social media accounts'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'Handled customer complaints'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'Assisted with inventory management'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Any holder of the job could write these</a:t>
            </a:r>
          </a:p>
        </p:txBody>
      </p:sp>
      <p:sp>
        <p:nvSpPr>
          <p:cNvPr id="6" name="Rounded Rectangle 5" descr="Achievements (what YOU did with it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Achievements (what YOU did with it)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'Grew Instagram engagement 60% in one semester by shifting to short-form video'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'Resolved ~30 escalations weekly; kept satisfaction above 4.5/5 through a system migration'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'Rebuilt the count process, cutting monthly variance from 4% to under 1%'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Only YOU can write these — that's the point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Quantify everything quantifiabl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Quantify everything quantifiable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2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Numbers survive the scan;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adjectives don't — '60%', '$12K', '30 per week', 'team of 6' are what a seven-second read retains (Chapter 4's abstraction ladder).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Scale counts even without outcomes: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'processed 200 orders daily' and 'served 80-seat dining room' quantify responsibility when results weren't yours to claim.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Reconstruct honestly: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count, estimate conservatively, and be ready to explain the basis — 'about 30 a week' is defensible; invented precision isn't (Chapter 9's calibration).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Can't quantify? Name the outcome: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'adopted by two other departments' and 'still in use three years later' are results without digits.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ailoring: the posting is the answer ke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Tailoring: the posting is the answer key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2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23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Mirror their nouns exactly: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if they say 'stakeholder communication' and you say 'client relations,' the keyword match — human or ATS — just missed.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Reorder by their priorities: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their must-haves go in your top bullets; your favorite achievement they didn't ask about moves down.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master-résumé workflow: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keep every bullet you've ever earned in one document; each application selects and reorders — tailoring in 20 minutes, not 3 hours.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Tailor honestly: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mirroring means translating your real experience into their vocabulary — never claiming theirs (see: integrity).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Early-career: you have more than you think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Early-career: you have more than you think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2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24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Course projects count: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'Built a 10-K analysis model for a 40-page equity report (team of 4, graded A)' is real analytical work — name the deliverable.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Jobs 'unrelated' to the target never are: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barista who trained new hires and balanced the drawer has supervision, cash controls, and peak-hour composure — write THOSE.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Leadership is a function, not a title: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organized, scheduled, recruited, ran — the club treasurer who rebuilt the budget has a finance bullet.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floor is honesty, not grandeur: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small and true beats inflated every time — the interview will visit every line (next chapter).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ATS gam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ATS game</a:t>
            </a:r>
          </a:p>
        </p:txBody>
      </p:sp>
      <p:sp>
        <p:nvSpPr>
          <p:cNvPr id="3" name="TextBox 2" descr="Section number 05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05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Software reads first. Format for the parser, write for the human.</a:t>
            </a:r>
          </a:p>
        </p:txBody>
      </p:sp>
      <p:sp>
        <p:nvSpPr>
          <p:cNvPr id="5" name="TextBox 4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6" name="TextBox 5" descr="Slide number 2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How the ATS actually reads you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How the ATS actually reads you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2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 parses your file into a database record: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name, employers, titles, dates, skills — then recruiters search and filter those fields.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It doesn't 'reject' with judgment;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it ranks and filters by match — a low-keyword résumé isn't declined, it's just never surfaced. Same outcome, no email.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Parse failure = invisibility: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content the parser can't extract (tables, text boxes, headers, graphics) simply doesn't exist in your record.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Human review still follows: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ATS decides who gets scanned; the scan decides who gets called. You're writing for both, in that order.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word mirroring, done honestly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Keyword mirroring, done honestly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2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Harvest the posting's repeated nouns: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skills, tools, and phrases that appear twice are the search terms — list them before writing.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Use their exact form at least once: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'Microsoft Excel (pivot tables, VLOOKUP)' catches both the tool search and the skill search.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Spell out AND abbreviate: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'applicant tracking system (ATS)' — you don't know which form the recruiter searches.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Only claim what you can interview 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keywords you can't discuss are landmines you planted for yourself — the match gets you scanned; the lie gets you remembered.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Formatting that pars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Formatting that parses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2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28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Single column, standard headings: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'Experience,' 'Education,' 'Skills' — the parser is looking for exactly these signposts.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No tables, text boxes, icons, or photos;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 content in headers/footers — the classic parse-killers, all of them common in 'designer' templates.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Standard fonts, real bullet points, dates as MM/YYYY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in a consistent format the date-parser recognizes.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Submit what the posting asks for: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.docx or PDF as instructed — when unstated, .docx is the safer parse; keep both current.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ne page or two — and the whitespace budge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One page or two — and the whitespace budget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2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29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Early career: one page.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second page of a thin history reads as padding — and the scan never reaches it anyway.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Experienced: two pages when EARNED,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with page one able to stand entirely alone.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Whitespace is scan infrastructure: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0.7-inch margins and readable type beat cramming — the sixth bullet you saved by shrinking the font cost you the five above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Cut by relevance, not by recency: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high-school job goes before the strong-but-old achievement bullet does.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over letters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Cover letters</a:t>
            </a:r>
          </a:p>
        </p:txBody>
      </p:sp>
      <p:sp>
        <p:nvSpPr>
          <p:cNvPr id="3" name="TextBox 2" descr="Section number 06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06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The document that connects your evidence to their need.</a:t>
            </a:r>
          </a:p>
        </p:txBody>
      </p:sp>
      <p:sp>
        <p:nvSpPr>
          <p:cNvPr id="5" name="TextBox 4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6" name="TextBox 5" descr="Slide number 3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cover letter skelet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cover letter skeleton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3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31</a:t>
            </a:r>
          </a:p>
        </p:txBody>
      </p:sp>
      <p:sp>
        <p:nvSpPr>
          <p:cNvPr id="5" name="Chevron 4" descr="Step 1: THE HOOK"/>
          <p:cNvSpPr/>
          <p:nvPr/>
        </p:nvSpPr>
        <p:spPr>
          <a:xfrm>
            <a:off x="548640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HOOK</a:t>
            </a:r>
          </a:p>
        </p:txBody>
      </p:sp>
      <p:sp>
        <p:nvSpPr>
          <p:cNvPr id="6" name="TextBox 5" descr="THE HOOK detail"/>
          <p:cNvSpPr txBox="1"/>
          <p:nvPr/>
        </p:nvSpPr>
        <p:spPr>
          <a:xfrm>
            <a:off x="548640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Their role + your thesis: why this fit is real</a:t>
            </a:r>
          </a:p>
        </p:txBody>
      </p:sp>
      <p:sp>
        <p:nvSpPr>
          <p:cNvPr id="7" name="Chevron 6" descr="Step 2: THE EVIDENCE"/>
          <p:cNvSpPr/>
          <p:nvPr/>
        </p:nvSpPr>
        <p:spPr>
          <a:xfrm>
            <a:off x="3364992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EVIDENCE</a:t>
            </a:r>
          </a:p>
        </p:txBody>
      </p:sp>
      <p:sp>
        <p:nvSpPr>
          <p:cNvPr id="8" name="TextBox 7" descr="THE EVIDENCE detail"/>
          <p:cNvSpPr txBox="1"/>
          <p:nvPr/>
        </p:nvSpPr>
        <p:spPr>
          <a:xfrm>
            <a:off x="3364992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Two proofs from your record, aimed at their two biggest needs</a:t>
            </a:r>
          </a:p>
        </p:txBody>
      </p:sp>
      <p:sp>
        <p:nvSpPr>
          <p:cNvPr id="9" name="Chevron 8" descr="Step 3: THE COMPANY CLAUSE"/>
          <p:cNvSpPr/>
          <p:nvPr/>
        </p:nvSpPr>
        <p:spPr>
          <a:xfrm>
            <a:off x="6181344" y="1828800"/>
            <a:ext cx="2706624" cy="1143000"/>
          </a:xfrm>
          <a:prstGeom prst="chevron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COMPANY CLAUSE</a:t>
            </a:r>
          </a:p>
        </p:txBody>
      </p:sp>
      <p:sp>
        <p:nvSpPr>
          <p:cNvPr id="10" name="TextBox 9" descr="THE COMPANY CLAUSE detail"/>
          <p:cNvSpPr txBox="1"/>
          <p:nvPr/>
        </p:nvSpPr>
        <p:spPr>
          <a:xfrm>
            <a:off x="6181344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One sentence proving you researched THEM specifically</a:t>
            </a:r>
          </a:p>
        </p:txBody>
      </p:sp>
      <p:sp>
        <p:nvSpPr>
          <p:cNvPr id="11" name="Chevron 10" descr="Step 4: THE CLOSE"/>
          <p:cNvSpPr/>
          <p:nvPr/>
        </p:nvSpPr>
        <p:spPr>
          <a:xfrm>
            <a:off x="8997696" y="1828800"/>
            <a:ext cx="2706624" cy="1143000"/>
          </a:xfrm>
          <a:prstGeom prst="chevron">
            <a:avLst/>
          </a:prstGeom>
          <a:solidFill>
            <a:srgbClr val="5C8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THE CLOSE</a:t>
            </a:r>
          </a:p>
        </p:txBody>
      </p:sp>
      <p:sp>
        <p:nvSpPr>
          <p:cNvPr id="12" name="TextBox 11" descr="THE CLOSE detail"/>
          <p:cNvSpPr txBox="1"/>
          <p:nvPr/>
        </p:nvSpPr>
        <p:spPr>
          <a:xfrm>
            <a:off x="8997696" y="3154680"/>
            <a:ext cx="27066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1250" b="0" i="0">
                <a:solidFill>
                  <a:srgbClr val="212A26"/>
                </a:solidFill>
                <a:latin typeface="Calibri"/>
              </a:rPr>
              <a:t>Confident ask for the conversation + logistics</a:t>
            </a:r>
          </a:p>
        </p:txBody>
      </p:sp>
      <p:sp>
        <p:nvSpPr>
          <p:cNvPr id="13" name="Rounded Rectangle 12" descr="Key insight"/>
          <p:cNvSpPr/>
          <p:nvPr/>
        </p:nvSpPr>
        <p:spPr>
          <a:xfrm>
            <a:off x="548640" y="4892040"/>
            <a:ext cx="11064240" cy="123444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E4D33"/>
                </a:solidFill>
                <a:latin typeface="Calibri"/>
              </a:rPr>
              <a:t>Key insight: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Three to four paragraphs, one page hard. It's a persuasive message (Chapter 8) where the product is you.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Openings that aren't 'I am writing to apply'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Openings that aren't 'I am writing to apply'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3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32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Lead with the fit, not the fact of applying: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'Your quality analyst posting asks for audit experience and LIMS fluency — my two internships were exactly that combination.'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Or lead with the warm path: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'Dr. Reyes suggested I contact you about the analyst opening' — the referral is your strongest opener when you have it.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Or lead with their world: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'Your Fargo expansion doubles your sample volume — that scaling problem is what my capstone modeled.'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lead with your autobiography: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'I am a recent graduate of…' is on the résumé; the letter's job is connection, not recap.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middle paragraph: recap vs. connection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middle paragraph: recap vs. connection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3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33</a:t>
            </a:r>
          </a:p>
        </p:txBody>
      </p:sp>
      <p:sp>
        <p:nvSpPr>
          <p:cNvPr id="5" name="Rounded Rectangle 4" descr="Recap (wasted) panel"/>
          <p:cNvSpPr/>
          <p:nvPr/>
        </p:nvSpPr>
        <p:spPr>
          <a:xfrm>
            <a:off x="548640" y="1554480"/>
            <a:ext cx="5394960" cy="4572000"/>
          </a:xfrm>
          <a:prstGeom prst="roundRect">
            <a:avLst/>
          </a:prstGeom>
          <a:solidFill>
            <a:srgbClr val="F7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B23A31"/>
                </a:solidFill>
                <a:latin typeface="Cambria"/>
              </a:rPr>
              <a:t>Recap (wasted)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'As my résumé shows, I completed two internships and maintained a 3.8 GPA while working part-time…'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Restates the document they're already holding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Proves nothing except that you can summarize yourself</a:t>
            </a:r>
          </a:p>
        </p:txBody>
      </p:sp>
      <p:sp>
        <p:nvSpPr>
          <p:cNvPr id="6" name="Rounded Rectangle 5" descr="Connection (working) panel"/>
          <p:cNvSpPr/>
          <p:nvPr/>
        </p:nvSpPr>
        <p:spPr>
          <a:xfrm>
            <a:off x="6263640" y="1554480"/>
            <a:ext cx="5394960" cy="4572000"/>
          </a:xfrm>
          <a:prstGeom prst="roundRect">
            <a:avLst/>
          </a:prstGeom>
          <a:solidFill>
            <a:srgbClr val="EA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0E4D33"/>
                </a:solidFill>
                <a:latin typeface="Cambria"/>
              </a:rPr>
              <a:t>Connection (working)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'You need someone who can run supplier audits solo by Q2. At Medline I ran the last four of my internship unassisted — including the corrective-action follow-ups.'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Their need, named → your evidence, matched</a:t>
            </a:r>
          </a:p>
          <a:p>
            <a:pPr algn="l">
              <a:spcAft>
                <a:spcPts val="900"/>
              </a:spcAft>
            </a:pPr>
            <a:r>
              <a:rPr sz="1500">
                <a:solidFill>
                  <a:srgbClr val="8A6410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12A26"/>
                </a:solidFill>
                <a:latin typeface="Calibri"/>
              </a:rPr>
              <a:t>Does the recruiter's fit-thinking FOR them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digital layer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The digital layer</a:t>
            </a:r>
          </a:p>
        </p:txBody>
      </p:sp>
      <p:sp>
        <p:nvSpPr>
          <p:cNvPr id="3" name="TextBox 2" descr="Section number 07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07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You will be searched. Decide what they find.</a:t>
            </a:r>
          </a:p>
        </p:txBody>
      </p:sp>
      <p:sp>
        <p:nvSpPr>
          <p:cNvPr id="5" name="TextBox 4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6" name="TextBox 5" descr="Slide number 3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professional profile, built like a landing page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professional profile, built like a landing page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3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Headline says what you do and seek,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not just your current title: 'Finance graduate — audit &amp; analysis | seeking healthcare analyst roles.'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Photo: competent and current —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plain background, professional-casual; the empty silhouette reads as a ghost account.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About section is your summary line, expanded: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three sentences of thesis, evidence, direction — written in first person, sounding like a human.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Activity is optional; coherence isn't: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 needn't post — but what's visible should agree with the résumé's story (next slide).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consistency audi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consistency audit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3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36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Search your own name, logged out,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on two engines — page one is your first impression; know it before they do.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Dates and titles must MATCH the résumé: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discrepancies read as dishonesty even when they're sloppiness — recruiters cross-check as a screening step.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Clean the reachable past: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old public posts, photos, and bios that contradict the professional story — Chapter 5's permanence means 'clean' is partial, so consistency matters more than perfection.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goal (Chapter 5):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person online and the person on paper are obviously colleagues — not strangers, not aliases.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Show the work: portfolios and sample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Show the work: portfolios and samples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3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37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Claims are cheap; artifacts are proof: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analysis, the deck, the report, the code — one linked sample outweighs three adjectives.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Curate to three to five best pieces,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each with a two-line frame: the problem, your move, the result (a STAR in caption form).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Scrub before you publish: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employer data, client names, and anything confidential gets anonymized or excluded — showing work never means leaking it (Chapter 5).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Course work counts here too: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capstone feasibility report from Chapter 10 IS a portfolio piece — write it knowing that.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Integrity and the last mile"/>
          <p:cNvSpPr>
            <a:spLocks noGrp="1"/>
          </p:cNvSpPr>
          <p:nvPr>
            <p:ph type="title"/>
          </p:nvPr>
        </p:nvSpPr>
        <p:spPr>
          <a:xfrm>
            <a:off x="822960" y="2834640"/>
            <a:ext cx="10515600" cy="914400"/>
          </a:xfrm>
        </p:spPr>
        <p:txBody>
          <a:bodyPr wrap="square"/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Integrity and the last mile</a:t>
            </a:r>
          </a:p>
        </p:txBody>
      </p:sp>
      <p:sp>
        <p:nvSpPr>
          <p:cNvPr id="3" name="TextBox 2" descr="Section number 08"/>
          <p:cNvSpPr txBox="1"/>
          <p:nvPr/>
        </p:nvSpPr>
        <p:spPr>
          <a:xfrm>
            <a:off x="822960" y="118872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8000" b="1" i="0">
                <a:solidFill>
                  <a:srgbClr val="C9931A"/>
                </a:solidFill>
                <a:latin typeface="Cambria"/>
              </a:rPr>
              <a:t>08</a:t>
            </a:r>
          </a:p>
        </p:txBody>
      </p:sp>
      <p:sp>
        <p:nvSpPr>
          <p:cNvPr id="4" name="TextBox 3" descr="Section note"/>
          <p:cNvSpPr txBox="1"/>
          <p:nvPr/>
        </p:nvSpPr>
        <p:spPr>
          <a:xfrm>
            <a:off x="822960" y="40233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AF1EB"/>
                </a:solidFill>
                <a:latin typeface="Calibri"/>
              </a:rPr>
              <a:t>References, honesty, and the two-candidate case.</a:t>
            </a:r>
          </a:p>
        </p:txBody>
      </p:sp>
      <p:sp>
        <p:nvSpPr>
          <p:cNvPr id="5" name="TextBox 4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6" name="TextBox 5" descr="Slide number 3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The fireable lie (and its legal cousins)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The fireable lie (and its legal cousins)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39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39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Résumé fraud survives hiring: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inflated degree or invented title is grounds for termination when discovered — YEARS later, at the worst possible moment.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gray areas aren't: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'anticipated' degrees dated as earned, solo credit for team work, stretched dates over gaps — all of it is checkable, and checking is the industry.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Frame honestly instead: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gaps get one true clause ('family caregiving, 2024') — recruiters handle honest gaps fine; they never forgive discovered cover-ups (Chapter 7's pattern).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standard: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every line survives a reference call to the person who was there. Write to that audit.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References: ask, brief, thank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References: ask, brief, thank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40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40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Ask permission, every time: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'Would you be comfortable being a strong reference for quality roles?' — the phrasing lets a lukewarm reference decline, which protects you (Chapter 6).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Brief them per application: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send the posting, your résumé version, and what the employer will care about — a prepared reference is twice the reference.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Never list, never surprise: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no one appears on your sheet who hasn't said yes recently; the ambushed reference sounds ambushed, and it costs you.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Close the loop (Chapter 6):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tell them the outcome, thank them regardless — references are network deposits with compounding interest.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Case: two candidates, one interview slot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Case: two candidates, one interview slot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41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41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Same degree, same GPA, comparable internships.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Candidate A: 'Responsible for quality documentation and assisting with audits.'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Candidate B: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'Maintained the doc control system for 200+ SOPs; supported four supplier audits — flagged a labeling gap that became a corrective action.'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recruiter's seven seconds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found numbers, verbs, and a result in B — and a job description in A. B interviewed; A never learned why.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The lesson: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the difference wasn't the experience — it was the WRITING about the experience. That's this course's entire thesis, in one screening decision.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Key takeaway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42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42</a:t>
            </a:r>
          </a:p>
        </p:txBody>
      </p:sp>
      <p:sp>
        <p:nvSpPr>
          <p:cNvPr id="5" name="Oval 4" descr="Checkmark"/>
          <p:cNvSpPr/>
          <p:nvPr/>
        </p:nvSpPr>
        <p:spPr>
          <a:xfrm>
            <a:off x="640080" y="15727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TextBox 5" descr="Takeaway 1"/>
          <p:cNvSpPr txBox="1"/>
          <p:nvPr/>
        </p:nvSpPr>
        <p:spPr>
          <a:xfrm>
            <a:off x="132588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Run a campaign: researched targets, a tracked pipeline, warm paths before portals.</a:t>
            </a:r>
          </a:p>
        </p:txBody>
      </p:sp>
      <p:sp>
        <p:nvSpPr>
          <p:cNvPr id="7" name="Oval 6" descr="Checkmark"/>
          <p:cNvSpPr/>
          <p:nvPr/>
        </p:nvSpPr>
        <p:spPr>
          <a:xfrm>
            <a:off x="640080" y="221284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TextBox 7" descr="Takeaway 2"/>
          <p:cNvSpPr txBox="1"/>
          <p:nvPr/>
        </p:nvSpPr>
        <p:spPr>
          <a:xfrm>
            <a:off x="1325880" y="21945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Network with small honest asks; give first; keep the loop closed twice.</a:t>
            </a:r>
          </a:p>
        </p:txBody>
      </p:sp>
      <p:sp>
        <p:nvSpPr>
          <p:cNvPr id="9" name="Oval 8" descr="Checkmark"/>
          <p:cNvSpPr/>
          <p:nvPr/>
        </p:nvSpPr>
        <p:spPr>
          <a:xfrm>
            <a:off x="640080" y="285292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 descr="Takeaway 3"/>
          <p:cNvSpPr txBox="1"/>
          <p:nvPr/>
        </p:nvSpPr>
        <p:spPr>
          <a:xfrm>
            <a:off x="1325880" y="28346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Every bullet on the formula: action verb + task + measurable result — duties describe jobs; achievements describe YOU.</a:t>
            </a:r>
          </a:p>
        </p:txBody>
      </p:sp>
      <p:sp>
        <p:nvSpPr>
          <p:cNvPr id="11" name="Oval 10" descr="Checkmark"/>
          <p:cNvSpPr/>
          <p:nvPr/>
        </p:nvSpPr>
        <p:spPr>
          <a:xfrm>
            <a:off x="640080" y="349300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 descr="Takeaway 4"/>
          <p:cNvSpPr txBox="1"/>
          <p:nvPr/>
        </p:nvSpPr>
        <p:spPr>
          <a:xfrm>
            <a:off x="1325880" y="3474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Beat the ATS honestly: their exact keywords, single-column parseable formatting, claims you can interview on.</a:t>
            </a:r>
          </a:p>
        </p:txBody>
      </p:sp>
      <p:sp>
        <p:nvSpPr>
          <p:cNvPr id="13" name="Oval 12" descr="Checkmark"/>
          <p:cNvSpPr/>
          <p:nvPr/>
        </p:nvSpPr>
        <p:spPr>
          <a:xfrm>
            <a:off x="640080" y="413308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 descr="Takeaway 5"/>
          <p:cNvSpPr txBox="1"/>
          <p:nvPr/>
        </p:nvSpPr>
        <p:spPr>
          <a:xfrm>
            <a:off x="1325880" y="41148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The cover letter connects need to evidence — never recaps; the digital layer must agree with the paper story.</a:t>
            </a:r>
          </a:p>
        </p:txBody>
      </p:sp>
      <p:sp>
        <p:nvSpPr>
          <p:cNvPr id="15" name="Oval 14" descr="Checkmark"/>
          <p:cNvSpPr/>
          <p:nvPr/>
        </p:nvSpPr>
        <p:spPr>
          <a:xfrm>
            <a:off x="640080" y="4773168"/>
            <a:ext cx="420624" cy="420624"/>
          </a:xfrm>
          <a:prstGeom prst="ellipse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 descr="Takeaway 6"/>
          <p:cNvSpPr txBox="1"/>
          <p:nvPr/>
        </p:nvSpPr>
        <p:spPr>
          <a:xfrm>
            <a:off x="1325880" y="47548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50" b="0" i="0">
                <a:solidFill>
                  <a:srgbClr val="212A26"/>
                </a:solidFill>
                <a:latin typeface="Calibri"/>
              </a:rPr>
              <a:t>Write to the audit: every line survives the reference call and the follow-up question.</a:t>
            </a:r>
          </a:p>
        </p:txBody>
      </p:sp>
      <p:sp>
        <p:nvSpPr>
          <p:cNvPr id="17" name="Rounded Rectangle 16" descr="Practice reminder"/>
          <p:cNvSpPr/>
          <p:nvPr/>
        </p:nvSpPr>
        <p:spPr>
          <a:xfrm>
            <a:off x="548640" y="5468112"/>
            <a:ext cx="10424160" cy="685800"/>
          </a:xfrm>
          <a:prstGeom prst="roundRect">
            <a:avLst/>
          </a:prstGeom>
          <a:solidFill>
            <a:srgbClr val="0E4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64592" tIns="128016" bIns="109728"/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Practice now: course site → Chapter 13 → Practice, then the graded homework before the weekly deadline.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1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Worth keeping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0E4D33"/>
                </a:solidFill>
                <a:latin typeface="Cambria"/>
              </a:rPr>
              <a:t>Worth keeping</a:t>
            </a:r>
          </a:p>
        </p:txBody>
      </p:sp>
      <p:sp>
        <p:nvSpPr>
          <p:cNvPr id="3" name="TextBox 2" descr="Quotation"/>
          <p:cNvSpPr txBox="1"/>
          <p:nvPr/>
        </p:nvSpPr>
        <p:spPr>
          <a:xfrm>
            <a:off x="1280160" y="219456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0" i="1">
                <a:solidFill>
                  <a:srgbClr val="212A26"/>
                </a:solidFill>
                <a:latin typeface="Cambria"/>
              </a:rPr>
              <a:t>“The résumé that gets the interview isn't the one with the best experience. It's the one where the best experience is findable in seven seconds and defensible for an hour.”</a:t>
            </a:r>
          </a:p>
        </p:txBody>
      </p:sp>
      <p:sp>
        <p:nvSpPr>
          <p:cNvPr id="4" name="TextBox 3" descr="Attribution"/>
          <p:cNvSpPr txBox="1"/>
          <p:nvPr/>
        </p:nvSpPr>
        <p:spPr>
          <a:xfrm>
            <a:off x="1280160" y="47548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5E6B64"/>
                </a:solidFill>
                <a:latin typeface="Calibri"/>
              </a:rPr>
              <a:t>— this chapter, compressed</a:t>
            </a:r>
          </a:p>
        </p:txBody>
      </p:sp>
      <p:sp>
        <p:nvSpPr>
          <p:cNvPr id="5" name="TextBox 4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6" name="TextBox 5" descr="Slide number 43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4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Discussion question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400" b="1">
                <a:solidFill>
                  <a:srgbClr val="FFFFFF"/>
                </a:solidFill>
                <a:latin typeface="Cambria"/>
              </a:rPr>
              <a:t>Discussion questions</a:t>
            </a:r>
          </a:p>
        </p:txBody>
      </p:sp>
      <p:sp>
        <p:nvSpPr>
          <p:cNvPr id="3" name="TextBox 2" descr="Discussion questions"/>
          <p:cNvSpPr txBox="1"/>
          <p:nvPr/>
        </p:nvSpPr>
        <p:spPr>
          <a:xfrm>
            <a:off x="731520" y="17373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1.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Rewrite three duty bullets from your own résumé on the achievement formula. What did you have to go count?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2.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Map your second-degree network for one dream employer. How many warm paths did you actually find?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3.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Where's the ethical line between keyword mirroring and keyword fraud? Build the test with examples.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4.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Audit your own name's search results, logged out. What would a recruiter conclude — and what's your 30-day fix?</a:t>
            </a:r>
          </a:p>
          <a:p>
            <a:pPr algn="l">
              <a:spcAft>
                <a:spcPts val="1800"/>
              </a:spcAft>
            </a:pPr>
            <a:r>
              <a:rPr sz="1800" b="1">
                <a:solidFill>
                  <a:srgbClr val="C9931A"/>
                </a:solidFill>
                <a:latin typeface="Calibri"/>
              </a:rPr>
              <a:t>5.  </a:t>
            </a:r>
            <a:r>
              <a:rPr sz="1800" b="0" i="0">
                <a:solidFill>
                  <a:srgbClr val="FFFFFF"/>
                </a:solidFill>
                <a:latin typeface="Calibri"/>
              </a:rPr>
              <a:t>Argue it: should early-career résumés include a summary line, or is it wasted scan time? Use the seven-second model.</a:t>
            </a:r>
          </a:p>
        </p:txBody>
      </p:sp>
      <p:sp>
        <p:nvSpPr>
          <p:cNvPr id="4" name="TextBox 3" descr="Footer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C4B2"/>
                </a:solidFill>
                <a:latin typeface="Calibri"/>
              </a:rPr>
              <a:t>BADM 225 · Chapter 13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 descr="Slide title: Your next steps"/>
          <p:cNvSpPr>
            <a:spLocks noGrp="1"/>
          </p:cNvSpPr>
          <p:nvPr>
            <p:ph type="title"/>
          </p:nvPr>
        </p:nvSpPr>
        <p:spPr>
          <a:xfrm>
            <a:off x="502920" y="411480"/>
            <a:ext cx="11155680" cy="914400"/>
          </a:xfrm>
        </p:spPr>
        <p:txBody>
          <a:bodyPr wrap="square"/>
          <a:lstStyle/>
          <a:p>
            <a:pPr algn="l"/>
            <a:r>
              <a:rPr sz="3200" b="1">
                <a:solidFill>
                  <a:srgbClr val="0E4D33"/>
                </a:solidFill>
                <a:latin typeface="Cambria"/>
              </a:rPr>
              <a:t>Your next steps</a:t>
            </a:r>
          </a:p>
        </p:txBody>
      </p:sp>
      <p:sp>
        <p:nvSpPr>
          <p:cNvPr id="3" name="TextBox 2" descr="Footer: BADM 225 · Chapter 13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5E6B64"/>
                </a:solidFill>
                <a:latin typeface="Calibri"/>
              </a:rPr>
              <a:t>BADM 225 · Chapter 13</a:t>
            </a:r>
          </a:p>
        </p:txBody>
      </p:sp>
      <p:sp>
        <p:nvSpPr>
          <p:cNvPr id="4" name="TextBox 3" descr="Slide number 4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E6B64"/>
                </a:solidFill>
                <a:latin typeface="Calibri"/>
              </a:rPr>
              <a:t>45</a:t>
            </a:r>
          </a:p>
        </p:txBody>
      </p:sp>
      <p:sp>
        <p:nvSpPr>
          <p:cNvPr id="5" name="TextBox 4" descr="Key points"/>
          <p:cNvSpPr txBox="1"/>
          <p:nvPr/>
        </p:nvSpPr>
        <p:spPr>
          <a:xfrm>
            <a:off x="548640" y="1554480"/>
            <a:ext cx="110642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Practice: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Course site → Chapter 13 → Practice questions (instant feedback, unlimited tries).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Graded: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Complete the Chapter 13 homework on the site; paste your completion code into the Blackboard assignment before the weekly deadline.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Build: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master résumé — every bullet you've earned, achievement-formatted — then tailor one version to a real posting.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Audit: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Your digital layer against the consistency checklist; fix the top three findings.</a:t>
            </a:r>
          </a:p>
          <a:p>
            <a:pPr algn="l">
              <a:spcAft>
                <a:spcPts val="1200"/>
              </a:spcAft>
            </a:pPr>
            <a:r>
              <a:rPr sz="1700">
                <a:solidFill>
                  <a:srgbClr val="8A6410"/>
                </a:solidFill>
                <a:latin typeface="Calibri"/>
              </a:rPr>
              <a:t>▪  </a:t>
            </a:r>
            <a:r>
              <a:rPr sz="1700" b="1">
                <a:solidFill>
                  <a:srgbClr val="0E4D33"/>
                </a:solidFill>
                <a:latin typeface="Calibri"/>
              </a:rPr>
              <a:t>Coming next:  </a:t>
            </a:r>
            <a:r>
              <a:rPr sz="1700" b="0" i="0">
                <a:solidFill>
                  <a:srgbClr val="212A26"/>
                </a:solidFill>
                <a:latin typeface="Calibri"/>
              </a:rPr>
              <a:t>Chapter 14 — interviewing and follow-up: where every résumé line gets its five-minute audit.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