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16: leadership communication. Part one: pressure and crisis. Part two: influence principles in the tradition of Dale Carnegie's How to Win Friends and Influence People — attributed, and translated to the modern workplace.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16 practice bank. The influence sections draw on Carnegie (1936) with modern translation — always attributed.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what pressure does, and the protocol that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diagnosis slide. 'Deciding it's you' frames leadership as a communication choice available to anyone — no title required, which is the chapter's through-line.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chapter's most quotable principle. The kindness reframe matters: students conflate clarity with coldness until shown the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protocol is deliberately small enough to run under real stress. It compresses Chapters 4, 7, and 9 into a field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Performable calm is the actionable insight: students think composure is a trait; it's substantially a set of behaviors that can be executed under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crisis communication from the leader's chair — extending Chapter 7's crisis section from statements to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insight students need: first-hour leadership is process communication, not answers. The three-hats assignment prevents the classic everyone-fixes-nobody-communicates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permission-to-report effect is the deep mechanism: leader-admitted uncertainty is what makes honest upward reporting safe. This links Chapters 1, 7, and 9 into the leadership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debrief closes the crisis loop and pivots the deck: the leader-goes-first move is the bridge into the influence sections — modeling costs as the price of candor.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controlled comparison makes the invisible cost visible. Note A's move is entirely Chapter 7 + this deck's first hour — nothing requires genius, only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the influence core, in the tradition of Dale Carnegie (1936) — attributed throughout, translated to modern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Carnegie as pre-discovered audience analysis unifies the course. The sincerity warning is Carnegie's own and must lead — this section reads as manipulation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foundations, each cross-referenced to where the course already taught it. The pattern students should see: Carnegie keeps being rediscovered by every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daily practices, sized for immediate use. The written-evidence point modernizes Carnegie: digital channels make genuine interest visible and durable.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 the foundation section. The seen-vs-buttered distinction is the whole ethics of the principle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Carnegie's persuasion set, mapped onto the course's influence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scarcity-of-stands point converts 'avoid arguments' from doormat advice into influence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 may be wrong' opener is a paraphrase of Carnegie's advice and still the best de-escalating preface in professional life. The on-the-record exception keeps this honest — some corrections must land publicly.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Fast-emphatic error admission is where Carnegie, the MUM effect, and apology anatomy all converge — three chapters, one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tactical principles bundled: friendly start, yes-momentum, full airing. Each maps to machinery the course already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ego-math close is the honest version of the principle: it's not selflessness, it's exchanging credit for outcomes — a trade professionals should make consciously.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nobler-motive principle previews the reputation effect that anchors Section 5. The 'resistance makes sense' framing is the empathy-as-diagnosis move from Chapter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Carnegie's leadership set — correction without crushing.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correction sequence integrates Carnegie with SBI and the feedback rules. 'Either alone is failure' is the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reputation effect is Carnegie's most powerful and least-known principle — and the team version is how communication culture actually gets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Composite turnaround built entirely from the deck's principles: listening, authorship, face, credit-routing, and reputation-granting. Nothing in it requires charisma.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Paraphrase attributed to Carnegie's central theme — flagged as 'after' rather than verbatim quotation.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 Question five is the empathy-generator: students design the feedback they wish they'd 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 The book recommendation is genuine and the instructor's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eadership Under Pressure &amp; Influence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Leadership Under Pressure &amp; Influence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Crisis clarity · influence without authority · the people principles that have worked for a century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16  ·  Original material © 2026 Derek D. Bussan, PhD, MBA  · 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Communicate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under pressure with the protocol: pause, facts, frame, forward — clarity over reassurance.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Lead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through a crisis: the first hour, the honest unknowns, the cadence that replaces rumor.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Influence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without authority: genuine interest, real appreciation, and arguments won by not having them.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Correct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people so the behavior changes AND the person keeps contributing — face saved, standard kept.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reputation-to-live-up-to effect in teams — the influence tool that works while you sleep.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essure reveal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Pressure reveals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Stress doesn't build communication character. It exposes it.</a:t>
            </a:r>
          </a:p>
        </p:txBody>
      </p:sp>
      <p:sp>
        <p:nvSpPr>
          <p:cNvPr id="5" name="TextBox 4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pressure does to communic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pressure does to communication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narrows: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under stress, people write faster, read less, assume more — precisely when precision matters most.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leaks: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tension transmits in word choice, punctuation, and pace — the team reads your temperature before your text (Chapter 1's nonverbals, in prose).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shortcuts: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verification pass, the tone pass, the cooling-off period (Chapter 4) — the disciplines drop exactly when their absence costs most.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leader's job is to be the exception: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someone in the room has to slow down on purpose. Deciding it's you is most of leadership.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larity over reassura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Clarity over reassurance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People can act on accurate hard news;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they cannot act on comfortable fog — 'we'll be fine' plans nothing, staffs nothing, fixes nothing.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Reassurance spends trust; clarity builds 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leader who said 'fine' before the layoff is never believed again — the one who said 'here's what I know and don't' is (Chapter 7).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Clarity is kind AND warm when done right: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is serious, here's the plan, here's your part' respects people as adults with jobs to do.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line to walk: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honest without alarmist — calibrated language (Chapter 9's honest yellow) is a leadership instrument, not just a reporting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essure protoco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pressure protocol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Chevron 4" descr="Step 1: PAUSE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PAUSE</a:t>
            </a:r>
          </a:p>
        </p:txBody>
      </p:sp>
      <p:sp>
        <p:nvSpPr>
          <p:cNvPr id="6" name="TextBox 5" descr="PAUSE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Two breaths before any reply — the send button has no undo under stress (Chapter 7)</a:t>
            </a:r>
          </a:p>
        </p:txBody>
      </p:sp>
      <p:sp>
        <p:nvSpPr>
          <p:cNvPr id="7" name="Chevron 6" descr="Step 2: FACTS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FACTS</a:t>
            </a:r>
          </a:p>
        </p:txBody>
      </p:sp>
      <p:sp>
        <p:nvSpPr>
          <p:cNvPr id="8" name="TextBox 7" descr="FACTS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What's actually known vs. assumed — write the two lists</a:t>
            </a:r>
          </a:p>
        </p:txBody>
      </p:sp>
      <p:sp>
        <p:nvSpPr>
          <p:cNvPr id="9" name="Chevron 8" descr="Step 3: FRAME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FRAME</a:t>
            </a:r>
          </a:p>
        </p:txBody>
      </p:sp>
      <p:sp>
        <p:nvSpPr>
          <p:cNvPr id="10" name="TextBox 9" descr="FRAME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does this mean for the people you're addressing — their stakes, not yours</a:t>
            </a:r>
          </a:p>
        </p:txBody>
      </p:sp>
      <p:sp>
        <p:nvSpPr>
          <p:cNvPr id="11" name="Chevron 10" descr="Step 4: FORWARD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FORWARD</a:t>
            </a:r>
          </a:p>
        </p:txBody>
      </p:sp>
      <p:sp>
        <p:nvSpPr>
          <p:cNvPr id="12" name="TextBox 11" descr="FORWARD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next concrete action, owned and timed — always end at the future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Four beats, thirty seconds, and it survives every crisis size — from a hot email to a plant shutdown.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mposure is contagious (both directions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Composure is contagious (both directions)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Teams synchronize to the leader's affect: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panic propagates faster than facts; so does calm — you are broadcasting either way (Chapter 1).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Calm is performable and legitimate: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slower speech, complete sentences, written follow-ups — the FORM of composure produces its effect even while your pulse argues.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Visible process beats visible confidence: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'here's how we'll figure this out' steadies people longer than 'it'll be okay' — process is checkable; confidence is a mood.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composure budget is real: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sleep, breaks, and the unpinged block (Chapter 5) aren't wellness perks in a crisis — they're the supply chain for the only calm the team 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risis leadership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Crisis leadership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first hour, the honest unknowns, and the cadence that starves rumor.</a:t>
            </a:r>
          </a:p>
        </p:txBody>
      </p:sp>
      <p:sp>
        <p:nvSpPr>
          <p:cNvPr id="5" name="TextBox 4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6" name="TextBox 5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rst hou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first hour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Chevron 4" descr="Step 1: ACKNOWLEDGE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ACKNOWLEDGE</a:t>
            </a:r>
          </a:p>
        </p:txBody>
      </p:sp>
      <p:sp>
        <p:nvSpPr>
          <p:cNvPr id="6" name="TextBox 5" descr="ACKNOWLEDGE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To your own people first — silence from the leader is data, and it reads as either ignorance or concealment</a:t>
            </a:r>
          </a:p>
        </p:txBody>
      </p:sp>
      <p:sp>
        <p:nvSpPr>
          <p:cNvPr id="7" name="Chevron 6" descr="Step 2: ASSIGN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ASSIGN</a:t>
            </a:r>
          </a:p>
        </p:txBody>
      </p:sp>
      <p:sp>
        <p:nvSpPr>
          <p:cNvPr id="8" name="TextBox 7" descr="ASSIGN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Who owns comms, who owns the fix, who owns the log — three hats, three heads where possible</a:t>
            </a:r>
          </a:p>
        </p:txBody>
      </p:sp>
      <p:sp>
        <p:nvSpPr>
          <p:cNvPr id="9" name="Chevron 8" descr="Step 3: PROMISE THE CADENCE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PROMISE THE CADENCE</a:t>
            </a:r>
          </a:p>
        </p:txBody>
      </p:sp>
      <p:sp>
        <p:nvSpPr>
          <p:cNvPr id="10" name="TextBox 9" descr="PROMISE THE CADENCE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'Updates at 10, 2, and 5 whether anything changes or not'</a:t>
            </a:r>
          </a:p>
        </p:txBody>
      </p:sp>
      <p:sp>
        <p:nvSpPr>
          <p:cNvPr id="11" name="Chevron 10" descr="Step 4: FEED THE GRAPEVINE FACTS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FEED THE GRAPEVINE FACTS</a:t>
            </a:r>
          </a:p>
        </p:txBody>
      </p:sp>
      <p:sp>
        <p:nvSpPr>
          <p:cNvPr id="12" name="TextBox 11" descr="FEED THE GRAPEVINE FACTS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informal network runs at crisis speed (Chapter 1) — outrun it with official truth or it runs on invention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Nothing in the first hour requires knowing what happened. It requires knowing what LEADERSHIP happens while you find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Honest unknowns are a leadership technolog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Honest unknowns are a leadership technology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'Here's what we don't know yet' — said plainly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is the sentence that separates credible leaders from spokespeople (Chapter 7's crisis rules, personalized).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Unknowns stated create permission to report: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the leader admits uncertainty, the engineer with bad news stops polishing it (the MUM effect, disarmed at the top).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Attach every unknown to a hunt: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'we don't know the cause; the vendor call is at 2' — an unknown with an owner is a plan; an unknown alone is dread.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guess to fill the silence: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retracted guess costs more than a day of 'still confirming' — leaders' speculation gets treated as fact and quoted forever.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fter: the debrief that pays for the crisi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After: the debrief that pays for the crisis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Blameless in structure, specific in facts: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did the SYSTEM allow?' — the incident-report discipline (Chapter 9) applied to the team's own performance.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leader's errors go first: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 sat on the yellow flag for two days' — nothing else in the room unlocks honesty faster (and see: Carnegie, this deck).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Harvest the communication failures too: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who didn't know what, when? Most crisis damage is information routing, not the event itself.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the one-pager (Chapter 5's wiki rule):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what happened, what we changed — or the next crisis reruns this one with new actors.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wo plant managers, one recal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two plant managers, one recall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Same defect, two facilities.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Manager A held the floor meeting in hour two: what's known, what isn't, updates at shift change — then took questions until they stopped.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Manager B 'waited for corporate guidance.'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By day two, B's floor had three rumor variants including layoffs; two good technicians quietly started job searches.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Six months later: identical recall outcomes,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financially. A's plant: turnover flat. B's: down two techs and one manager — B, reassigned after the climate survey.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recall was never the risk. The silence was — the event cost money; the communication decided everything else.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fluence without authorit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Influence without authority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Carnegie foundation: interest, appreciation, and their eager want.</a:t>
            </a:r>
          </a:p>
        </p:txBody>
      </p:sp>
      <p:sp>
        <p:nvSpPr>
          <p:cNvPr id="5" name="TextBox 4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6" name="TextBox 5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emise: you can't order anyone to car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premise: you can't order anyone to care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Most careers run on influence, not authority: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peers, clients, other departments, your own boss — nobody in that list takes orders from you (Chapter 8's timesheet case).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Carnegie's century-old observation holds: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people are moved by those who demonstrably understand and serve their interests — not by those who win arguments at them.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the you-view (Chapter 2), scaled to relationships: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principle in this section is audience analysis practiced as a way of treating people, not just drafting messages.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sincerity load is real: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technique here fails when faked — these are practices for becoming interested, not scripts for seeming it (Chapter 8's truth test).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arnegie core, translat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Carnegie core, translated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Attributed to Dale Carnegie, How to Win Friends and Influence People (1936) — restated for the inbox era.</a:t>
            </a:r>
          </a:p>
        </p:txBody>
      </p:sp>
      <p:sp>
        <p:nvSpPr>
          <p:cNvPr id="6" name="Oval 5" descr="Don't criticize, condemn, or complain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🚫</a:t>
            </a:r>
          </a:p>
        </p:txBody>
      </p:sp>
      <p:sp>
        <p:nvSpPr>
          <p:cNvPr id="7" name="TextBox 6" descr="Don't criticize, condemn, or complain"/>
          <p:cNvSpPr txBox="1"/>
          <p:nvPr/>
        </p:nvSpPr>
        <p:spPr>
          <a:xfrm>
            <a:off x="1417320" y="19202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Don't criticize, condemn, or complain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Criticism triggers defense, not change (Chapter 7's psychology) — diagnose systems, correct behavior, skip the character verdicts.</a:t>
            </a:r>
          </a:p>
        </p:txBody>
      </p:sp>
      <p:sp>
        <p:nvSpPr>
          <p:cNvPr id="8" name="Oval 7" descr="Give honest, sincere appreciation icon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💎</a:t>
            </a:r>
          </a:p>
        </p:txBody>
      </p:sp>
      <p:sp>
        <p:nvSpPr>
          <p:cNvPr id="9" name="TextBox 8" descr="Give honest, sincere appreciation"/>
          <p:cNvSpPr txBox="1"/>
          <p:nvPr/>
        </p:nvSpPr>
        <p:spPr>
          <a:xfrm>
            <a:off x="1417320" y="31089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Give honest, sincere appreciation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five-quality goodwill note (Chapter 6) IS this principle with a stamp — specific, true, and wanted more than almost anything.</a:t>
            </a:r>
          </a:p>
        </p:txBody>
      </p:sp>
      <p:sp>
        <p:nvSpPr>
          <p:cNvPr id="10" name="Oval 9" descr="Arouse an eager want icon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 descr="Arouse an eager want"/>
          <p:cNvSpPr txBox="1"/>
          <p:nvPr/>
        </p:nvSpPr>
        <p:spPr>
          <a:xfrm>
            <a:off x="1417320" y="429768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Arouse an eager want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Frame every ask in THEIR interests — Chapter 8's entire persuasion engine, stated in 1936.</a:t>
            </a:r>
          </a:p>
        </p:txBody>
      </p:sp>
      <p:sp>
        <p:nvSpPr>
          <p:cNvPr id="12" name="Oval 11" descr="Become genuinely interested in people icon"/>
          <p:cNvSpPr/>
          <p:nvPr/>
        </p:nvSpPr>
        <p:spPr>
          <a:xfrm>
            <a:off x="640080" y="55412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😊</a:t>
            </a:r>
          </a:p>
        </p:txBody>
      </p:sp>
      <p:sp>
        <p:nvSpPr>
          <p:cNvPr id="13" name="TextBox 12" descr="Become genuinely interested in people"/>
          <p:cNvSpPr txBox="1"/>
          <p:nvPr/>
        </p:nvSpPr>
        <p:spPr>
          <a:xfrm>
            <a:off x="1417320" y="54864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Become genuinely interested in people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Six weeks of real interest in others outperforms two years of trying to be interesting — in networking (Chapter 13), sales, and teams.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ames, listening, and their interests — the daily trio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Names, listening, and their interests — the daily trio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person's name is still the sweetest sound: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spell it right (Chapter 4's verification!), say it in greeting, use it in the thank-you — the smallest deposit that always lands.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 the listener (Chapter 1, weaponized for good):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colleague who paraphrases, asks the second question, and remembers the answer next week becomes the most trusted person on the team by doing almost nothing else.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Talk in terms of their interests: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open with THEIR project, THEIR deadline, THEIR win — the conversational you-view. Watch meetings tilt toward whoever does this.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modern channels count double: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remembered details in a follow-up email prove listening in writing — permanent, forwardable evidence that you were present.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Make them feel important — because they ar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Make them feel important — because they are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deepest human want, per Carnegie: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to feel important and appreciated — and the workplace runs a permanent deficit of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honest version is observational: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'your triage call saved the launch' (Chapter 6's specificity) — importance demonstrated with evidence, not flattery inflated past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Distribute it downward and sideways especially: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praising up is suspect; praising down and across is leadership (Chapter 6's credit-routing).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Flattery fails on contact: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people detect the difference between being SEEN and being buttered — the technique is attention, and attention can't be faked at length.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inning people to your thinking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Winning people to your thinking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Arguments, errors, yeses, and whose idea it gets to be.</a:t>
            </a:r>
          </a:p>
        </p:txBody>
      </p:sp>
      <p:sp>
        <p:nvSpPr>
          <p:cNvPr id="5" name="TextBox 4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6" name="TextBox 5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 can't win an argum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 can't win an argument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Carnegie's rule: the only way to win one is to avoid it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'victory' leaves the loser convinced against their will and voting against you at the next meeting.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workplace version: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being right in the thread while the relationship dies is a loss wearing a trophy (Chapter 7's flame-war case).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Replace the duel with the question: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'walk me through how you got there?' — half the time they find their own gap; the other half, YOU find yours.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Save the stand for what matters: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professional who argues rarely is devastating when they finally do — argument frequency is a currency; spend it like one (Chapter 3's emphasis rule, socially).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'You're wrong' — the sentence that never work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'You're wrong' — the sentence that never works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Direct contradiction locks the defense (Chapter 7):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 one has ever replied 'good point, I'll abandon my position' to 'you're wrong' — the sentence produces doubling-down as a reflex.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Carnegie alternative: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 may be wrong — I often am. Let's look at the data together.' Humility costs nothing and opens everything.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Correct with questions and evidence: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'how does that square with the March numbers?' lets the facts do the confronting while you stay the colleague.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When you must contradict on the record: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contradict the CLAIM, cite the source, skip the victory lap — 'the export shows 4%, not 14%' needs no editorial (Chapter 9).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dmit your errors fast and emphaticall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Admit your errors fast and emphatically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Beat the accusation to the punch: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'before anyone checks — the Q2 figure was mine and it was wrong' converts a prosecution into a footnote (Chapter 7's apology anatomy).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Self-criticism disarms completely: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there's nothing left to argue when you've said it harder than they would have — and said the fix in the same breath.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buys your praise its value: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leader who owns errors is the only one whose 'well done' means anything (this deck's debrief slide, personal edition).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career math (Chapter 7's MUM research):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trust is staked on how you handle being wrong, because everyone already knows you sometimes 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egin friendly, get to yes early, let them tal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Begin friendly, get to yes early, let them talk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friendly opening is load-bearing: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drop of honey before the business (the Lincoln line Carnegie loved to quote) is the buffer (Chapter 7) applied to every hard conversation, not just bad news.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Engineer the early yes: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open on what you agree about — 'we both need this shipped by Q4' — and the psychology of consistency (Chapter 8) starts working FOR the conversation.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Let them talk themselves out: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uninterrupted airing IS the concession most people actually want — and their full case tells you exactly which objection is real (Chapter 8's inventory, for free).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Then respond to what was said,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what you rehearsed — the listening chapter (1), cashed in at its highest-value moment.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et the idea be their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Let the idea be theirs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People fight FOR what they authored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AGAINST what they're handed — ownership is the strongest adoption force there is (Chapter 8's pilot case: the skeptic presenting the results).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Plant with questions: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would fix the Friday bottleneck?' beats 'here's my fix for your bottleneck' even when they land the same place.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Share credit structurally: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'per Dana's point…' (Chapter 8's pre-wiring) — visible fingerprints convert objectors into co-owners.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Check the ego math: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the idea shipping matters more than the idea being yours — and it does — then authorship is a currency you can spend to buy adoption.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ee it their way; appeal to the nobler motiv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See it their way; appeal to the nobler motive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Try honestly to see their view first (Carnegie):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as a tactic — as the diagnosis. Resistance almost always makes sense from where the resister stands (Chapter 8's status-quo slide).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Sympathize with the position out loud: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'in your seat, I'd worry about exactly this' — costs nothing, and it's usually true.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Appeal to who they want to be: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'you've always been the one who catches these' invokes the professional identity — people strain to live up to their own reputation (next section's engine).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nobler motive is usually REAL: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most people genuinely want to be fair, thorough, good at their work — addressing that self-image isn't flattery; it's accurate targeting.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eading people through chang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Leading people through change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Correction, face, and the reputation to live up to.</a:t>
            </a:r>
          </a:p>
        </p:txBody>
      </p:sp>
      <p:sp>
        <p:nvSpPr>
          <p:cNvPr id="5" name="TextBox 4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6" name="TextBox 5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rrecting without crush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Correcting without crushing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Chevron 4" descr="Step 1: HONEST PRAISE FIRST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HONEST PRAISE FIRST</a:t>
            </a:r>
          </a:p>
        </p:txBody>
      </p:sp>
      <p:sp>
        <p:nvSpPr>
          <p:cNvPr id="6" name="TextBox 5" descr="HONEST PRAISE FIRST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Real and specific — the foundation, not the softener (fake bread is the sandwich problem, Chapter 7)</a:t>
            </a:r>
          </a:p>
        </p:txBody>
      </p:sp>
      <p:sp>
        <p:nvSpPr>
          <p:cNvPr id="7" name="Chevron 6" descr="Step 2: THE BEHAVIOR, INDIRECTLY WHERE IT WORKS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BEHAVIOR, INDIRECTLY WHERE IT WORKS</a:t>
            </a:r>
          </a:p>
        </p:txBody>
      </p:sp>
      <p:sp>
        <p:nvSpPr>
          <p:cNvPr id="8" name="TextBox 7" descr="THE BEHAVIOR, INDIRECTLY WHERE IT WORKS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'I've made this exact mistake' beats the pointed finger</a:t>
            </a:r>
          </a:p>
        </p:txBody>
      </p:sp>
      <p:sp>
        <p:nvSpPr>
          <p:cNvPr id="9" name="Chevron 8" descr="Step 3: QUESTIONS, NOT ORDERS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QUESTIONS, NOT ORDERS</a:t>
            </a:r>
          </a:p>
        </p:txBody>
      </p:sp>
      <p:sp>
        <p:nvSpPr>
          <p:cNvPr id="10" name="TextBox 9" descr="QUESTIONS, NOT ORDERS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'What would keep this from recurring?' — authorship again</a:t>
            </a:r>
          </a:p>
        </p:txBody>
      </p:sp>
      <p:sp>
        <p:nvSpPr>
          <p:cNvPr id="11" name="Chevron 10" descr="Step 4: SAVE FACE, ALWAYS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SAVE FACE, ALWAYS</a:t>
            </a:r>
          </a:p>
        </p:txBody>
      </p:sp>
      <p:sp>
        <p:nvSpPr>
          <p:cNvPr id="12" name="TextBox 11" descr="SAVE FACE, ALWAYS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Private correction, public dignity — the person must survive the fix (Chapter 7's SBI)</a:t>
            </a:r>
          </a:p>
        </p:txBody>
      </p:sp>
      <p:sp>
        <p:nvSpPr>
          <p:cNvPr id="13" name="Chevron 12" descr="Step 5: PRAISE THE PROGRESS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PRAISE THE PROGRESS</a:t>
            </a:r>
          </a:p>
        </p:txBody>
      </p:sp>
      <p:sp>
        <p:nvSpPr>
          <p:cNvPr id="14" name="TextBox 13" descr="PRAISE THE PROGRESS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Every improvement noticed aloud — behavior grows toward the light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Carnegie's leadership principles, run as a sequence. The goal is a changed behavior AND an intact contributor — either alone is failure.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ive them a reputation to live up to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Give them a reputation to live up to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Name the identity you want to grow: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'you're the most careful reviewer on this team' — and watch the person defend that reputation with their behavior.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must be TRUE at least in trajectory: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reputation-granting is watering a real seedling, not painting one — the fake version reads as sarcasm within a week.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the strongest correction tool for good performers: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slipped, which surprised me — your work is usually the standard' corrects harder than any reprimand, and hurts better.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Teams work the same way: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group doesn't ship unverified numbers' becomes true BECAUSE it's said — spoken standards become identity, and identity self-enforces (Chapter 11's ground rules, internalized).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turnaround superviso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turnaround supervisor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Inherited: the plant's worst line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quality misses, two grievances pending, a crew described to her as 'unmanageable.'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Month one she mostly asked and listened: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operator, 'what would you fix first?' — then implemented two of their answers VISIBLY, with credit posted on the board.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Corrections went private and question-shaped;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wins went public and name-attached. She told the crew they were 'the line that catches what the system misses' — before it was true.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Month seven: best quality record in the plant.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Same crew. Her summary: 'I didn't change the people. I changed what got noticed.' That's this chapter, in one sentence.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Under pressure, run the protocol: pause, facts, frame, forward — clarity over reassurance, always.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First hour of crisis: acknowledge, assign the three hats, promise the cadence, feed the grapevine facts.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Honest unknowns, attached to hunts, are what make truth-telling safe for everyone below you.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Influence runs on genuine interest, honest appreciation, and their eager want — Carnegie, 1936, still undefeated.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Don't argue; question. Never 'you're wrong'; admit your own errors fast. Let the idea be theirs.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Correct in private with questions, save face, praise progress — and grant reputations worth living up to.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16 → Practice, then the graded homework before the weekly deadline.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“Deal with people knowing they are creatures of emotion more than logic — moved by pride, fed by appreciation, and loyal to whoever truly listens.”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after Dale Carnegie, How to Win Friends and Influence People (1936)</a:t>
            </a:r>
          </a:p>
        </p:txBody>
      </p:sp>
      <p:sp>
        <p:nvSpPr>
          <p:cNvPr id="5" name="TextBox 4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6" name="TextBox 5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Recall a leader you'd follow anywhere. Which of this chapter's behaviors did they run — and which did they never need?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Draft the first-hour communication for a crisis in your field: the acknowledge, the three hats, the cadence.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Carnegie says you can't win an argument. Find the exception: when MUST a professional argue on the record, and how?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Where's the line between granting a reputation and manipulating with one? Build the test (hint: Chapter 8's visibility test).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Rewrite a criticism you've received — as the correction sequence would have delivered it. What changes in your own likely response?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16  ·  © Derek D. Bussan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16  ·  © Derek D. Bussan</a:t>
            </a:r>
          </a:p>
        </p:txBody>
      </p:sp>
      <p:sp>
        <p:nvSpPr>
          <p:cNvPr id="4" name="TextBox 3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16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16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Run one Carnegie practice for a full week — names, or the second question, or credit-routing — and log what changes.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How to Win Friends and Influence People (1936) — a weekend read that outperforms most management shelves.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17 — strategy for communicators: where the value comes from, and how to write proposals that speak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