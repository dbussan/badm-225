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6: the messages you'll send most and think about least — which is why they're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6 bank and the introductory-letter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failure modes: the buried ask and the incomplete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Answer-first is Chapter 3's directness applied to the inbox.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 reading your claim didn't break your product — make it easy for them to become your advocate.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news = direct pattern.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Well-recovered failures beat uninterrupted service — the recovery proves the relationship.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Thanks, congratulations, sympathy — the messages nobody requires and everybody remembers.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category where the medium and effort ARE the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16's deposits-before-withdrawals, at everyday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Judged by a brutal metric: the support questions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Paragraph-prose instructions are where clarity goes to die.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from the study guide's worked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Positive and Neutral Messages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Positive and Neutral Messages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Requests · replies · claims · adjustments · goodwill — the everyday mail that builds your reputation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6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requests that pass the complete-ask test — grantable without a clarifying question.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Reply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answer-first, anticipate the next question, and end the thread.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File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claims that recruit an advocate: record, facts, specific remedy, deadline, calm.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Grant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claims the way that keeps customers: fix first, prevention sentence included.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Send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goodwill that passes the five-S test — the highest-return mail there 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quests &amp; replie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Requests &amp; replies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Ask so people can say yes. Answer so threads end.</a:t>
            </a:r>
          </a:p>
        </p:txBody>
      </p:sp>
      <p:sp>
        <p:nvSpPr>
          <p:cNvPr id="5" name="TextBox 4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6" name="TextBox 5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irect requ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direct request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  <p:sp>
        <p:nvSpPr>
          <p:cNvPr id="5" name="Chevron 4" descr="Step 1: ASK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6" name="TextBox 5" descr="ASK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First, in question form — questions politely demand answers.</a:t>
            </a:r>
          </a:p>
        </p:txBody>
      </p:sp>
      <p:sp>
        <p:nvSpPr>
          <p:cNvPr id="7" name="Chevron 6" descr="Step 2: EXPLAIN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8" name="TextBox 7" descr="EXPLAIN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Why, and why THEM: “you ran last year's audit.”</a:t>
            </a:r>
          </a:p>
        </p:txBody>
      </p:sp>
      <p:sp>
        <p:nvSpPr>
          <p:cNvPr id="9" name="Chevron 8" descr="Step 3: DETAIL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DETAIL</a:t>
            </a:r>
          </a:p>
        </p:txBody>
      </p:sp>
      <p:sp>
        <p:nvSpPr>
          <p:cNvPr id="10" name="TextBox 9" descr="DETAIL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Format, scope, access — a list they can work down.</a:t>
            </a:r>
          </a:p>
        </p:txBody>
      </p:sp>
      <p:sp>
        <p:nvSpPr>
          <p:cNvPr id="11" name="Chevron 10" descr="Step 4: CLOSE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CLOSE</a:t>
            </a:r>
          </a:p>
        </p:txBody>
      </p:sp>
      <p:sp>
        <p:nvSpPr>
          <p:cNvPr id="12" name="TextBox 11" descr="CLOSE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Deadline + its reason + goodwill.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complete-ask test: can the reader comply without asking you anything? A request that ends threads is a professional artifact.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reply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reply skeleton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Chevron 4" descr="Step 1: ANSWER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6" name="TextBox 5" descr="ANSWER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“Yes — the room is yours, 2–4 Friday.” First word, not paragraph three.</a:t>
            </a:r>
          </a:p>
        </p:txBody>
      </p:sp>
      <p:sp>
        <p:nvSpPr>
          <p:cNvPr id="7" name="Chevron 6" descr="Step 2: DETAILS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DETAILS</a:t>
            </a:r>
          </a:p>
        </p:txBody>
      </p:sp>
      <p:sp>
        <p:nvSpPr>
          <p:cNvPr id="8" name="TextBox 7" descr="DETAILS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Everything they'd ask next: access, codes, capacity.</a:t>
            </a:r>
          </a:p>
        </p:txBody>
      </p:sp>
      <p:sp>
        <p:nvSpPr>
          <p:cNvPr id="9" name="Chevron 8" descr="Step 3: EXTRAS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EXTRAS</a:t>
            </a:r>
          </a:p>
        </p:txBody>
      </p:sp>
      <p:sp>
        <p:nvSpPr>
          <p:cNvPr id="10" name="TextBox 9" descr="EXTRAS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they didn't ask but need: parking validation exists.</a:t>
            </a:r>
          </a:p>
        </p:txBody>
      </p:sp>
      <p:sp>
        <p:nvSpPr>
          <p:cNvPr id="11" name="Chevron 10" descr="Step 4: FORWARD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FORWARD</a:t>
            </a:r>
          </a:p>
        </p:txBody>
      </p:sp>
      <p:sp>
        <p:nvSpPr>
          <p:cNvPr id="12" name="TextBox 11" descr="FORWARD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“Anything else before Friday, just ask.”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bar: your reply should END the thread, not extend it. Partial no? Lead with the yes you can give.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aims &amp; adjustment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Claims &amp; adjustments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Complaining like a professional — and granting like one.</a:t>
            </a:r>
          </a:p>
        </p:txBody>
      </p:sp>
      <p:sp>
        <p:nvSpPr>
          <p:cNvPr id="5" name="TextBox 4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6" name="TextBox 5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laim anatomy: a request wearing a grievanc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Claim anatomy: a request wearing a grievance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Oval 4" descr="The record first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№</a:t>
            </a:r>
          </a:p>
        </p:txBody>
      </p:sp>
      <p:sp>
        <p:nvSpPr>
          <p:cNvPr id="6" name="TextBox 5" descr="The record first"/>
          <p:cNvSpPr txBox="1"/>
          <p:nvPr/>
        </p:nvSpPr>
        <p:spPr>
          <a:xfrm>
            <a:off x="1417320" y="160020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record first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Order number, dates, product — findable in their system from sentence one.</a:t>
            </a:r>
          </a:p>
        </p:txBody>
      </p:sp>
      <p:sp>
        <p:nvSpPr>
          <p:cNvPr id="7" name="Oval 6" descr="Facts, calmly, with evidence icon"/>
          <p:cNvSpPr/>
          <p:nvPr/>
        </p:nvSpPr>
        <p:spPr>
          <a:xfrm>
            <a:off x="640080" y="284378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📷</a:t>
            </a:r>
          </a:p>
        </p:txBody>
      </p:sp>
      <p:sp>
        <p:nvSpPr>
          <p:cNvPr id="8" name="TextBox 7" descr="Facts, calmly, with evidence"/>
          <p:cNvSpPr txBox="1"/>
          <p:nvPr/>
        </p:nvSpPr>
        <p:spPr>
          <a:xfrm>
            <a:off x="1417320" y="278892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Facts, calmly, with evidence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Attach the photos. Skip the adjectives.</a:t>
            </a:r>
          </a:p>
        </p:txBody>
      </p:sp>
      <p:sp>
        <p:nvSpPr>
          <p:cNvPr id="9" name="Oval 8" descr="The specific remedy icon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 descr="The specific remedy"/>
          <p:cNvSpPr txBox="1"/>
          <p:nvPr/>
        </p:nvSpPr>
        <p:spPr>
          <a:xfrm>
            <a:off x="1417320" y="397764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The specific remedy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Refund, replacement, repair — sellers grant specifics and stall vague unhappiness.</a:t>
            </a:r>
          </a:p>
        </p:txBody>
      </p:sp>
      <p:sp>
        <p:nvSpPr>
          <p:cNvPr id="11" name="Oval 10" descr="Deadline + confidence icon"/>
          <p:cNvSpPr/>
          <p:nvPr/>
        </p:nvSpPr>
        <p:spPr>
          <a:xfrm>
            <a:off x="640080" y="522122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12" name="TextBox 11" descr="Deadline + confidence"/>
          <p:cNvSpPr txBox="1"/>
          <p:nvPr/>
        </p:nvSpPr>
        <p:spPr>
          <a:xfrm>
            <a:off x="1417320" y="5166360"/>
            <a:ext cx="1024128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Deadline + confidence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“I'm sure you'll want to make this right” recruits; sarcasm entrenches.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ranting a claim: the adjustmen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Granting a claim: the adjustment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Chevron 4" descr="Step 1: GRANT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GRANT</a:t>
            </a:r>
          </a:p>
        </p:txBody>
      </p:sp>
      <p:sp>
        <p:nvSpPr>
          <p:cNvPr id="6" name="TextBox 5" descr="GRANT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Sentence one: “A replacement ships today, free.” Delay = manufactured dread.</a:t>
            </a:r>
          </a:p>
        </p:txBody>
      </p:sp>
      <p:sp>
        <p:nvSpPr>
          <p:cNvPr id="7" name="Chevron 6" descr="Step 2: EXPLAIN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EXPLAIN</a:t>
            </a:r>
          </a:p>
        </p:txBody>
      </p:sp>
      <p:sp>
        <p:nvSpPr>
          <p:cNvPr id="8" name="TextBox 7" descr="EXPLAIN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happened, one clause, no blame opera.</a:t>
            </a:r>
          </a:p>
        </p:txBody>
      </p:sp>
      <p:sp>
        <p:nvSpPr>
          <p:cNvPr id="9" name="Chevron 8" descr="Step 3: PREVENT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PREVENT</a:t>
            </a:r>
          </a:p>
        </p:txBody>
      </p:sp>
      <p:sp>
        <p:nvSpPr>
          <p:cNvPr id="10" name="TextBox 9" descr="PREVENT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“We've switched your account to reinforced packaging” — THE confidence sentence.</a:t>
            </a:r>
          </a:p>
        </p:txBody>
      </p:sp>
      <p:sp>
        <p:nvSpPr>
          <p:cNvPr id="11" name="Chevron 10" descr="Step 4: RESTORE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RESTORE</a:t>
            </a:r>
          </a:p>
        </p:txBody>
      </p:sp>
      <p:sp>
        <p:nvSpPr>
          <p:cNvPr id="12" name="TextBox 11" descr="RESTORE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Forward-looking close. No groveling — spotlight on the fix, not the failure.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Reciprocity economics: a customer rescued gracefully often becomes more loyal than one never disappointed (Cialdini, 2021).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$60 intercep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$60 intercept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Cracked $1,900 instrument; textbook claim filed.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New hire's draft: “While our packaging meets industry standards… we are willing on this occasion to…”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sales director's rewrite: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same-day replacement + loaner + upgraded packaging + thanks for the photos. Cost: ~$60 freight.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Eighteen months later: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lab standardized on the supplier for three courses — citing “how they handle problems.”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defensive grant spends the money AND forfeits the credit. If you're saying yes, say it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oodwill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Goodwill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highest-return mail you will ever send.</a:t>
            </a:r>
          </a:p>
        </p:txBody>
      </p:sp>
      <p:sp>
        <p:nvSpPr>
          <p:cNvPr id="5" name="TextBox 4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6" name="TextBox 5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ve-S te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five-S test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Oval 4" descr="Specific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6" name="TextBox 5" descr="Specific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Specific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“Your triage of Saturday's outage saved the launch” — the named act proves you noticed.</a:t>
            </a:r>
          </a:p>
        </p:txBody>
      </p:sp>
      <p:sp>
        <p:nvSpPr>
          <p:cNvPr id="7" name="Oval 6" descr="Sincere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8" name="TextBox 7" descr="Sincere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Sincere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No agenda in the envelope. A thank-you that pivots to a favor was an invoice.</a:t>
            </a:r>
          </a:p>
        </p:txBody>
      </p:sp>
      <p:sp>
        <p:nvSpPr>
          <p:cNvPr id="9" name="Oval 8" descr="Short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0" name="TextBox 9" descr="Short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Short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Three sentences beat three paragraphs.</a:t>
            </a:r>
          </a:p>
        </p:txBody>
      </p:sp>
      <p:sp>
        <p:nvSpPr>
          <p:cNvPr id="11" name="Oval 10" descr="Spontaneous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2" name="TextBox 11" descr="Spontaneous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Spontaneous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Sent promptly — not at review season.</a:t>
            </a:r>
          </a:p>
        </p:txBody>
      </p:sp>
      <p:sp>
        <p:nvSpPr>
          <p:cNvPr id="13" name="Oval 12" descr="Selfless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 descr="Selfless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Selfless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About them. “No reply needed.”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hard one: sympath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hard one: sympathy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Send it.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Silence from colleagues wounds more than clumsy words ever could.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it brief, warm, unhurried: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“No reply needed” is part of the gift.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Ink for milestones: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 a digital century, handwriting is the costly signal.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And never AI-drafted (Chapter 15):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entire content of the message is that a human paused.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Goodwill capital compound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Goodwill capital compounds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5 min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A specific thank-you costs five minutes and deposits for years: credit given publicly, favors before asks, references you never requested.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research: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habitual givers — generous WITH boundaries — end up overrepresented at the top of success distributions (Grant, 2013).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mechanism: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reciprocity, among the most robust findings in influence science (Cialdini, 2021).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move: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send one five-S note this week. Actually send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struction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Instructions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Messages people follow with their hands.</a:t>
            </a:r>
          </a:p>
        </p:txBody>
      </p:sp>
      <p:sp>
        <p:nvSpPr>
          <p:cNvPr id="5" name="TextBox 4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structions that don't generate ticke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Instructions that don't generate tickets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Oval 4" descr="One step, one action, one line icon"/>
          <p:cNvSpPr/>
          <p:nvPr/>
        </p:nvSpPr>
        <p:spPr>
          <a:xfrm>
            <a:off x="640080" y="165506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6" name="TextBox 5" descr="One step, one action, one line"/>
          <p:cNvSpPr txBox="1"/>
          <p:nvPr/>
        </p:nvSpPr>
        <p:spPr>
          <a:xfrm>
            <a:off x="141732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One step, one action, one line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Numbered, imperative verbs first: “Click… Enter… Save…”</a:t>
            </a:r>
          </a:p>
        </p:txBody>
      </p:sp>
      <p:sp>
        <p:nvSpPr>
          <p:cNvPr id="7" name="Oval 6" descr="Preconditions before step 1 icon"/>
          <p:cNvSpPr/>
          <p:nvPr/>
        </p:nvSpPr>
        <p:spPr>
          <a:xfrm>
            <a:off x="640080" y="267919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⚑</a:t>
            </a:r>
          </a:p>
        </p:txBody>
      </p:sp>
      <p:sp>
        <p:nvSpPr>
          <p:cNvPr id="8" name="TextBox 7" descr="Preconditions before step 1"/>
          <p:cNvSpPr txBox="1"/>
          <p:nvPr/>
        </p:nvSpPr>
        <p:spPr>
          <a:xfrm>
            <a:off x="1417320" y="262432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Preconditions before step 1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VPN password needed at step 6 is a landmine if discovered at step 6.</a:t>
            </a:r>
          </a:p>
        </p:txBody>
      </p:sp>
      <p:sp>
        <p:nvSpPr>
          <p:cNvPr id="9" name="Oval 8" descr="Checkpoints after key steps icon"/>
          <p:cNvSpPr/>
          <p:nvPr/>
        </p:nvSpPr>
        <p:spPr>
          <a:xfrm>
            <a:off x="640080" y="370332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Checkpoints after key steps"/>
          <p:cNvSpPr txBox="1"/>
          <p:nvPr/>
        </p:nvSpPr>
        <p:spPr>
          <a:xfrm>
            <a:off x="1417320" y="364845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Checkpoints after key steps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“You'll see a green banner” — readers know they're still on the path.</a:t>
            </a:r>
          </a:p>
        </p:txBody>
      </p:sp>
      <p:sp>
        <p:nvSpPr>
          <p:cNvPr id="11" name="Oval 10" descr="Warnings BEFORE the step they protect icon"/>
          <p:cNvSpPr/>
          <p:nvPr/>
        </p:nvSpPr>
        <p:spPr>
          <a:xfrm>
            <a:off x="640080" y="472744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12" name="TextBox 11" descr="Warnings BEFORE the step they protect"/>
          <p:cNvSpPr txBox="1"/>
          <p:nvPr/>
        </p:nvSpPr>
        <p:spPr>
          <a:xfrm>
            <a:off x="1417320" y="467258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Warnings BEFORE the step they protect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 caution after the damage line is an autopsy.</a:t>
            </a:r>
          </a:p>
        </p:txBody>
      </p:sp>
      <p:sp>
        <p:nvSpPr>
          <p:cNvPr id="13" name="Oval 12" descr="Test on ONE novice icon"/>
          <p:cNvSpPr/>
          <p:nvPr/>
        </p:nvSpPr>
        <p:spPr>
          <a:xfrm>
            <a:off x="640080" y="575157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🧪</a:t>
            </a:r>
          </a:p>
        </p:txBody>
      </p:sp>
      <p:sp>
        <p:nvSpPr>
          <p:cNvPr id="14" name="TextBox 13" descr="Test on ONE novice"/>
          <p:cNvSpPr txBox="1"/>
          <p:nvPr/>
        </p:nvSpPr>
        <p:spPr>
          <a:xfrm>
            <a:off x="1417320" y="569671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Test on ONE novice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Their first confusion is your revision list — forty tickets cheaper.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he announcement that stranded three VI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the announcement that stranded three VIPs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68-word sentence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containing five actions, two branches (vehicle, international), and a buried warning.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Result: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forty help-desk tickets and a follow-up beginning “To clarify our previous communication…”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subject “Registering visitors — new required steps (2 min)”; numbered standard path; branches as labeled variants; warnings BEFORE their steps.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prevention: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staff member outside Facilities, walking it cold, would have found every landmine in five minutes.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 five-minute templat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 five-minute templates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Rounded Rectangle 4" descr="The complete request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complete request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“Could you send the Q2 vendor report by Thursday noon?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I'm compiling the renewal recommendation (due Friday); yours is the last dataset.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Needed: summary tab as PDF + raw sheet, same format as Q1.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Thursday noon keeps us on schedule — thank you!”</a:t>
            </a:r>
          </a:p>
        </p:txBody>
      </p:sp>
      <p:sp>
        <p:nvSpPr>
          <p:cNvPr id="6" name="Rounded Rectangle 5" descr="The goodwill note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goodwill note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“Dana — your catch on the calibration drift saved us a failed audit finding;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 assessor specifically noted the logs were clean.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I've told Dr. Reyes the same. Thank you.”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Count the S's: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specific, sincere, short, spontaneous, selfless.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Ask first, in question form; detail to the complete-ask standard; close with a dated reason.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Answer in the first word; anticipate the next question; end the thread.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Claims: record, facts, specific remedy, deadline — confidence recruits an advocate.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Adjustments: grant first, explain without opera, include the prevention sentence.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Goodwill passes five-S; ink for milestones; never AI — the pause is the message.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Instructions: numbered, imperative, preconditions first, warnings before their steps, tested on a novice.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6 → Practice, then the graded homework before the weekly deadline.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“Nobody remembers who answered routine mail adequately. Everybody remembers who made things easy — and who said thank you.”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Bring a request that failed the complete-ask test. What did the round trips cost?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When did a company's complaint handling change your loyalty — either direction? Map it against the adjustment flow.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Everyone agrees goodwill notes matter; almost nobody sends them. Name the frictions — and the one you'll remove.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Autopsy instructions that generate repeated questions where you work or study. Which element is missing?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Should front-line staff grant borderline claims without approval? Argue the reciprocity math.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6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6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6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introductory letter (this unit's assignment) — Figure 1's request pattern in letter dress.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Send: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real five-S goodwill note this week. Note what comes back.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7 — negative messages: when the answer is no and the reader's day is about to get worse.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