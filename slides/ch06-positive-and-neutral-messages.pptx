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6: the messages you'll send most and think about least — which is why they're diagnostic.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6 bank and the introductory-letter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failure modes: the buried ask and the incomplete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Answer-first is Chapter 3's directness applied to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 reading your claim didn't break your product — make it easy for them to become your advocate.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news = direct pattern.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Well-recovered failures beat uninterrupted service — the recovery proves the relationship.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Thanks, congratulations, sympathy — the messages nobody requires and everybody remembers.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category where the medium and effort ARE the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16's deposits-before-withdrawals, at everyday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Judged by a brutal metric: the support questions generated.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Paragraph-prose instructions are where clarity goes to 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from the study guide's worked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letters. Rare enough now that using one is itself a message — which is exactly why the format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letter didn't die; it specialized. Students will write fewer letters than emails — but the letters will matter more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walk-through — block format only, since it's the modern standard. The salutation-name verification callback to Chapter 4 is deliberate.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setup for the assignment. The three-paragraph skeleton is the request flow from Section 1 dressed in letter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three routine positive genres students will send weekly for the rest of their careers.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Announcements are downward communication (Chapter 1) at its most routine — and the genre where corporate throat-clearing is most epidemic.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confirmation is the cheapest litigation insurance ever invented, and it doubles as courtesy. The explicit correction window is the professional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Welcomes are goodwill messages with an operations payload. The named-human rule echoes the OOO slide in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Recommendations sit at the boundary of goodwill and risk: generous by nature, but written on the recommender's credit. The tepid-letter point matters — damning with faint praise is a real signal recipients decode.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routing rules of goodwill: direction and visibility multiply the same five minutes of writing. Ties to Grant's giver research from the stat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argues the habit: confirm while it's friendly, because you can't confirm after it isn't. Links Chapter 5's permanence section to a positive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ositive and Neutral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Positive and Neutral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Requests · replies · claims · adjustments · goodwill — the everyday mail that builds your reputation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6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requests that pass the complete-ask test — grantable without a clarifying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answer-first, anticipate the next question, and end the thread.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claims that recruit an advocate: record, facts, specific remedy, deadline, calm.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claims the way that keeps customers: fix first, prevention sentence included.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goodwill that passes the five-S test — the highest-return mail there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quests &amp; repl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Requests &amp; replies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Ask so people can say yes. Answer so threads end.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rect requ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direct request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ASK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ASK</a:t>
            </a:r>
          </a:p>
        </p:txBody>
      </p:sp>
      <p:sp>
        <p:nvSpPr>
          <p:cNvPr id="6" name="TextBox 5" descr="ASK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First, in question form — questions politely demand answers.</a:t>
            </a:r>
          </a:p>
        </p:txBody>
      </p:sp>
      <p:sp>
        <p:nvSpPr>
          <p:cNvPr id="7" name="Chevron 6" descr="Step 2: EXPLAI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8" name="TextBox 7" descr="EXPLAI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Why, and why THEM: “you ran last year's audit.”</a:t>
            </a:r>
          </a:p>
        </p:txBody>
      </p:sp>
      <p:sp>
        <p:nvSpPr>
          <p:cNvPr id="9" name="Chevron 8" descr="Step 3: DETAIL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0" name="TextBox 9" descr="DETAIL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Format, scope, access — a list they can work down.</a:t>
            </a:r>
          </a:p>
        </p:txBody>
      </p:sp>
      <p:sp>
        <p:nvSpPr>
          <p:cNvPr id="11" name="Chevron 10" descr="Step 4: CLOS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CLOSE</a:t>
            </a:r>
          </a:p>
        </p:txBody>
      </p:sp>
      <p:sp>
        <p:nvSpPr>
          <p:cNvPr id="12" name="TextBox 11" descr="CLOS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Deadline + its reason + goodwill.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complete-ask test: can the reader comply without asking you anything? A request that ends threads is a professional artifact.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ply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reply skeleton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ANSWER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sp>
        <p:nvSpPr>
          <p:cNvPr id="6" name="TextBox 5" descr="ANSWER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“Yes — the room is yours, 2–4 Friday.” First word, not paragraph three.</a:t>
            </a:r>
          </a:p>
        </p:txBody>
      </p:sp>
      <p:sp>
        <p:nvSpPr>
          <p:cNvPr id="7" name="Chevron 6" descr="Step 2: DETAIL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DETAILS</a:t>
            </a:r>
          </a:p>
        </p:txBody>
      </p:sp>
      <p:sp>
        <p:nvSpPr>
          <p:cNvPr id="8" name="TextBox 7" descr="DETAIL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Everything they'd ask next: access, codes, capacity.</a:t>
            </a:r>
          </a:p>
        </p:txBody>
      </p:sp>
      <p:sp>
        <p:nvSpPr>
          <p:cNvPr id="9" name="Chevron 8" descr="Step 3: EXTRA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EXTRAS</a:t>
            </a:r>
          </a:p>
        </p:txBody>
      </p:sp>
      <p:sp>
        <p:nvSpPr>
          <p:cNvPr id="10" name="TextBox 9" descr="EXTRA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they didn't ask but need: parking validation exists.</a:t>
            </a:r>
          </a:p>
        </p:txBody>
      </p:sp>
      <p:sp>
        <p:nvSpPr>
          <p:cNvPr id="11" name="Chevron 10" descr="Step 4: FORWARD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FORWARD</a:t>
            </a:r>
          </a:p>
        </p:txBody>
      </p:sp>
      <p:sp>
        <p:nvSpPr>
          <p:cNvPr id="12" name="TextBox 11" descr="FORWARD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“Anything else before Friday, just ask.”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bar: your reply should END the thread, not extend it. Partial no? Lead with the yes you can give.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ims &amp; adjustme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Claims &amp; adjustments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Complaining like a professional — and granting like one.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im anatomy: a request wearing a griev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Claim anatomy: a request wearing a grievance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Oval 4" descr="The record fir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№</a:t>
            </a:r>
          </a:p>
        </p:txBody>
      </p:sp>
      <p:sp>
        <p:nvSpPr>
          <p:cNvPr id="6" name="TextBox 5" descr="The record firs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record first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Order number, dates, product — findable in their system from sentence one.</a:t>
            </a:r>
          </a:p>
        </p:txBody>
      </p:sp>
      <p:sp>
        <p:nvSpPr>
          <p:cNvPr id="7" name="Oval 6" descr="Facts, calmly, with evidence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📷</a:t>
            </a:r>
          </a:p>
        </p:txBody>
      </p:sp>
      <p:sp>
        <p:nvSpPr>
          <p:cNvPr id="8" name="TextBox 7" descr="Facts, calmly, with evidence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Facts, calmly, with evidence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Attach the photos. Skip the adjectives.</a:t>
            </a:r>
          </a:p>
        </p:txBody>
      </p:sp>
      <p:sp>
        <p:nvSpPr>
          <p:cNvPr id="9" name="Oval 8" descr="The specific remedy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0" name="TextBox 9" descr="The specific remedy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specific remedy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Refund, replacement, repair — sellers grant specifics and stall vague unhappiness.</a:t>
            </a:r>
          </a:p>
        </p:txBody>
      </p:sp>
      <p:sp>
        <p:nvSpPr>
          <p:cNvPr id="11" name="Oval 10" descr="Deadline + confidence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📅</a:t>
            </a:r>
          </a:p>
        </p:txBody>
      </p:sp>
      <p:sp>
        <p:nvSpPr>
          <p:cNvPr id="12" name="TextBox 11" descr="Deadline + confidence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Deadline + confidence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“I'm sure you'll want to make this right” recruits; sarcasm entrenches.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ranting a claim: the adjust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Granting a claim: the adjustment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Chevron 4" descr="Step 1: GRANT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GRANT</a:t>
            </a:r>
          </a:p>
        </p:txBody>
      </p:sp>
      <p:sp>
        <p:nvSpPr>
          <p:cNvPr id="6" name="TextBox 5" descr="GRANT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Sentence one: “A replacement ships today, free.” Delay = manufactured dread.</a:t>
            </a:r>
          </a:p>
        </p:txBody>
      </p:sp>
      <p:sp>
        <p:nvSpPr>
          <p:cNvPr id="7" name="Chevron 6" descr="Step 2: EXPLAI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8" name="TextBox 7" descr="EXPLAI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happened, one clause, no blame opera.</a:t>
            </a:r>
          </a:p>
        </p:txBody>
      </p:sp>
      <p:sp>
        <p:nvSpPr>
          <p:cNvPr id="9" name="Chevron 8" descr="Step 3: PREVEN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PREVENT</a:t>
            </a:r>
          </a:p>
        </p:txBody>
      </p:sp>
      <p:sp>
        <p:nvSpPr>
          <p:cNvPr id="10" name="TextBox 9" descr="PREVEN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“We've switched your account to reinforced packaging” — THE confidence sentence.</a:t>
            </a:r>
          </a:p>
        </p:txBody>
      </p:sp>
      <p:sp>
        <p:nvSpPr>
          <p:cNvPr id="11" name="Chevron 10" descr="Step 4: RESTOR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RESTORE</a:t>
            </a:r>
          </a:p>
        </p:txBody>
      </p:sp>
      <p:sp>
        <p:nvSpPr>
          <p:cNvPr id="12" name="TextBox 11" descr="RESTOR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Forward-looking close. No groveling — spotlight on the fix, not the failure.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Reciprocity economics: a customer rescued gracefully often becomes more loyal than one never disappointed (Cialdini, 2021).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$60 intercep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$60 intercept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Cracked $1,900 instrument; textbook claim filed.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 hire's draft: “While our packaging meets industry standards… we are willing on this occasion to…”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sales director's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same-day replacement + loaner + upgraded packaging + thanks for the photos. Cost: ~$60 freight.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Eighteen months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lab standardized on the supplier for three courses — citing “how they handle problems.”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defensive grant spends the money AND forfeits the credit. If you're saying yes, say it first.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wil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Goodwill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highest-return mail you will ever send.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ve-S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five-S test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Oval 4" descr="Specific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6" name="TextBox 5" descr="Specific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Specific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“Your triage of Saturday's outage saved the launch” — the named act proves you noticed.</a:t>
            </a:r>
          </a:p>
        </p:txBody>
      </p:sp>
      <p:sp>
        <p:nvSpPr>
          <p:cNvPr id="7" name="Oval 6" descr="Sincer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8" name="TextBox 7" descr="Sincer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Sincere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 agenda in the envelope. A thank-you that pivots to a favor was an invoice.</a:t>
            </a:r>
          </a:p>
        </p:txBody>
      </p:sp>
      <p:sp>
        <p:nvSpPr>
          <p:cNvPr id="9" name="Oval 8" descr="Short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0" name="TextBox 9" descr="Short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Short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sentences beat three paragraphs.</a:t>
            </a:r>
          </a:p>
        </p:txBody>
      </p:sp>
      <p:sp>
        <p:nvSpPr>
          <p:cNvPr id="11" name="Oval 10" descr="Spontaneou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2" name="TextBox 11" descr="Spontaneou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Spontaneous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Sent promptly — not at review season.</a:t>
            </a:r>
          </a:p>
        </p:txBody>
      </p:sp>
      <p:sp>
        <p:nvSpPr>
          <p:cNvPr id="13" name="Oval 12" descr="Selfles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 descr="Selfles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Selfless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About them. “No reply needed.”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ard one: sympath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hard one: sympathy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Silence from colleagues wounds more than clumsy words ever could.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it brief, warm, unhurried: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“No reply needed” is part of the gift.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Ink for milestones: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digital century, handwriting is the costly signal.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never AI-drafted (Chapter 15):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entire content of the message is that a human paused.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will capital compou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Goodwill capital compounds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5 min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 specific thank-you costs five minutes and deposits for years: credit given publicly, favors before asks, references you never requested.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research: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habitual givers — generous WITH boundaries — end up overrepresented at the top of success distributions (Grant, 2013).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mechanism: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reciprocity, among the most robust findings in influence science (Cialdini, 2021).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move: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send one five-S note this week. Actually send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struction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Instructions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Messages people follow with their hands.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structions that don't generate tick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Instructions that don't generate tickets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Oval 4" descr="One step, one action, one lin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6" name="TextBox 5" descr="One step, one action, one line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step, one action, one 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Numbered, imperative verbs first: “Click… Enter… Save…”</a:t>
            </a:r>
          </a:p>
        </p:txBody>
      </p:sp>
      <p:sp>
        <p:nvSpPr>
          <p:cNvPr id="7" name="Oval 6" descr="Preconditions before step 1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⚑</a:t>
            </a:r>
          </a:p>
        </p:txBody>
      </p:sp>
      <p:sp>
        <p:nvSpPr>
          <p:cNvPr id="8" name="TextBox 7" descr="Preconditions before step 1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Preconditions before step 1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VPN password needed at step 6 is a landmine if discovered at step 6.</a:t>
            </a:r>
          </a:p>
        </p:txBody>
      </p:sp>
      <p:sp>
        <p:nvSpPr>
          <p:cNvPr id="9" name="Oval 8" descr="Checkpoints after key steps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Checkpoints after key steps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Checkpoints after key steps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“You'll see a green banner” — readers know they're still on the path.</a:t>
            </a:r>
          </a:p>
        </p:txBody>
      </p:sp>
      <p:sp>
        <p:nvSpPr>
          <p:cNvPr id="11" name="Oval 10" descr="Warnings BEFORE the step they protect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12" name="TextBox 11" descr="Warnings BEFORE the step they protect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Warnings BEFORE the step they protect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caution after the damage line is an autopsy.</a:t>
            </a:r>
          </a:p>
        </p:txBody>
      </p:sp>
      <p:sp>
        <p:nvSpPr>
          <p:cNvPr id="13" name="Oval 12" descr="Test on ONE novic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14" name="TextBox 13" descr="Test on ONE novic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Test on ONE novice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 first confusion is your revision list — forty tickets cheaper.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announcement that stranded three VI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announcement that stranded three VIPs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68-word sentence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containing five actions, two branches (vehicle, international), and a buried warning.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Result: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forty help-desk tickets and a follow-up beginning “To clarify our previous communication…”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subject “Registering visitors — new required steps (2 min)”; numbered standard path; branches as labeled variants; warnings BEFORE their steps.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prevention: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staff member outside Facilities, walking it cold, would have found every landmine in five minutes.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five-minute templa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five-minute templates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The complete request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complete request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“Could you send the Q2 vendor report by Thursday noon?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I'm compiling the renewal recommendation (due Friday); yours is the last dataset.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Needed: summary tab as PDF + raw sheet, same format as Q1.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Thursday noon keeps us on schedule — thank you!”</a:t>
            </a:r>
          </a:p>
        </p:txBody>
      </p:sp>
      <p:sp>
        <p:nvSpPr>
          <p:cNvPr id="6" name="Rounded Rectangle 5" descr="The goodwill not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goodwill note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“Dana — your catch on the calibration drift saved us a failed audit finding;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assessor specifically noted the logs were clean.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I've told Dr. Reyes the same. Thank you.”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Count the S's: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specific, sincere, short, spontaneous, selfless.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usiness lett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business letter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formal channel that signals: this one counts.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a letter is the right channe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a letter is the right channel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Crossing the organizational boundary.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Customers, officials, other firms — the letter is the org-to-org and person-to-org register.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Ceremony is part of the content.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Offers, awards, formal thanks, resignations — the formality honors the moment.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Legal and contractual weight.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Notices, agreements, and anything a lawyer may one day wave — letters are built to be exhibits.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scarcity works for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an inbox century, letterhead is the costly signal: someone composed, printed, and signed this.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tter anatomy, top to bott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Letter anatomy, top to bottom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Letterhead + dat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🏛</a:t>
            </a:r>
          </a:p>
        </p:txBody>
      </p:sp>
      <p:sp>
        <p:nvSpPr>
          <p:cNvPr id="6" name="TextBox 5" descr="Letterhead + date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Letterhead + date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Who's writing and when — the date matters legally; write it unambiguously (July 15, 2026).</a:t>
            </a:r>
          </a:p>
        </p:txBody>
      </p:sp>
      <p:sp>
        <p:nvSpPr>
          <p:cNvPr id="7" name="Oval 6" descr="Inside address + saluta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📍</a:t>
            </a:r>
          </a:p>
        </p:txBody>
      </p:sp>
      <p:sp>
        <p:nvSpPr>
          <p:cNvPr id="8" name="TextBox 7" descr="Inside address + saluta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Inside address + salutation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recipient's name, title, organization, address — then 'Dear Ms. Okafor:' with the name verified (Chapter 4).</a:t>
            </a:r>
          </a:p>
        </p:txBody>
      </p:sp>
      <p:sp>
        <p:nvSpPr>
          <p:cNvPr id="9" name="Oval 8" descr="Body in block format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¶</a:t>
            </a:r>
          </a:p>
        </p:txBody>
      </p:sp>
      <p:sp>
        <p:nvSpPr>
          <p:cNvPr id="10" name="TextBox 9" descr="Body in block format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Body in block format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Everything flush left, blank line between paragraphs — the modern default. Direct pattern applies: point in paragraph one.</a:t>
            </a:r>
          </a:p>
        </p:txBody>
      </p:sp>
      <p:sp>
        <p:nvSpPr>
          <p:cNvPr id="11" name="Oval 10" descr="Complimentary close + signature block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✒</a:t>
            </a:r>
          </a:p>
        </p:txBody>
      </p:sp>
      <p:sp>
        <p:nvSpPr>
          <p:cNvPr id="12" name="TextBox 11" descr="Complimentary close + signature block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Complimentary close + signature block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'Sincerely,' then four blank lines for ink, then typed name and title.</a:t>
            </a:r>
          </a:p>
        </p:txBody>
      </p:sp>
      <p:sp>
        <p:nvSpPr>
          <p:cNvPr id="13" name="Oval 12" descr="Notation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📎</a:t>
            </a:r>
          </a:p>
        </p:txBody>
      </p:sp>
      <p:sp>
        <p:nvSpPr>
          <p:cNvPr id="14" name="TextBox 13" descr="Notation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Notations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'Enclosure' and 'cc:' lines at the bottom — the letter's version of the attachment paperclip.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troductory letter — this unit's assign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introductory letter — this unit's assignment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one: who you are and why you're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Both, in two sentences — the reader shouldn't finish the paragraph still wondering.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two: the substance.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you offer or ask, with the specifics that make a response possible (the complete-ask standard again).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three: the forward close.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concrete next step — who contacts whom, how, by when.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register check: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warmer than a memo, tighter than a chat — professional, but a human being wrote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nouncements, confirmations, welcom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Announcements, confirmations, welcomes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quiet genres that keep organizations running on rails.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-news and neutral announcemen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Good-news and neutral announcements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news, not the process.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office closes at noon on July 3' — never 'As part of our ongoing commitment to work-life balance…'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the reader's three questions in order: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What's changing? Am I affected, and how? What do I do, by when?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channel for questions, named.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'Questions: reply to Dana, not all' — or the announcement becomes forty separate conversations.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Time it for the affected, not the announcer.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News that changes Monday's work goes out Thursday, not Monday at 8:59.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firmations: the thread-end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Confirmations: the thread-enders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Restate the terms, don't reference them.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'Confirming: 500 units at $12.40, delivered June 30 to the Fargo warehouse' — the numbers live IN the confirmation.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 while memory is fresh.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day as the call or meeting; a confirmation of last week's conversation confirms nobody's memory.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Invite correction explicitly.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'If any detail doesn't match your notes, tell me by Friday' — silence then becomes agreement, fairly.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This is the record being born.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5's graduation rule: spoken agreements become written ones, or they become disputes.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elcome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welcome message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 a new colleague or client, day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warmth plus logistics — what happens next, where things live, who their humans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a person, not a department.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first stop is Maya (maya@…), who runs onboarding' beats 'contact HR with any questions.'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first step, not twelve.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welcome that lists everything due in month one reads as a warning. Give the next action and the map's location.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sets the relationship's tone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first message anyone receives from you or your team is the one they'll remember as 'what this place is like.'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commendations and referr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Recommendations and referrals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Vouch only for what you observed.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'She ran our audit for two years; the findings were clean twice' — specifics are the currency, adjectives are filler.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genre runs on YOUR credibility.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inflated recommendation you sign devalues the next one — recommenders get reputations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Can't recommend honestly? Decline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don't think I'm the right reference for this role' is kinder than a visibly tepid letter — and everyone can read tepid.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referrals a warm handoff: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introduce both parties, state why the match makes sense, then step out and let them work.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aise travels up, credit travels dow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Praise travels up, credit travels down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Praise in public, correct in private.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goodwill note's public cousin: recognition in the channel, the meeting, the newsletter.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CC the manager — as a gift.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'CCing Dr. Reyes so she knows what your triage saved us' turns a thank-you into a career artifact.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Pass credit downward relentlessly.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analysis is Maya's' costs nothing and is remembered forever — hoarded credit is remembered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Written praise is permanent praise.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five-S note that reaches a personnel file outlives every hallway compliment.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confirmation that settled the disput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confirmation that settled the dispute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phone agreement on custom terms: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extended payment window in exchange for a larger order — nothing signed, deal moving fast.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account manager sent a five-line confirmation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afternoon: quantities, prices, the nonstandard window, and 'flag anything that doesn't match by Thursday.'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 months later, new management disputed the terms.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email — dated, acknowledged, uncorrected — ended the argument in one meeting.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confirmations feel like busywork on the day you send them. They are the only version of events that survives personnel changes.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Ask first, in question form; detail to the complete-ask standard; close with a dated reason.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Answer in the first word; anticipate the next question; end the thread.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Claims: record, facts, specific remedy, deadline — confidence recruits an advocate.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Adjustments: grant first, explain without opera, include the prevention sentence.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Goodwill passes five-S; ink for milestones; never AI — the pause is the message.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Instructions: numbered, imperative, preconditions first, warnings before their steps, tested on a novice.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6 → Practice, then the graded homework before the weekly deadline.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“Nobody remembers who answered routine mail adequately. Everybody remembers who made things easy — and who said thank you.”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Bring a request that failed the complete-ask test. What did the round trips cost?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When did a company's complaint handling change your loyalty — either direction? Map it against the adjustment flow.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Everyone agrees goodwill notes matter; almost nobody sends them. Name the frictions — and the one you'll remove.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Autopsy instructions that generate repeated questions where you work or study. Which element is missing?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Should front-line staff grant borderline claims without approval? Argue the reciprocity math.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6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6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introductory letter (this unit's assignment) — Figure 1's request pattern in letter dress.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real five-S goodwill note this week. Note what comes back.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7 — negative messages: when the answer is no and the reader's day is about to get worse.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