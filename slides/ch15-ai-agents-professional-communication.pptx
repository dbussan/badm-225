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15: Unit 6 opens. AI as a professional communication tool — capabilities, failure modes, ethics, and career implications. Original material; no vendor content.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map to the Chapter 15 practice bank.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Floor-vs-ceiling is the chapter's organizing metaphor, introduced in Chapter 1 and developed fully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a working mental model, plain-language and vendor-neutral.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plain mechanical model inoculates against both hype and dismissal. Everything later in the deck derives from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two-column capability map students should carry. Both columns follow from the prediction-engine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junior-colleague frame gives students a familiar social script for a new tool relationship — and it calibrates both trust and verification correctly.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hands-on drafting craft.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Prompting is audience analysis pointed backward — students who plan messages well (Chapter 2) prompt well automatically. That's not a coincidence; it's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critique loop is the professional pattern: it extracts the tool's strengths while keeping authorship — and it's how strong writers actually use these tools.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 preservation is a craft skill AND a trust signal. The house-style tells are teachable and students spot them immediately once named.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never-delegate list, with the unifying principle. This slide closes the loop with Chapters 6 and 7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the hard rules.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as a four-step mechanical process, not a vibe. The 'confident specifics' warning is the practical heuristic: the more precise an unverified AI claim, the more suspicious.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fabricated citation deserves its own slide because it's the failure most likely to end an academic career this semester.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paste-as-publication frame makes the rule intuitive. The enterprise-vs-free distinction is the practical workplace knowledge.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ethics and disclosure, school and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stakes-based default plus the publicity test covers the policy vacuum students will actually face. The one-line disclosure formula is immediately usable.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adjust the left column to your actual syllabus policy. As written it matches the common center of current academic norms.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AI agents — the delegation frontier.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instructor's own agent use is a legitimate, honest example — the course site itself demonstrates supervised agentic 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supervision rules that map to management fundamentals — because agent supervision IS management, minus the feelings.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is a composite of a failure pattern now common. 'The mandate you wrote, not the one you meant' — Chapter 3's precision stakes, updated.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as a team-communication topic, not just an individual tool — closing the loop with Chapter 11's ground rules.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what appreciates, what depreciates, and how to stay current.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appreciation portfolio. Note that every item is a chapter of this course — the curriculum IS the hedge, and that's by design.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Meta-skill: maintaining a personal, dated capability map. The quarterly re-test habit is concrete enough to actually happen.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closing case operationalizes floor-vs-ceiling as two career trajectories with identical tooling.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frame.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Async-ready. Question three (the mandate exchange) is the strongest live exercise.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Delivery-neutral closing.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4D33"/>
        </a:solidFill>
        <a:effectLst/>
      </p:bgPr>
    </p:bg>
    <p:spTree>
      <p:nvGrpSpPr>
        <p:cNvPr id="1" name=""/>
        <p:cNvGrpSpPr/>
        <p:nvPr/>
      </p:nvGrpSpPr>
      <p:grpSpPr/>
      <p:sp>
        <p:nvSpPr>
          <p:cNvPr id="2" name="Title 1" descr="Slide title: AI, Agents &amp; Professional Communication"/>
          <p:cNvSpPr>
            <a:spLocks noGrp="1"/>
          </p:cNvSpPr>
          <p:nvPr>
            <p:ph type="title"/>
          </p:nvPr>
        </p:nvSpPr>
        <p:spPr>
          <a:xfrm>
            <a:off x="822960" y="1920240"/>
            <a:ext cx="10515600" cy="1737360"/>
          </a:xfrm>
        </p:spPr>
        <p:txBody>
          <a:bodyPr wrap="square"/>
          <a:lstStyle/>
          <a:p>
            <a:pPr algn="l"/>
            <a:r>
              <a:rPr sz="4800" b="1">
                <a:solidFill>
                  <a:srgbClr val="FFFFFF"/>
                </a:solidFill>
                <a:latin typeface="Cambria"/>
              </a:rPr>
              <a:t>AI, Agents &amp; Professional Communication</a:t>
            </a:r>
          </a:p>
        </p:txBody>
      </p:sp>
      <p:sp>
        <p:nvSpPr>
          <p:cNvPr id="3" name="TextBox 2" descr="Course label"/>
          <p:cNvSpPr txBox="1"/>
          <p:nvPr/>
        </p:nvSpPr>
        <p:spPr>
          <a:xfrm>
            <a:off x="822960" y="1371600"/>
            <a:ext cx="10515600" cy="457200"/>
          </a:xfrm>
          <a:prstGeom prst="rect">
            <a:avLst/>
          </a:prstGeom>
          <a:noFill/>
        </p:spPr>
        <p:txBody>
          <a:bodyPr wrap="square">
            <a:spAutoFit/>
          </a:bodyPr>
          <a:lstStyle/>
          <a:p>
            <a:pPr algn="l">
              <a:spcAft>
                <a:spcPts val="800"/>
              </a:spcAft>
            </a:pPr>
            <a:r>
              <a:rPr sz="1500" b="0" i="0">
                <a:solidFill>
                  <a:srgbClr val="BFD8C6"/>
                </a:solidFill>
                <a:latin typeface="Calibri"/>
              </a:rPr>
              <a:t>BADM 225 · PROFESSIONAL COMMUNICATION FOR BUSINESS</a:t>
            </a:r>
          </a:p>
        </p:txBody>
      </p:sp>
      <p:sp>
        <p:nvSpPr>
          <p:cNvPr id="4" name="TextBox 3" descr="Subtitle"/>
          <p:cNvSpPr txBox="1"/>
          <p:nvPr/>
        </p:nvSpPr>
        <p:spPr>
          <a:xfrm>
            <a:off x="822960" y="3840480"/>
            <a:ext cx="10058400" cy="914400"/>
          </a:xfrm>
          <a:prstGeom prst="rect">
            <a:avLst/>
          </a:prstGeom>
          <a:noFill/>
        </p:spPr>
        <p:txBody>
          <a:bodyPr wrap="square">
            <a:spAutoFit/>
          </a:bodyPr>
          <a:lstStyle/>
          <a:p>
            <a:pPr algn="l">
              <a:spcAft>
                <a:spcPts val="800"/>
              </a:spcAft>
            </a:pPr>
            <a:r>
              <a:rPr sz="1900" b="0" i="0">
                <a:solidFill>
                  <a:srgbClr val="EAF1EB"/>
                </a:solidFill>
                <a:latin typeface="Calibri"/>
              </a:rPr>
              <a:t>The tools that draft · the judgment that ships · verification, disclosure, and the skills that appreciate</a:t>
            </a:r>
          </a:p>
        </p:txBody>
      </p:sp>
      <p:sp>
        <p:nvSpPr>
          <p:cNvPr id="5" name="TextBox 4" descr="Attribution"/>
          <p:cNvSpPr txBox="1"/>
          <p:nvPr/>
        </p:nvSpPr>
        <p:spPr>
          <a:xfrm>
            <a:off x="822960" y="5852160"/>
            <a:ext cx="10058400" cy="548640"/>
          </a:xfrm>
          <a:prstGeom prst="rect">
            <a:avLst/>
          </a:prstGeom>
          <a:noFill/>
        </p:spPr>
        <p:txBody>
          <a:bodyPr wrap="square">
            <a:spAutoFit/>
          </a:bodyPr>
          <a:lstStyle/>
          <a:p>
            <a:pPr algn="l">
              <a:spcAft>
                <a:spcPts val="800"/>
              </a:spcAft>
            </a:pPr>
            <a:r>
              <a:rPr sz="1200" b="0" i="0">
                <a:solidFill>
                  <a:srgbClr val="A8C4B2"/>
                </a:solidFill>
                <a:latin typeface="Calibri"/>
              </a:rPr>
              <a:t>BADM 225 · Chapter 15  ·  Original instructional material — no publisher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What you'll be able to do after this chapter"/>
          <p:cNvSpPr>
            <a:spLocks noGrp="1"/>
          </p:cNvSpPr>
          <p:nvPr>
            <p:ph type="title"/>
          </p:nvPr>
        </p:nvSpPr>
        <p:spPr>
          <a:xfrm>
            <a:off x="502920" y="411480"/>
            <a:ext cx="11155680" cy="914400"/>
          </a:xfrm>
        </p:spPr>
        <p:txBody>
          <a:bodyPr wrap="square"/>
          <a:lstStyle/>
          <a:p>
            <a:pPr algn="l"/>
            <a:r>
              <a:rPr sz="3200" b="1">
                <a:solidFill>
                  <a:srgbClr val="0E4D33"/>
                </a:solidFill>
                <a:latin typeface="Cambria"/>
              </a:rPr>
              <a:t>What you'll be able to do after this chapter</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Explain  </a:t>
            </a:r>
            <a:r>
              <a:rPr sz="1700" b="0" i="0">
                <a:solidFill>
                  <a:srgbClr val="212A26"/>
                </a:solidFill>
                <a:latin typeface="Calibri"/>
              </a:rPr>
              <a:t>what large language models actually do — and predict their failure modes from it.</a:t>
            </a:r>
          </a:p>
          <a:p>
            <a:pPr algn="l">
              <a:spcAft>
                <a:spcPts val="1200"/>
              </a:spcAft>
            </a:pPr>
            <a:r>
              <a:rPr sz="1700">
                <a:solidFill>
                  <a:srgbClr val="8A6410"/>
                </a:solidFill>
                <a:latin typeface="Calibri"/>
              </a:rPr>
              <a:t>▪  </a:t>
            </a:r>
            <a:r>
              <a:rPr sz="1700" b="1">
                <a:solidFill>
                  <a:srgbClr val="0E4D33"/>
                </a:solidFill>
                <a:latin typeface="Calibri"/>
              </a:rPr>
              <a:t>Draft  </a:t>
            </a:r>
            <a:r>
              <a:rPr sz="1700" b="0" i="0">
                <a:solidFill>
                  <a:srgbClr val="212A26"/>
                </a:solidFill>
                <a:latin typeface="Calibri"/>
              </a:rPr>
              <a:t>with AI as a junior collaborator: real briefs, critique loops, your voice preserved.</a:t>
            </a:r>
          </a:p>
          <a:p>
            <a:pPr algn="l">
              <a:spcAft>
                <a:spcPts val="1200"/>
              </a:spcAft>
            </a:pPr>
            <a:r>
              <a:rPr sz="1700">
                <a:solidFill>
                  <a:srgbClr val="8A6410"/>
                </a:solidFill>
                <a:latin typeface="Calibri"/>
              </a:rPr>
              <a:t>▪  </a:t>
            </a:r>
            <a:r>
              <a:rPr sz="1700" b="1">
                <a:solidFill>
                  <a:srgbClr val="0E4D33"/>
                </a:solidFill>
                <a:latin typeface="Calibri"/>
              </a:rPr>
              <a:t>Verify  </a:t>
            </a:r>
            <a:r>
              <a:rPr sz="1700" b="0" i="0">
                <a:solidFill>
                  <a:srgbClr val="212A26"/>
                </a:solidFill>
                <a:latin typeface="Calibri"/>
              </a:rPr>
              <a:t>everything load-bearing: facts, numbers, names, citations — before your name ships on it.</a:t>
            </a:r>
          </a:p>
          <a:p>
            <a:pPr algn="l">
              <a:spcAft>
                <a:spcPts val="1200"/>
              </a:spcAft>
            </a:pPr>
            <a:r>
              <a:rPr sz="1700">
                <a:solidFill>
                  <a:srgbClr val="8A6410"/>
                </a:solidFill>
                <a:latin typeface="Calibri"/>
              </a:rPr>
              <a:t>▪  </a:t>
            </a:r>
            <a:r>
              <a:rPr sz="1700" b="1">
                <a:solidFill>
                  <a:srgbClr val="0E4D33"/>
                </a:solidFill>
                <a:latin typeface="Calibri"/>
              </a:rPr>
              <a:t>Protect  </a:t>
            </a:r>
            <a:r>
              <a:rPr sz="1700" b="0" i="0">
                <a:solidFill>
                  <a:srgbClr val="212A26"/>
                </a:solidFill>
                <a:latin typeface="Calibri"/>
              </a:rPr>
              <a:t>confidential information, and disclose AI use per the rules of your school and employer.</a:t>
            </a:r>
          </a:p>
          <a:p>
            <a:pPr algn="l">
              <a:spcAft>
                <a:spcPts val="1200"/>
              </a:spcAft>
            </a:pPr>
            <a:r>
              <a:rPr sz="1700">
                <a:solidFill>
                  <a:srgbClr val="8A6410"/>
                </a:solidFill>
                <a:latin typeface="Calibri"/>
              </a:rPr>
              <a:t>▪  </a:t>
            </a:r>
            <a:r>
              <a:rPr sz="1700" b="1">
                <a:solidFill>
                  <a:srgbClr val="0E4D33"/>
                </a:solidFill>
                <a:latin typeface="Calibri"/>
              </a:rPr>
              <a:t>Supervise  </a:t>
            </a:r>
            <a:r>
              <a:rPr sz="1700" b="0" i="0">
                <a:solidFill>
                  <a:srgbClr val="212A26"/>
                </a:solidFill>
                <a:latin typeface="Calibri"/>
              </a:rPr>
              <a:t>AI agents that act — with limits, review gates, and accountability that stays yours.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The floor rose. The ceiling didn't move."/>
          <p:cNvSpPr>
            <a:spLocks noGrp="1"/>
          </p:cNvSpPr>
          <p:nvPr>
            <p:ph type="title"/>
          </p:nvPr>
        </p:nvSpPr>
        <p:spPr>
          <a:xfrm>
            <a:off x="502920" y="411480"/>
            <a:ext cx="11155680" cy="914400"/>
          </a:xfrm>
        </p:spPr>
        <p:txBody>
          <a:bodyPr wrap="square"/>
          <a:lstStyle/>
          <a:p>
            <a:pPr algn="l"/>
            <a:r>
              <a:rPr sz="3200" b="1">
                <a:solidFill>
                  <a:srgbClr val="0E4D33"/>
                </a:solidFill>
                <a:latin typeface="Cambria"/>
              </a:rPr>
              <a:t>The floor rose. The ceiling didn't move.</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3"/>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3</a:t>
            </a:r>
          </a:p>
        </p:txBody>
      </p:sp>
      <p:sp>
        <p:nvSpPr>
          <p:cNvPr id="5" name="Rounded Rectangle 4" descr="Highlighted statistic"/>
          <p:cNvSpPr/>
          <p:nvPr/>
        </p:nvSpPr>
        <p:spPr>
          <a:xfrm>
            <a:off x="548640" y="1645920"/>
            <a:ext cx="4206240" cy="4206240"/>
          </a:xfrm>
          <a:prstGeom prst="roundRect">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ctr">
              <a:spcAft>
                <a:spcPts val="400"/>
              </a:spcAft>
            </a:pPr>
            <a:r>
              <a:rPr sz="6400" b="1">
                <a:solidFill>
                  <a:srgbClr val="FFFFFF"/>
                </a:solidFill>
                <a:latin typeface="Cambria"/>
              </a:rPr>
              <a:t>floor</a:t>
            </a:r>
          </a:p>
          <a:p>
            <a:pPr algn="ctr">
              <a:spcAft>
                <a:spcPts val="800"/>
              </a:spcAft>
            </a:pPr>
            <a:r>
              <a:rPr sz="1500" b="0" i="0">
                <a:solidFill>
                  <a:srgbClr val="EAF1EB"/>
                </a:solidFill>
                <a:latin typeface="Calibri"/>
              </a:rPr>
              <a:t>AI raises the FLOOR of writing quality — competent prose is now nearly free. The ceiling — knowing what's true, what matters, and what the moment requires — is exactly where it was.</a:t>
            </a:r>
          </a:p>
        </p:txBody>
      </p:sp>
      <p:sp>
        <p:nvSpPr>
          <p:cNvPr id="6" name="TextBox 5" descr="Supporting points"/>
          <p:cNvSpPr txBox="1"/>
          <p:nvPr/>
        </p:nvSpPr>
        <p:spPr>
          <a:xfrm>
            <a:off x="5212080" y="1737360"/>
            <a:ext cx="6400800" cy="4297680"/>
          </a:xfrm>
          <a:prstGeom prst="rect">
            <a:avLst/>
          </a:prstGeom>
          <a:noFill/>
        </p:spPr>
        <p:txBody>
          <a:bodyPr wrap="square">
            <a:spAutoFit/>
          </a:bodyPr>
          <a:lstStyle/>
          <a:p>
            <a:pPr algn="l">
              <a:spcAft>
                <a:spcPts val="1400"/>
              </a:spcAft>
            </a:pPr>
            <a:r>
              <a:rPr sz="1600">
                <a:solidFill>
                  <a:srgbClr val="8A6410"/>
                </a:solidFill>
                <a:latin typeface="Calibri"/>
              </a:rPr>
              <a:t>▪  </a:t>
            </a:r>
            <a:r>
              <a:rPr sz="1600" b="1">
                <a:solidFill>
                  <a:srgbClr val="0E4D33"/>
                </a:solidFill>
                <a:latin typeface="Calibri"/>
              </a:rPr>
              <a:t>The floor rising is real:  </a:t>
            </a:r>
            <a:r>
              <a:rPr sz="1600" b="0" i="0">
                <a:solidFill>
                  <a:srgbClr val="212A26"/>
                </a:solidFill>
                <a:latin typeface="Calibri"/>
              </a:rPr>
              <a:t>routine drafting that took an hour takes minutes; there is no going back, and pretending otherwise is career malpractice.</a:t>
            </a:r>
          </a:p>
          <a:p>
            <a:pPr algn="l">
              <a:spcAft>
                <a:spcPts val="1400"/>
              </a:spcAft>
            </a:pPr>
            <a:r>
              <a:rPr sz="1600">
                <a:solidFill>
                  <a:srgbClr val="8A6410"/>
                </a:solidFill>
                <a:latin typeface="Calibri"/>
              </a:rPr>
              <a:t>▪  </a:t>
            </a:r>
            <a:r>
              <a:rPr sz="1600" b="1">
                <a:solidFill>
                  <a:srgbClr val="0E4D33"/>
                </a:solidFill>
                <a:latin typeface="Calibri"/>
              </a:rPr>
              <a:t>The consequence:  </a:t>
            </a:r>
            <a:r>
              <a:rPr sz="1600" b="0" i="0">
                <a:solidFill>
                  <a:srgbClr val="212A26"/>
                </a:solidFill>
                <a:latin typeface="Calibri"/>
              </a:rPr>
              <a:t>competent-sounding is no longer a differentiator. Judgment is — because it's the part that didn't get cheaper.</a:t>
            </a:r>
          </a:p>
          <a:p>
            <a:pPr algn="l">
              <a:spcAft>
                <a:spcPts val="1400"/>
              </a:spcAft>
            </a:pPr>
            <a:r>
              <a:rPr sz="1600">
                <a:solidFill>
                  <a:srgbClr val="8A6410"/>
                </a:solidFill>
                <a:latin typeface="Calibri"/>
              </a:rPr>
              <a:t>▪  </a:t>
            </a:r>
            <a:r>
              <a:rPr sz="1600" b="1">
                <a:solidFill>
                  <a:srgbClr val="0E4D33"/>
                </a:solidFill>
                <a:latin typeface="Calibri"/>
              </a:rPr>
              <a:t>This chapter's thesis:  </a:t>
            </a:r>
            <a:r>
              <a:rPr sz="1600" b="0" i="0">
                <a:solidFill>
                  <a:srgbClr val="212A26"/>
                </a:solidFill>
                <a:latin typeface="Calibri"/>
              </a:rPr>
              <a:t>use the tools fully, verify ruthlessly, and invest in the ceiling.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4D33"/>
        </a:solidFill>
        <a:effectLst/>
      </p:bgPr>
    </p:bg>
    <p:spTree>
      <p:nvGrpSpPr>
        <p:cNvPr id="1" name=""/>
        <p:cNvGrpSpPr/>
        <p:nvPr/>
      </p:nvGrpSpPr>
      <p:grpSpPr/>
      <p:sp>
        <p:nvSpPr>
          <p:cNvPr id="2" name="Title 1" descr="Slide title: What these tools are"/>
          <p:cNvSpPr>
            <a:spLocks noGrp="1"/>
          </p:cNvSpPr>
          <p:nvPr>
            <p:ph type="title"/>
          </p:nvPr>
        </p:nvSpPr>
        <p:spPr>
          <a:xfrm>
            <a:off x="822960" y="2834640"/>
            <a:ext cx="10515600" cy="914400"/>
          </a:xfrm>
        </p:spPr>
        <p:txBody>
          <a:bodyPr wrap="square"/>
          <a:lstStyle/>
          <a:p>
            <a:pPr algn="l"/>
            <a:r>
              <a:rPr sz="4000" b="1">
                <a:solidFill>
                  <a:srgbClr val="FFFFFF"/>
                </a:solidFill>
                <a:latin typeface="Cambria"/>
              </a:rPr>
              <a:t>What these tools are</a:t>
            </a:r>
          </a:p>
        </p:txBody>
      </p:sp>
      <p:sp>
        <p:nvSpPr>
          <p:cNvPr id="3" name="TextBox 2" descr="Section number 01"/>
          <p:cNvSpPr txBox="1"/>
          <p:nvPr/>
        </p:nvSpPr>
        <p:spPr>
          <a:xfrm>
            <a:off x="822960" y="1188720"/>
            <a:ext cx="2743200" cy="1463040"/>
          </a:xfrm>
          <a:prstGeom prst="rect">
            <a:avLst/>
          </a:prstGeom>
          <a:noFill/>
        </p:spPr>
        <p:txBody>
          <a:bodyPr wrap="square">
            <a:spAutoFit/>
          </a:bodyPr>
          <a:lstStyle/>
          <a:p>
            <a:pPr algn="l">
              <a:spcAft>
                <a:spcPts val="800"/>
              </a:spcAft>
            </a:pPr>
            <a:r>
              <a:rPr sz="8000" b="1" i="0">
                <a:solidFill>
                  <a:srgbClr val="C9931A"/>
                </a:solidFill>
                <a:latin typeface="Cambria"/>
              </a:rPr>
              <a:t>01</a:t>
            </a:r>
          </a:p>
        </p:txBody>
      </p:sp>
      <p:sp>
        <p:nvSpPr>
          <p:cNvPr id="4" name="TextBox 3" descr="Section note"/>
          <p:cNvSpPr txBox="1"/>
          <p:nvPr/>
        </p:nvSpPr>
        <p:spPr>
          <a:xfrm>
            <a:off x="822960" y="4023360"/>
            <a:ext cx="9601200" cy="1097280"/>
          </a:xfrm>
          <a:prstGeom prst="rect">
            <a:avLst/>
          </a:prstGeom>
          <a:noFill/>
        </p:spPr>
        <p:txBody>
          <a:bodyPr wrap="square">
            <a:spAutoFit/>
          </a:bodyPr>
          <a:lstStyle/>
          <a:p>
            <a:pPr algn="l">
              <a:spcAft>
                <a:spcPts val="800"/>
              </a:spcAft>
            </a:pPr>
            <a:r>
              <a:rPr sz="1700" b="0" i="0">
                <a:solidFill>
                  <a:srgbClr val="EAF1EB"/>
                </a:solidFill>
                <a:latin typeface="Calibri"/>
              </a:rPr>
              <a:t>Prediction engines with excellent manners — the model that explains everything else.</a:t>
            </a:r>
          </a:p>
        </p:txBody>
      </p:sp>
      <p:sp>
        <p:nvSpPr>
          <p:cNvPr id="5" name="TextBox 4"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6" name="TextBox 5" descr="Slide number 4"/>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What a language model actually does"/>
          <p:cNvSpPr>
            <a:spLocks noGrp="1"/>
          </p:cNvSpPr>
          <p:nvPr>
            <p:ph type="title"/>
          </p:nvPr>
        </p:nvSpPr>
        <p:spPr>
          <a:xfrm>
            <a:off x="502920" y="411480"/>
            <a:ext cx="11155680" cy="914400"/>
          </a:xfrm>
        </p:spPr>
        <p:txBody>
          <a:bodyPr wrap="square"/>
          <a:lstStyle/>
          <a:p>
            <a:pPr algn="l"/>
            <a:r>
              <a:rPr sz="3200" b="1">
                <a:solidFill>
                  <a:srgbClr val="0E4D33"/>
                </a:solidFill>
                <a:latin typeface="Cambria"/>
              </a:rPr>
              <a:t>What a language model actually does</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5"/>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5</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It predicts plausible next words,  </a:t>
            </a:r>
            <a:r>
              <a:rPr sz="1700" b="0" i="0">
                <a:solidFill>
                  <a:srgbClr val="212A26"/>
                </a:solidFill>
                <a:latin typeface="Calibri"/>
              </a:rPr>
              <a:t>trained on enormous text — producing fluent, well-structured, statistically-likely prose.</a:t>
            </a:r>
          </a:p>
          <a:p>
            <a:pPr algn="l">
              <a:spcAft>
                <a:spcPts val="1200"/>
              </a:spcAft>
            </a:pPr>
            <a:r>
              <a:rPr sz="1700">
                <a:solidFill>
                  <a:srgbClr val="8A6410"/>
                </a:solidFill>
                <a:latin typeface="Calibri"/>
              </a:rPr>
              <a:t>▪  </a:t>
            </a:r>
            <a:r>
              <a:rPr sz="1700" b="1">
                <a:solidFill>
                  <a:srgbClr val="0E4D33"/>
                </a:solidFill>
                <a:latin typeface="Calibri"/>
              </a:rPr>
              <a:t>Fluency is the product, truth is incidental:  </a:t>
            </a:r>
            <a:r>
              <a:rPr sz="1700" b="0" i="0">
                <a:solidFill>
                  <a:srgbClr val="212A26"/>
                </a:solidFill>
                <a:latin typeface="Calibri"/>
              </a:rPr>
              <a:t>the model isn't lying when it errs; it's doing exactly its job — plausible continuation — on a question where plausible ≠ true.</a:t>
            </a:r>
          </a:p>
          <a:p>
            <a:pPr algn="l">
              <a:spcAft>
                <a:spcPts val="1200"/>
              </a:spcAft>
            </a:pPr>
            <a:r>
              <a:rPr sz="1700">
                <a:solidFill>
                  <a:srgbClr val="8A6410"/>
                </a:solidFill>
                <a:latin typeface="Calibri"/>
              </a:rPr>
              <a:t>▪  </a:t>
            </a:r>
            <a:r>
              <a:rPr sz="1700" b="1">
                <a:solidFill>
                  <a:srgbClr val="0E4D33"/>
                </a:solidFill>
                <a:latin typeface="Calibri"/>
              </a:rPr>
              <a:t>It has no access to your situation:  </a:t>
            </a:r>
            <a:r>
              <a:rPr sz="1700" b="0" i="0">
                <a:solidFill>
                  <a:srgbClr val="212A26"/>
                </a:solidFill>
                <a:latin typeface="Calibri"/>
              </a:rPr>
              <a:t>your reader, your history, your org's politics, this week's facts — unless you supply them (the prompt-as-brief slide).</a:t>
            </a:r>
          </a:p>
          <a:p>
            <a:pPr algn="l">
              <a:spcAft>
                <a:spcPts val="1200"/>
              </a:spcAft>
            </a:pPr>
            <a:r>
              <a:rPr sz="1700">
                <a:solidFill>
                  <a:srgbClr val="8A6410"/>
                </a:solidFill>
                <a:latin typeface="Calibri"/>
              </a:rPr>
              <a:t>▪  </a:t>
            </a:r>
            <a:r>
              <a:rPr sz="1700" b="1">
                <a:solidFill>
                  <a:srgbClr val="0E4D33"/>
                </a:solidFill>
                <a:latin typeface="Calibri"/>
              </a:rPr>
              <a:t>From this one model, every rule follows:  </a:t>
            </a:r>
            <a:r>
              <a:rPr sz="1700" b="0" i="0">
                <a:solidFill>
                  <a:srgbClr val="212A26"/>
                </a:solidFill>
                <a:latin typeface="Calibri"/>
              </a:rPr>
              <a:t>why it drafts brilliantly, why it fabricates confidently, and why verification is non-negotiable.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What it's great at / where it fails"/>
          <p:cNvSpPr>
            <a:spLocks noGrp="1"/>
          </p:cNvSpPr>
          <p:nvPr>
            <p:ph type="title"/>
          </p:nvPr>
        </p:nvSpPr>
        <p:spPr>
          <a:xfrm>
            <a:off x="502920" y="411480"/>
            <a:ext cx="11155680" cy="914400"/>
          </a:xfrm>
        </p:spPr>
        <p:txBody>
          <a:bodyPr wrap="square"/>
          <a:lstStyle/>
          <a:p>
            <a:pPr algn="l"/>
            <a:r>
              <a:rPr sz="3200" b="1">
                <a:solidFill>
                  <a:srgbClr val="0E4D33"/>
                </a:solidFill>
                <a:latin typeface="Cambria"/>
              </a:rPr>
              <a:t>What it's great at / where it fails</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6"/>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6</a:t>
            </a:r>
          </a:p>
        </p:txBody>
      </p:sp>
      <p:sp>
        <p:nvSpPr>
          <p:cNvPr id="5" name="Rounded Rectangle 4" descr="Great at (use freely) panel"/>
          <p:cNvSpPr/>
          <p:nvPr/>
        </p:nvSpPr>
        <p:spPr>
          <a:xfrm>
            <a:off x="548640" y="1554480"/>
            <a:ext cx="5394960" cy="4572000"/>
          </a:xfrm>
          <a:prstGeom prst="roundRect">
            <a:avLst/>
          </a:prstGeom>
          <a:solidFill>
            <a:srgbClr val="EAF1E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l">
              <a:spcAft>
                <a:spcPts val="1200"/>
              </a:spcAft>
            </a:pPr>
            <a:r>
              <a:rPr sz="1800" b="1" i="0">
                <a:solidFill>
                  <a:srgbClr val="0E4D33"/>
                </a:solidFill>
                <a:latin typeface="Cambria"/>
              </a:rPr>
              <a:t>Great at (use freely)</a:t>
            </a:r>
          </a:p>
          <a:p>
            <a:pPr algn="l">
              <a:spcAft>
                <a:spcPts val="900"/>
              </a:spcAft>
            </a:pPr>
            <a:r>
              <a:rPr sz="1500">
                <a:solidFill>
                  <a:srgbClr val="8A6410"/>
                </a:solidFill>
                <a:latin typeface="Calibri"/>
              </a:rPr>
              <a:t>▪  </a:t>
            </a:r>
            <a:r>
              <a:rPr sz="1500" b="0" i="0">
                <a:solidFill>
                  <a:srgbClr val="212A26"/>
                </a:solidFill>
                <a:latin typeface="Calibri"/>
              </a:rPr>
              <a:t>First drafts of routine genres — email, summaries, outlines</a:t>
            </a:r>
          </a:p>
          <a:p>
            <a:pPr algn="l">
              <a:spcAft>
                <a:spcPts val="900"/>
              </a:spcAft>
            </a:pPr>
            <a:r>
              <a:rPr sz="1500">
                <a:solidFill>
                  <a:srgbClr val="8A6410"/>
                </a:solidFill>
                <a:latin typeface="Calibri"/>
              </a:rPr>
              <a:t>▪  </a:t>
            </a:r>
            <a:r>
              <a:rPr sz="1500" b="0" i="0">
                <a:solidFill>
                  <a:srgbClr val="212A26"/>
                </a:solidFill>
                <a:latin typeface="Calibri"/>
              </a:rPr>
              <a:t>Rewriting: tone shifts, tightening, plain-language passes</a:t>
            </a:r>
          </a:p>
          <a:p>
            <a:pPr algn="l">
              <a:spcAft>
                <a:spcPts val="900"/>
              </a:spcAft>
            </a:pPr>
            <a:r>
              <a:rPr sz="1500">
                <a:solidFill>
                  <a:srgbClr val="8A6410"/>
                </a:solidFill>
                <a:latin typeface="Calibri"/>
              </a:rPr>
              <a:t>▪  </a:t>
            </a:r>
            <a:r>
              <a:rPr sz="1500" b="0" i="0">
                <a:solidFill>
                  <a:srgbClr val="212A26"/>
                </a:solidFill>
                <a:latin typeface="Calibri"/>
              </a:rPr>
              <a:t>Critique: 'name the three weakest points in this memo'</a:t>
            </a:r>
          </a:p>
          <a:p>
            <a:pPr algn="l">
              <a:spcAft>
                <a:spcPts val="900"/>
              </a:spcAft>
            </a:pPr>
            <a:r>
              <a:rPr sz="1500">
                <a:solidFill>
                  <a:srgbClr val="8A6410"/>
                </a:solidFill>
                <a:latin typeface="Calibri"/>
              </a:rPr>
              <a:t>▪  </a:t>
            </a:r>
            <a:r>
              <a:rPr sz="1500" b="0" i="0">
                <a:solidFill>
                  <a:srgbClr val="212A26"/>
                </a:solidFill>
                <a:latin typeface="Calibri"/>
              </a:rPr>
              <a:t>Brainstorming options and counterarguments</a:t>
            </a:r>
          </a:p>
          <a:p>
            <a:pPr algn="l">
              <a:spcAft>
                <a:spcPts val="900"/>
              </a:spcAft>
            </a:pPr>
            <a:r>
              <a:rPr sz="1500">
                <a:solidFill>
                  <a:srgbClr val="8A6410"/>
                </a:solidFill>
                <a:latin typeface="Calibri"/>
              </a:rPr>
              <a:t>▪  </a:t>
            </a:r>
            <a:r>
              <a:rPr sz="1500" b="0" i="0">
                <a:solidFill>
                  <a:srgbClr val="212A26"/>
                </a:solidFill>
                <a:latin typeface="Calibri"/>
              </a:rPr>
              <a:t>Single-error sweeps (Chapter 4's targeted passes)</a:t>
            </a:r>
          </a:p>
        </p:txBody>
      </p:sp>
      <p:sp>
        <p:nvSpPr>
          <p:cNvPr id="6" name="Rounded Rectangle 5" descr="Fails at (verify or avoid) panel"/>
          <p:cNvSpPr/>
          <p:nvPr/>
        </p:nvSpPr>
        <p:spPr>
          <a:xfrm>
            <a:off x="6263640" y="1554480"/>
            <a:ext cx="5394960" cy="4572000"/>
          </a:xfrm>
          <a:prstGeom prst="roundRect">
            <a:avLst/>
          </a:prstGeom>
          <a:solidFill>
            <a:srgbClr val="F7EA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l">
              <a:spcAft>
                <a:spcPts val="1200"/>
              </a:spcAft>
            </a:pPr>
            <a:r>
              <a:rPr sz="1800" b="1" i="0">
                <a:solidFill>
                  <a:srgbClr val="B23A31"/>
                </a:solidFill>
                <a:latin typeface="Cambria"/>
              </a:rPr>
              <a:t>Fails at (verify or avoid)</a:t>
            </a:r>
          </a:p>
          <a:p>
            <a:pPr algn="l">
              <a:spcAft>
                <a:spcPts val="900"/>
              </a:spcAft>
            </a:pPr>
            <a:r>
              <a:rPr sz="1500">
                <a:solidFill>
                  <a:srgbClr val="8A6410"/>
                </a:solidFill>
                <a:latin typeface="Calibri"/>
              </a:rPr>
              <a:t>▪  </a:t>
            </a:r>
            <a:r>
              <a:rPr sz="1500" b="0" i="0">
                <a:solidFill>
                  <a:srgbClr val="212A26"/>
                </a:solidFill>
                <a:latin typeface="Calibri"/>
              </a:rPr>
              <a:t>Facts, numbers, names — fluent fabrication is the signature failure</a:t>
            </a:r>
          </a:p>
          <a:p>
            <a:pPr algn="l">
              <a:spcAft>
                <a:spcPts val="900"/>
              </a:spcAft>
            </a:pPr>
            <a:r>
              <a:rPr sz="1500">
                <a:solidFill>
                  <a:srgbClr val="8A6410"/>
                </a:solidFill>
                <a:latin typeface="Calibri"/>
              </a:rPr>
              <a:t>▪  </a:t>
            </a:r>
            <a:r>
              <a:rPr sz="1500" b="0" i="0">
                <a:solidFill>
                  <a:srgbClr val="212A26"/>
                </a:solidFill>
                <a:latin typeface="Calibri"/>
              </a:rPr>
              <a:t>Citations: plausible references to papers that don't exist</a:t>
            </a:r>
          </a:p>
          <a:p>
            <a:pPr algn="l">
              <a:spcAft>
                <a:spcPts val="900"/>
              </a:spcAft>
            </a:pPr>
            <a:r>
              <a:rPr sz="1500">
                <a:solidFill>
                  <a:srgbClr val="8A6410"/>
                </a:solidFill>
                <a:latin typeface="Calibri"/>
              </a:rPr>
              <a:t>▪  </a:t>
            </a:r>
            <a:r>
              <a:rPr sz="1500" b="0" i="0">
                <a:solidFill>
                  <a:srgbClr val="212A26"/>
                </a:solidFill>
                <a:latin typeface="Calibri"/>
              </a:rPr>
              <a:t>Anything after its training data ends — staleness wears confidence too</a:t>
            </a:r>
          </a:p>
          <a:p>
            <a:pPr algn="l">
              <a:spcAft>
                <a:spcPts val="900"/>
              </a:spcAft>
            </a:pPr>
            <a:r>
              <a:rPr sz="1500">
                <a:solidFill>
                  <a:srgbClr val="8A6410"/>
                </a:solidFill>
                <a:latin typeface="Calibri"/>
              </a:rPr>
              <a:t>▪  </a:t>
            </a:r>
            <a:r>
              <a:rPr sz="1500" b="0" i="0">
                <a:solidFill>
                  <a:srgbClr val="212A26"/>
                </a:solidFill>
                <a:latin typeface="Calibri"/>
              </a:rPr>
              <a:t>Your specific context: the reader's history, the politics, the stakes</a:t>
            </a:r>
          </a:p>
          <a:p>
            <a:pPr algn="l">
              <a:spcAft>
                <a:spcPts val="900"/>
              </a:spcAft>
            </a:pPr>
            <a:r>
              <a:rPr sz="1500">
                <a:solidFill>
                  <a:srgbClr val="8A6410"/>
                </a:solidFill>
                <a:latin typeface="Calibri"/>
              </a:rPr>
              <a:t>▪  </a:t>
            </a:r>
            <a:r>
              <a:rPr sz="1500" b="0" i="0">
                <a:solidFill>
                  <a:srgbClr val="212A26"/>
                </a:solidFill>
                <a:latin typeface="Calibri"/>
              </a:rPr>
              <a:t>Judgment calls: what to say, whether to send, who gets hurt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The mental model: brilliant junior colleague, day one"/>
          <p:cNvSpPr>
            <a:spLocks noGrp="1"/>
          </p:cNvSpPr>
          <p:nvPr>
            <p:ph type="title"/>
          </p:nvPr>
        </p:nvSpPr>
        <p:spPr>
          <a:xfrm>
            <a:off x="502920" y="411480"/>
            <a:ext cx="11155680" cy="914400"/>
          </a:xfrm>
        </p:spPr>
        <p:txBody>
          <a:bodyPr wrap="square"/>
          <a:lstStyle/>
          <a:p>
            <a:pPr algn="l"/>
            <a:r>
              <a:rPr sz="3200" b="1">
                <a:solidFill>
                  <a:srgbClr val="0E4D33"/>
                </a:solidFill>
                <a:latin typeface="Cambria"/>
              </a:rPr>
              <a:t>The mental model: brilliant junior colleague, day one</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7"/>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7</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Treat AI like a gifted new hire who started this morning:  </a:t>
            </a:r>
            <a:r>
              <a:rPr sz="1700" b="0" i="0">
                <a:solidFill>
                  <a:srgbClr val="212A26"/>
                </a:solidFill>
                <a:latin typeface="Calibri"/>
              </a:rPr>
              <a:t>extraordinary at producing work, zero knowledge of your world, and unaware when it's wrong.</a:t>
            </a:r>
          </a:p>
          <a:p>
            <a:pPr algn="l">
              <a:spcAft>
                <a:spcPts val="1200"/>
              </a:spcAft>
            </a:pPr>
            <a:r>
              <a:rPr sz="1700">
                <a:solidFill>
                  <a:srgbClr val="8A6410"/>
                </a:solidFill>
                <a:latin typeface="Calibri"/>
              </a:rPr>
              <a:t>▪  </a:t>
            </a:r>
            <a:r>
              <a:rPr sz="1700" b="1">
                <a:solidFill>
                  <a:srgbClr val="0E4D33"/>
                </a:solidFill>
                <a:latin typeface="Calibri"/>
              </a:rPr>
              <a:t>You'd never send a day-one hire's draft unreviewed —  </a:t>
            </a:r>
            <a:r>
              <a:rPr sz="1700" b="0" i="0">
                <a:solidFill>
                  <a:srgbClr val="212A26"/>
                </a:solidFill>
                <a:latin typeface="Calibri"/>
              </a:rPr>
              <a:t>the same review standard, applied identically, is the whole AI policy in one habit.</a:t>
            </a:r>
          </a:p>
          <a:p>
            <a:pPr algn="l">
              <a:spcAft>
                <a:spcPts val="1200"/>
              </a:spcAft>
            </a:pPr>
            <a:r>
              <a:rPr sz="1700">
                <a:solidFill>
                  <a:srgbClr val="8A6410"/>
                </a:solidFill>
                <a:latin typeface="Calibri"/>
              </a:rPr>
              <a:t>▪  </a:t>
            </a:r>
            <a:r>
              <a:rPr sz="1700" b="1">
                <a:solidFill>
                  <a:srgbClr val="0E4D33"/>
                </a:solidFill>
                <a:latin typeface="Calibri"/>
              </a:rPr>
              <a:t>You'd also never refuse the help:  </a:t>
            </a:r>
            <a:r>
              <a:rPr sz="1700" b="0" i="0">
                <a:solidFill>
                  <a:srgbClr val="212A26"/>
                </a:solidFill>
                <a:latin typeface="Calibri"/>
              </a:rPr>
              <a:t>declining a tireless drafting assistant out of pride or fear is choosing to be slower at the same quality.</a:t>
            </a:r>
          </a:p>
          <a:p>
            <a:pPr algn="l">
              <a:spcAft>
                <a:spcPts val="1200"/>
              </a:spcAft>
            </a:pPr>
            <a:r>
              <a:rPr sz="1700">
                <a:solidFill>
                  <a:srgbClr val="8A6410"/>
                </a:solidFill>
                <a:latin typeface="Calibri"/>
              </a:rPr>
              <a:t>▪  </a:t>
            </a:r>
            <a:r>
              <a:rPr sz="1700" b="1">
                <a:solidFill>
                  <a:srgbClr val="0E4D33"/>
                </a:solidFill>
                <a:latin typeface="Calibri"/>
              </a:rPr>
              <a:t>Delegation without abdication:  </a:t>
            </a:r>
            <a:r>
              <a:rPr sz="1700" b="0" i="0">
                <a:solidFill>
                  <a:srgbClr val="212A26"/>
                </a:solidFill>
                <a:latin typeface="Calibri"/>
              </a:rPr>
              <a:t>the work can be delegated; the accountability can't (this is the agents section's whole song, previewed).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4D33"/>
        </a:solidFill>
        <a:effectLst/>
      </p:bgPr>
    </p:bg>
    <p:spTree>
      <p:nvGrpSpPr>
        <p:cNvPr id="1" name=""/>
        <p:cNvGrpSpPr/>
        <p:nvPr/>
      </p:nvGrpSpPr>
      <p:grpSpPr/>
      <p:sp>
        <p:nvSpPr>
          <p:cNvPr id="2" name="Title 1" descr="Slide title: Drafting with AI"/>
          <p:cNvSpPr>
            <a:spLocks noGrp="1"/>
          </p:cNvSpPr>
          <p:nvPr>
            <p:ph type="title"/>
          </p:nvPr>
        </p:nvSpPr>
        <p:spPr>
          <a:xfrm>
            <a:off x="822960" y="2834640"/>
            <a:ext cx="10515600" cy="914400"/>
          </a:xfrm>
        </p:spPr>
        <p:txBody>
          <a:bodyPr wrap="square"/>
          <a:lstStyle/>
          <a:p>
            <a:pPr algn="l"/>
            <a:r>
              <a:rPr sz="4000" b="1">
                <a:solidFill>
                  <a:srgbClr val="FFFFFF"/>
                </a:solidFill>
                <a:latin typeface="Cambria"/>
              </a:rPr>
              <a:t>Drafting with AI</a:t>
            </a:r>
          </a:p>
        </p:txBody>
      </p:sp>
      <p:sp>
        <p:nvSpPr>
          <p:cNvPr id="3" name="TextBox 2" descr="Section number 02"/>
          <p:cNvSpPr txBox="1"/>
          <p:nvPr/>
        </p:nvSpPr>
        <p:spPr>
          <a:xfrm>
            <a:off x="822960" y="1188720"/>
            <a:ext cx="2743200" cy="1463040"/>
          </a:xfrm>
          <a:prstGeom prst="rect">
            <a:avLst/>
          </a:prstGeom>
          <a:noFill/>
        </p:spPr>
        <p:txBody>
          <a:bodyPr wrap="square">
            <a:spAutoFit/>
          </a:bodyPr>
          <a:lstStyle/>
          <a:p>
            <a:pPr algn="l">
              <a:spcAft>
                <a:spcPts val="800"/>
              </a:spcAft>
            </a:pPr>
            <a:r>
              <a:rPr sz="8000" b="1" i="0">
                <a:solidFill>
                  <a:srgbClr val="C9931A"/>
                </a:solidFill>
                <a:latin typeface="Cambria"/>
              </a:rPr>
              <a:t>02</a:t>
            </a:r>
          </a:p>
        </p:txBody>
      </p:sp>
      <p:sp>
        <p:nvSpPr>
          <p:cNvPr id="4" name="TextBox 3" descr="Section note"/>
          <p:cNvSpPr txBox="1"/>
          <p:nvPr/>
        </p:nvSpPr>
        <p:spPr>
          <a:xfrm>
            <a:off x="822960" y="4023360"/>
            <a:ext cx="9601200" cy="1097280"/>
          </a:xfrm>
          <a:prstGeom prst="rect">
            <a:avLst/>
          </a:prstGeom>
          <a:noFill/>
        </p:spPr>
        <p:txBody>
          <a:bodyPr wrap="square">
            <a:spAutoFit/>
          </a:bodyPr>
          <a:lstStyle/>
          <a:p>
            <a:pPr algn="l">
              <a:spcAft>
                <a:spcPts val="800"/>
              </a:spcAft>
            </a:pPr>
            <a:r>
              <a:rPr sz="1700" b="0" i="0">
                <a:solidFill>
                  <a:srgbClr val="EAF1EB"/>
                </a:solidFill>
                <a:latin typeface="Calibri"/>
              </a:rPr>
              <a:t>The brief, the loop, and the voice that stays yours.</a:t>
            </a:r>
          </a:p>
        </p:txBody>
      </p:sp>
      <p:sp>
        <p:nvSpPr>
          <p:cNvPr id="5" name="TextBox 4"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6" name="TextBox 5" descr="Slide number 8"/>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The prompt is a brief — write it like Chapter 2"/>
          <p:cNvSpPr>
            <a:spLocks noGrp="1"/>
          </p:cNvSpPr>
          <p:nvPr>
            <p:ph type="title"/>
          </p:nvPr>
        </p:nvSpPr>
        <p:spPr>
          <a:xfrm>
            <a:off x="502920" y="411480"/>
            <a:ext cx="11155680" cy="914400"/>
          </a:xfrm>
        </p:spPr>
        <p:txBody>
          <a:bodyPr wrap="square"/>
          <a:lstStyle/>
          <a:p>
            <a:pPr algn="l"/>
            <a:r>
              <a:rPr sz="3200" b="1">
                <a:solidFill>
                  <a:srgbClr val="0E4D33"/>
                </a:solidFill>
                <a:latin typeface="Cambria"/>
              </a:rPr>
              <a:t>The prompt is a brief — write it like Chapter 2</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9"/>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9</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Give it what you'd give a human writer:  </a:t>
            </a:r>
            <a:r>
              <a:rPr sz="1700" b="0" i="0">
                <a:solidFill>
                  <a:srgbClr val="212A26"/>
                </a:solidFill>
                <a:latin typeface="Calibri"/>
              </a:rPr>
              <a:t>purpose, audience, key facts, constraints, tone — 'write something about the delay' gets you generic; a brief gets you usable.</a:t>
            </a:r>
          </a:p>
          <a:p>
            <a:pPr algn="l">
              <a:spcAft>
                <a:spcPts val="1200"/>
              </a:spcAft>
            </a:pPr>
            <a:r>
              <a:rPr sz="1700">
                <a:solidFill>
                  <a:srgbClr val="8A6410"/>
                </a:solidFill>
                <a:latin typeface="Calibri"/>
              </a:rPr>
              <a:t>▪  </a:t>
            </a:r>
            <a:r>
              <a:rPr sz="1700" b="1">
                <a:solidFill>
                  <a:srgbClr val="0E4D33"/>
                </a:solidFill>
                <a:latin typeface="Calibri"/>
              </a:rPr>
              <a:t>Supply the situation it can't know:  </a:t>
            </a:r>
            <a:r>
              <a:rPr sz="1700" b="0" i="0">
                <a:solidFill>
                  <a:srgbClr val="212A26"/>
                </a:solidFill>
                <a:latin typeface="Calibri"/>
              </a:rPr>
              <a:t>'the client has already complained twice; we need firm but warm' — context in, quality out.</a:t>
            </a:r>
          </a:p>
          <a:p>
            <a:pPr algn="l">
              <a:spcAft>
                <a:spcPts val="1200"/>
              </a:spcAft>
            </a:pPr>
            <a:r>
              <a:rPr sz="1700">
                <a:solidFill>
                  <a:srgbClr val="8A6410"/>
                </a:solidFill>
                <a:latin typeface="Calibri"/>
              </a:rPr>
              <a:t>▪  </a:t>
            </a:r>
            <a:r>
              <a:rPr sz="1700" b="1">
                <a:solidFill>
                  <a:srgbClr val="0E4D33"/>
                </a:solidFill>
                <a:latin typeface="Calibri"/>
              </a:rPr>
              <a:t>State the format:  </a:t>
            </a:r>
            <a:r>
              <a:rPr sz="1700" b="0" i="0">
                <a:solidFill>
                  <a:srgbClr val="212A26"/>
                </a:solidFill>
                <a:latin typeface="Calibri"/>
              </a:rPr>
              <a:t>'three-line status update' or 'one-page memo with headings' — structure requested is structure received.</a:t>
            </a:r>
          </a:p>
          <a:p>
            <a:pPr algn="l">
              <a:spcAft>
                <a:spcPts val="1200"/>
              </a:spcAft>
            </a:pPr>
            <a:r>
              <a:rPr sz="1700">
                <a:solidFill>
                  <a:srgbClr val="8A6410"/>
                </a:solidFill>
                <a:latin typeface="Calibri"/>
              </a:rPr>
              <a:t>▪  </a:t>
            </a:r>
            <a:r>
              <a:rPr sz="1700" b="1">
                <a:solidFill>
                  <a:srgbClr val="0E4D33"/>
                </a:solidFill>
                <a:latin typeface="Calibri"/>
              </a:rPr>
              <a:t>Iterate the brief, not just the draft:  </a:t>
            </a:r>
            <a:r>
              <a:rPr sz="1700" b="0" i="0">
                <a:solidFill>
                  <a:srgbClr val="212A26"/>
                </a:solidFill>
                <a:latin typeface="Calibri"/>
              </a:rPr>
              <a:t>when output misses, the fix is usually a fact or constraint you didn't supply — the tool made you discover your own requirements.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The critique loop beats the generate loop"/>
          <p:cNvSpPr>
            <a:spLocks noGrp="1"/>
          </p:cNvSpPr>
          <p:nvPr>
            <p:ph type="title"/>
          </p:nvPr>
        </p:nvSpPr>
        <p:spPr>
          <a:xfrm>
            <a:off x="502920" y="411480"/>
            <a:ext cx="11155680" cy="914400"/>
          </a:xfrm>
        </p:spPr>
        <p:txBody>
          <a:bodyPr wrap="square"/>
          <a:lstStyle/>
          <a:p>
            <a:pPr algn="l"/>
            <a:r>
              <a:rPr sz="3200" b="1">
                <a:solidFill>
                  <a:srgbClr val="0E4D33"/>
                </a:solidFill>
                <a:latin typeface="Cambria"/>
              </a:rPr>
              <a:t>The critique loop beats the generate loop</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10"/>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10</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Draft yourself, then ask for attack:  </a:t>
            </a:r>
            <a:r>
              <a:rPr sz="1700" b="0" i="0">
                <a:solidFill>
                  <a:srgbClr val="212A26"/>
                </a:solidFill>
                <a:latin typeface="Calibri"/>
              </a:rPr>
              <a:t>'find the three weakest arguments in this proposal' keeps you the author and the tool the red team (Chapter 10's cold reader, on tap).</a:t>
            </a:r>
          </a:p>
          <a:p>
            <a:pPr algn="l">
              <a:spcAft>
                <a:spcPts val="1200"/>
              </a:spcAft>
            </a:pPr>
            <a:r>
              <a:rPr sz="1700">
                <a:solidFill>
                  <a:srgbClr val="8A6410"/>
                </a:solidFill>
                <a:latin typeface="Calibri"/>
              </a:rPr>
              <a:t>▪  </a:t>
            </a:r>
            <a:r>
              <a:rPr sz="1700" b="1">
                <a:solidFill>
                  <a:srgbClr val="0E4D33"/>
                </a:solidFill>
                <a:latin typeface="Calibri"/>
              </a:rPr>
              <a:t>Or reverse it — but edit like an owner:  </a:t>
            </a:r>
            <a:r>
              <a:rPr sz="1700" b="0" i="0">
                <a:solidFill>
                  <a:srgbClr val="212A26"/>
                </a:solidFill>
                <a:latin typeface="Calibri"/>
              </a:rPr>
              <a:t>AI drafts, you rebuild: reorder, cut, verify, re-voice. The draft is raw material, never product.</a:t>
            </a:r>
          </a:p>
          <a:p>
            <a:pPr algn="l">
              <a:spcAft>
                <a:spcPts val="1200"/>
              </a:spcAft>
            </a:pPr>
            <a:r>
              <a:rPr sz="1700">
                <a:solidFill>
                  <a:srgbClr val="8A6410"/>
                </a:solidFill>
                <a:latin typeface="Calibri"/>
              </a:rPr>
              <a:t>▪  </a:t>
            </a:r>
            <a:r>
              <a:rPr sz="1700" b="1">
                <a:solidFill>
                  <a:srgbClr val="0E4D33"/>
                </a:solidFill>
                <a:latin typeface="Calibri"/>
              </a:rPr>
              <a:t>Ask for options, not answers:  </a:t>
            </a:r>
            <a:r>
              <a:rPr sz="1700" b="0" i="0">
                <a:solidFill>
                  <a:srgbClr val="212A26"/>
                </a:solidFill>
                <a:latin typeface="Calibri"/>
              </a:rPr>
              <a:t>'give me three ways to open this refusal' preserves the choosing — and choosing is the judgment layer.</a:t>
            </a:r>
          </a:p>
          <a:p>
            <a:pPr algn="l">
              <a:spcAft>
                <a:spcPts val="1200"/>
              </a:spcAft>
            </a:pPr>
            <a:r>
              <a:rPr sz="1700">
                <a:solidFill>
                  <a:srgbClr val="8A6410"/>
                </a:solidFill>
                <a:latin typeface="Calibri"/>
              </a:rPr>
              <a:t>▪  </a:t>
            </a:r>
            <a:r>
              <a:rPr sz="1700" b="1">
                <a:solidFill>
                  <a:srgbClr val="0E4D33"/>
                </a:solidFill>
                <a:latin typeface="Calibri"/>
              </a:rPr>
              <a:t>Targeted passes, one at a time:  </a:t>
            </a:r>
            <a:r>
              <a:rPr sz="1700" b="0" i="0">
                <a:solidFill>
                  <a:srgbClr val="212A26"/>
                </a:solidFill>
                <a:latin typeface="Calibri"/>
              </a:rPr>
              <a:t>'check subject-verb agreement only' · 'flag every claim lacking a number' — the tool excels at the single-error sweep (Chapter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Keeping your voice"/>
          <p:cNvSpPr>
            <a:spLocks noGrp="1"/>
          </p:cNvSpPr>
          <p:nvPr>
            <p:ph type="title"/>
          </p:nvPr>
        </p:nvSpPr>
        <p:spPr>
          <a:xfrm>
            <a:off x="502920" y="411480"/>
            <a:ext cx="11155680" cy="914400"/>
          </a:xfrm>
        </p:spPr>
        <p:txBody>
          <a:bodyPr wrap="square"/>
          <a:lstStyle/>
          <a:p>
            <a:pPr algn="l"/>
            <a:r>
              <a:rPr sz="3200" b="1">
                <a:solidFill>
                  <a:srgbClr val="0E4D33"/>
                </a:solidFill>
                <a:latin typeface="Cambria"/>
              </a:rPr>
              <a:t>Keeping your voice</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11"/>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11</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Default AI prose has a house style:  </a:t>
            </a:r>
            <a:r>
              <a:rPr sz="1700" b="0" i="0">
                <a:solidFill>
                  <a:srgbClr val="212A26"/>
                </a:solidFill>
                <a:latin typeface="Calibri"/>
              </a:rPr>
              <a:t>smooth, hedged, slightly padded, weirdly agreeable — readers are learning to recognize it, and it reads as 'nobody home.'</a:t>
            </a:r>
          </a:p>
          <a:p>
            <a:pPr algn="l">
              <a:spcAft>
                <a:spcPts val="1200"/>
              </a:spcAft>
            </a:pPr>
            <a:r>
              <a:rPr sz="1700">
                <a:solidFill>
                  <a:srgbClr val="8A6410"/>
                </a:solidFill>
                <a:latin typeface="Calibri"/>
              </a:rPr>
              <a:t>▪  </a:t>
            </a:r>
            <a:r>
              <a:rPr sz="1700" b="1">
                <a:solidFill>
                  <a:srgbClr val="0E4D33"/>
                </a:solidFill>
                <a:latin typeface="Calibri"/>
              </a:rPr>
              <a:t>Feed it your voice:  </a:t>
            </a:r>
            <a:r>
              <a:rPr sz="1700" b="0" i="0">
                <a:solidFill>
                  <a:srgbClr val="212A26"/>
                </a:solidFill>
                <a:latin typeface="Calibri"/>
              </a:rPr>
              <a:t>'match the tone of this example' with a real paragraph of yours — or re-voice the draft yourself in the edit pass.</a:t>
            </a:r>
          </a:p>
          <a:p>
            <a:pPr algn="l">
              <a:spcAft>
                <a:spcPts val="1200"/>
              </a:spcAft>
            </a:pPr>
            <a:r>
              <a:rPr sz="1700">
                <a:solidFill>
                  <a:srgbClr val="8A6410"/>
                </a:solidFill>
                <a:latin typeface="Calibri"/>
              </a:rPr>
              <a:t>▪  </a:t>
            </a:r>
            <a:r>
              <a:rPr sz="1700" b="1">
                <a:solidFill>
                  <a:srgbClr val="0E4D33"/>
                </a:solidFill>
                <a:latin typeface="Calibri"/>
              </a:rPr>
              <a:t>De-pad on sight:  </a:t>
            </a:r>
            <a:r>
              <a:rPr sz="1700" b="0" i="0">
                <a:solidFill>
                  <a:srgbClr val="212A26"/>
                </a:solidFill>
                <a:latin typeface="Calibri"/>
              </a:rPr>
              <a:t>'I hope this finds you well' openers, triple restatements, and 'it's important to note' are the tell — cut them like Chapter 4 flab, because they are.</a:t>
            </a:r>
          </a:p>
          <a:p>
            <a:pPr algn="l">
              <a:spcAft>
                <a:spcPts val="1200"/>
              </a:spcAft>
            </a:pPr>
            <a:r>
              <a:rPr sz="1700">
                <a:solidFill>
                  <a:srgbClr val="8A6410"/>
                </a:solidFill>
                <a:latin typeface="Calibri"/>
              </a:rPr>
              <a:t>▪  </a:t>
            </a:r>
            <a:r>
              <a:rPr sz="1700" b="1">
                <a:solidFill>
                  <a:srgbClr val="0E4D33"/>
                </a:solidFill>
                <a:latin typeface="Calibri"/>
              </a:rPr>
              <a:t>The relationship test:  </a:t>
            </a:r>
            <a:r>
              <a:rPr sz="1700" b="0" i="0">
                <a:solidFill>
                  <a:srgbClr val="212A26"/>
                </a:solidFill>
                <a:latin typeface="Calibri"/>
              </a:rPr>
              <a:t>if the reader would feel differently knowing a machine wrote it — the goodwill note, the apology — a machine shouldn't (next slide).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What not to delegate — ever"/>
          <p:cNvSpPr>
            <a:spLocks noGrp="1"/>
          </p:cNvSpPr>
          <p:nvPr>
            <p:ph type="title"/>
          </p:nvPr>
        </p:nvSpPr>
        <p:spPr>
          <a:xfrm>
            <a:off x="502920" y="411480"/>
            <a:ext cx="11155680" cy="914400"/>
          </a:xfrm>
        </p:spPr>
        <p:txBody>
          <a:bodyPr wrap="square"/>
          <a:lstStyle/>
          <a:p>
            <a:pPr algn="l"/>
            <a:r>
              <a:rPr sz="3200" b="1">
                <a:solidFill>
                  <a:srgbClr val="0E4D33"/>
                </a:solidFill>
                <a:latin typeface="Cambria"/>
              </a:rPr>
              <a:t>What not to delegate — ever</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12"/>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12</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Goodwill messages (Chapter 6):  </a:t>
            </a:r>
            <a:r>
              <a:rPr sz="1700" b="0" i="0">
                <a:solidFill>
                  <a:srgbClr val="212A26"/>
                </a:solidFill>
                <a:latin typeface="Calibri"/>
              </a:rPr>
              <a:t>thanks, congratulations, condolences — the entire content is that a human paused. Automating the pause deletes the message.</a:t>
            </a:r>
          </a:p>
          <a:p>
            <a:pPr algn="l">
              <a:spcAft>
                <a:spcPts val="1200"/>
              </a:spcAft>
            </a:pPr>
            <a:r>
              <a:rPr sz="1700">
                <a:solidFill>
                  <a:srgbClr val="8A6410"/>
                </a:solidFill>
                <a:latin typeface="Calibri"/>
              </a:rPr>
              <a:t>▪  </a:t>
            </a:r>
            <a:r>
              <a:rPr sz="1700" b="1">
                <a:solidFill>
                  <a:srgbClr val="0E4D33"/>
                </a:solidFill>
                <a:latin typeface="Calibri"/>
              </a:rPr>
              <a:t>Apologies (Chapter 7):  </a:t>
            </a:r>
            <a:r>
              <a:rPr sz="1700" b="0" i="0">
                <a:solidFill>
                  <a:srgbClr val="212A26"/>
                </a:solidFill>
                <a:latin typeface="Calibri"/>
              </a:rPr>
              <a:t>ownership ghostwritten is ownership faked — and the flat AI cadence reads exactly like what it is.</a:t>
            </a:r>
          </a:p>
          <a:p>
            <a:pPr algn="l">
              <a:spcAft>
                <a:spcPts val="1200"/>
              </a:spcAft>
            </a:pPr>
            <a:r>
              <a:rPr sz="1700">
                <a:solidFill>
                  <a:srgbClr val="8A6410"/>
                </a:solidFill>
                <a:latin typeface="Calibri"/>
              </a:rPr>
              <a:t>▪  </a:t>
            </a:r>
            <a:r>
              <a:rPr sz="1700" b="1">
                <a:solidFill>
                  <a:srgbClr val="0E4D33"/>
                </a:solidFill>
                <a:latin typeface="Calibri"/>
              </a:rPr>
              <a:t>Performance feedback (Chapter 7):  </a:t>
            </a:r>
            <a:r>
              <a:rPr sz="1700" b="0" i="0">
                <a:solidFill>
                  <a:srgbClr val="212A26"/>
                </a:solidFill>
                <a:latin typeface="Calibri"/>
              </a:rPr>
              <a:t>SBI requires having SEEN the behavior; delegated observation is fiction with a rubric.</a:t>
            </a:r>
          </a:p>
          <a:p>
            <a:pPr algn="l">
              <a:spcAft>
                <a:spcPts val="1200"/>
              </a:spcAft>
            </a:pPr>
            <a:r>
              <a:rPr sz="1700">
                <a:solidFill>
                  <a:srgbClr val="8A6410"/>
                </a:solidFill>
                <a:latin typeface="Calibri"/>
              </a:rPr>
              <a:t>▪  </a:t>
            </a:r>
            <a:r>
              <a:rPr sz="1700" b="1">
                <a:solidFill>
                  <a:srgbClr val="0E4D33"/>
                </a:solidFill>
                <a:latin typeface="Calibri"/>
              </a:rPr>
              <a:t>The common thread:  </a:t>
            </a:r>
            <a:r>
              <a:rPr sz="1700" b="0" i="0">
                <a:solidFill>
                  <a:srgbClr val="212A26"/>
                </a:solidFill>
                <a:latin typeface="Calibri"/>
              </a:rPr>
              <a:t>wherever the message IS the relationship, the drafting IS the sincerity. Efficiency is the wrong axis for these genres entirely.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4D33"/>
        </a:solidFill>
        <a:effectLst/>
      </p:bgPr>
    </p:bg>
    <p:spTree>
      <p:nvGrpSpPr>
        <p:cNvPr id="1" name=""/>
        <p:cNvGrpSpPr/>
        <p:nvPr/>
      </p:nvGrpSpPr>
      <p:grpSpPr/>
      <p:sp>
        <p:nvSpPr>
          <p:cNvPr id="2" name="Title 1" descr="Slide title: Verification and confidentiality"/>
          <p:cNvSpPr>
            <a:spLocks noGrp="1"/>
          </p:cNvSpPr>
          <p:nvPr>
            <p:ph type="title"/>
          </p:nvPr>
        </p:nvSpPr>
        <p:spPr>
          <a:xfrm>
            <a:off x="822960" y="2834640"/>
            <a:ext cx="10515600" cy="914400"/>
          </a:xfrm>
        </p:spPr>
        <p:txBody>
          <a:bodyPr wrap="square"/>
          <a:lstStyle/>
          <a:p>
            <a:pPr algn="l"/>
            <a:r>
              <a:rPr sz="4000" b="1">
                <a:solidFill>
                  <a:srgbClr val="FFFFFF"/>
                </a:solidFill>
                <a:latin typeface="Cambria"/>
              </a:rPr>
              <a:t>Verification and confidentiality</a:t>
            </a:r>
          </a:p>
        </p:txBody>
      </p:sp>
      <p:sp>
        <p:nvSpPr>
          <p:cNvPr id="3" name="TextBox 2" descr="Section number 03"/>
          <p:cNvSpPr txBox="1"/>
          <p:nvPr/>
        </p:nvSpPr>
        <p:spPr>
          <a:xfrm>
            <a:off x="822960" y="1188720"/>
            <a:ext cx="2743200" cy="1463040"/>
          </a:xfrm>
          <a:prstGeom prst="rect">
            <a:avLst/>
          </a:prstGeom>
          <a:noFill/>
        </p:spPr>
        <p:txBody>
          <a:bodyPr wrap="square">
            <a:spAutoFit/>
          </a:bodyPr>
          <a:lstStyle/>
          <a:p>
            <a:pPr algn="l">
              <a:spcAft>
                <a:spcPts val="800"/>
              </a:spcAft>
            </a:pPr>
            <a:r>
              <a:rPr sz="8000" b="1" i="0">
                <a:solidFill>
                  <a:srgbClr val="C9931A"/>
                </a:solidFill>
                <a:latin typeface="Cambria"/>
              </a:rPr>
              <a:t>03</a:t>
            </a:r>
          </a:p>
        </p:txBody>
      </p:sp>
      <p:sp>
        <p:nvSpPr>
          <p:cNvPr id="4" name="TextBox 3" descr="Section note"/>
          <p:cNvSpPr txBox="1"/>
          <p:nvPr/>
        </p:nvSpPr>
        <p:spPr>
          <a:xfrm>
            <a:off x="822960" y="4023360"/>
            <a:ext cx="9601200" cy="1097280"/>
          </a:xfrm>
          <a:prstGeom prst="rect">
            <a:avLst/>
          </a:prstGeom>
          <a:noFill/>
        </p:spPr>
        <p:txBody>
          <a:bodyPr wrap="square">
            <a:spAutoFit/>
          </a:bodyPr>
          <a:lstStyle/>
          <a:p>
            <a:pPr algn="l">
              <a:spcAft>
                <a:spcPts val="800"/>
              </a:spcAft>
            </a:pPr>
            <a:r>
              <a:rPr sz="1700" b="0" i="0">
                <a:solidFill>
                  <a:srgbClr val="EAF1EB"/>
                </a:solidFill>
                <a:latin typeface="Calibri"/>
              </a:rPr>
              <a:t>The two non-negotiables — everything else is style.</a:t>
            </a:r>
          </a:p>
        </p:txBody>
      </p:sp>
      <p:sp>
        <p:nvSpPr>
          <p:cNvPr id="5" name="TextBox 4"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6" name="TextBox 5" descr="Slide number 13"/>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The verification pipeline"/>
          <p:cNvSpPr>
            <a:spLocks noGrp="1"/>
          </p:cNvSpPr>
          <p:nvPr>
            <p:ph type="title"/>
          </p:nvPr>
        </p:nvSpPr>
        <p:spPr>
          <a:xfrm>
            <a:off x="502920" y="411480"/>
            <a:ext cx="11155680" cy="914400"/>
          </a:xfrm>
        </p:spPr>
        <p:txBody>
          <a:bodyPr wrap="square"/>
          <a:lstStyle/>
          <a:p>
            <a:pPr algn="l"/>
            <a:r>
              <a:rPr sz="3200" b="1">
                <a:solidFill>
                  <a:srgbClr val="0E4D33"/>
                </a:solidFill>
                <a:latin typeface="Cambria"/>
              </a:rPr>
              <a:t>The verification pipeline</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14"/>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14</a:t>
            </a:r>
          </a:p>
        </p:txBody>
      </p:sp>
      <p:sp>
        <p:nvSpPr>
          <p:cNvPr id="5" name="Chevron 4" descr="Step 1: FLAG"/>
          <p:cNvSpPr/>
          <p:nvPr/>
        </p:nvSpPr>
        <p:spPr>
          <a:xfrm>
            <a:off x="548640" y="1828800"/>
            <a:ext cx="2706624" cy="1143000"/>
          </a:xfrm>
          <a:prstGeom prst="chevron">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FLAG</a:t>
            </a:r>
          </a:p>
        </p:txBody>
      </p:sp>
      <p:sp>
        <p:nvSpPr>
          <p:cNvPr id="6" name="TextBox 5" descr="FLAG detail"/>
          <p:cNvSpPr txBox="1"/>
          <p:nvPr/>
        </p:nvSpPr>
        <p:spPr>
          <a:xfrm>
            <a:off x="548640" y="3154680"/>
            <a:ext cx="2706624" cy="1463040"/>
          </a:xfrm>
          <a:prstGeom prst="rect">
            <a:avLst/>
          </a:prstGeom>
          <a:noFill/>
        </p:spPr>
        <p:txBody>
          <a:bodyPr wrap="square">
            <a:spAutoFit/>
          </a:bodyPr>
          <a:lstStyle/>
          <a:p>
            <a:pPr algn="ctr">
              <a:spcAft>
                <a:spcPts val="800"/>
              </a:spcAft>
            </a:pPr>
            <a:r>
              <a:rPr sz="1250" b="0" i="0">
                <a:solidFill>
                  <a:srgbClr val="212A26"/>
                </a:solidFill>
                <a:latin typeface="Calibri"/>
              </a:rPr>
              <a:t>Mark every load-bearing claim in the draft: facts, numbers, names, dates, citations</a:t>
            </a:r>
          </a:p>
        </p:txBody>
      </p:sp>
      <p:sp>
        <p:nvSpPr>
          <p:cNvPr id="7" name="Chevron 6" descr="Step 2: TRACE"/>
          <p:cNvSpPr/>
          <p:nvPr/>
        </p:nvSpPr>
        <p:spPr>
          <a:xfrm>
            <a:off x="3364992" y="1828800"/>
            <a:ext cx="2706624" cy="1143000"/>
          </a:xfrm>
          <a:prstGeom prst="chevron">
            <a:avLst/>
          </a:prstGeom>
          <a:solidFill>
            <a:srgbClr val="5C8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TRACE</a:t>
            </a:r>
          </a:p>
        </p:txBody>
      </p:sp>
      <p:sp>
        <p:nvSpPr>
          <p:cNvPr id="8" name="TextBox 7" descr="TRACE detail"/>
          <p:cNvSpPr txBox="1"/>
          <p:nvPr/>
        </p:nvSpPr>
        <p:spPr>
          <a:xfrm>
            <a:off x="3364992" y="3154680"/>
            <a:ext cx="2706624" cy="1463040"/>
          </a:xfrm>
          <a:prstGeom prst="rect">
            <a:avLst/>
          </a:prstGeom>
          <a:noFill/>
        </p:spPr>
        <p:txBody>
          <a:bodyPr wrap="square">
            <a:spAutoFit/>
          </a:bodyPr>
          <a:lstStyle/>
          <a:p>
            <a:pPr algn="ctr">
              <a:spcAft>
                <a:spcPts val="800"/>
              </a:spcAft>
            </a:pPr>
            <a:r>
              <a:rPr sz="1250" b="0" i="0">
                <a:solidFill>
                  <a:srgbClr val="212A26"/>
                </a:solidFill>
                <a:latin typeface="Calibri"/>
              </a:rPr>
              <a:t>Each one to a real source you can open (Chapter 10's ladder)</a:t>
            </a:r>
          </a:p>
        </p:txBody>
      </p:sp>
      <p:sp>
        <p:nvSpPr>
          <p:cNvPr id="9" name="Chevron 8" descr="Step 3: FIX"/>
          <p:cNvSpPr/>
          <p:nvPr/>
        </p:nvSpPr>
        <p:spPr>
          <a:xfrm>
            <a:off x="6181344" y="1828800"/>
            <a:ext cx="2706624" cy="1143000"/>
          </a:xfrm>
          <a:prstGeom prst="chevron">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FIX</a:t>
            </a:r>
          </a:p>
        </p:txBody>
      </p:sp>
      <p:sp>
        <p:nvSpPr>
          <p:cNvPr id="10" name="TextBox 9" descr="FIX detail"/>
          <p:cNvSpPr txBox="1"/>
          <p:nvPr/>
        </p:nvSpPr>
        <p:spPr>
          <a:xfrm>
            <a:off x="6181344" y="3154680"/>
            <a:ext cx="2706624" cy="1463040"/>
          </a:xfrm>
          <a:prstGeom prst="rect">
            <a:avLst/>
          </a:prstGeom>
          <a:noFill/>
        </p:spPr>
        <p:txBody>
          <a:bodyPr wrap="square">
            <a:spAutoFit/>
          </a:bodyPr>
          <a:lstStyle/>
          <a:p>
            <a:pPr algn="ctr">
              <a:spcAft>
                <a:spcPts val="800"/>
              </a:spcAft>
            </a:pPr>
            <a:r>
              <a:rPr sz="1250" b="0" i="0">
                <a:solidFill>
                  <a:srgbClr val="212A26"/>
                </a:solidFill>
                <a:latin typeface="Calibri"/>
              </a:rPr>
              <a:t>Correct, source, or delete — no third option for the unverifiable</a:t>
            </a:r>
          </a:p>
        </p:txBody>
      </p:sp>
      <p:sp>
        <p:nvSpPr>
          <p:cNvPr id="11" name="Chevron 10" descr="Step 4: OWN"/>
          <p:cNvSpPr/>
          <p:nvPr/>
        </p:nvSpPr>
        <p:spPr>
          <a:xfrm>
            <a:off x="8997696" y="1828800"/>
            <a:ext cx="2706624" cy="1143000"/>
          </a:xfrm>
          <a:prstGeom prst="chevron">
            <a:avLst/>
          </a:prstGeom>
          <a:solidFill>
            <a:srgbClr val="5C8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OWN</a:t>
            </a:r>
          </a:p>
        </p:txBody>
      </p:sp>
      <p:sp>
        <p:nvSpPr>
          <p:cNvPr id="12" name="TextBox 11" descr="OWN detail"/>
          <p:cNvSpPr txBox="1"/>
          <p:nvPr/>
        </p:nvSpPr>
        <p:spPr>
          <a:xfrm>
            <a:off x="8997696" y="3154680"/>
            <a:ext cx="2706624" cy="1463040"/>
          </a:xfrm>
          <a:prstGeom prst="rect">
            <a:avLst/>
          </a:prstGeom>
          <a:noFill/>
        </p:spPr>
        <p:txBody>
          <a:bodyPr wrap="square">
            <a:spAutoFit/>
          </a:bodyPr>
          <a:lstStyle/>
          <a:p>
            <a:pPr algn="ctr">
              <a:spcAft>
                <a:spcPts val="800"/>
              </a:spcAft>
            </a:pPr>
            <a:r>
              <a:rPr sz="1250" b="0" i="0">
                <a:solidFill>
                  <a:srgbClr val="212A26"/>
                </a:solidFill>
                <a:latin typeface="Calibri"/>
              </a:rPr>
              <a:t>Ship it as yours — because from this moment, it is</a:t>
            </a:r>
          </a:p>
        </p:txBody>
      </p:sp>
      <p:sp>
        <p:nvSpPr>
          <p:cNvPr id="13" name="Rounded Rectangle 12" descr="Key insight"/>
          <p:cNvSpPr/>
          <p:nvPr/>
        </p:nvSpPr>
        <p:spPr>
          <a:xfrm>
            <a:off x="548640" y="4892040"/>
            <a:ext cx="11064240" cy="1234440"/>
          </a:xfrm>
          <a:prstGeom prst="roundRect">
            <a:avLst/>
          </a:prstGeom>
          <a:solidFill>
            <a:srgbClr val="EAF1E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l">
              <a:spcAft>
                <a:spcPts val="800"/>
              </a:spcAft>
            </a:pPr>
            <a:r>
              <a:rPr sz="1500" b="1">
                <a:solidFill>
                  <a:srgbClr val="0E4D33"/>
                </a:solidFill>
                <a:latin typeface="Calibri"/>
              </a:rPr>
              <a:t>Key insight:  </a:t>
            </a:r>
            <a:r>
              <a:rPr sz="1500" b="0" i="0">
                <a:solidFill>
                  <a:srgbClr val="212A26"/>
                </a:solidFill>
                <a:latin typeface="Calibri"/>
              </a:rPr>
              <a:t>The pipeline runs on AI drafts exactly as it runs on your own — the tool just changed WHERE errors hide: yours cluster in haste, its cluster in confident specifics.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The fabricated citation problem"/>
          <p:cNvSpPr>
            <a:spLocks noGrp="1"/>
          </p:cNvSpPr>
          <p:nvPr>
            <p:ph type="title"/>
          </p:nvPr>
        </p:nvSpPr>
        <p:spPr>
          <a:xfrm>
            <a:off x="502920" y="411480"/>
            <a:ext cx="11155680" cy="914400"/>
          </a:xfrm>
        </p:spPr>
        <p:txBody>
          <a:bodyPr wrap="square"/>
          <a:lstStyle/>
          <a:p>
            <a:pPr algn="l"/>
            <a:r>
              <a:rPr sz="3200" b="1">
                <a:solidFill>
                  <a:srgbClr val="0E4D33"/>
                </a:solidFill>
                <a:latin typeface="Cambria"/>
              </a:rPr>
              <a:t>The fabricated citation problem</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15"/>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15</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The signature failure:  </a:t>
            </a:r>
            <a:r>
              <a:rPr sz="1700" b="0" i="0">
                <a:solidFill>
                  <a:srgbClr val="212A26"/>
                </a:solidFill>
                <a:latin typeface="Calibri"/>
              </a:rPr>
              <a:t>a properly formatted reference — real journal, plausible authors, real-sounding title — for a paper that does not exist.</a:t>
            </a:r>
          </a:p>
          <a:p>
            <a:pPr algn="l">
              <a:spcAft>
                <a:spcPts val="1200"/>
              </a:spcAft>
            </a:pPr>
            <a:r>
              <a:rPr sz="1700">
                <a:solidFill>
                  <a:srgbClr val="8A6410"/>
                </a:solidFill>
                <a:latin typeface="Calibri"/>
              </a:rPr>
              <a:t>▪  </a:t>
            </a:r>
            <a:r>
              <a:rPr sz="1700" b="1">
                <a:solidFill>
                  <a:srgbClr val="0E4D33"/>
                </a:solidFill>
                <a:latin typeface="Calibri"/>
              </a:rPr>
              <a:t>It survives every check except the real one:  </a:t>
            </a:r>
            <a:r>
              <a:rPr sz="1700" b="0" i="0">
                <a:solidFill>
                  <a:srgbClr val="212A26"/>
                </a:solidFill>
                <a:latin typeface="Calibri"/>
              </a:rPr>
              <a:t>opening the source. Format-checking a fabricated citation is grooming a ghost.</a:t>
            </a:r>
          </a:p>
          <a:p>
            <a:pPr algn="l">
              <a:spcAft>
                <a:spcPts val="1200"/>
              </a:spcAft>
            </a:pPr>
            <a:r>
              <a:rPr sz="1700">
                <a:solidFill>
                  <a:srgbClr val="8A6410"/>
                </a:solidFill>
                <a:latin typeface="Calibri"/>
              </a:rPr>
              <a:t>▪  </a:t>
            </a:r>
            <a:r>
              <a:rPr sz="1700" b="1">
                <a:solidFill>
                  <a:srgbClr val="0E4D33"/>
                </a:solidFill>
                <a:latin typeface="Calibri"/>
              </a:rPr>
              <a:t>The rule (Chapter 10):  </a:t>
            </a:r>
            <a:r>
              <a:rPr sz="1700" b="0" i="0">
                <a:solidFill>
                  <a:srgbClr val="212A26"/>
                </a:solidFill>
                <a:latin typeface="Calibri"/>
              </a:rPr>
              <a:t>AI is rung five on the credibility ladder — a research ASSISTANT that finds and summarizes real sources, never a source itself.</a:t>
            </a:r>
          </a:p>
          <a:p>
            <a:pPr algn="l">
              <a:spcAft>
                <a:spcPts val="1200"/>
              </a:spcAft>
            </a:pPr>
            <a:r>
              <a:rPr sz="1700">
                <a:solidFill>
                  <a:srgbClr val="8A6410"/>
                </a:solidFill>
                <a:latin typeface="Calibri"/>
              </a:rPr>
              <a:t>▪  </a:t>
            </a:r>
            <a:r>
              <a:rPr sz="1700" b="1">
                <a:solidFill>
                  <a:srgbClr val="0E4D33"/>
                </a:solidFill>
                <a:latin typeface="Calibri"/>
              </a:rPr>
              <a:t>'The AI said so' is not a citation.  </a:t>
            </a:r>
            <a:r>
              <a:rPr sz="1700" b="0" i="0">
                <a:solidFill>
                  <a:srgbClr val="212A26"/>
                </a:solidFill>
                <a:latin typeface="Calibri"/>
              </a:rPr>
              <a:t>In school it's an integrity case; at work it's your name on a claim nobody can trace. Same failure, different invoice.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Confidentiality: the paste is a publication"/>
          <p:cNvSpPr>
            <a:spLocks noGrp="1"/>
          </p:cNvSpPr>
          <p:nvPr>
            <p:ph type="title"/>
          </p:nvPr>
        </p:nvSpPr>
        <p:spPr>
          <a:xfrm>
            <a:off x="502920" y="411480"/>
            <a:ext cx="11155680" cy="914400"/>
          </a:xfrm>
        </p:spPr>
        <p:txBody>
          <a:bodyPr wrap="square"/>
          <a:lstStyle/>
          <a:p>
            <a:pPr algn="l"/>
            <a:r>
              <a:rPr sz="3200" b="1">
                <a:solidFill>
                  <a:srgbClr val="0E4D33"/>
                </a:solidFill>
                <a:latin typeface="Cambria"/>
              </a:rPr>
              <a:t>Confidentiality: the paste is a publication</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16"/>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16</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Public AI tools are external services:  </a:t>
            </a:r>
            <a:r>
              <a:rPr sz="1700" b="0" i="0">
                <a:solidFill>
                  <a:srgbClr val="212A26"/>
                </a:solidFill>
                <a:latin typeface="Calibri"/>
              </a:rPr>
              <a:t>pasting client names, salaries, unreleased numbers, or student records into one is disclosure — treat it like posting (Chapter 5).</a:t>
            </a:r>
          </a:p>
          <a:p>
            <a:pPr algn="l">
              <a:spcAft>
                <a:spcPts val="1200"/>
              </a:spcAft>
            </a:pPr>
            <a:r>
              <a:rPr sz="1700">
                <a:solidFill>
                  <a:srgbClr val="8A6410"/>
                </a:solidFill>
                <a:latin typeface="Calibri"/>
              </a:rPr>
              <a:t>▪  </a:t>
            </a:r>
            <a:r>
              <a:rPr sz="1700" b="1">
                <a:solidFill>
                  <a:srgbClr val="0E4D33"/>
                </a:solidFill>
                <a:latin typeface="Calibri"/>
              </a:rPr>
              <a:t>Know your organization's tooling:  </a:t>
            </a:r>
            <a:r>
              <a:rPr sz="1700" b="0" i="0">
                <a:solidFill>
                  <a:srgbClr val="212A26"/>
                </a:solidFill>
                <a:latin typeface="Calibri"/>
              </a:rPr>
              <a:t>many provide enterprise AI with data agreements — the rules differ between the company instance and the free tab. Learn which is which.</a:t>
            </a:r>
          </a:p>
          <a:p>
            <a:pPr algn="l">
              <a:spcAft>
                <a:spcPts val="1200"/>
              </a:spcAft>
            </a:pPr>
            <a:r>
              <a:rPr sz="1700">
                <a:solidFill>
                  <a:srgbClr val="8A6410"/>
                </a:solidFill>
                <a:latin typeface="Calibri"/>
              </a:rPr>
              <a:t>▪  </a:t>
            </a:r>
            <a:r>
              <a:rPr sz="1700" b="1">
                <a:solidFill>
                  <a:srgbClr val="0E4D33"/>
                </a:solidFill>
                <a:latin typeface="Calibri"/>
              </a:rPr>
              <a:t>Anonymize when the task allows:  </a:t>
            </a:r>
            <a:r>
              <a:rPr sz="1700" b="0" i="0">
                <a:solidFill>
                  <a:srgbClr val="212A26"/>
                </a:solidFill>
                <a:latin typeface="Calibri"/>
              </a:rPr>
              <a:t>'a client in medical devices' preserves the task without the leak — most drafting help needs the shape, not the names.</a:t>
            </a:r>
          </a:p>
          <a:p>
            <a:pPr algn="l">
              <a:spcAft>
                <a:spcPts val="1200"/>
              </a:spcAft>
            </a:pPr>
            <a:r>
              <a:rPr sz="1700">
                <a:solidFill>
                  <a:srgbClr val="8A6410"/>
                </a:solidFill>
                <a:latin typeface="Calibri"/>
              </a:rPr>
              <a:t>▪  </a:t>
            </a:r>
            <a:r>
              <a:rPr sz="1700" b="1">
                <a:solidFill>
                  <a:srgbClr val="0E4D33"/>
                </a:solidFill>
                <a:latin typeface="Calibri"/>
              </a:rPr>
              <a:t>When in doubt, the old test:  </a:t>
            </a:r>
            <a:r>
              <a:rPr sz="1700" b="0" i="0">
                <a:solidFill>
                  <a:srgbClr val="212A26"/>
                </a:solidFill>
                <a:latin typeface="Calibri"/>
              </a:rPr>
              <a:t>would you email this content to an outside vendor without asking anyone? Then don't paste it either.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4D33"/>
        </a:solidFill>
        <a:effectLst/>
      </p:bgPr>
    </p:bg>
    <p:spTree>
      <p:nvGrpSpPr>
        <p:cNvPr id="1" name=""/>
        <p:cNvGrpSpPr/>
        <p:nvPr/>
      </p:nvGrpSpPr>
      <p:grpSpPr/>
      <p:sp>
        <p:nvSpPr>
          <p:cNvPr id="2" name="Title 1" descr="Slide title: Disclosure and integrity"/>
          <p:cNvSpPr>
            <a:spLocks noGrp="1"/>
          </p:cNvSpPr>
          <p:nvPr>
            <p:ph type="title"/>
          </p:nvPr>
        </p:nvSpPr>
        <p:spPr>
          <a:xfrm>
            <a:off x="822960" y="2834640"/>
            <a:ext cx="10515600" cy="914400"/>
          </a:xfrm>
        </p:spPr>
        <p:txBody>
          <a:bodyPr wrap="square"/>
          <a:lstStyle/>
          <a:p>
            <a:pPr algn="l"/>
            <a:r>
              <a:rPr sz="4000" b="1">
                <a:solidFill>
                  <a:srgbClr val="FFFFFF"/>
                </a:solidFill>
                <a:latin typeface="Cambria"/>
              </a:rPr>
              <a:t>Disclosure and integrity</a:t>
            </a:r>
          </a:p>
        </p:txBody>
      </p:sp>
      <p:sp>
        <p:nvSpPr>
          <p:cNvPr id="3" name="TextBox 2" descr="Section number 04"/>
          <p:cNvSpPr txBox="1"/>
          <p:nvPr/>
        </p:nvSpPr>
        <p:spPr>
          <a:xfrm>
            <a:off x="822960" y="1188720"/>
            <a:ext cx="2743200" cy="1463040"/>
          </a:xfrm>
          <a:prstGeom prst="rect">
            <a:avLst/>
          </a:prstGeom>
          <a:noFill/>
        </p:spPr>
        <p:txBody>
          <a:bodyPr wrap="square">
            <a:spAutoFit/>
          </a:bodyPr>
          <a:lstStyle/>
          <a:p>
            <a:pPr algn="l">
              <a:spcAft>
                <a:spcPts val="800"/>
              </a:spcAft>
            </a:pPr>
            <a:r>
              <a:rPr sz="8000" b="1" i="0">
                <a:solidFill>
                  <a:srgbClr val="C9931A"/>
                </a:solidFill>
                <a:latin typeface="Cambria"/>
              </a:rPr>
              <a:t>04</a:t>
            </a:r>
          </a:p>
        </p:txBody>
      </p:sp>
      <p:sp>
        <p:nvSpPr>
          <p:cNvPr id="4" name="TextBox 3" descr="Section note"/>
          <p:cNvSpPr txBox="1"/>
          <p:nvPr/>
        </p:nvSpPr>
        <p:spPr>
          <a:xfrm>
            <a:off x="822960" y="4023360"/>
            <a:ext cx="9601200" cy="1097280"/>
          </a:xfrm>
          <a:prstGeom prst="rect">
            <a:avLst/>
          </a:prstGeom>
          <a:noFill/>
        </p:spPr>
        <p:txBody>
          <a:bodyPr wrap="square">
            <a:spAutoFit/>
          </a:bodyPr>
          <a:lstStyle/>
          <a:p>
            <a:pPr algn="l">
              <a:spcAft>
                <a:spcPts val="800"/>
              </a:spcAft>
            </a:pPr>
            <a:r>
              <a:rPr sz="1700" b="0" i="0">
                <a:solidFill>
                  <a:srgbClr val="EAF1EB"/>
                </a:solidFill>
                <a:latin typeface="Calibri"/>
              </a:rPr>
              <a:t>The norms are forming now — here's the durable core.</a:t>
            </a:r>
          </a:p>
        </p:txBody>
      </p:sp>
      <p:sp>
        <p:nvSpPr>
          <p:cNvPr id="5" name="TextBox 4"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6" name="TextBox 5" descr="Slide number 17"/>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Disclosure: the emerging professional norm"/>
          <p:cNvSpPr>
            <a:spLocks noGrp="1"/>
          </p:cNvSpPr>
          <p:nvPr>
            <p:ph type="title"/>
          </p:nvPr>
        </p:nvSpPr>
        <p:spPr>
          <a:xfrm>
            <a:off x="502920" y="411480"/>
            <a:ext cx="11155680" cy="914400"/>
          </a:xfrm>
        </p:spPr>
        <p:txBody>
          <a:bodyPr wrap="square"/>
          <a:lstStyle/>
          <a:p>
            <a:pPr algn="l"/>
            <a:r>
              <a:rPr sz="3200" b="1">
                <a:solidFill>
                  <a:srgbClr val="0E4D33"/>
                </a:solidFill>
                <a:latin typeface="Cambria"/>
              </a:rPr>
              <a:t>Disclosure: the emerging professional norm</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18"/>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18</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Follow the explicit rules first:  </a:t>
            </a:r>
            <a:r>
              <a:rPr sz="1700" b="0" i="0">
                <a:solidFill>
                  <a:srgbClr val="212A26"/>
                </a:solidFill>
                <a:latin typeface="Calibri"/>
              </a:rPr>
              <a:t>your syllabus, your employer's policy, your client's contract — where rules exist, the question is answered.</a:t>
            </a:r>
          </a:p>
          <a:p>
            <a:pPr algn="l">
              <a:spcAft>
                <a:spcPts val="1200"/>
              </a:spcAft>
            </a:pPr>
            <a:r>
              <a:rPr sz="1700">
                <a:solidFill>
                  <a:srgbClr val="8A6410"/>
                </a:solidFill>
                <a:latin typeface="Calibri"/>
              </a:rPr>
              <a:t>▪  </a:t>
            </a:r>
            <a:r>
              <a:rPr sz="1700" b="1">
                <a:solidFill>
                  <a:srgbClr val="0E4D33"/>
                </a:solidFill>
                <a:latin typeface="Calibri"/>
              </a:rPr>
              <a:t>Where rules are silent, disclose by stakes:  </a:t>
            </a:r>
            <a:r>
              <a:rPr sz="1700" b="0" i="0">
                <a:solidFill>
                  <a:srgbClr val="212A26"/>
                </a:solidFill>
                <a:latin typeface="Calibri"/>
              </a:rPr>
              <a:t>routine drafting help rarely needs a badge; analysis, research, or anything traded on your personal expertise usually does.</a:t>
            </a:r>
          </a:p>
          <a:p>
            <a:pPr algn="l">
              <a:spcAft>
                <a:spcPts val="1200"/>
              </a:spcAft>
            </a:pPr>
            <a:r>
              <a:rPr sz="1700">
                <a:solidFill>
                  <a:srgbClr val="8A6410"/>
                </a:solidFill>
                <a:latin typeface="Calibri"/>
              </a:rPr>
              <a:t>▪  </a:t>
            </a:r>
            <a:r>
              <a:rPr sz="1700" b="1">
                <a:solidFill>
                  <a:srgbClr val="0E4D33"/>
                </a:solidFill>
                <a:latin typeface="Calibri"/>
              </a:rPr>
              <a:t>The honest formulation is cheap:  </a:t>
            </a:r>
            <a:r>
              <a:rPr sz="1700" b="0" i="0">
                <a:solidFill>
                  <a:srgbClr val="212A26"/>
                </a:solidFill>
                <a:latin typeface="Calibri"/>
              </a:rPr>
              <a:t>'drafted with AI assistance; all facts and recommendations verified and mine' — one line, and it's true.</a:t>
            </a:r>
          </a:p>
          <a:p>
            <a:pPr algn="l">
              <a:spcAft>
                <a:spcPts val="1200"/>
              </a:spcAft>
            </a:pPr>
            <a:r>
              <a:rPr sz="1700">
                <a:solidFill>
                  <a:srgbClr val="8A6410"/>
                </a:solidFill>
                <a:latin typeface="Calibri"/>
              </a:rPr>
              <a:t>▪  </a:t>
            </a:r>
            <a:r>
              <a:rPr sz="1700" b="1">
                <a:solidFill>
                  <a:srgbClr val="0E4D33"/>
                </a:solidFill>
                <a:latin typeface="Calibri"/>
              </a:rPr>
              <a:t>The test that outlives every policy:  </a:t>
            </a:r>
            <a:r>
              <a:rPr sz="1700" b="0" i="0">
                <a:solidFill>
                  <a:srgbClr val="212A26"/>
                </a:solidFill>
                <a:latin typeface="Calibri"/>
              </a:rPr>
              <a:t>if disclosure would embarrass you, the use was wrong — the publicity test (Chapter 1), pointed at your tools.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In THIS course (and most workplaces)"/>
          <p:cNvSpPr>
            <a:spLocks noGrp="1"/>
          </p:cNvSpPr>
          <p:nvPr>
            <p:ph type="title"/>
          </p:nvPr>
        </p:nvSpPr>
        <p:spPr>
          <a:xfrm>
            <a:off x="502920" y="411480"/>
            <a:ext cx="11155680" cy="914400"/>
          </a:xfrm>
        </p:spPr>
        <p:txBody>
          <a:bodyPr wrap="square"/>
          <a:lstStyle/>
          <a:p>
            <a:pPr algn="l"/>
            <a:r>
              <a:rPr sz="3200" b="1">
                <a:solidFill>
                  <a:srgbClr val="0E4D33"/>
                </a:solidFill>
                <a:latin typeface="Cambria"/>
              </a:rPr>
              <a:t>In THIS course (and most workplaces)</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19"/>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19</a:t>
            </a:r>
          </a:p>
        </p:txBody>
      </p:sp>
      <p:sp>
        <p:nvSpPr>
          <p:cNvPr id="5" name="Rounded Rectangle 4" descr="Encouraged panel"/>
          <p:cNvSpPr/>
          <p:nvPr/>
        </p:nvSpPr>
        <p:spPr>
          <a:xfrm>
            <a:off x="548640" y="1554480"/>
            <a:ext cx="5394960" cy="4572000"/>
          </a:xfrm>
          <a:prstGeom prst="roundRect">
            <a:avLst/>
          </a:prstGeom>
          <a:solidFill>
            <a:srgbClr val="EAF1E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l">
              <a:spcAft>
                <a:spcPts val="1200"/>
              </a:spcAft>
            </a:pPr>
            <a:r>
              <a:rPr sz="1800" b="1" i="0">
                <a:solidFill>
                  <a:srgbClr val="0E4D33"/>
                </a:solidFill>
                <a:latin typeface="Cambria"/>
              </a:rPr>
              <a:t>Encouraged</a:t>
            </a:r>
          </a:p>
          <a:p>
            <a:pPr algn="l">
              <a:spcAft>
                <a:spcPts val="900"/>
              </a:spcAft>
            </a:pPr>
            <a:r>
              <a:rPr sz="1500">
                <a:solidFill>
                  <a:srgbClr val="8A6410"/>
                </a:solidFill>
                <a:latin typeface="Calibri"/>
              </a:rPr>
              <a:t>▪  </a:t>
            </a:r>
            <a:r>
              <a:rPr sz="1500" b="0" i="0">
                <a:solidFill>
                  <a:srgbClr val="212A26"/>
                </a:solidFill>
                <a:latin typeface="Calibri"/>
              </a:rPr>
              <a:t>Critique loops on your own drafts</a:t>
            </a:r>
          </a:p>
          <a:p>
            <a:pPr algn="l">
              <a:spcAft>
                <a:spcPts val="900"/>
              </a:spcAft>
            </a:pPr>
            <a:r>
              <a:rPr sz="1500">
                <a:solidFill>
                  <a:srgbClr val="8A6410"/>
                </a:solidFill>
                <a:latin typeface="Calibri"/>
              </a:rPr>
              <a:t>▪  </a:t>
            </a:r>
            <a:r>
              <a:rPr sz="1500" b="0" i="0">
                <a:solidFill>
                  <a:srgbClr val="212A26"/>
                </a:solidFill>
                <a:latin typeface="Calibri"/>
              </a:rPr>
              <a:t>Grammar, clarity, and tone passes</a:t>
            </a:r>
          </a:p>
          <a:p>
            <a:pPr algn="l">
              <a:spcAft>
                <a:spcPts val="900"/>
              </a:spcAft>
            </a:pPr>
            <a:r>
              <a:rPr sz="1500">
                <a:solidFill>
                  <a:srgbClr val="8A6410"/>
                </a:solidFill>
                <a:latin typeface="Calibri"/>
              </a:rPr>
              <a:t>▪  </a:t>
            </a:r>
            <a:r>
              <a:rPr sz="1500" b="0" i="0">
                <a:solidFill>
                  <a:srgbClr val="212A26"/>
                </a:solidFill>
                <a:latin typeface="Calibri"/>
              </a:rPr>
              <a:t>Brainstorming, outlining, study help</a:t>
            </a:r>
          </a:p>
          <a:p>
            <a:pPr algn="l">
              <a:spcAft>
                <a:spcPts val="900"/>
              </a:spcAft>
            </a:pPr>
            <a:r>
              <a:rPr sz="1500">
                <a:solidFill>
                  <a:srgbClr val="8A6410"/>
                </a:solidFill>
                <a:latin typeface="Calibri"/>
              </a:rPr>
              <a:t>▪  </a:t>
            </a:r>
            <a:r>
              <a:rPr sz="1500" b="0" i="0">
                <a:solidFill>
                  <a:srgbClr val="212A26"/>
                </a:solidFill>
                <a:latin typeface="Calibri"/>
              </a:rPr>
              <a:t>Practice: interview questions, quiz drills</a:t>
            </a:r>
          </a:p>
        </p:txBody>
      </p:sp>
      <p:sp>
        <p:nvSpPr>
          <p:cNvPr id="6" name="Rounded Rectangle 5" descr="Out of bounds panel"/>
          <p:cNvSpPr/>
          <p:nvPr/>
        </p:nvSpPr>
        <p:spPr>
          <a:xfrm>
            <a:off x="6263640" y="1554480"/>
            <a:ext cx="5394960" cy="4572000"/>
          </a:xfrm>
          <a:prstGeom prst="roundRect">
            <a:avLst/>
          </a:prstGeom>
          <a:solidFill>
            <a:srgbClr val="F7EAE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l">
              <a:spcAft>
                <a:spcPts val="1200"/>
              </a:spcAft>
            </a:pPr>
            <a:r>
              <a:rPr sz="1800" b="1" i="0">
                <a:solidFill>
                  <a:srgbClr val="B23A31"/>
                </a:solidFill>
                <a:latin typeface="Cambria"/>
              </a:rPr>
              <a:t>Out of bounds</a:t>
            </a:r>
          </a:p>
          <a:p>
            <a:pPr algn="l">
              <a:spcAft>
                <a:spcPts val="900"/>
              </a:spcAft>
            </a:pPr>
            <a:r>
              <a:rPr sz="1500">
                <a:solidFill>
                  <a:srgbClr val="8A6410"/>
                </a:solidFill>
                <a:latin typeface="Calibri"/>
              </a:rPr>
              <a:t>▪  </a:t>
            </a:r>
            <a:r>
              <a:rPr sz="1500" b="0" i="0">
                <a:solidFill>
                  <a:srgbClr val="212A26"/>
                </a:solidFill>
                <a:latin typeface="Calibri"/>
              </a:rPr>
              <a:t>Submitting AI work as your assessed writing</a:t>
            </a:r>
          </a:p>
          <a:p>
            <a:pPr algn="l">
              <a:spcAft>
                <a:spcPts val="900"/>
              </a:spcAft>
            </a:pPr>
            <a:r>
              <a:rPr sz="1500">
                <a:solidFill>
                  <a:srgbClr val="8A6410"/>
                </a:solidFill>
                <a:latin typeface="Calibri"/>
              </a:rPr>
              <a:t>▪  </a:t>
            </a:r>
            <a:r>
              <a:rPr sz="1500" b="0" i="0">
                <a:solidFill>
                  <a:srgbClr val="212A26"/>
                </a:solidFill>
                <a:latin typeface="Calibri"/>
              </a:rPr>
              <a:t>Fabricated or unverifiable citations</a:t>
            </a:r>
          </a:p>
          <a:p>
            <a:pPr algn="l">
              <a:spcAft>
                <a:spcPts val="900"/>
              </a:spcAft>
            </a:pPr>
            <a:r>
              <a:rPr sz="1500">
                <a:solidFill>
                  <a:srgbClr val="8A6410"/>
                </a:solidFill>
                <a:latin typeface="Calibri"/>
              </a:rPr>
              <a:t>▪  </a:t>
            </a:r>
            <a:r>
              <a:rPr sz="1500" b="0" i="0">
                <a:solidFill>
                  <a:srgbClr val="212A26"/>
                </a:solidFill>
                <a:latin typeface="Calibri"/>
              </a:rPr>
              <a:t>Pasting confidential or personal data</a:t>
            </a:r>
          </a:p>
          <a:p>
            <a:pPr algn="l">
              <a:spcAft>
                <a:spcPts val="900"/>
              </a:spcAft>
            </a:pPr>
            <a:r>
              <a:rPr sz="1500">
                <a:solidFill>
                  <a:srgbClr val="8A6410"/>
                </a:solidFill>
                <a:latin typeface="Calibri"/>
              </a:rPr>
              <a:t>▪  </a:t>
            </a:r>
            <a:r>
              <a:rPr sz="1500" b="0" i="0">
                <a:solidFill>
                  <a:srgbClr val="212A26"/>
                </a:solidFill>
                <a:latin typeface="Calibri"/>
              </a:rPr>
              <a:t>AI-drafted goodwill, apologies, or feedback (see: never-delegate)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4D33"/>
        </a:solidFill>
        <a:effectLst/>
      </p:bgPr>
    </p:bg>
    <p:spTree>
      <p:nvGrpSpPr>
        <p:cNvPr id="1" name=""/>
        <p:cNvGrpSpPr/>
        <p:nvPr/>
      </p:nvGrpSpPr>
      <p:grpSpPr/>
      <p:sp>
        <p:nvSpPr>
          <p:cNvPr id="2" name="Title 1" descr="Slide title: Agents"/>
          <p:cNvSpPr>
            <a:spLocks noGrp="1"/>
          </p:cNvSpPr>
          <p:nvPr>
            <p:ph type="title"/>
          </p:nvPr>
        </p:nvSpPr>
        <p:spPr>
          <a:xfrm>
            <a:off x="822960" y="2834640"/>
            <a:ext cx="10515600" cy="914400"/>
          </a:xfrm>
        </p:spPr>
        <p:txBody>
          <a:bodyPr wrap="square"/>
          <a:lstStyle/>
          <a:p>
            <a:pPr algn="l"/>
            <a:r>
              <a:rPr sz="4000" b="1">
                <a:solidFill>
                  <a:srgbClr val="FFFFFF"/>
                </a:solidFill>
                <a:latin typeface="Cambria"/>
              </a:rPr>
              <a:t>Agents</a:t>
            </a:r>
          </a:p>
        </p:txBody>
      </p:sp>
      <p:sp>
        <p:nvSpPr>
          <p:cNvPr id="3" name="TextBox 2" descr="Section number 05"/>
          <p:cNvSpPr txBox="1"/>
          <p:nvPr/>
        </p:nvSpPr>
        <p:spPr>
          <a:xfrm>
            <a:off x="822960" y="1188720"/>
            <a:ext cx="2743200" cy="1463040"/>
          </a:xfrm>
          <a:prstGeom prst="rect">
            <a:avLst/>
          </a:prstGeom>
          <a:noFill/>
        </p:spPr>
        <p:txBody>
          <a:bodyPr wrap="square">
            <a:spAutoFit/>
          </a:bodyPr>
          <a:lstStyle/>
          <a:p>
            <a:pPr algn="l">
              <a:spcAft>
                <a:spcPts val="800"/>
              </a:spcAft>
            </a:pPr>
            <a:r>
              <a:rPr sz="8000" b="1" i="0">
                <a:solidFill>
                  <a:srgbClr val="C9931A"/>
                </a:solidFill>
                <a:latin typeface="Cambria"/>
              </a:rPr>
              <a:t>05</a:t>
            </a:r>
          </a:p>
        </p:txBody>
      </p:sp>
      <p:sp>
        <p:nvSpPr>
          <p:cNvPr id="4" name="TextBox 3" descr="Section note"/>
          <p:cNvSpPr txBox="1"/>
          <p:nvPr/>
        </p:nvSpPr>
        <p:spPr>
          <a:xfrm>
            <a:off x="822960" y="4023360"/>
            <a:ext cx="9601200" cy="1097280"/>
          </a:xfrm>
          <a:prstGeom prst="rect">
            <a:avLst/>
          </a:prstGeom>
          <a:noFill/>
        </p:spPr>
        <p:txBody>
          <a:bodyPr wrap="square">
            <a:spAutoFit/>
          </a:bodyPr>
          <a:lstStyle/>
          <a:p>
            <a:pPr algn="l">
              <a:spcAft>
                <a:spcPts val="800"/>
              </a:spcAft>
            </a:pPr>
            <a:r>
              <a:rPr sz="1700" b="0" i="0">
                <a:solidFill>
                  <a:srgbClr val="EAF1EB"/>
                </a:solidFill>
                <a:latin typeface="Calibri"/>
              </a:rPr>
              <a:t>When the tool stops drafting and starts DOING.</a:t>
            </a:r>
          </a:p>
        </p:txBody>
      </p:sp>
      <p:sp>
        <p:nvSpPr>
          <p:cNvPr id="5" name="TextBox 4"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6" name="TextBox 5" descr="Slide number 20"/>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What an agent is"/>
          <p:cNvSpPr>
            <a:spLocks noGrp="1"/>
          </p:cNvSpPr>
          <p:nvPr>
            <p:ph type="title"/>
          </p:nvPr>
        </p:nvSpPr>
        <p:spPr>
          <a:xfrm>
            <a:off x="502920" y="411480"/>
            <a:ext cx="11155680" cy="914400"/>
          </a:xfrm>
        </p:spPr>
        <p:txBody>
          <a:bodyPr wrap="square"/>
          <a:lstStyle/>
          <a:p>
            <a:pPr algn="l"/>
            <a:r>
              <a:rPr sz="3200" b="1">
                <a:solidFill>
                  <a:srgbClr val="0E4D33"/>
                </a:solidFill>
                <a:latin typeface="Cambria"/>
              </a:rPr>
              <a:t>What an agent is</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1"/>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21</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A model with hands:  </a:t>
            </a:r>
            <a:r>
              <a:rPr sz="1700" b="0" i="0">
                <a:solidFill>
                  <a:srgbClr val="212A26"/>
                </a:solidFill>
                <a:latin typeface="Calibri"/>
              </a:rPr>
              <a:t>an AI that doesn't just draft the email but sends it; doesn't just plan the search but runs it, files the results, and schedules the follow-up.</a:t>
            </a:r>
          </a:p>
          <a:p>
            <a:pPr algn="l">
              <a:spcAft>
                <a:spcPts val="1200"/>
              </a:spcAft>
            </a:pPr>
            <a:r>
              <a:rPr sz="1700">
                <a:solidFill>
                  <a:srgbClr val="8A6410"/>
                </a:solidFill>
                <a:latin typeface="Calibri"/>
              </a:rPr>
              <a:t>▪  </a:t>
            </a:r>
            <a:r>
              <a:rPr sz="1700" b="1">
                <a:solidFill>
                  <a:srgbClr val="0E4D33"/>
                </a:solidFill>
                <a:latin typeface="Calibri"/>
              </a:rPr>
              <a:t>The shift is from suggestion to ACTION:  </a:t>
            </a:r>
            <a:r>
              <a:rPr sz="1700" b="0" i="0">
                <a:solidFill>
                  <a:srgbClr val="212A26"/>
                </a:solidFill>
                <a:latin typeface="Calibri"/>
              </a:rPr>
              <a:t>drafting tools propose; agents execute — calendars, inboxes, purchases, postings, code.</a:t>
            </a:r>
          </a:p>
          <a:p>
            <a:pPr algn="l">
              <a:spcAft>
                <a:spcPts val="1200"/>
              </a:spcAft>
            </a:pPr>
            <a:r>
              <a:rPr sz="1700">
                <a:solidFill>
                  <a:srgbClr val="8A6410"/>
                </a:solidFill>
                <a:latin typeface="Calibri"/>
              </a:rPr>
              <a:t>▪  </a:t>
            </a:r>
            <a:r>
              <a:rPr sz="1700" b="1">
                <a:solidFill>
                  <a:srgbClr val="0E4D33"/>
                </a:solidFill>
                <a:latin typeface="Calibri"/>
              </a:rPr>
              <a:t>Your actions, legally and professionally:  </a:t>
            </a:r>
            <a:r>
              <a:rPr sz="1700" b="0" i="0">
                <a:solidFill>
                  <a:srgbClr val="212A26"/>
                </a:solidFill>
                <a:latin typeface="Calibri"/>
              </a:rPr>
              <a:t>the agent that mails the wrong client or posts the wrong figure acted under your name — 'the AI did it' is the new 'the intern did it,' and it defends exactly as well.</a:t>
            </a:r>
          </a:p>
          <a:p>
            <a:pPr algn="l">
              <a:spcAft>
                <a:spcPts val="1200"/>
              </a:spcAft>
            </a:pPr>
            <a:r>
              <a:rPr sz="1700">
                <a:solidFill>
                  <a:srgbClr val="8A6410"/>
                </a:solidFill>
                <a:latin typeface="Calibri"/>
              </a:rPr>
              <a:t>▪  </a:t>
            </a:r>
            <a:r>
              <a:rPr sz="1700" b="1">
                <a:solidFill>
                  <a:srgbClr val="0E4D33"/>
                </a:solidFill>
                <a:latin typeface="Calibri"/>
              </a:rPr>
              <a:t>Useful and real today:  </a:t>
            </a:r>
            <a:r>
              <a:rPr sz="1700" b="0" i="0">
                <a:solidFill>
                  <a:srgbClr val="212A26"/>
                </a:solidFill>
                <a:latin typeface="Calibri"/>
              </a:rPr>
              <a:t>research sweeps, report drafts, data pulls, scheduling — this course's own materials were built with agentic help, supervised precisely this way.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Delegating to agents without abdicating"/>
          <p:cNvSpPr>
            <a:spLocks noGrp="1"/>
          </p:cNvSpPr>
          <p:nvPr>
            <p:ph type="title"/>
          </p:nvPr>
        </p:nvSpPr>
        <p:spPr>
          <a:xfrm>
            <a:off x="502920" y="411480"/>
            <a:ext cx="11155680" cy="914400"/>
          </a:xfrm>
        </p:spPr>
        <p:txBody>
          <a:bodyPr wrap="square"/>
          <a:lstStyle/>
          <a:p>
            <a:pPr algn="l"/>
            <a:r>
              <a:rPr sz="3200" b="1">
                <a:solidFill>
                  <a:srgbClr val="0E4D33"/>
                </a:solidFill>
                <a:latin typeface="Cambria"/>
              </a:rPr>
              <a:t>Delegating to agents without abdicating</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2"/>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22</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Scope the mandate in writing:  </a:t>
            </a:r>
            <a:r>
              <a:rPr sz="1700" b="0" i="0">
                <a:solidFill>
                  <a:srgbClr val="212A26"/>
                </a:solidFill>
                <a:latin typeface="Calibri"/>
              </a:rPr>
              <a:t>what it may do, what it must ask about, what it must never touch — a job description, not a wish (Chapter 6's complete-ask, pointed at software).</a:t>
            </a:r>
          </a:p>
          <a:p>
            <a:pPr algn="l">
              <a:spcAft>
                <a:spcPts val="1200"/>
              </a:spcAft>
            </a:pPr>
            <a:r>
              <a:rPr sz="1700">
                <a:solidFill>
                  <a:srgbClr val="8A6410"/>
                </a:solidFill>
                <a:latin typeface="Calibri"/>
              </a:rPr>
              <a:t>▪  </a:t>
            </a:r>
            <a:r>
              <a:rPr sz="1700" b="1">
                <a:solidFill>
                  <a:srgbClr val="0E4D33"/>
                </a:solidFill>
                <a:latin typeface="Calibri"/>
              </a:rPr>
              <a:t>Gate the irreversible:  </a:t>
            </a:r>
            <a:r>
              <a:rPr sz="1700" b="0" i="0">
                <a:solidFill>
                  <a:srgbClr val="212A26"/>
                </a:solidFill>
                <a:latin typeface="Calibri"/>
              </a:rPr>
              <a:t>sending, deleting, purchasing, publishing get human review — draft-for-approval beats act-then-apologize wherever the action can't be undone.</a:t>
            </a:r>
          </a:p>
          <a:p>
            <a:pPr algn="l">
              <a:spcAft>
                <a:spcPts val="1200"/>
              </a:spcAft>
            </a:pPr>
            <a:r>
              <a:rPr sz="1700">
                <a:solidFill>
                  <a:srgbClr val="8A6410"/>
                </a:solidFill>
                <a:latin typeface="Calibri"/>
              </a:rPr>
              <a:t>▪  </a:t>
            </a:r>
            <a:r>
              <a:rPr sz="1700" b="1">
                <a:solidFill>
                  <a:srgbClr val="0E4D33"/>
                </a:solidFill>
                <a:latin typeface="Calibri"/>
              </a:rPr>
              <a:t>Start narrow, widen with evidence:  </a:t>
            </a:r>
            <a:r>
              <a:rPr sz="1700" b="0" i="0">
                <a:solidFill>
                  <a:srgbClr val="212A26"/>
                </a:solidFill>
                <a:latin typeface="Calibri"/>
              </a:rPr>
              <a:t>the trust ladder (Chapter 8) applies to tools — the agent earns scope the way a new hire does.</a:t>
            </a:r>
          </a:p>
          <a:p>
            <a:pPr algn="l">
              <a:spcAft>
                <a:spcPts val="1200"/>
              </a:spcAft>
            </a:pPr>
            <a:r>
              <a:rPr sz="1700">
                <a:solidFill>
                  <a:srgbClr val="8A6410"/>
                </a:solidFill>
                <a:latin typeface="Calibri"/>
              </a:rPr>
              <a:t>▪  </a:t>
            </a:r>
            <a:r>
              <a:rPr sz="1700" b="1">
                <a:solidFill>
                  <a:srgbClr val="0E4D33"/>
                </a:solidFill>
                <a:latin typeface="Calibri"/>
              </a:rPr>
              <a:t>Audit the output on cadence:  </a:t>
            </a:r>
            <a:r>
              <a:rPr sz="1700" b="0" i="0">
                <a:solidFill>
                  <a:srgbClr val="212A26"/>
                </a:solidFill>
                <a:latin typeface="Calibri"/>
              </a:rPr>
              <a:t>spot-check what it did, not just what it reported — Chapter 9's honest-yellow logic applies to your tools too.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Case: the agent that emailed the draft"/>
          <p:cNvSpPr>
            <a:spLocks noGrp="1"/>
          </p:cNvSpPr>
          <p:nvPr>
            <p:ph type="title"/>
          </p:nvPr>
        </p:nvSpPr>
        <p:spPr>
          <a:xfrm>
            <a:off x="502920" y="411480"/>
            <a:ext cx="11155680" cy="914400"/>
          </a:xfrm>
        </p:spPr>
        <p:txBody>
          <a:bodyPr wrap="square"/>
          <a:lstStyle/>
          <a:p>
            <a:pPr algn="l"/>
            <a:r>
              <a:rPr sz="3200" b="1">
                <a:solidFill>
                  <a:srgbClr val="0E4D33"/>
                </a:solidFill>
                <a:latin typeface="Cambria"/>
              </a:rPr>
              <a:t>Case: the agent that emailed the draft</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3"/>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23</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An analyst's agent managed her follow-ups.  </a:t>
            </a:r>
            <a:r>
              <a:rPr sz="1700" b="0" i="0">
                <a:solidFill>
                  <a:srgbClr val="212A26"/>
                </a:solidFill>
                <a:latin typeface="Calibri"/>
              </a:rPr>
              <a:t>One mandate line was loose: 'send routine confirmations without review.'</a:t>
            </a:r>
          </a:p>
          <a:p>
            <a:pPr algn="l">
              <a:spcAft>
                <a:spcPts val="1200"/>
              </a:spcAft>
            </a:pPr>
            <a:r>
              <a:rPr sz="1700">
                <a:solidFill>
                  <a:srgbClr val="8A6410"/>
                </a:solidFill>
                <a:latin typeface="Calibri"/>
              </a:rPr>
              <a:t>▪  </a:t>
            </a:r>
            <a:r>
              <a:rPr sz="1700" b="1">
                <a:solidFill>
                  <a:srgbClr val="0E4D33"/>
                </a:solidFill>
                <a:latin typeface="Calibri"/>
              </a:rPr>
              <a:t>A renegotiation email — with candid internal notes still in the thread —  </a:t>
            </a:r>
            <a:r>
              <a:rPr sz="1700" b="0" i="0">
                <a:solidFill>
                  <a:srgbClr val="212A26"/>
                </a:solidFill>
                <a:latin typeface="Calibri"/>
              </a:rPr>
              <a:t>matched 'routine confirmation' by the agent's lights. It sent. The client read the notes.</a:t>
            </a:r>
          </a:p>
          <a:p>
            <a:pPr algn="l">
              <a:spcAft>
                <a:spcPts val="1200"/>
              </a:spcAft>
            </a:pPr>
            <a:r>
              <a:rPr sz="1700">
                <a:solidFill>
                  <a:srgbClr val="8A6410"/>
                </a:solidFill>
                <a:latin typeface="Calibri"/>
              </a:rPr>
              <a:t>▪  </a:t>
            </a:r>
            <a:r>
              <a:rPr sz="1700" b="1">
                <a:solidFill>
                  <a:srgbClr val="0E4D33"/>
                </a:solidFill>
                <a:latin typeface="Calibri"/>
              </a:rPr>
              <a:t>The recovery ran Chapter 7:  </a:t>
            </a:r>
            <a:r>
              <a:rPr sz="1700" b="0" i="0">
                <a:solidFill>
                  <a:srgbClr val="212A26"/>
                </a:solidFill>
                <a:latin typeface="Calibri"/>
              </a:rPr>
              <a:t>same-hour ownership call, no blame laid on the tool in public — 'my process failed' — and a mandate rewrite with a review gate.</a:t>
            </a:r>
          </a:p>
          <a:p>
            <a:pPr algn="l">
              <a:spcAft>
                <a:spcPts val="1200"/>
              </a:spcAft>
            </a:pPr>
            <a:r>
              <a:rPr sz="1700">
                <a:solidFill>
                  <a:srgbClr val="8A6410"/>
                </a:solidFill>
                <a:latin typeface="Calibri"/>
              </a:rPr>
              <a:t>▪  </a:t>
            </a:r>
            <a:r>
              <a:rPr sz="1700" b="1">
                <a:solidFill>
                  <a:srgbClr val="0E4D33"/>
                </a:solidFill>
                <a:latin typeface="Calibri"/>
              </a:rPr>
              <a:t>The lesson:  </a:t>
            </a:r>
            <a:r>
              <a:rPr sz="1700" b="0" i="0">
                <a:solidFill>
                  <a:srgbClr val="212A26"/>
                </a:solidFill>
                <a:latin typeface="Calibri"/>
              </a:rPr>
              <a:t>agents execute the mandate you WROTE, not the one you meant — precision in delegation is now a writing skill with a blast radius.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Talking about AI with your team"/>
          <p:cNvSpPr>
            <a:spLocks noGrp="1"/>
          </p:cNvSpPr>
          <p:nvPr>
            <p:ph type="title"/>
          </p:nvPr>
        </p:nvSpPr>
        <p:spPr>
          <a:xfrm>
            <a:off x="502920" y="411480"/>
            <a:ext cx="11155680" cy="914400"/>
          </a:xfrm>
        </p:spPr>
        <p:txBody>
          <a:bodyPr wrap="square"/>
          <a:lstStyle/>
          <a:p>
            <a:pPr algn="l"/>
            <a:r>
              <a:rPr sz="3200" b="1">
                <a:solidFill>
                  <a:srgbClr val="0E4D33"/>
                </a:solidFill>
                <a:latin typeface="Cambria"/>
              </a:rPr>
              <a:t>Talking about AI with your team</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4"/>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24</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Agree on team norms out loud (Chapter 11):  </a:t>
            </a:r>
            <a:r>
              <a:rPr sz="1700" b="0" i="0">
                <a:solidFill>
                  <a:srgbClr val="212A26"/>
                </a:solidFill>
                <a:latin typeface="Calibri"/>
              </a:rPr>
              <a:t>which tools, which tasks, what gets disclosed, what never gets pasted — unwritten AI norms are incidents on layaway.</a:t>
            </a:r>
          </a:p>
          <a:p>
            <a:pPr algn="l">
              <a:spcAft>
                <a:spcPts val="1200"/>
              </a:spcAft>
            </a:pPr>
            <a:r>
              <a:rPr sz="1700">
                <a:solidFill>
                  <a:srgbClr val="8A6410"/>
                </a:solidFill>
                <a:latin typeface="Calibri"/>
              </a:rPr>
              <a:t>▪  </a:t>
            </a:r>
            <a:r>
              <a:rPr sz="1700" b="1">
                <a:solidFill>
                  <a:srgbClr val="0E4D33"/>
                </a:solidFill>
                <a:latin typeface="Calibri"/>
              </a:rPr>
              <a:t>Never weaponize the accusation:  </a:t>
            </a:r>
            <a:r>
              <a:rPr sz="1700" b="0" i="0">
                <a:solidFill>
                  <a:srgbClr val="212A26"/>
                </a:solidFill>
                <a:latin typeface="Calibri"/>
              </a:rPr>
              <a:t>'this feels AI-written' is the new 'did you even write this?' — critique the work's actual failures, not its suspected genealogy (Chapter 4).</a:t>
            </a:r>
          </a:p>
          <a:p>
            <a:pPr algn="l">
              <a:spcAft>
                <a:spcPts val="1200"/>
              </a:spcAft>
            </a:pPr>
            <a:r>
              <a:rPr sz="1700">
                <a:solidFill>
                  <a:srgbClr val="8A6410"/>
                </a:solidFill>
                <a:latin typeface="Calibri"/>
              </a:rPr>
              <a:t>▪  </a:t>
            </a:r>
            <a:r>
              <a:rPr sz="1700" b="1">
                <a:solidFill>
                  <a:srgbClr val="0E4D33"/>
                </a:solidFill>
                <a:latin typeface="Calibri"/>
              </a:rPr>
              <a:t>Share prompts like you share templates:  </a:t>
            </a:r>
            <a:r>
              <a:rPr sz="1700" b="0" i="0">
                <a:solidFill>
                  <a:srgbClr val="212A26"/>
                </a:solidFill>
                <a:latin typeface="Calibri"/>
              </a:rPr>
              <a:t>the brief that produced the great status report is team infrastructure — document it (Chapter 5's wiki rules).</a:t>
            </a:r>
          </a:p>
          <a:p>
            <a:pPr algn="l">
              <a:spcAft>
                <a:spcPts val="1200"/>
              </a:spcAft>
            </a:pPr>
            <a:r>
              <a:rPr sz="1700">
                <a:solidFill>
                  <a:srgbClr val="8A6410"/>
                </a:solidFill>
                <a:latin typeface="Calibri"/>
              </a:rPr>
              <a:t>▪  </a:t>
            </a:r>
            <a:r>
              <a:rPr sz="1700" b="1">
                <a:solidFill>
                  <a:srgbClr val="0E4D33"/>
                </a:solidFill>
                <a:latin typeface="Calibri"/>
              </a:rPr>
              <a:t>Level the access:  </a:t>
            </a:r>
            <a:r>
              <a:rPr sz="1700" b="0" i="0">
                <a:solidFill>
                  <a:srgbClr val="212A26"/>
                </a:solidFill>
                <a:latin typeface="Calibri"/>
              </a:rPr>
              <a:t>if half the team has enterprise tools and half doesn't, the output gap isn't a talent gap — say so before performance reviews do.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4D33"/>
        </a:solidFill>
        <a:effectLst/>
      </p:bgPr>
    </p:bg>
    <p:spTree>
      <p:nvGrpSpPr>
        <p:cNvPr id="1" name=""/>
        <p:cNvGrpSpPr/>
        <p:nvPr/>
      </p:nvGrpSpPr>
      <p:grpSpPr/>
      <p:sp>
        <p:nvSpPr>
          <p:cNvPr id="2" name="Title 1" descr="Slide title: The career layer"/>
          <p:cNvSpPr>
            <a:spLocks noGrp="1"/>
          </p:cNvSpPr>
          <p:nvPr>
            <p:ph type="title"/>
          </p:nvPr>
        </p:nvSpPr>
        <p:spPr>
          <a:xfrm>
            <a:off x="822960" y="2834640"/>
            <a:ext cx="10515600" cy="914400"/>
          </a:xfrm>
        </p:spPr>
        <p:txBody>
          <a:bodyPr wrap="square"/>
          <a:lstStyle/>
          <a:p>
            <a:pPr algn="l"/>
            <a:r>
              <a:rPr sz="4000" b="1">
                <a:solidFill>
                  <a:srgbClr val="FFFFFF"/>
                </a:solidFill>
                <a:latin typeface="Cambria"/>
              </a:rPr>
              <a:t>The career layer</a:t>
            </a:r>
          </a:p>
        </p:txBody>
      </p:sp>
      <p:sp>
        <p:nvSpPr>
          <p:cNvPr id="3" name="TextBox 2" descr="Section number 06"/>
          <p:cNvSpPr txBox="1"/>
          <p:nvPr/>
        </p:nvSpPr>
        <p:spPr>
          <a:xfrm>
            <a:off x="822960" y="1188720"/>
            <a:ext cx="2743200" cy="1463040"/>
          </a:xfrm>
          <a:prstGeom prst="rect">
            <a:avLst/>
          </a:prstGeom>
          <a:noFill/>
        </p:spPr>
        <p:txBody>
          <a:bodyPr wrap="square">
            <a:spAutoFit/>
          </a:bodyPr>
          <a:lstStyle/>
          <a:p>
            <a:pPr algn="l">
              <a:spcAft>
                <a:spcPts val="800"/>
              </a:spcAft>
            </a:pPr>
            <a:r>
              <a:rPr sz="8000" b="1" i="0">
                <a:solidFill>
                  <a:srgbClr val="C9931A"/>
                </a:solidFill>
                <a:latin typeface="Cambria"/>
              </a:rPr>
              <a:t>06</a:t>
            </a:r>
          </a:p>
        </p:txBody>
      </p:sp>
      <p:sp>
        <p:nvSpPr>
          <p:cNvPr id="4" name="TextBox 3" descr="Section note"/>
          <p:cNvSpPr txBox="1"/>
          <p:nvPr/>
        </p:nvSpPr>
        <p:spPr>
          <a:xfrm>
            <a:off x="822960" y="4023360"/>
            <a:ext cx="9601200" cy="1097280"/>
          </a:xfrm>
          <a:prstGeom prst="rect">
            <a:avLst/>
          </a:prstGeom>
          <a:noFill/>
        </p:spPr>
        <p:txBody>
          <a:bodyPr wrap="square">
            <a:spAutoFit/>
          </a:bodyPr>
          <a:lstStyle/>
          <a:p>
            <a:pPr algn="l">
              <a:spcAft>
                <a:spcPts val="800"/>
              </a:spcAft>
            </a:pPr>
            <a:r>
              <a:rPr sz="1700" b="0" i="0">
                <a:solidFill>
                  <a:srgbClr val="EAF1EB"/>
                </a:solidFill>
                <a:latin typeface="Calibri"/>
              </a:rPr>
              <a:t>Invest in the ceiling.</a:t>
            </a:r>
          </a:p>
        </p:txBody>
      </p:sp>
      <p:sp>
        <p:nvSpPr>
          <p:cNvPr id="5" name="TextBox 4"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6" name="TextBox 5" descr="Slide number 25"/>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Skills that appreciate as drafting gets free"/>
          <p:cNvSpPr>
            <a:spLocks noGrp="1"/>
          </p:cNvSpPr>
          <p:nvPr>
            <p:ph type="title"/>
          </p:nvPr>
        </p:nvSpPr>
        <p:spPr>
          <a:xfrm>
            <a:off x="502920" y="411480"/>
            <a:ext cx="11155680" cy="914400"/>
          </a:xfrm>
        </p:spPr>
        <p:txBody>
          <a:bodyPr wrap="square"/>
          <a:lstStyle/>
          <a:p>
            <a:pPr algn="l"/>
            <a:r>
              <a:rPr sz="3200" b="1">
                <a:solidFill>
                  <a:srgbClr val="0E4D33"/>
                </a:solidFill>
                <a:latin typeface="Cambria"/>
              </a:rPr>
              <a:t>Skills that appreciate as drafting gets free</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6"/>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26</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Judgment:  </a:t>
            </a:r>
            <a:r>
              <a:rPr sz="1700" b="0" i="0">
                <a:solidFill>
                  <a:srgbClr val="212A26"/>
                </a:solidFill>
                <a:latin typeface="Calibri"/>
              </a:rPr>
              <a:t>what's true, what matters, what the moment requires — the whole ceiling, and the whole course.</a:t>
            </a:r>
          </a:p>
          <a:p>
            <a:pPr algn="l">
              <a:spcAft>
                <a:spcPts val="1200"/>
              </a:spcAft>
            </a:pPr>
            <a:r>
              <a:rPr sz="1700">
                <a:solidFill>
                  <a:srgbClr val="8A6410"/>
                </a:solidFill>
                <a:latin typeface="Calibri"/>
              </a:rPr>
              <a:t>▪  </a:t>
            </a:r>
            <a:r>
              <a:rPr sz="1700" b="1">
                <a:solidFill>
                  <a:srgbClr val="0E4D33"/>
                </a:solidFill>
                <a:latin typeface="Calibri"/>
              </a:rPr>
              <a:t>Verification and source discipline (Chapter 10):  </a:t>
            </a:r>
            <a:r>
              <a:rPr sz="1700" b="0" i="0">
                <a:solidFill>
                  <a:srgbClr val="212A26"/>
                </a:solidFill>
                <a:latin typeface="Calibri"/>
              </a:rPr>
              <a:t>when fluent text is free, the person who can tell TRUE from plausible becomes the scarce input.</a:t>
            </a:r>
          </a:p>
          <a:p>
            <a:pPr algn="l">
              <a:spcAft>
                <a:spcPts val="1200"/>
              </a:spcAft>
            </a:pPr>
            <a:r>
              <a:rPr sz="1700">
                <a:solidFill>
                  <a:srgbClr val="8A6410"/>
                </a:solidFill>
                <a:latin typeface="Calibri"/>
              </a:rPr>
              <a:t>▪  </a:t>
            </a:r>
            <a:r>
              <a:rPr sz="1700" b="1">
                <a:solidFill>
                  <a:srgbClr val="0E4D33"/>
                </a:solidFill>
                <a:latin typeface="Calibri"/>
              </a:rPr>
              <a:t>The brief:  </a:t>
            </a:r>
            <a:r>
              <a:rPr sz="1700" b="0" i="0">
                <a:solidFill>
                  <a:srgbClr val="212A26"/>
                </a:solidFill>
                <a:latin typeface="Calibri"/>
              </a:rPr>
              <a:t>specifying work precisely — for humans or agents — is the management skill and the prompt skill, converged.</a:t>
            </a:r>
          </a:p>
          <a:p>
            <a:pPr algn="l">
              <a:spcAft>
                <a:spcPts val="1200"/>
              </a:spcAft>
            </a:pPr>
            <a:r>
              <a:rPr sz="1700">
                <a:solidFill>
                  <a:srgbClr val="8A6410"/>
                </a:solidFill>
                <a:latin typeface="Calibri"/>
              </a:rPr>
              <a:t>▪  </a:t>
            </a:r>
            <a:r>
              <a:rPr sz="1700" b="1">
                <a:solidFill>
                  <a:srgbClr val="0E4D33"/>
                </a:solidFill>
                <a:latin typeface="Calibri"/>
              </a:rPr>
              <a:t>Relationships and presence (Chapters 11, 12, 16):  </a:t>
            </a:r>
            <a:r>
              <a:rPr sz="1700" b="0" i="0">
                <a:solidFill>
                  <a:srgbClr val="212A26"/>
                </a:solidFill>
                <a:latin typeface="Calibri"/>
              </a:rPr>
              <a:t>the trust account, the room, the hard conversation — nothing in the toolchain touches these.</a:t>
            </a:r>
          </a:p>
          <a:p>
            <a:pPr algn="l">
              <a:spcAft>
                <a:spcPts val="1200"/>
              </a:spcAft>
            </a:pPr>
            <a:r>
              <a:rPr sz="1700">
                <a:solidFill>
                  <a:srgbClr val="8A6410"/>
                </a:solidFill>
                <a:latin typeface="Calibri"/>
              </a:rPr>
              <a:t>▪  </a:t>
            </a:r>
            <a:r>
              <a:rPr sz="1700" b="1">
                <a:solidFill>
                  <a:srgbClr val="0E4D33"/>
                </a:solidFill>
                <a:latin typeface="Calibri"/>
              </a:rPr>
              <a:t>Editing:  </a:t>
            </a:r>
            <a:r>
              <a:rPr sz="1700" b="0" i="0">
                <a:solidFill>
                  <a:srgbClr val="212A26"/>
                </a:solidFill>
                <a:latin typeface="Calibri"/>
              </a:rPr>
              <a:t>the floor's output still needs an owner with taste — rebuilding a B-minus draft into your A is the new core competency.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Staying current without hype-chasing"/>
          <p:cNvSpPr>
            <a:spLocks noGrp="1"/>
          </p:cNvSpPr>
          <p:nvPr>
            <p:ph type="title"/>
          </p:nvPr>
        </p:nvSpPr>
        <p:spPr>
          <a:xfrm>
            <a:off x="502920" y="411480"/>
            <a:ext cx="11155680" cy="914400"/>
          </a:xfrm>
        </p:spPr>
        <p:txBody>
          <a:bodyPr wrap="square"/>
          <a:lstStyle/>
          <a:p>
            <a:pPr algn="l"/>
            <a:r>
              <a:rPr sz="3200" b="1">
                <a:solidFill>
                  <a:srgbClr val="0E4D33"/>
                </a:solidFill>
                <a:latin typeface="Cambria"/>
              </a:rPr>
              <a:t>Staying current without hype-chasing</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7"/>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27</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The capabilities will keep moving;  </a:t>
            </a:r>
            <a:r>
              <a:rPr sz="1700" b="0" i="0">
                <a:solidFill>
                  <a:srgbClr val="212A26"/>
                </a:solidFill>
                <a:latin typeface="Calibri"/>
              </a:rPr>
              <a:t>the principles in this deck — verify, protect, disclose, supervise — are built to survive the versions.</a:t>
            </a:r>
          </a:p>
          <a:p>
            <a:pPr algn="l">
              <a:spcAft>
                <a:spcPts val="1200"/>
              </a:spcAft>
            </a:pPr>
            <a:r>
              <a:rPr sz="1700">
                <a:solidFill>
                  <a:srgbClr val="8A6410"/>
                </a:solidFill>
                <a:latin typeface="Calibri"/>
              </a:rPr>
              <a:t>▪  </a:t>
            </a:r>
            <a:r>
              <a:rPr sz="1700" b="1">
                <a:solidFill>
                  <a:srgbClr val="0E4D33"/>
                </a:solidFill>
                <a:latin typeface="Calibri"/>
              </a:rPr>
              <a:t>Re-test your assumptions quarterly:  </a:t>
            </a:r>
            <a:r>
              <a:rPr sz="1700" b="0" i="0">
                <a:solidFill>
                  <a:srgbClr val="212A26"/>
                </a:solidFill>
                <a:latin typeface="Calibri"/>
              </a:rPr>
              <a:t>the thing AI 'couldn't do' in January is sometimes shipping by June — keep your capability map dated (Chapter 9's 'as of' rule).</a:t>
            </a:r>
          </a:p>
          <a:p>
            <a:pPr algn="l">
              <a:spcAft>
                <a:spcPts val="1200"/>
              </a:spcAft>
            </a:pPr>
            <a:r>
              <a:rPr sz="1700">
                <a:solidFill>
                  <a:srgbClr val="8A6410"/>
                </a:solidFill>
                <a:latin typeface="Calibri"/>
              </a:rPr>
              <a:t>▪  </a:t>
            </a:r>
            <a:r>
              <a:rPr sz="1700" b="1">
                <a:solidFill>
                  <a:srgbClr val="0E4D33"/>
                </a:solidFill>
                <a:latin typeface="Calibri"/>
              </a:rPr>
              <a:t>Learn by doing real tasks,  </a:t>
            </a:r>
            <a:r>
              <a:rPr sz="1700" b="0" i="0">
                <a:solidFill>
                  <a:srgbClr val="212A26"/>
                </a:solidFill>
                <a:latin typeface="Calibri"/>
              </a:rPr>
              <a:t>not by reading takes: one workflow genuinely automated teaches more than fifty threads about automation.</a:t>
            </a:r>
          </a:p>
          <a:p>
            <a:pPr algn="l">
              <a:spcAft>
                <a:spcPts val="1200"/>
              </a:spcAft>
            </a:pPr>
            <a:r>
              <a:rPr sz="1700">
                <a:solidFill>
                  <a:srgbClr val="8A6410"/>
                </a:solidFill>
                <a:latin typeface="Calibri"/>
              </a:rPr>
              <a:t>▪  </a:t>
            </a:r>
            <a:r>
              <a:rPr sz="1700" b="1">
                <a:solidFill>
                  <a:srgbClr val="0E4D33"/>
                </a:solidFill>
                <a:latin typeface="Calibri"/>
              </a:rPr>
              <a:t>Beware both cults:  </a:t>
            </a:r>
            <a:r>
              <a:rPr sz="1700" b="0" i="0">
                <a:solidFill>
                  <a:srgbClr val="212A26"/>
                </a:solidFill>
                <a:latin typeface="Calibri"/>
              </a:rPr>
              <a:t>'it changes nothing' and 'it changes everything' are equally lazy — the professional position is a running, tested inventory of what it changes for YOU.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Case: two analysts, one tool"/>
          <p:cNvSpPr>
            <a:spLocks noGrp="1"/>
          </p:cNvSpPr>
          <p:nvPr>
            <p:ph type="title"/>
          </p:nvPr>
        </p:nvSpPr>
        <p:spPr>
          <a:xfrm>
            <a:off x="502920" y="411480"/>
            <a:ext cx="11155680" cy="914400"/>
          </a:xfrm>
        </p:spPr>
        <p:txBody>
          <a:bodyPr wrap="square"/>
          <a:lstStyle/>
          <a:p>
            <a:pPr algn="l"/>
            <a:r>
              <a:rPr sz="3200" b="1">
                <a:solidFill>
                  <a:srgbClr val="0E4D33"/>
                </a:solidFill>
                <a:latin typeface="Cambria"/>
              </a:rPr>
              <a:t>Case: two analysts, one tool</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8"/>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28</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Same team, same enterprise AI license.  </a:t>
            </a:r>
            <a:r>
              <a:rPr sz="1700" b="0" i="0">
                <a:solidFill>
                  <a:srgbClr val="212A26"/>
                </a:solidFill>
                <a:latin typeface="Calibri"/>
              </a:rPr>
              <a:t>Analyst A pastes the assignment in, submits what comes out, and calls it efficiency.</a:t>
            </a:r>
          </a:p>
          <a:p>
            <a:pPr algn="l">
              <a:spcAft>
                <a:spcPts val="1200"/>
              </a:spcAft>
            </a:pPr>
            <a:r>
              <a:rPr sz="1700">
                <a:solidFill>
                  <a:srgbClr val="8A6410"/>
                </a:solidFill>
                <a:latin typeface="Calibri"/>
              </a:rPr>
              <a:t>▪  </a:t>
            </a:r>
            <a:r>
              <a:rPr sz="1700" b="1">
                <a:solidFill>
                  <a:srgbClr val="0E4D33"/>
                </a:solidFill>
                <a:latin typeface="Calibri"/>
              </a:rPr>
              <a:t>Analyst B briefs it like a junior,  </a:t>
            </a:r>
            <a:r>
              <a:rPr sz="1700" b="0" i="0">
                <a:solidFill>
                  <a:srgbClr val="212A26"/>
                </a:solidFill>
                <a:latin typeface="Calibri"/>
              </a:rPr>
              <a:t>runs the critique loop on her own draft, verifies every number against the source system, and re-voices the close.</a:t>
            </a:r>
          </a:p>
          <a:p>
            <a:pPr algn="l">
              <a:spcAft>
                <a:spcPts val="1200"/>
              </a:spcAft>
            </a:pPr>
            <a:r>
              <a:rPr sz="1700">
                <a:solidFill>
                  <a:srgbClr val="8A6410"/>
                </a:solidFill>
                <a:latin typeface="Calibri"/>
              </a:rPr>
              <a:t>▪  </a:t>
            </a:r>
            <a:r>
              <a:rPr sz="1700" b="1">
                <a:solidFill>
                  <a:srgbClr val="0E4D33"/>
                </a:solidFill>
                <a:latin typeface="Calibri"/>
              </a:rPr>
              <a:t>Month three: A's error in a client deliverable  </a:t>
            </a:r>
            <a:r>
              <a:rPr sz="1700" b="0" i="0">
                <a:solidFill>
                  <a:srgbClr val="212A26"/>
                </a:solidFill>
                <a:latin typeface="Calibri"/>
              </a:rPr>
              <a:t>— a confident, fabricated benchmark — triggers a review of everything he'd shipped. B gets his accounts.</a:t>
            </a:r>
          </a:p>
          <a:p>
            <a:pPr algn="l">
              <a:spcAft>
                <a:spcPts val="1200"/>
              </a:spcAft>
            </a:pPr>
            <a:r>
              <a:rPr sz="1700">
                <a:solidFill>
                  <a:srgbClr val="8A6410"/>
                </a:solidFill>
                <a:latin typeface="Calibri"/>
              </a:rPr>
              <a:t>▪  </a:t>
            </a:r>
            <a:r>
              <a:rPr sz="1700" b="1">
                <a:solidFill>
                  <a:srgbClr val="0E4D33"/>
                </a:solidFill>
                <a:latin typeface="Calibri"/>
              </a:rPr>
              <a:t>Same tool. The difference was never the tool.  </a:t>
            </a:r>
            <a:r>
              <a:rPr sz="1700" b="0" i="0">
                <a:solidFill>
                  <a:srgbClr val="212A26"/>
                </a:solidFill>
                <a:latin typeface="Calibri"/>
              </a:rPr>
              <a:t>It was who stayed the author. That's the chapter — and mostly, the course.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Key takeaways"/>
          <p:cNvSpPr>
            <a:spLocks noGrp="1"/>
          </p:cNvSpPr>
          <p:nvPr>
            <p:ph type="title"/>
          </p:nvPr>
        </p:nvSpPr>
        <p:spPr>
          <a:xfrm>
            <a:off x="502920" y="411480"/>
            <a:ext cx="11155680" cy="914400"/>
          </a:xfrm>
        </p:spPr>
        <p:txBody>
          <a:bodyPr wrap="square"/>
          <a:lstStyle/>
          <a:p>
            <a:pPr algn="l"/>
            <a:r>
              <a:rPr sz="3200" b="1">
                <a:solidFill>
                  <a:srgbClr val="0E4D33"/>
                </a:solidFill>
                <a:latin typeface="Cambria"/>
              </a:rPr>
              <a:t>Key takeaways</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29"/>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29</a:t>
            </a:r>
          </a:p>
        </p:txBody>
      </p:sp>
      <p:sp>
        <p:nvSpPr>
          <p:cNvPr id="5" name="Oval 4" descr="Checkmark"/>
          <p:cNvSpPr/>
          <p:nvPr/>
        </p:nvSpPr>
        <p:spPr>
          <a:xfrm>
            <a:off x="640080" y="1572768"/>
            <a:ext cx="420624" cy="420624"/>
          </a:xfrm>
          <a:prstGeom prst="ellipse">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6" name="TextBox 5" descr="Takeaway 1"/>
          <p:cNvSpPr txBox="1"/>
          <p:nvPr/>
        </p:nvSpPr>
        <p:spPr>
          <a:xfrm>
            <a:off x="1325880" y="1554480"/>
            <a:ext cx="10332720" cy="640080"/>
          </a:xfrm>
          <a:prstGeom prst="rect">
            <a:avLst/>
          </a:prstGeom>
          <a:noFill/>
        </p:spPr>
        <p:txBody>
          <a:bodyPr wrap="square">
            <a:spAutoFit/>
          </a:bodyPr>
          <a:lstStyle/>
          <a:p>
            <a:pPr algn="l">
              <a:spcAft>
                <a:spcPts val="800"/>
              </a:spcAft>
            </a:pPr>
            <a:r>
              <a:rPr sz="1550" b="0" i="0">
                <a:solidFill>
                  <a:srgbClr val="212A26"/>
                </a:solidFill>
                <a:latin typeface="Calibri"/>
              </a:rPr>
              <a:t>It predicts plausible text: brilliant drafting, confident fabrication — both from the same mechanism.</a:t>
            </a:r>
          </a:p>
        </p:txBody>
      </p:sp>
      <p:sp>
        <p:nvSpPr>
          <p:cNvPr id="7" name="Oval 6" descr="Checkmark"/>
          <p:cNvSpPr/>
          <p:nvPr/>
        </p:nvSpPr>
        <p:spPr>
          <a:xfrm>
            <a:off x="640080" y="2212848"/>
            <a:ext cx="420624" cy="420624"/>
          </a:xfrm>
          <a:prstGeom prst="ellipse">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8" name="TextBox 7" descr="Takeaway 2"/>
          <p:cNvSpPr txBox="1"/>
          <p:nvPr/>
        </p:nvSpPr>
        <p:spPr>
          <a:xfrm>
            <a:off x="1325880" y="2194560"/>
            <a:ext cx="10332720" cy="640080"/>
          </a:xfrm>
          <a:prstGeom prst="rect">
            <a:avLst/>
          </a:prstGeom>
          <a:noFill/>
        </p:spPr>
        <p:txBody>
          <a:bodyPr wrap="square">
            <a:spAutoFit/>
          </a:bodyPr>
          <a:lstStyle/>
          <a:p>
            <a:pPr algn="l">
              <a:spcAft>
                <a:spcPts val="800"/>
              </a:spcAft>
            </a:pPr>
            <a:r>
              <a:rPr sz="1550" b="0" i="0">
                <a:solidFill>
                  <a:srgbClr val="212A26"/>
                </a:solidFill>
                <a:latin typeface="Calibri"/>
              </a:rPr>
              <a:t>Treat it as a gifted day-one junior: use it fully, review everything, stay the author.</a:t>
            </a:r>
          </a:p>
        </p:txBody>
      </p:sp>
      <p:sp>
        <p:nvSpPr>
          <p:cNvPr id="9" name="Oval 8" descr="Checkmark"/>
          <p:cNvSpPr/>
          <p:nvPr/>
        </p:nvSpPr>
        <p:spPr>
          <a:xfrm>
            <a:off x="640080" y="2852928"/>
            <a:ext cx="420624" cy="420624"/>
          </a:xfrm>
          <a:prstGeom prst="ellipse">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0" name="TextBox 9" descr="Takeaway 3"/>
          <p:cNvSpPr txBox="1"/>
          <p:nvPr/>
        </p:nvSpPr>
        <p:spPr>
          <a:xfrm>
            <a:off x="1325880" y="2834640"/>
            <a:ext cx="10332720" cy="640080"/>
          </a:xfrm>
          <a:prstGeom prst="rect">
            <a:avLst/>
          </a:prstGeom>
          <a:noFill/>
        </p:spPr>
        <p:txBody>
          <a:bodyPr wrap="square">
            <a:spAutoFit/>
          </a:bodyPr>
          <a:lstStyle/>
          <a:p>
            <a:pPr algn="l">
              <a:spcAft>
                <a:spcPts val="800"/>
              </a:spcAft>
            </a:pPr>
            <a:r>
              <a:rPr sz="1550" b="0" i="0">
                <a:solidFill>
                  <a:srgbClr val="212A26"/>
                </a:solidFill>
                <a:latin typeface="Calibri"/>
              </a:rPr>
              <a:t>Verify the load-bearing: facts, numbers, names, citations — traced to sources you opened.</a:t>
            </a:r>
          </a:p>
        </p:txBody>
      </p:sp>
      <p:sp>
        <p:nvSpPr>
          <p:cNvPr id="11" name="Oval 10" descr="Checkmark"/>
          <p:cNvSpPr/>
          <p:nvPr/>
        </p:nvSpPr>
        <p:spPr>
          <a:xfrm>
            <a:off x="640080" y="3493008"/>
            <a:ext cx="420624" cy="420624"/>
          </a:xfrm>
          <a:prstGeom prst="ellipse">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2" name="TextBox 11" descr="Takeaway 4"/>
          <p:cNvSpPr txBox="1"/>
          <p:nvPr/>
        </p:nvSpPr>
        <p:spPr>
          <a:xfrm>
            <a:off x="1325880" y="3474720"/>
            <a:ext cx="10332720" cy="640080"/>
          </a:xfrm>
          <a:prstGeom prst="rect">
            <a:avLst/>
          </a:prstGeom>
          <a:noFill/>
        </p:spPr>
        <p:txBody>
          <a:bodyPr wrap="square">
            <a:spAutoFit/>
          </a:bodyPr>
          <a:lstStyle/>
          <a:p>
            <a:pPr algn="l">
              <a:spcAft>
                <a:spcPts val="800"/>
              </a:spcAft>
            </a:pPr>
            <a:r>
              <a:rPr sz="1550" b="0" i="0">
                <a:solidFill>
                  <a:srgbClr val="212A26"/>
                </a:solidFill>
                <a:latin typeface="Calibri"/>
              </a:rPr>
              <a:t>The paste is a publication: confidential data never enters tools without an agreement.</a:t>
            </a:r>
          </a:p>
        </p:txBody>
      </p:sp>
      <p:sp>
        <p:nvSpPr>
          <p:cNvPr id="13" name="Oval 12" descr="Checkmark"/>
          <p:cNvSpPr/>
          <p:nvPr/>
        </p:nvSpPr>
        <p:spPr>
          <a:xfrm>
            <a:off x="640080" y="4133088"/>
            <a:ext cx="420624" cy="420624"/>
          </a:xfrm>
          <a:prstGeom prst="ellipse">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4" name="TextBox 13" descr="Takeaway 5"/>
          <p:cNvSpPr txBox="1"/>
          <p:nvPr/>
        </p:nvSpPr>
        <p:spPr>
          <a:xfrm>
            <a:off x="1325880" y="4114800"/>
            <a:ext cx="10332720" cy="640080"/>
          </a:xfrm>
          <a:prstGeom prst="rect">
            <a:avLst/>
          </a:prstGeom>
          <a:noFill/>
        </p:spPr>
        <p:txBody>
          <a:bodyPr wrap="square">
            <a:spAutoFit/>
          </a:bodyPr>
          <a:lstStyle/>
          <a:p>
            <a:pPr algn="l">
              <a:spcAft>
                <a:spcPts val="800"/>
              </a:spcAft>
            </a:pPr>
            <a:r>
              <a:rPr sz="1550" b="0" i="0">
                <a:solidFill>
                  <a:srgbClr val="212A26"/>
                </a:solidFill>
                <a:latin typeface="Calibri"/>
              </a:rPr>
              <a:t>Agents act under your name: written mandates, gates on the irreversible, scope earned like trust.</a:t>
            </a:r>
          </a:p>
        </p:txBody>
      </p:sp>
      <p:sp>
        <p:nvSpPr>
          <p:cNvPr id="15" name="Oval 14" descr="Checkmark"/>
          <p:cNvSpPr/>
          <p:nvPr/>
        </p:nvSpPr>
        <p:spPr>
          <a:xfrm>
            <a:off x="640080" y="4773168"/>
            <a:ext cx="420624" cy="420624"/>
          </a:xfrm>
          <a:prstGeom prst="ellipse">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6" name="TextBox 15" descr="Takeaway 6"/>
          <p:cNvSpPr txBox="1"/>
          <p:nvPr/>
        </p:nvSpPr>
        <p:spPr>
          <a:xfrm>
            <a:off x="1325880" y="4754880"/>
            <a:ext cx="10332720" cy="640080"/>
          </a:xfrm>
          <a:prstGeom prst="rect">
            <a:avLst/>
          </a:prstGeom>
          <a:noFill/>
        </p:spPr>
        <p:txBody>
          <a:bodyPr wrap="square">
            <a:spAutoFit/>
          </a:bodyPr>
          <a:lstStyle/>
          <a:p>
            <a:pPr algn="l">
              <a:spcAft>
                <a:spcPts val="800"/>
              </a:spcAft>
            </a:pPr>
            <a:r>
              <a:rPr sz="1550" b="0" i="0">
                <a:solidFill>
                  <a:srgbClr val="212A26"/>
                </a:solidFill>
                <a:latin typeface="Calibri"/>
              </a:rPr>
              <a:t>Invest in the ceiling: judgment, verification, the brief, relationships, editing.</a:t>
            </a:r>
          </a:p>
        </p:txBody>
      </p:sp>
      <p:sp>
        <p:nvSpPr>
          <p:cNvPr id="17" name="Rounded Rectangle 16" descr="Practice reminder"/>
          <p:cNvSpPr/>
          <p:nvPr/>
        </p:nvSpPr>
        <p:spPr>
          <a:xfrm>
            <a:off x="548640" y="5468112"/>
            <a:ext cx="10424160" cy="685800"/>
          </a:xfrm>
          <a:prstGeom prst="roundRect">
            <a:avLst/>
          </a:prstGeom>
          <a:solidFill>
            <a:srgbClr val="0E4D3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09728"/>
          <a:lstStyle/>
          <a:p>
            <a:pPr algn="l">
              <a:spcAft>
                <a:spcPts val="0"/>
              </a:spcAft>
            </a:pPr>
            <a:r>
              <a:rPr sz="1450" b="1" i="0">
                <a:solidFill>
                  <a:srgbClr val="FFFFFF"/>
                </a:solidFill>
                <a:latin typeface="Calibri"/>
              </a:rPr>
              <a:t>Practice now: course site → Chapter 15 → Practice, then the graded homework before the weekly deadline.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AF1EB"/>
        </a:solidFill>
        <a:effectLst/>
      </p:bgPr>
    </p:bg>
    <p:spTree>
      <p:nvGrpSpPr>
        <p:cNvPr id="1" name=""/>
        <p:cNvGrpSpPr/>
        <p:nvPr/>
      </p:nvGrpSpPr>
      <p:grpSpPr/>
      <p:sp>
        <p:nvSpPr>
          <p:cNvPr id="2" name="Title 1" descr="Slide title: Worth keeping"/>
          <p:cNvSpPr>
            <a:spLocks noGrp="1"/>
          </p:cNvSpPr>
          <p:nvPr>
            <p:ph type="title"/>
          </p:nvPr>
        </p:nvSpPr>
        <p:spPr>
          <a:xfrm>
            <a:off x="502920" y="411480"/>
            <a:ext cx="11155680" cy="914400"/>
          </a:xfrm>
        </p:spPr>
        <p:txBody>
          <a:bodyPr wrap="square"/>
          <a:lstStyle/>
          <a:p>
            <a:pPr algn="l"/>
            <a:r>
              <a:rPr sz="3400" b="1">
                <a:solidFill>
                  <a:srgbClr val="0E4D33"/>
                </a:solidFill>
                <a:latin typeface="Cambria"/>
              </a:rPr>
              <a:t>Worth keeping</a:t>
            </a:r>
          </a:p>
        </p:txBody>
      </p:sp>
      <p:sp>
        <p:nvSpPr>
          <p:cNvPr id="3" name="TextBox 2" descr="Quotation"/>
          <p:cNvSpPr txBox="1"/>
          <p:nvPr/>
        </p:nvSpPr>
        <p:spPr>
          <a:xfrm>
            <a:off x="1280160" y="2194560"/>
            <a:ext cx="9601200" cy="2377440"/>
          </a:xfrm>
          <a:prstGeom prst="rect">
            <a:avLst/>
          </a:prstGeom>
          <a:noFill/>
        </p:spPr>
        <p:txBody>
          <a:bodyPr wrap="square">
            <a:spAutoFit/>
          </a:bodyPr>
          <a:lstStyle/>
          <a:p>
            <a:pPr algn="l">
              <a:spcAft>
                <a:spcPts val="800"/>
              </a:spcAft>
            </a:pPr>
            <a:r>
              <a:rPr sz="2700" b="0" i="1">
                <a:solidFill>
                  <a:srgbClr val="212A26"/>
                </a:solidFill>
                <a:latin typeface="Cambria"/>
              </a:rPr>
              <a:t>“The tools will write better every year. The question they will never answer is whether the thing they wrote is true, kind, and yours to send. That question is the job.”</a:t>
            </a:r>
          </a:p>
        </p:txBody>
      </p:sp>
      <p:sp>
        <p:nvSpPr>
          <p:cNvPr id="4" name="TextBox 3" descr="Attribution"/>
          <p:cNvSpPr txBox="1"/>
          <p:nvPr/>
        </p:nvSpPr>
        <p:spPr>
          <a:xfrm>
            <a:off x="1280160" y="4754880"/>
            <a:ext cx="9601200" cy="548640"/>
          </a:xfrm>
          <a:prstGeom prst="rect">
            <a:avLst/>
          </a:prstGeom>
          <a:noFill/>
        </p:spPr>
        <p:txBody>
          <a:bodyPr wrap="square">
            <a:spAutoFit/>
          </a:bodyPr>
          <a:lstStyle/>
          <a:p>
            <a:pPr algn="l">
              <a:spcAft>
                <a:spcPts val="800"/>
              </a:spcAft>
            </a:pPr>
            <a:r>
              <a:rPr sz="1600" b="0" i="0">
                <a:solidFill>
                  <a:srgbClr val="5E6B64"/>
                </a:solidFill>
                <a:latin typeface="Calibri"/>
              </a:rPr>
              <a:t>— this chapter, compressed</a:t>
            </a:r>
          </a:p>
        </p:txBody>
      </p:sp>
      <p:sp>
        <p:nvSpPr>
          <p:cNvPr id="5" name="TextBox 4"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6" name="TextBox 5" descr="Slide number 30"/>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4D33"/>
        </a:solidFill>
        <a:effectLst/>
      </p:bgPr>
    </p:bg>
    <p:spTree>
      <p:nvGrpSpPr>
        <p:cNvPr id="1" name=""/>
        <p:cNvGrpSpPr/>
        <p:nvPr/>
      </p:nvGrpSpPr>
      <p:grpSpPr/>
      <p:sp>
        <p:nvSpPr>
          <p:cNvPr id="2" name="Title 1" descr="Slide title: Discussion questions"/>
          <p:cNvSpPr>
            <a:spLocks noGrp="1"/>
          </p:cNvSpPr>
          <p:nvPr>
            <p:ph type="title"/>
          </p:nvPr>
        </p:nvSpPr>
        <p:spPr>
          <a:xfrm>
            <a:off x="502920" y="411480"/>
            <a:ext cx="11155680" cy="914400"/>
          </a:xfrm>
        </p:spPr>
        <p:txBody>
          <a:bodyPr wrap="square"/>
          <a:lstStyle/>
          <a:p>
            <a:pPr algn="l"/>
            <a:r>
              <a:rPr sz="3400" b="1">
                <a:solidFill>
                  <a:srgbClr val="FFFFFF"/>
                </a:solidFill>
                <a:latin typeface="Cambria"/>
              </a:rPr>
              <a:t>Discussion questions</a:t>
            </a:r>
          </a:p>
        </p:txBody>
      </p:sp>
      <p:sp>
        <p:nvSpPr>
          <p:cNvPr id="3" name="TextBox 2" descr="Discussion questions"/>
          <p:cNvSpPr txBox="1"/>
          <p:nvPr/>
        </p:nvSpPr>
        <p:spPr>
          <a:xfrm>
            <a:off x="731520" y="1737360"/>
            <a:ext cx="10698480" cy="4480560"/>
          </a:xfrm>
          <a:prstGeom prst="rect">
            <a:avLst/>
          </a:prstGeom>
          <a:noFill/>
        </p:spPr>
        <p:txBody>
          <a:bodyPr wrap="square">
            <a:spAutoFit/>
          </a:bodyPr>
          <a:lstStyle/>
          <a:p>
            <a:pPr algn="l">
              <a:spcAft>
                <a:spcPts val="1800"/>
              </a:spcAft>
            </a:pPr>
            <a:r>
              <a:rPr sz="1800" b="1">
                <a:solidFill>
                  <a:srgbClr val="C9931A"/>
                </a:solidFill>
                <a:latin typeface="Calibri"/>
              </a:rPr>
              <a:t>1.  </a:t>
            </a:r>
            <a:r>
              <a:rPr sz="1800" b="0" i="0">
                <a:solidFill>
                  <a:srgbClr val="FFFFFF"/>
                </a:solidFill>
                <a:latin typeface="Calibri"/>
              </a:rPr>
              <a:t>Run the critique loop on something you've written this term. What did it catch — and what did it wrongly flag?</a:t>
            </a:r>
          </a:p>
          <a:p>
            <a:pPr algn="l">
              <a:spcAft>
                <a:spcPts val="1800"/>
              </a:spcAft>
            </a:pPr>
            <a:r>
              <a:rPr sz="1800" b="1">
                <a:solidFill>
                  <a:srgbClr val="C9931A"/>
                </a:solidFill>
                <a:latin typeface="Calibri"/>
              </a:rPr>
              <a:t>2.  </a:t>
            </a:r>
            <a:r>
              <a:rPr sz="1800" b="0" i="0">
                <a:solidFill>
                  <a:srgbClr val="FFFFFF"/>
                </a:solidFill>
                <a:latin typeface="Calibri"/>
              </a:rPr>
              <a:t>Draft your personal never-delegate list beyond the chapter's three. What's the principle behind your additions?</a:t>
            </a:r>
          </a:p>
          <a:p>
            <a:pPr algn="l">
              <a:spcAft>
                <a:spcPts val="1800"/>
              </a:spcAft>
            </a:pPr>
            <a:r>
              <a:rPr sz="1800" b="1">
                <a:solidFill>
                  <a:srgbClr val="C9931A"/>
                </a:solidFill>
                <a:latin typeface="Calibri"/>
              </a:rPr>
              <a:t>3.  </a:t>
            </a:r>
            <a:r>
              <a:rPr sz="1800" b="0" i="0">
                <a:solidFill>
                  <a:srgbClr val="FFFFFF"/>
                </a:solidFill>
                <a:latin typeface="Calibri"/>
              </a:rPr>
              <a:t>Write the one-paragraph agent mandate for managing YOUR inbox. Trade with a partner and hunt each other's loose lines.</a:t>
            </a:r>
          </a:p>
          <a:p>
            <a:pPr algn="l">
              <a:spcAft>
                <a:spcPts val="1800"/>
              </a:spcAft>
            </a:pPr>
            <a:r>
              <a:rPr sz="1800" b="1">
                <a:solidFill>
                  <a:srgbClr val="C9931A"/>
                </a:solidFill>
                <a:latin typeface="Calibri"/>
              </a:rPr>
              <a:t>4.  </a:t>
            </a:r>
            <a:r>
              <a:rPr sz="1800" b="0" i="0">
                <a:solidFill>
                  <a:srgbClr val="FFFFFF"/>
                </a:solidFill>
                <a:latin typeface="Calibri"/>
              </a:rPr>
              <a:t>Where should your field's disclosure norm land? Draft the policy sentence you'd want your employer to adopt.</a:t>
            </a:r>
          </a:p>
          <a:p>
            <a:pPr algn="l">
              <a:spcAft>
                <a:spcPts val="1800"/>
              </a:spcAft>
            </a:pPr>
            <a:r>
              <a:rPr sz="1800" b="1">
                <a:solidFill>
                  <a:srgbClr val="C9931A"/>
                </a:solidFill>
                <a:latin typeface="Calibri"/>
              </a:rPr>
              <a:t>5.  </a:t>
            </a:r>
            <a:r>
              <a:rPr sz="1800" b="0" i="0">
                <a:solidFill>
                  <a:srgbClr val="FFFFFF"/>
                </a:solidFill>
                <a:latin typeface="Calibri"/>
              </a:rPr>
              <a:t>Argue it: 'AI-written' criticism in peer review — legitimate quality signal or lazy ad hominem? Build the test.</a:t>
            </a:r>
          </a:p>
        </p:txBody>
      </p:sp>
      <p:sp>
        <p:nvSpPr>
          <p:cNvPr id="4" name="TextBox 3" descr="Footer"/>
          <p:cNvSpPr txBox="1"/>
          <p:nvPr/>
        </p:nvSpPr>
        <p:spPr>
          <a:xfrm>
            <a:off x="502920" y="6446520"/>
            <a:ext cx="5486400" cy="320040"/>
          </a:xfrm>
          <a:prstGeom prst="rect">
            <a:avLst/>
          </a:prstGeom>
          <a:noFill/>
        </p:spPr>
        <p:txBody>
          <a:bodyPr wrap="none">
            <a:spAutoFit/>
          </a:bodyPr>
          <a:lstStyle/>
          <a:p>
            <a:r>
              <a:rPr sz="1000">
                <a:solidFill>
                  <a:srgbClr val="A8C4B2"/>
                </a:solidFill>
                <a:latin typeface="Calibri"/>
              </a:rPr>
              <a:t>BADM 225 · Chapter 15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descr="Slide title: Your next steps"/>
          <p:cNvSpPr>
            <a:spLocks noGrp="1"/>
          </p:cNvSpPr>
          <p:nvPr>
            <p:ph type="title"/>
          </p:nvPr>
        </p:nvSpPr>
        <p:spPr>
          <a:xfrm>
            <a:off x="502920" y="411480"/>
            <a:ext cx="11155680" cy="914400"/>
          </a:xfrm>
        </p:spPr>
        <p:txBody>
          <a:bodyPr wrap="square"/>
          <a:lstStyle/>
          <a:p>
            <a:pPr algn="l"/>
            <a:r>
              <a:rPr sz="3200" b="1">
                <a:solidFill>
                  <a:srgbClr val="0E4D33"/>
                </a:solidFill>
                <a:latin typeface="Cambria"/>
              </a:rPr>
              <a:t>Your next steps</a:t>
            </a:r>
          </a:p>
        </p:txBody>
      </p:sp>
      <p:sp>
        <p:nvSpPr>
          <p:cNvPr id="3" name="TextBox 2" descr="Footer: BADM 225 · Chapter 15"/>
          <p:cNvSpPr txBox="1"/>
          <p:nvPr/>
        </p:nvSpPr>
        <p:spPr>
          <a:xfrm>
            <a:off x="502920" y="6446520"/>
            <a:ext cx="5486400" cy="320040"/>
          </a:xfrm>
          <a:prstGeom prst="rect">
            <a:avLst/>
          </a:prstGeom>
          <a:noFill/>
        </p:spPr>
        <p:txBody>
          <a:bodyPr wrap="none">
            <a:spAutoFit/>
          </a:bodyPr>
          <a:lstStyle/>
          <a:p>
            <a:r>
              <a:rPr sz="1000">
                <a:solidFill>
                  <a:srgbClr val="5E6B64"/>
                </a:solidFill>
                <a:latin typeface="Calibri"/>
              </a:rPr>
              <a:t>BADM 225 · Chapter 15</a:t>
            </a:r>
          </a:p>
        </p:txBody>
      </p:sp>
      <p:sp>
        <p:nvSpPr>
          <p:cNvPr id="4" name="TextBox 3" descr="Slide number 32"/>
          <p:cNvSpPr txBox="1"/>
          <p:nvPr/>
        </p:nvSpPr>
        <p:spPr>
          <a:xfrm>
            <a:off x="11247120" y="6446520"/>
            <a:ext cx="640080" cy="320040"/>
          </a:xfrm>
          <a:prstGeom prst="rect">
            <a:avLst/>
          </a:prstGeom>
          <a:noFill/>
        </p:spPr>
        <p:txBody>
          <a:bodyPr wrap="none">
            <a:spAutoFit/>
          </a:bodyPr>
          <a:lstStyle/>
          <a:p>
            <a:pPr algn="r"/>
            <a:r>
              <a:rPr sz="1000">
                <a:solidFill>
                  <a:srgbClr val="5E6B64"/>
                </a:solidFill>
                <a:latin typeface="Calibri"/>
              </a:rPr>
              <a:t>32</a:t>
            </a:r>
          </a:p>
        </p:txBody>
      </p:sp>
      <p:sp>
        <p:nvSpPr>
          <p:cNvPr id="5" name="TextBox 4" descr="Key points"/>
          <p:cNvSpPr txBox="1"/>
          <p:nvPr/>
        </p:nvSpPr>
        <p:spPr>
          <a:xfrm>
            <a:off x="548640" y="1554480"/>
            <a:ext cx="11064240" cy="4663440"/>
          </a:xfrm>
          <a:prstGeom prst="rect">
            <a:avLst/>
          </a:prstGeom>
          <a:noFill/>
        </p:spPr>
        <p:txBody>
          <a:bodyPr wrap="square">
            <a:spAutoFit/>
          </a:bodyPr>
          <a:lstStyle/>
          <a:p>
            <a:pPr algn="l">
              <a:spcAft>
                <a:spcPts val="1200"/>
              </a:spcAft>
            </a:pPr>
            <a:r>
              <a:rPr sz="1700">
                <a:solidFill>
                  <a:srgbClr val="8A6410"/>
                </a:solidFill>
                <a:latin typeface="Calibri"/>
              </a:rPr>
              <a:t>▪  </a:t>
            </a:r>
            <a:r>
              <a:rPr sz="1700" b="1">
                <a:solidFill>
                  <a:srgbClr val="0E4D33"/>
                </a:solidFill>
                <a:latin typeface="Calibri"/>
              </a:rPr>
              <a:t>Practice:  </a:t>
            </a:r>
            <a:r>
              <a:rPr sz="1700" b="0" i="0">
                <a:solidFill>
                  <a:srgbClr val="212A26"/>
                </a:solidFill>
                <a:latin typeface="Calibri"/>
              </a:rPr>
              <a:t>Course site → Chapter 15 → Practice questions (instant feedback, unlimited tries).</a:t>
            </a:r>
          </a:p>
          <a:p>
            <a:pPr algn="l">
              <a:spcAft>
                <a:spcPts val="1200"/>
              </a:spcAft>
            </a:pPr>
            <a:r>
              <a:rPr sz="1700">
                <a:solidFill>
                  <a:srgbClr val="8A6410"/>
                </a:solidFill>
                <a:latin typeface="Calibri"/>
              </a:rPr>
              <a:t>▪  </a:t>
            </a:r>
            <a:r>
              <a:rPr sz="1700" b="1">
                <a:solidFill>
                  <a:srgbClr val="0E4D33"/>
                </a:solidFill>
                <a:latin typeface="Calibri"/>
              </a:rPr>
              <a:t>Graded:  </a:t>
            </a:r>
            <a:r>
              <a:rPr sz="1700" b="0" i="0">
                <a:solidFill>
                  <a:srgbClr val="212A26"/>
                </a:solidFill>
                <a:latin typeface="Calibri"/>
              </a:rPr>
              <a:t>Complete the Chapter 15 homework on the site; paste your completion code into the Blackboard assignment before the weekly deadline.</a:t>
            </a:r>
          </a:p>
          <a:p>
            <a:pPr algn="l">
              <a:spcAft>
                <a:spcPts val="1200"/>
              </a:spcAft>
            </a:pPr>
            <a:r>
              <a:rPr sz="1700">
                <a:solidFill>
                  <a:srgbClr val="8A6410"/>
                </a:solidFill>
                <a:latin typeface="Calibri"/>
              </a:rPr>
              <a:t>▪  </a:t>
            </a:r>
            <a:r>
              <a:rPr sz="1700" b="1">
                <a:solidFill>
                  <a:srgbClr val="0E4D33"/>
                </a:solidFill>
                <a:latin typeface="Calibri"/>
              </a:rPr>
              <a:t>Do:  </a:t>
            </a:r>
            <a:r>
              <a:rPr sz="1700" b="0" i="0">
                <a:solidFill>
                  <a:srgbClr val="212A26"/>
                </a:solidFill>
                <a:latin typeface="Calibri"/>
              </a:rPr>
              <a:t>Automate one real workflow this week with the verification pipeline attached — and note what it got wrong.</a:t>
            </a:r>
          </a:p>
          <a:p>
            <a:pPr algn="l">
              <a:spcAft>
                <a:spcPts val="1200"/>
              </a:spcAft>
            </a:pPr>
            <a:r>
              <a:rPr sz="1700">
                <a:solidFill>
                  <a:srgbClr val="8A6410"/>
                </a:solidFill>
                <a:latin typeface="Calibri"/>
              </a:rPr>
              <a:t>▪  </a:t>
            </a:r>
            <a:r>
              <a:rPr sz="1700" b="1">
                <a:solidFill>
                  <a:srgbClr val="0E4D33"/>
                </a:solidFill>
                <a:latin typeface="Calibri"/>
              </a:rPr>
              <a:t>Write:  </a:t>
            </a:r>
            <a:r>
              <a:rPr sz="1700" b="0" i="0">
                <a:solidFill>
                  <a:srgbClr val="212A26"/>
                </a:solidFill>
                <a:latin typeface="Calibri"/>
              </a:rPr>
              <a:t>Your personal AI operating rules: one page — uses, never-uses, verification, disclosure.</a:t>
            </a:r>
          </a:p>
          <a:p>
            <a:pPr algn="l">
              <a:spcAft>
                <a:spcPts val="1200"/>
              </a:spcAft>
            </a:pPr>
            <a:r>
              <a:rPr sz="1700">
                <a:solidFill>
                  <a:srgbClr val="8A6410"/>
                </a:solidFill>
                <a:latin typeface="Calibri"/>
              </a:rPr>
              <a:t>▪  </a:t>
            </a:r>
            <a:r>
              <a:rPr sz="1700" b="1">
                <a:solidFill>
                  <a:srgbClr val="0E4D33"/>
                </a:solidFill>
                <a:latin typeface="Calibri"/>
              </a:rPr>
              <a:t>Coming next:  </a:t>
            </a:r>
            <a:r>
              <a:rPr sz="1700" b="0" i="0">
                <a:solidFill>
                  <a:srgbClr val="212A26"/>
                </a:solidFill>
                <a:latin typeface="Calibri"/>
              </a:rPr>
              <a:t>Chapter 16 — leadership under pressure and influence: the human skills the tools made MORE valuable.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