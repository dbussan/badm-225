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3: building the message the plan decided on. Companion study guide has the full treatment.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map to the site's Chapter 3 bank.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input decides: how will the reader feel? Chapters 7-8 develop the indirect 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Guard rails for the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unity test applies to outlines too: every branch serves the box above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Topic sentences come straight from the outline's family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Prose honoring old→new feels lucid without the reader knowing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the reader needs the actor, name the actor.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highest-frequency sentence repairs in business prose.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can't be important, or nothing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judging phase is Chapter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outline, left visible for the reader.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Excellent analysis, invisible conclusion — the most common structural heartbreak in business.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Passive-as-camouflage in its natural habitat. Ties to Chapter 1's upward-communication filter.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Walkthrough matches the study guide's worked memo.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Automated metrics as sanity check; human structure judgment remains the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6: visible structure. The outline made the logic; this section makes the logic visible at scanning speed.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F-pattern is why the topic-sentence rule and bolded lead-ins are not decoration — they sit exactly where attention goes. Everything off the F-path is optional reading.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choice broadcasts a claim about the content. A numbered list of unranked options invites the question 'why is this one first?'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Lists get skimmed precisely because readers trust their structure — sloppy lists spend that trust. Parallelism review from Section 4 applies item-by-item.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Tables are for comparison and lookup; prose is for reasoning and relationship. Chapter 9 develops data displays fully — this is the drafting-level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Transitions are promises. 'However' followed by agreement is a broken promise, and readers feel it even when they can't name it. Echoed key words (old-to-new) do the same work invisibly.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Openings are where the buried-recommendation failure begins. The reader's first question is always 'what is this and what do you need from me?' — answer it immediately.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Closings are the stress position of the whole message — what sits there is what gets remembered and acted on. Deadlines without dates are decorations.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Common real-world repair: the writer did the analysis and hid it in paragraph form. The rewrite splits the jobs — table for lookup, sentences for judgment.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Position is emphasis.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Async-ready.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Organizing and Drafting Business Messages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Organizing and Drafting Business Messages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Direct vs. indirect strategy · outlines that think · paragraphs that hold · sentences that carry weight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3  ·  Original instructional material —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Choose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direct or indirect strategy based on the reader's likely reaction — and defend the choice.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Outline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any message in three steps: dump, group into named families, sequence.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Build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paragraphs with one claim each, opened by a topic sentence, held together by echoes.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Control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emphasis with the stress position, sentence rhythm, and active voice.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Repair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nominalizations, broken parallelism, and walls of unchunked text.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organizing decision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organizing decision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Main point first — or reasons first? The reader's reaction decides.</a:t>
            </a:r>
          </a:p>
        </p:txBody>
      </p:sp>
      <p:sp>
        <p:nvSpPr>
          <p:cNvPr id="5" name="TextBox 4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6" name="TextBox 5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two master patter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two master patterns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  <p:sp>
        <p:nvSpPr>
          <p:cNvPr id="5" name="Rounded Rectangle 4" descr="DIRECT — receptive/neutral readers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DIRECT — receptive/neutral readers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Main point in sentence one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Details and reasons after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Goodwill close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Why: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respects scanning, survives forwarding, reads as confidence</a:t>
            </a:r>
          </a:p>
        </p:txBody>
      </p:sp>
      <p:sp>
        <p:nvSpPr>
          <p:cNvPr id="6" name="Rounded Rectangle 5" descr="INDIRECT — resistance or bad news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INDIRECT — resistance or bad news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Buffer of honest context first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Reasons BEFORE the conclusion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Main point arrives pre-justified, then pivot forward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Why: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 blunt opening slams minds shut before reasons get a hearing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wo abuses of the strategy choic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Two abuses of the strategy choice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Indirect as fog.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Burying a routine request under three paragraphs of preamble isn't diplomacy — it's hiding.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Direct as bluntness.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“Your project is cancelled, details below” is a wound with a bibliography.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rule: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strategy follows the reader's stakes — not the writer's nerves, not the writer's impatience.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Most business messages, most days: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direct.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Outline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Outlines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cheapest place to discover your message doesn't hold together.</a:t>
            </a:r>
          </a:p>
        </p:txBody>
      </p:sp>
      <p:sp>
        <p:nvSpPr>
          <p:cNvPr id="5" name="TextBox 4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6" name="TextBox 5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Outlining in three mov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Outlining in three moves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Chevron 4" descr="Step 1: DUMP"/>
          <p:cNvSpPr/>
          <p:nvPr/>
        </p:nvSpPr>
        <p:spPr>
          <a:xfrm>
            <a:off x="548640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DUMP</a:t>
            </a:r>
          </a:p>
        </p:txBody>
      </p:sp>
      <p:sp>
        <p:nvSpPr>
          <p:cNvPr id="6" name="TextBox 5" descr="DUMP detail"/>
          <p:cNvSpPr txBox="1"/>
          <p:nvPr/>
        </p:nvSpPr>
        <p:spPr>
          <a:xfrm>
            <a:off x="548640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Scratch-list every point you might make. No order, no judging.</a:t>
            </a:r>
          </a:p>
        </p:txBody>
      </p:sp>
      <p:sp>
        <p:nvSpPr>
          <p:cNvPr id="7" name="Chevron 6" descr="Step 2: GROUP"/>
          <p:cNvSpPr/>
          <p:nvPr/>
        </p:nvSpPr>
        <p:spPr>
          <a:xfrm>
            <a:off x="4303776" y="1828800"/>
            <a:ext cx="3645408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GROUP</a:t>
            </a:r>
          </a:p>
        </p:txBody>
      </p:sp>
      <p:sp>
        <p:nvSpPr>
          <p:cNvPr id="8" name="TextBox 7" descr="GROUP detail"/>
          <p:cNvSpPr txBox="1"/>
          <p:nvPr/>
        </p:nvSpPr>
        <p:spPr>
          <a:xfrm>
            <a:off x="4303776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Three-ish families, each with a NAME — the names become your headings.</a:t>
            </a:r>
          </a:p>
        </p:txBody>
      </p:sp>
      <p:sp>
        <p:nvSpPr>
          <p:cNvPr id="9" name="Chevron 8" descr="Step 3: SEQUENCE"/>
          <p:cNvSpPr/>
          <p:nvPr/>
        </p:nvSpPr>
        <p:spPr>
          <a:xfrm>
            <a:off x="8058912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SEQUENCE</a:t>
            </a:r>
          </a:p>
        </p:txBody>
      </p:sp>
      <p:sp>
        <p:nvSpPr>
          <p:cNvPr id="10" name="TextBox 9" descr="SEQUENCE detail"/>
          <p:cNvSpPr txBox="1"/>
          <p:nvPr/>
        </p:nvSpPr>
        <p:spPr>
          <a:xfrm>
            <a:off x="8058912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Direct or indirect, per the strategy call. Cut what serves no family.</a:t>
            </a:r>
          </a:p>
        </p:txBody>
      </p:sp>
      <p:sp>
        <p:nvSpPr>
          <p:cNvPr id="11" name="Rounded Rectangle 10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Working memory holds about 7±2 chunks (Miller, 1956) — and tired readers on phones hold fewer. Three main points is a classic for a reason.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aragraph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Paragraphs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One claim, stated first, held together.</a:t>
            </a:r>
          </a:p>
        </p:txBody>
      </p:sp>
      <p:sp>
        <p:nvSpPr>
          <p:cNvPr id="5" name="TextBox 4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6" name="TextBox 5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aragraph anatom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Paragraph anatomy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  <p:sp>
        <p:nvSpPr>
          <p:cNvPr id="5" name="Oval 4" descr="Topic sentence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◎</a:t>
            </a:r>
          </a:p>
        </p:txBody>
      </p:sp>
      <p:sp>
        <p:nvSpPr>
          <p:cNvPr id="6" name="TextBox 5" descr="Topic sentence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Topic sentence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paragraph's one claim, stated first. Everything after works for it.</a:t>
            </a:r>
          </a:p>
        </p:txBody>
      </p:sp>
      <p:sp>
        <p:nvSpPr>
          <p:cNvPr id="7" name="Oval 6" descr="Unity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▤</a:t>
            </a:r>
          </a:p>
        </p:txBody>
      </p:sp>
      <p:sp>
        <p:nvSpPr>
          <p:cNvPr id="8" name="TextBox 7" descr="Unity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Unity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One claim per paragraph — the wandering sentence supports some other claim and should live there.</a:t>
            </a:r>
          </a:p>
        </p:txBody>
      </p:sp>
      <p:sp>
        <p:nvSpPr>
          <p:cNvPr id="9" name="Oval 8" descr="Coherence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⛓</a:t>
            </a:r>
          </a:p>
        </p:txBody>
      </p:sp>
      <p:sp>
        <p:nvSpPr>
          <p:cNvPr id="10" name="TextBox 9" descr="Coherence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Coherence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Transitions (however, therefore) plus echoed key words tie sentences together.</a:t>
            </a:r>
          </a:p>
        </p:txBody>
      </p:sp>
      <p:sp>
        <p:nvSpPr>
          <p:cNvPr id="11" name="Oval 10" descr="Brevity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¶</a:t>
            </a:r>
          </a:p>
        </p:txBody>
      </p:sp>
      <p:sp>
        <p:nvSpPr>
          <p:cNvPr id="12" name="TextBox 11" descr="Brevity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Brevity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On screens, 4–6 lines is a paragraph; 8 is a wall. White space is the reader's handhold.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Old before new: the flow readers expec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Old before new: the flow readers expect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Topic position (sentence opening):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familiar information — the thing we're already discussing.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Stress position (sentence end):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news, the emphasis — what the reader carries away (Gopen &amp; Swan, 1990).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Use the dial: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“The committee rejected the proposal” stresses the proposal; “…rejected by the FULL committee” stresses who.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Echo transitions: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repeat the last stress in the next topic — “…raises the question of cost. That cost has three parts.”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entence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Sentences</a:t>
            </a:r>
          </a:p>
        </p:txBody>
      </p:sp>
      <p:sp>
        <p:nvSpPr>
          <p:cNvPr id="3" name="TextBox 2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Voice, rhythm, parallelism, chunks.</a:t>
            </a:r>
          </a:p>
        </p:txBody>
      </p:sp>
      <p:sp>
        <p:nvSpPr>
          <p:cNvPr id="5" name="TextBox 4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6" name="TextBox 5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ctive by default, passive on purpos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Active by default, passive on purpose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Rounded Rectangle 4" descr="ACTIVE — the default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ACTIVE — the default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“Maria approved the budget.”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Actor visible, shorter, faster to decode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Honest about who did what</a:t>
            </a:r>
          </a:p>
        </p:txBody>
      </p:sp>
      <p:sp>
        <p:nvSpPr>
          <p:cNvPr id="6" name="Rounded Rectangle 5" descr="PASSIVE — the tool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F7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B23A31"/>
                </a:solidFill>
                <a:latin typeface="Cambria"/>
              </a:rPr>
              <a:t>PASSIVE — the tool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Actor unknown: “damaged in transit”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Actor obvious/irrelevant: “stored at −80 °C”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Diplomatic focus on the act, not the person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NEVER: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“Mistakes were made” — accountability camouflage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hythm, parallelism, and chunk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Rhythm, parallelism, and chunks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Vary sentence length.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Fifteen 20-word sentences read like a metronome. After long ones, a short sentence lands like a verdict. It works.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Parallelism: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same job, same form. “Safety procedures, report filing, client communication” — one clean series.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Chunk for working memory: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fourteen items in a paragraph is a memory test; three labeled lists of 4–5 is a document (Miller, 1956).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Unfreeze nominalizations: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“make a decision about the implementation of” = “decide to implement” wearing three coats.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emphasis toolbox (in order of power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emphasis toolbox (in order of power)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  <p:sp>
        <p:nvSpPr>
          <p:cNvPr id="5" name="Oval 4" descr="Position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 descr="Position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Position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First sentence of the message; end of the sentence; first line after a heading.</a:t>
            </a:r>
          </a:p>
        </p:txBody>
      </p:sp>
      <p:sp>
        <p:nvSpPr>
          <p:cNvPr id="7" name="Oval 6" descr="Isolation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 descr="Isolation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Isolation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 one-sentence paragraph. Once = spotlight; often = confetti.</a:t>
            </a:r>
          </a:p>
        </p:txBody>
      </p:sp>
      <p:sp>
        <p:nvSpPr>
          <p:cNvPr id="9" name="Oval 8" descr="The short sentence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 descr="The short sentence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short sentence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After long ones — the verdict effect.</a:t>
            </a:r>
          </a:p>
        </p:txBody>
      </p:sp>
      <p:sp>
        <p:nvSpPr>
          <p:cNvPr id="11" name="Oval 10" descr="Labeled structure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 descr="Labeled structure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Labeled structure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Headings and bolded lead-ins (“Deadline:”) that scanning can't miss.</a:t>
            </a:r>
          </a:p>
        </p:txBody>
      </p:sp>
      <p:sp>
        <p:nvSpPr>
          <p:cNvPr id="13" name="Oval 12" descr="What doesn't work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✗</a:t>
            </a:r>
          </a:p>
        </p:txBody>
      </p:sp>
      <p:sp>
        <p:nvSpPr>
          <p:cNvPr id="14" name="TextBox 13" descr="What doesn't work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What doesn't work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Exclamation points, “very/really,” bold paragraphs, ALL CAPS — inflation that devalues the currency.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rafting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Drafting</a:t>
            </a:r>
          </a:p>
        </p:txBody>
      </p:sp>
      <p:sp>
        <p:nvSpPr>
          <p:cNvPr id="3" name="TextBox 2" descr="Section number 05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05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Permission to write badly — briefly, and on purpose.</a:t>
            </a:r>
          </a:p>
        </p:txBody>
      </p:sp>
      <p:sp>
        <p:nvSpPr>
          <p:cNvPr id="5" name="TextBox 4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6" name="TextBox 5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rafting habits that actually help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Drafting habits that actually help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 the easy section first.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Momentum transfers; openings are easier once the middle exists.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Topic sentences come from the outline.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family names you wrote ARE the paragraph openers.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When wording fights back: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type the clumsy version, mark [FIX], keep moving. Revision is a separate appointment.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Park mid-thought.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Never stop at a section's end — tomorrow's re-entry will thank you.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Draft without editing; edit without drafting.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Two jobs, two sittings. Doing both at once stalls both.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Headings: the skeleton that skim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Headings: the skeleton that skims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Informative beats categorical.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“Cost: TechServe saves $22K/year” outworks “Cost Analysis.”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headings-only test: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read just your headings. Do they tell the story? A skimmer will read exactly that.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Two levels serve almost everything.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Four levels is a filing system, not a message.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Headings discipline the writer too: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section you can't summarize honestly in its heading is two sections — or none.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buried recommendati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buried recommendation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Two weeks of analysis,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organized as the chronology of the work: history → criteria → four alternatives → and in the last paragraph, the recommendation.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VP read paragraph one,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filed it 'for later,' and asked a colleague whether the evaluation ever reached a conclusion.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repair: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“I recommend renewing with TechServe on renegotiated terms — saving $22,000/year. Comparison below.”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organize by the reader's decision, never by the archaeology of your effort. Show the work in a skippable, labeled body.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incident report that named no on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incident report that named no one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“The containment was found to have been compromised.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transfer was performed without the checklist having been completed. Corrective measures have been identified.”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Grammatical. Useless.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Who transferred? Who found it? Who owns the fix, by when?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Active rewrite: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“The on-duty technician skipped the pre-transfer checklist… The lab manager will retrain all transfer-qualified staff by March 14.”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stakes: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organizations learn from incidents only when reports carry actors, causes, and owners. Grammar is a safety system.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From outline to draft: the 20-minute pipelin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From outline to draft: the 20-minute pipeline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Chevron 4" descr="Step 1: Plan (2 min)"/>
          <p:cNvSpPr/>
          <p:nvPr/>
        </p:nvSpPr>
        <p:spPr>
          <a:xfrm>
            <a:off x="548640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Plan (2 min)</a:t>
            </a:r>
          </a:p>
        </p:txBody>
      </p:sp>
      <p:sp>
        <p:nvSpPr>
          <p:cNvPr id="6" name="TextBox 5" descr="Plan (2 min) detail"/>
          <p:cNvSpPr txBox="1"/>
          <p:nvPr/>
        </p:nvSpPr>
        <p:spPr>
          <a:xfrm>
            <a:off x="548640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Purpose template + reader profile — Chapter 2's work</a:t>
            </a:r>
          </a:p>
        </p:txBody>
      </p:sp>
      <p:sp>
        <p:nvSpPr>
          <p:cNvPr id="7" name="Chevron 6" descr="Step 2: Dump (4 min)"/>
          <p:cNvSpPr/>
          <p:nvPr/>
        </p:nvSpPr>
        <p:spPr>
          <a:xfrm>
            <a:off x="2801721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Dump (4 min)</a:t>
            </a:r>
          </a:p>
        </p:txBody>
      </p:sp>
      <p:sp>
        <p:nvSpPr>
          <p:cNvPr id="8" name="TextBox 7" descr="Dump (4 min) detail"/>
          <p:cNvSpPr txBox="1"/>
          <p:nvPr/>
        </p:nvSpPr>
        <p:spPr>
          <a:xfrm>
            <a:off x="2801721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Fifteen scratch points, no judging</a:t>
            </a:r>
          </a:p>
        </p:txBody>
      </p:sp>
      <p:sp>
        <p:nvSpPr>
          <p:cNvPr id="9" name="Chevron 8" descr="Step 3: Group (3 min)"/>
          <p:cNvSpPr/>
          <p:nvPr/>
        </p:nvSpPr>
        <p:spPr>
          <a:xfrm>
            <a:off x="5054803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Group (3 min)</a:t>
            </a:r>
          </a:p>
        </p:txBody>
      </p:sp>
      <p:sp>
        <p:nvSpPr>
          <p:cNvPr id="10" name="TextBox 9" descr="Group (3 min) detail"/>
          <p:cNvSpPr txBox="1"/>
          <p:nvPr/>
        </p:nvSpPr>
        <p:spPr>
          <a:xfrm>
            <a:off x="5054803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Three named families; orphans die</a:t>
            </a:r>
          </a:p>
        </p:txBody>
      </p:sp>
      <p:sp>
        <p:nvSpPr>
          <p:cNvPr id="11" name="Chevron 10" descr="Step 4: Sequence (1 min)"/>
          <p:cNvSpPr/>
          <p:nvPr/>
        </p:nvSpPr>
        <p:spPr>
          <a:xfrm>
            <a:off x="7307884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Sequence (1 min)</a:t>
            </a:r>
          </a:p>
        </p:txBody>
      </p:sp>
      <p:sp>
        <p:nvSpPr>
          <p:cNvPr id="12" name="TextBox 11" descr="Sequence (1 min) detail"/>
          <p:cNvSpPr txBox="1"/>
          <p:nvPr/>
        </p:nvSpPr>
        <p:spPr>
          <a:xfrm>
            <a:off x="7307884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Direct for the neutral reader</a:t>
            </a:r>
          </a:p>
        </p:txBody>
      </p:sp>
      <p:sp>
        <p:nvSpPr>
          <p:cNvPr id="13" name="Chevron 12" descr="Step 5: Sprint (10 min)"/>
          <p:cNvSpPr/>
          <p:nvPr/>
        </p:nvSpPr>
        <p:spPr>
          <a:xfrm>
            <a:off x="9560966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Sprint (10 min)</a:t>
            </a:r>
          </a:p>
        </p:txBody>
      </p:sp>
      <p:sp>
        <p:nvSpPr>
          <p:cNvPr id="14" name="TextBox 13" descr="Sprint (10 min) detail"/>
          <p:cNvSpPr txBox="1"/>
          <p:nvPr/>
        </p:nvSpPr>
        <p:spPr>
          <a:xfrm>
            <a:off x="9560966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Topic sentences from family names; [FIX] marks; done</a:t>
            </a:r>
          </a:p>
        </p:txBody>
      </p:sp>
      <p:sp>
        <p:nvSpPr>
          <p:cNvPr id="15" name="Rounded Rectangle 14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hard intellectual work — deciding, grouping, sequencing — finishes before the prose pressure starts.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Measuring readability (and its limits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Measuring readability (and its limits)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2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Word will score your prose: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File → Options → Proofing → “Show readability statistics.”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Flesch Reading Ease ~50–70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and grade level ~9–12 fit most business prose (Flesch, 1949).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formulas see only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sentence length and syllables — they can't detect a buried lead or a broken parallel.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Use them as a smoke detector, not a judge.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Grade 16 on a customer email is an alarm; grade 9 certifies nothing.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tructure the eye can se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Structure the eye can see</a:t>
            </a:r>
          </a:p>
        </p:txBody>
      </p:sp>
      <p:sp>
        <p:nvSpPr>
          <p:cNvPr id="3" name="TextBox 2" descr="Section number 06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06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Lists, tables, transitions — and the way screens are actually read.</a:t>
            </a:r>
          </a:p>
        </p:txBody>
      </p:sp>
      <p:sp>
        <p:nvSpPr>
          <p:cNvPr id="5" name="TextBox 4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6" name="TextBox 5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How screens are actually rea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How screens are actually read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2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23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F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Eye-tracking research shows readers scan web pages and email in an F-shape: across the top, a shorter sweep lower down, then straight down the left edge (Nielsen Norman Group).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top line gets read.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Your first sentence is the only sentence you can count on — which is why the direct pattern wins on screens.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left edge gets scanned.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Paragraph openers, bolded lead-ins, and list items live on the scan path; mid-sentence content does not.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Design for the F: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front-load sentences, front-load paragraphs, and put keywords where the eye actually travels.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ullets or numbers? Each has a job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Bullets or numbers? Each has a job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2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24</a:t>
            </a:r>
          </a:p>
        </p:txBody>
      </p:sp>
      <p:sp>
        <p:nvSpPr>
          <p:cNvPr id="5" name="Rounded Rectangle 4" descr="BULLETED list — unordered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BULLETED list — unordered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Items are parallel and interchangeable in order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Options, features, criteria, examples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Signals: 'these belong together; sequence doesn't matter'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Limit: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4–8 items; past that, group into labeled sub-lists</a:t>
            </a:r>
          </a:p>
        </p:txBody>
      </p:sp>
      <p:sp>
        <p:nvSpPr>
          <p:cNvPr id="6" name="Rounded Rectangle 5" descr="NUMBERED list — ordered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NUMBERED list — ordered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Sequence, ranking, or priority is the point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Steps, instructions, ranked recommendations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Numbers let readers reference: 'see item 3'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Rule: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never number a list whose order is arbitrary — numbers promise meaning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List discipline: what separates a list from a fragment pil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List discipline: what separates a list from a fragment pile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2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Lead-in sentence.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list needs a sentence that tells the reader what the items are: 'The proposal has three risks:'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Parallel form.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All items start the same part of speech — all verbs, all nouns. One broken item breaks the rhythm of all of them.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Comparable weight.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six-word item next to a sixty-word item signals the list wasn't designed — split or trim.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level, maybe two.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Nested bullet forests three levels deep are outlines that never got written into prose. Flatten or restructure.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Punctuate consistently.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Fragments: no periods. Full sentences: periods. Never a mix within one list.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en a table beats pros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When a table beats prose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2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26</a:t>
            </a:r>
          </a:p>
        </p:txBody>
      </p:sp>
      <p:sp>
        <p:nvSpPr>
          <p:cNvPr id="5" name="Rounded Rectangle 4" descr="Use a TABLE when readers need to…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Use a TABLE when readers need to…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Compare options across the same dimensions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Look up exact values (prices, dates, specs)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Check completeness — every cell visibly filled or empty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Test: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if you're writing 'X is $40, while Y is $55, whereas Z…' — that sentence wants to be a table</a:t>
            </a:r>
          </a:p>
        </p:txBody>
      </p:sp>
      <p:sp>
        <p:nvSpPr>
          <p:cNvPr id="6" name="Rounded Rectangle 5" descr="Keep PROSE when readers need to…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Keep PROSE when readers need to…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Follow causation — why something happened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Weigh an argument with qualifications and exceptions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Hear tone: goodwill, apology, persuasion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Test: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if every cell would hold a paragraph, the table is a cage, not a tool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ransitions: the traffic signals of pros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Transitions: the traffic signals of prose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2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27</a:t>
            </a:r>
          </a:p>
        </p:txBody>
      </p:sp>
      <p:sp>
        <p:nvSpPr>
          <p:cNvPr id="5" name="TextBox 4" descr="Context"/>
          <p:cNvSpPr txBox="1"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5E6B64"/>
                </a:solidFill>
                <a:latin typeface="Calibri"/>
              </a:rPr>
              <a:t>Readers decode transitions before they decode the sentence — a wrong signal misroutes the whole paragraph.</a:t>
            </a:r>
          </a:p>
        </p:txBody>
      </p:sp>
      <p:sp>
        <p:nvSpPr>
          <p:cNvPr id="6" name="Oval 5" descr="Addition icon"/>
          <p:cNvSpPr/>
          <p:nvPr/>
        </p:nvSpPr>
        <p:spPr>
          <a:xfrm>
            <a:off x="640080" y="19751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＋</a:t>
            </a:r>
          </a:p>
        </p:txBody>
      </p:sp>
      <p:sp>
        <p:nvSpPr>
          <p:cNvPr id="7" name="TextBox 6" descr="Addition"/>
          <p:cNvSpPr txBox="1"/>
          <p:nvPr/>
        </p:nvSpPr>
        <p:spPr>
          <a:xfrm>
            <a:off x="1417320" y="192024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Addition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also · moreover · in addition — 'more of the same direction ahead.'</a:t>
            </a:r>
          </a:p>
        </p:txBody>
      </p:sp>
      <p:sp>
        <p:nvSpPr>
          <p:cNvPr id="8" name="Oval 7" descr="Contrast icon"/>
          <p:cNvSpPr/>
          <p:nvPr/>
        </p:nvSpPr>
        <p:spPr>
          <a:xfrm>
            <a:off x="640080" y="299923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↔</a:t>
            </a:r>
          </a:p>
        </p:txBody>
      </p:sp>
      <p:sp>
        <p:nvSpPr>
          <p:cNvPr id="9" name="TextBox 8" descr="Contrast"/>
          <p:cNvSpPr txBox="1"/>
          <p:nvPr/>
        </p:nvSpPr>
        <p:spPr>
          <a:xfrm>
            <a:off x="1417320" y="294436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Contrast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however · yet · on the other hand — 'turn coming; slow down.'</a:t>
            </a:r>
          </a:p>
        </p:txBody>
      </p:sp>
      <p:sp>
        <p:nvSpPr>
          <p:cNvPr id="10" name="Oval 9" descr="Cause &amp; consequence icon"/>
          <p:cNvSpPr/>
          <p:nvPr/>
        </p:nvSpPr>
        <p:spPr>
          <a:xfrm>
            <a:off x="640080" y="402336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∴</a:t>
            </a:r>
          </a:p>
        </p:txBody>
      </p:sp>
      <p:sp>
        <p:nvSpPr>
          <p:cNvPr id="11" name="TextBox 10" descr="Cause &amp; consequence"/>
          <p:cNvSpPr txBox="1"/>
          <p:nvPr/>
        </p:nvSpPr>
        <p:spPr>
          <a:xfrm>
            <a:off x="1417320" y="396849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Cause &amp; consequence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therefore · as a result · consequently — 'this follows from that.'</a:t>
            </a:r>
          </a:p>
        </p:txBody>
      </p:sp>
      <p:sp>
        <p:nvSpPr>
          <p:cNvPr id="12" name="Oval 11" descr="Sequence icon"/>
          <p:cNvSpPr/>
          <p:nvPr/>
        </p:nvSpPr>
        <p:spPr>
          <a:xfrm>
            <a:off x="640080" y="504748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№</a:t>
            </a:r>
          </a:p>
        </p:txBody>
      </p:sp>
      <p:sp>
        <p:nvSpPr>
          <p:cNvPr id="13" name="TextBox 12" descr="Sequence"/>
          <p:cNvSpPr txBox="1"/>
          <p:nvPr/>
        </p:nvSpPr>
        <p:spPr>
          <a:xfrm>
            <a:off x="1417320" y="499262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Sequence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first · next · finally — 'you are here' markers in a process.</a:t>
            </a:r>
          </a:p>
        </p:txBody>
      </p:sp>
      <p:sp>
        <p:nvSpPr>
          <p:cNvPr id="14" name="Oval 13" descr="Example &amp; proof icon"/>
          <p:cNvSpPr/>
          <p:nvPr/>
        </p:nvSpPr>
        <p:spPr>
          <a:xfrm>
            <a:off x="640080" y="607161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◉</a:t>
            </a:r>
          </a:p>
        </p:txBody>
      </p:sp>
      <p:sp>
        <p:nvSpPr>
          <p:cNvPr id="15" name="TextBox 14" descr="Example &amp; proof"/>
          <p:cNvSpPr txBox="1"/>
          <p:nvPr/>
        </p:nvSpPr>
        <p:spPr>
          <a:xfrm>
            <a:off x="1417320" y="601675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Example &amp; proof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for instance · specifically · in particular — 'the claim is about to get concrete.'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Openings that earn the reader's next ten second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Openings that earn the reader's next ten seconds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subject line is sentence zero.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'Budget approval needed by Friday' outworks 'Question' — the decision to open, defer, or delete is made right there.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Direct messages: main point, sentence one.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Request, recommendation, or news — before any background.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sentence of context is a courtesy;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three paragraphs of context is a hostage situation.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Never open with the archaeology: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 was reviewing the files from last quarter and noticed…' — start with what you found, not the story of finding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losings that move the work forwar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Closings that move the work forward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2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Action, owner, date.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'Please send the revised figures to me by Thursday, March 12' — every request needs all three or it isn't a request, it's a wish.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Make the next step frictionless.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Attach the form, link the calendar, include the number — every step you remove doubles the odds of action.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End with goodwill that is specific.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'Thanks for turning this around during inventory week' beats the upholstery of 'Thanks in advance!'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Don't reopen the case in the closing.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New arguments in the last paragraph un-decide everything above them.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email that became a tabl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email that became a table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3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Before: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Nine sentences comparing three vendors' prices, support hours, and contract terms — every fact true, no fact findable twice.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reply: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'Can you summarize the differences?' — the writer had summarized them. In prose. That was the problem.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After: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three-column table (vendor × price, support, term) plus TWO sentences of prose: the recommendation and the reason.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prose carries the argument; the table carries the facts. When you make readers hold six numbers in working memory, they hold none (Miller, 1956).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3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31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5551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50" b="0" i="0">
                <a:solidFill>
                  <a:srgbClr val="212A26"/>
                </a:solidFill>
                <a:latin typeface="Calibri"/>
              </a:rPr>
              <a:t>One decision first: direct for receptive readers, indirect for resistance and bad news.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127939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09651"/>
            <a:ext cx="10332720" cy="5551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50" b="0" i="0">
                <a:solidFill>
                  <a:srgbClr val="212A26"/>
                </a:solidFill>
                <a:latin typeface="Calibri"/>
              </a:rPr>
              <a:t>Outline in three moves — dump, group into named families, sequence — and cut the orphans.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683110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664822"/>
            <a:ext cx="10332720" cy="5551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50" b="0" i="0">
                <a:solidFill>
                  <a:srgbClr val="212A26"/>
                </a:solidFill>
                <a:latin typeface="Calibri"/>
              </a:rPr>
              <a:t>Paragraphs: one claim, topic sentence first, echoes carrying old-to-new flow.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238281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219993"/>
            <a:ext cx="10332720" cy="5551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50" b="0" i="0">
                <a:solidFill>
                  <a:srgbClr val="212A26"/>
                </a:solidFill>
                <a:latin typeface="Calibri"/>
              </a:rPr>
              <a:t>The stress position at the sentence's end is your emphasis dial (Gopen &amp; Swan, 1990).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3793452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3775164"/>
            <a:ext cx="10332720" cy="5551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50" b="0" i="0">
                <a:solidFill>
                  <a:srgbClr val="212A26"/>
                </a:solidFill>
                <a:latin typeface="Calibri"/>
              </a:rPr>
              <a:t>Active by default; passive on purpose; never as camouflage. Keep series parallel; chunk for 7±2.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348623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330335"/>
            <a:ext cx="10332720" cy="5551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50" b="0" i="0">
                <a:solidFill>
                  <a:srgbClr val="212A26"/>
                </a:solidFill>
                <a:latin typeface="Calibri"/>
              </a:rPr>
              <a:t>Draft fast, judge later — generating and judging are different jobs.</a:t>
            </a:r>
          </a:p>
        </p:txBody>
      </p:sp>
      <p:sp>
        <p:nvSpPr>
          <p:cNvPr id="17" name="Oval 16" descr="Checkmark"/>
          <p:cNvSpPr/>
          <p:nvPr/>
        </p:nvSpPr>
        <p:spPr>
          <a:xfrm>
            <a:off x="640080" y="4903794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 descr="Takeaway 7"/>
          <p:cNvSpPr txBox="1"/>
          <p:nvPr/>
        </p:nvSpPr>
        <p:spPr>
          <a:xfrm>
            <a:off x="1325880" y="4885506"/>
            <a:ext cx="10332720" cy="5551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50" b="0" i="0">
                <a:solidFill>
                  <a:srgbClr val="212A26"/>
                </a:solidFill>
                <a:latin typeface="Calibri"/>
              </a:rPr>
              <a:t>Design for the F-pattern: front-load sentences and paragraphs; lists and tables where comparison lives.</a:t>
            </a:r>
          </a:p>
        </p:txBody>
      </p:sp>
      <p:sp>
        <p:nvSpPr>
          <p:cNvPr id="19" name="Rounded Rectangle 18" descr="Practice reminder"/>
          <p:cNvSpPr/>
          <p:nvPr/>
        </p:nvSpPr>
        <p:spPr>
          <a:xfrm>
            <a:off x="548640" y="5513829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3 → Practice, then the graded homework before the weekly deadline.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“Readers do not remember what you wrote. They remember what they read — and they read the first sentence, the headings, and the ends of things.”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this chapter, compressed</a:t>
            </a:r>
          </a:p>
        </p:txBody>
      </p:sp>
      <p:sp>
        <p:nvSpPr>
          <p:cNvPr id="5" name="TextBox 4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6" name="TextBox 5" descr="Slide number 3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Find a real message organized by the writer's process instead of the reader's decision. What earns sentence one?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Collect three passives from documents around you: tool or camouflage? Rewrite the camouflage.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Audition every sentence of your last substantial paragraph against its topic sentence. What moves out?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Where is the line between direct and merely abrupt? Give a case from your own inbox.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Run Word's readability statistics on something you wrote. What does the score see — and what does it miss?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3  ·  © Derek D. Bussan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3  ·  © Derek D. Bussan</a:t>
            </a:r>
          </a:p>
        </p:txBody>
      </p:sp>
      <p:sp>
        <p:nvSpPr>
          <p:cNvPr id="4" name="TextBox 3" descr="Slide number 3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3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3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Chapter 3 Study Guide — includes the sentence workshop with ten repairs and answers.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Do: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Outline your next substantial message with dump-group-sequence before drafting a word.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Chapter 4 — revising and proofreading: conciseness, clarity, and catching what spellcheck can't.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