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Chapter 3: building the message the plan decided on. Companion study guide has the full treatment.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Objectives map to the site's Chapter 3 bank.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One input decides: how will the reader feel? Chapters 7-8 develop the indirect arts.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Guard rails for the decision.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unity test applies to outlines too: every branch serves the box above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Topic sentences come straight from the outline's family names.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Prose honoring old→new feels lucid without the reader knowing why.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the reader needs the actor, name the actor.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four highest-frequency sentence repairs in business prose.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Everything can't be important, or nothing 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judging phase is Chapter 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outline, left visible for the reader.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Excellent analysis, invisible conclusion — the most common structural heartbreak in business.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Passive-as-camouflage in its natural habitat. Ties to Chapter 1's upward-communication filter.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Walkthrough matches the study guide's worked memo.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Automated metrics as sanity check; human structure judgment remains the skill.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6: visible structure. The outline made the logic; this section makes the logic visible at scanning speed.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F-pattern is why the topic-sentence rule and bolded lead-ins are not decoration — they sit exactly where attention goes. Everything off the F-path is optional reading.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choice broadcasts a claim about the content. A numbered list of unranked options invites the question 'why is this one first?'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Lists get skimmed precisely because readers trust their structure — sloppy lists spend that trust. Parallelism review from Section 4 applies item-by-item.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Tables are for comparison and lookup; prose is for reasoning and relationship. Chapter 9 develops data displays fully — this is the drafting-level decision.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Transitions are promises. 'However' followed by agreement is a broken promise, and readers feel it even when they can't name it. Echoed key words (old-to-new) do the same work invisibly.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Openings are where the buried-recommendation failure begins. The reader's first question is always 'what is this and what do you need from me?' — answer it immediately.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Closings are the stress position of the whole message — what sits there is what gets remembered and acted on. Deadlines without dates are decorations.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Common real-world repair: the writer did the analysis and hid it in paragraph form. The rewrite splits the jobs — table for lookup, sentences for judgment.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Position is emphasis.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Async-ready.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Delivery-neutral closing.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4D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Organizing and Drafting Business Messages"/>
          <p:cNvSpPr>
            <a:spLocks noGrp="1"/>
          </p:cNvSpPr>
          <p:nvPr>
            <p:ph type="title"/>
          </p:nvPr>
        </p:nvSpPr>
        <p:spPr>
          <a:xfrm>
            <a:off x="822960" y="1920240"/>
            <a:ext cx="10515600" cy="1737360"/>
          </a:xfrm>
        </p:spPr>
        <p:txBody>
          <a:bodyPr wrap="square"/>
          <a:lstStyle/>
          <a:p>
            <a:pPr algn="l"/>
            <a:r>
              <a:rPr sz="4800" b="1">
                <a:solidFill>
                  <a:srgbClr val="FFFFFF"/>
                </a:solidFill>
                <a:latin typeface="Cambria"/>
              </a:rPr>
              <a:t>Organizing and Drafting Business Messages</a:t>
            </a:r>
          </a:p>
        </p:txBody>
      </p:sp>
      <p:sp>
        <p:nvSpPr>
          <p:cNvPr id="3" name="TextBox 2" descr="Course label"/>
          <p:cNvSpPr txBox="1"/>
          <p:nvPr/>
        </p:nvSpPr>
        <p:spPr>
          <a:xfrm>
            <a:off x="822960" y="13716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 i="0">
                <a:solidFill>
                  <a:srgbClr val="BFD8C6"/>
                </a:solidFill>
                <a:latin typeface="Calibri"/>
              </a:rPr>
              <a:t>BADM 225 · PROFESSIONAL COMMUNICATION FOR BUSINESS</a:t>
            </a:r>
          </a:p>
        </p:txBody>
      </p:sp>
      <p:sp>
        <p:nvSpPr>
          <p:cNvPr id="4" name="TextBox 3" descr="Subtitle"/>
          <p:cNvSpPr txBox="1"/>
          <p:nvPr/>
        </p:nvSpPr>
        <p:spPr>
          <a:xfrm>
            <a:off x="822960" y="38404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900" b="0" i="0">
                <a:solidFill>
                  <a:srgbClr val="EAF1EB"/>
                </a:solidFill>
                <a:latin typeface="Calibri"/>
              </a:rPr>
              <a:t>Direct vs. indirect strategy · outlines that think · paragraphs that hold · sentences that carry weight</a:t>
            </a:r>
          </a:p>
        </p:txBody>
      </p:sp>
      <p:sp>
        <p:nvSpPr>
          <p:cNvPr id="5" name="TextBox 4" descr="Attribution"/>
          <p:cNvSpPr txBox="1"/>
          <p:nvPr/>
        </p:nvSpPr>
        <p:spPr>
          <a:xfrm>
            <a:off x="822960" y="5852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0" i="0">
                <a:solidFill>
                  <a:srgbClr val="A8C4B2"/>
                </a:solidFill>
                <a:latin typeface="Calibri"/>
              </a:rPr>
              <a:t>BADM 225 · Chapter 3  ·  Original instructional material — no publisher content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What you'll be able to do after this chapter"/>
          <p:cNvSpPr>
            <a:spLocks noGrp="1"/>
          </p:cNvSpPr>
          <p:nvPr>
            <p:ph type="title"/>
          </p:nvPr>
        </p:nvSpPr>
        <p:spPr>
          <a:xfrm>
            <a:off x="502920" y="411480"/>
            <a:ext cx="11155680" cy="914400"/>
          </a:xfrm>
        </p:spPr>
        <p:txBody>
          <a:bodyPr wrap="square"/>
          <a:lstStyle/>
          <a:p>
            <a:pPr algn="l"/>
            <a:r>
              <a:rPr sz="3200" b="1">
                <a:solidFill>
                  <a:srgbClr val="0E4D33"/>
                </a:solidFill>
                <a:latin typeface="Cambria"/>
              </a:rPr>
              <a:t>What you'll be able to do after this chapter</a:t>
            </a:r>
          </a:p>
        </p:txBody>
      </p:sp>
      <p:sp>
        <p:nvSpPr>
          <p:cNvPr id="3" name="TextBox 2" descr="Footer: BADM 225 · Chapter 3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Chapter 3</a:t>
            </a:r>
          </a:p>
        </p:txBody>
      </p:sp>
      <p:sp>
        <p:nvSpPr>
          <p:cNvPr id="4" name="TextBox 3" descr="Slide number 2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2</a:t>
            </a:r>
          </a:p>
        </p:txBody>
      </p:sp>
      <p:sp>
        <p:nvSpPr>
          <p:cNvPr id="5" name="TextBox 4" descr="Key points"/>
          <p:cNvSpPr txBox="1"/>
          <p:nvPr/>
        </p:nvSpPr>
        <p:spPr>
          <a:xfrm>
            <a:off x="548640" y="1554480"/>
            <a:ext cx="110642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Choose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direct or indirect strategy based on the reader's likely reaction — and defend the choice.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Outline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any message in three steps: dump, group into named families, sequence.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Build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paragraphs with one claim each, opened by a topic sentence, held together by echoes.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Control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emphasis with the stress position, sentence rhythm, and active voice.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Repair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nominalizations, broken parallelism, and walls of unchunked text.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4D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The organizing decision"/>
          <p:cNvSpPr>
            <a:spLocks noGrp="1"/>
          </p:cNvSpPr>
          <p:nvPr>
            <p:ph type="title"/>
          </p:nvPr>
        </p:nvSpPr>
        <p:spPr>
          <a:xfrm>
            <a:off x="822960" y="2834640"/>
            <a:ext cx="10515600" cy="914400"/>
          </a:xfrm>
        </p:spPr>
        <p:txBody>
          <a:bodyPr wrap="square"/>
          <a:lstStyle/>
          <a:p>
            <a:pPr algn="l"/>
            <a:r>
              <a:rPr sz="4000" b="1">
                <a:solidFill>
                  <a:srgbClr val="FFFFFF"/>
                </a:solidFill>
                <a:latin typeface="Cambria"/>
              </a:rPr>
              <a:t>The organizing decision</a:t>
            </a:r>
          </a:p>
        </p:txBody>
      </p:sp>
      <p:sp>
        <p:nvSpPr>
          <p:cNvPr id="3" name="TextBox 2" descr="Section number 01"/>
          <p:cNvSpPr txBox="1"/>
          <p:nvPr/>
        </p:nvSpPr>
        <p:spPr>
          <a:xfrm>
            <a:off x="822960" y="1188720"/>
            <a:ext cx="2743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8000" b="1" i="0">
                <a:solidFill>
                  <a:srgbClr val="C9931A"/>
                </a:solidFill>
                <a:latin typeface="Cambria"/>
              </a:rPr>
              <a:t>01</a:t>
            </a:r>
          </a:p>
        </p:txBody>
      </p:sp>
      <p:sp>
        <p:nvSpPr>
          <p:cNvPr id="4" name="TextBox 3" descr="Section note"/>
          <p:cNvSpPr txBox="1"/>
          <p:nvPr/>
        </p:nvSpPr>
        <p:spPr>
          <a:xfrm>
            <a:off x="822960" y="4023360"/>
            <a:ext cx="9601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0" i="0">
                <a:solidFill>
                  <a:srgbClr val="EAF1EB"/>
                </a:solidFill>
                <a:latin typeface="Calibri"/>
              </a:rPr>
              <a:t>Main point first — or reasons first? The reader's reaction decides.</a:t>
            </a:r>
          </a:p>
        </p:txBody>
      </p:sp>
      <p:sp>
        <p:nvSpPr>
          <p:cNvPr id="5" name="TextBox 4" descr="Footer: BADM 225 · Chapter 3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Chapter 3</a:t>
            </a:r>
          </a:p>
        </p:txBody>
      </p:sp>
      <p:sp>
        <p:nvSpPr>
          <p:cNvPr id="6" name="TextBox 5" descr="Slide number 3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The two master patterns"/>
          <p:cNvSpPr>
            <a:spLocks noGrp="1"/>
          </p:cNvSpPr>
          <p:nvPr>
            <p:ph type="title"/>
          </p:nvPr>
        </p:nvSpPr>
        <p:spPr>
          <a:xfrm>
            <a:off x="502920" y="411480"/>
            <a:ext cx="11155680" cy="914400"/>
          </a:xfrm>
        </p:spPr>
        <p:txBody>
          <a:bodyPr wrap="square"/>
          <a:lstStyle/>
          <a:p>
            <a:pPr algn="l"/>
            <a:r>
              <a:rPr sz="3200" b="1">
                <a:solidFill>
                  <a:srgbClr val="0E4D33"/>
                </a:solidFill>
                <a:latin typeface="Cambria"/>
              </a:rPr>
              <a:t>The two master patterns</a:t>
            </a:r>
          </a:p>
        </p:txBody>
      </p:sp>
      <p:sp>
        <p:nvSpPr>
          <p:cNvPr id="3" name="TextBox 2" descr="Footer: BADM 225 · Chapter 3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Chapter 3</a:t>
            </a:r>
          </a:p>
        </p:txBody>
      </p:sp>
      <p:sp>
        <p:nvSpPr>
          <p:cNvPr id="4" name="TextBox 3" descr="Slide number 4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4</a:t>
            </a:r>
          </a:p>
        </p:txBody>
      </p:sp>
      <p:sp>
        <p:nvSpPr>
          <p:cNvPr id="5" name="Rounded Rectangle 4" descr="DIRECT — receptive/neutral readers panel"/>
          <p:cNvSpPr/>
          <p:nvPr/>
        </p:nvSpPr>
        <p:spPr>
          <a:xfrm>
            <a:off x="548640" y="1554480"/>
            <a:ext cx="5394960" cy="4572000"/>
          </a:xfrm>
          <a:prstGeom prst="roundRect">
            <a:avLst/>
          </a:prstGeom>
          <a:solidFill>
            <a:srgbClr val="EAF1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109728"/>
          <a:lstStyle/>
          <a:p>
            <a:pPr algn="l">
              <a:spcAft>
                <a:spcPts val="1200"/>
              </a:spcAft>
            </a:pPr>
            <a:r>
              <a:rPr sz="1800" b="1" i="0">
                <a:solidFill>
                  <a:srgbClr val="0E4D33"/>
                </a:solidFill>
                <a:latin typeface="Cambria"/>
              </a:rPr>
              <a:t>DIRECT — receptive/neutral readers</a:t>
            </a:r>
          </a:p>
          <a:p>
            <a:pPr algn="l">
              <a:spcAft>
                <a:spcPts val="900"/>
              </a:spcAft>
            </a:pPr>
            <a:r>
              <a:rPr sz="1500">
                <a:solidFill>
                  <a:srgbClr val="8A6410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212A26"/>
                </a:solidFill>
                <a:latin typeface="Calibri"/>
              </a:rPr>
              <a:t>Main point in sentence one</a:t>
            </a:r>
          </a:p>
          <a:p>
            <a:pPr algn="l">
              <a:spcAft>
                <a:spcPts val="900"/>
              </a:spcAft>
            </a:pPr>
            <a:r>
              <a:rPr sz="1500">
                <a:solidFill>
                  <a:srgbClr val="8A6410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212A26"/>
                </a:solidFill>
                <a:latin typeface="Calibri"/>
              </a:rPr>
              <a:t>Details and reasons after</a:t>
            </a:r>
          </a:p>
          <a:p>
            <a:pPr algn="l">
              <a:spcAft>
                <a:spcPts val="900"/>
              </a:spcAft>
            </a:pPr>
            <a:r>
              <a:rPr sz="1500">
                <a:solidFill>
                  <a:srgbClr val="8A6410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212A26"/>
                </a:solidFill>
                <a:latin typeface="Calibri"/>
              </a:rPr>
              <a:t>Goodwill close</a:t>
            </a:r>
          </a:p>
          <a:p>
            <a:pPr algn="l">
              <a:spcAft>
                <a:spcPts val="900"/>
              </a:spcAft>
            </a:pPr>
            <a:r>
              <a:rPr sz="1500">
                <a:solidFill>
                  <a:srgbClr val="8A6410"/>
                </a:solidFill>
                <a:latin typeface="Calibri"/>
              </a:rPr>
              <a:t>▪  </a:t>
            </a:r>
            <a:r>
              <a:rPr sz="1500" b="1">
                <a:solidFill>
                  <a:srgbClr val="0E4D33"/>
                </a:solidFill>
                <a:latin typeface="Calibri"/>
              </a:rPr>
              <a:t>Why:  </a:t>
            </a:r>
            <a:r>
              <a:rPr sz="1500" b="0" i="0">
                <a:solidFill>
                  <a:srgbClr val="212A26"/>
                </a:solidFill>
                <a:latin typeface="Calibri"/>
              </a:rPr>
              <a:t>respects scanning, survives forwarding, reads as confidence</a:t>
            </a:r>
          </a:p>
        </p:txBody>
      </p:sp>
      <p:sp>
        <p:nvSpPr>
          <p:cNvPr id="6" name="Rounded Rectangle 5" descr="INDIRECT — resistance or bad news panel"/>
          <p:cNvSpPr/>
          <p:nvPr/>
        </p:nvSpPr>
        <p:spPr>
          <a:xfrm>
            <a:off x="6263640" y="1554480"/>
            <a:ext cx="5394960" cy="4572000"/>
          </a:xfrm>
          <a:prstGeom prst="roundRect">
            <a:avLst/>
          </a:prstGeom>
          <a:solidFill>
            <a:srgbClr val="EAF1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109728"/>
          <a:lstStyle/>
          <a:p>
            <a:pPr algn="l">
              <a:spcAft>
                <a:spcPts val="1200"/>
              </a:spcAft>
            </a:pPr>
            <a:r>
              <a:rPr sz="1800" b="1" i="0">
                <a:solidFill>
                  <a:srgbClr val="0E4D33"/>
                </a:solidFill>
                <a:latin typeface="Cambria"/>
              </a:rPr>
              <a:t>INDIRECT — resistance or bad news</a:t>
            </a:r>
          </a:p>
          <a:p>
            <a:pPr algn="l">
              <a:spcAft>
                <a:spcPts val="900"/>
              </a:spcAft>
            </a:pPr>
            <a:r>
              <a:rPr sz="1500">
                <a:solidFill>
                  <a:srgbClr val="8A6410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212A26"/>
                </a:solidFill>
                <a:latin typeface="Calibri"/>
              </a:rPr>
              <a:t>Buffer of honest context first</a:t>
            </a:r>
          </a:p>
          <a:p>
            <a:pPr algn="l">
              <a:spcAft>
                <a:spcPts val="900"/>
              </a:spcAft>
            </a:pPr>
            <a:r>
              <a:rPr sz="1500">
                <a:solidFill>
                  <a:srgbClr val="8A6410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212A26"/>
                </a:solidFill>
                <a:latin typeface="Calibri"/>
              </a:rPr>
              <a:t>Reasons BEFORE the conclusion</a:t>
            </a:r>
          </a:p>
          <a:p>
            <a:pPr algn="l">
              <a:spcAft>
                <a:spcPts val="900"/>
              </a:spcAft>
            </a:pPr>
            <a:r>
              <a:rPr sz="1500">
                <a:solidFill>
                  <a:srgbClr val="8A6410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212A26"/>
                </a:solidFill>
                <a:latin typeface="Calibri"/>
              </a:rPr>
              <a:t>Main point arrives pre-justified, then pivot forward</a:t>
            </a:r>
          </a:p>
          <a:p>
            <a:pPr algn="l">
              <a:spcAft>
                <a:spcPts val="900"/>
              </a:spcAft>
            </a:pPr>
            <a:r>
              <a:rPr sz="1500">
                <a:solidFill>
                  <a:srgbClr val="8A6410"/>
                </a:solidFill>
                <a:latin typeface="Calibri"/>
              </a:rPr>
              <a:t>▪  </a:t>
            </a:r>
            <a:r>
              <a:rPr sz="1500" b="1">
                <a:solidFill>
                  <a:srgbClr val="0E4D33"/>
                </a:solidFill>
                <a:latin typeface="Calibri"/>
              </a:rPr>
              <a:t>Why:  </a:t>
            </a:r>
            <a:r>
              <a:rPr sz="1500" b="0" i="0">
                <a:solidFill>
                  <a:srgbClr val="212A26"/>
                </a:solidFill>
                <a:latin typeface="Calibri"/>
              </a:rPr>
              <a:t>a blunt opening slams minds shut before reasons get a hearing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Two abuses of the strategy choice"/>
          <p:cNvSpPr>
            <a:spLocks noGrp="1"/>
          </p:cNvSpPr>
          <p:nvPr>
            <p:ph type="title"/>
          </p:nvPr>
        </p:nvSpPr>
        <p:spPr>
          <a:xfrm>
            <a:off x="502920" y="411480"/>
            <a:ext cx="11155680" cy="914400"/>
          </a:xfrm>
        </p:spPr>
        <p:txBody>
          <a:bodyPr wrap="square"/>
          <a:lstStyle/>
          <a:p>
            <a:pPr algn="l"/>
            <a:r>
              <a:rPr sz="3200" b="1">
                <a:solidFill>
                  <a:srgbClr val="0E4D33"/>
                </a:solidFill>
                <a:latin typeface="Cambria"/>
              </a:rPr>
              <a:t>Two abuses of the strategy choice</a:t>
            </a:r>
          </a:p>
        </p:txBody>
      </p:sp>
      <p:sp>
        <p:nvSpPr>
          <p:cNvPr id="3" name="TextBox 2" descr="Footer: BADM 225 · Chapter 3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Chapter 3</a:t>
            </a:r>
          </a:p>
        </p:txBody>
      </p:sp>
      <p:sp>
        <p:nvSpPr>
          <p:cNvPr id="4" name="TextBox 3" descr="Slide number 5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5</a:t>
            </a:r>
          </a:p>
        </p:txBody>
      </p:sp>
      <p:sp>
        <p:nvSpPr>
          <p:cNvPr id="5" name="TextBox 4" descr="Key points"/>
          <p:cNvSpPr txBox="1"/>
          <p:nvPr/>
        </p:nvSpPr>
        <p:spPr>
          <a:xfrm>
            <a:off x="548640" y="1554480"/>
            <a:ext cx="110642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Indirect as fog.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Burying a routine request under three paragraphs of preamble isn't diplomacy — it's hiding.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Direct as bluntness.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“Your project is cancelled, details below” is a wound with a bibliography.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The rule: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strategy follows the reader's stakes — not the writer's nerves, not the writer's impatience.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Most business messages, most days: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direct.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4D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Outlines"/>
          <p:cNvSpPr>
            <a:spLocks noGrp="1"/>
          </p:cNvSpPr>
          <p:nvPr>
            <p:ph type="title"/>
          </p:nvPr>
        </p:nvSpPr>
        <p:spPr>
          <a:xfrm>
            <a:off x="822960" y="2834640"/>
            <a:ext cx="10515600" cy="914400"/>
          </a:xfrm>
        </p:spPr>
        <p:txBody>
          <a:bodyPr wrap="square"/>
          <a:lstStyle/>
          <a:p>
            <a:pPr algn="l"/>
            <a:r>
              <a:rPr sz="4000" b="1">
                <a:solidFill>
                  <a:srgbClr val="FFFFFF"/>
                </a:solidFill>
                <a:latin typeface="Cambria"/>
              </a:rPr>
              <a:t>Outlines</a:t>
            </a:r>
          </a:p>
        </p:txBody>
      </p:sp>
      <p:sp>
        <p:nvSpPr>
          <p:cNvPr id="3" name="TextBox 2" descr="Section number 02"/>
          <p:cNvSpPr txBox="1"/>
          <p:nvPr/>
        </p:nvSpPr>
        <p:spPr>
          <a:xfrm>
            <a:off x="822960" y="1188720"/>
            <a:ext cx="2743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8000" b="1" i="0">
                <a:solidFill>
                  <a:srgbClr val="C9931A"/>
                </a:solidFill>
                <a:latin typeface="Cambria"/>
              </a:rPr>
              <a:t>02</a:t>
            </a:r>
          </a:p>
        </p:txBody>
      </p:sp>
      <p:sp>
        <p:nvSpPr>
          <p:cNvPr id="4" name="TextBox 3" descr="Section note"/>
          <p:cNvSpPr txBox="1"/>
          <p:nvPr/>
        </p:nvSpPr>
        <p:spPr>
          <a:xfrm>
            <a:off x="822960" y="4023360"/>
            <a:ext cx="9601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0" i="0">
                <a:solidFill>
                  <a:srgbClr val="EAF1EB"/>
                </a:solidFill>
                <a:latin typeface="Calibri"/>
              </a:rPr>
              <a:t>The cheapest place to discover your message doesn't hold together.</a:t>
            </a:r>
          </a:p>
        </p:txBody>
      </p:sp>
      <p:sp>
        <p:nvSpPr>
          <p:cNvPr id="5" name="TextBox 4" descr="Footer: BADM 225 · Chapter 3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Chapter 3</a:t>
            </a:r>
          </a:p>
        </p:txBody>
      </p:sp>
      <p:sp>
        <p:nvSpPr>
          <p:cNvPr id="6" name="TextBox 5" descr="Slide number 6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Outlining in three moves"/>
          <p:cNvSpPr>
            <a:spLocks noGrp="1"/>
          </p:cNvSpPr>
          <p:nvPr>
            <p:ph type="title"/>
          </p:nvPr>
        </p:nvSpPr>
        <p:spPr>
          <a:xfrm>
            <a:off x="502920" y="411480"/>
            <a:ext cx="11155680" cy="914400"/>
          </a:xfrm>
        </p:spPr>
        <p:txBody>
          <a:bodyPr wrap="square"/>
          <a:lstStyle/>
          <a:p>
            <a:pPr algn="l"/>
            <a:r>
              <a:rPr sz="3200" b="1">
                <a:solidFill>
                  <a:srgbClr val="0E4D33"/>
                </a:solidFill>
                <a:latin typeface="Cambria"/>
              </a:rPr>
              <a:t>Outlining in three moves</a:t>
            </a:r>
          </a:p>
        </p:txBody>
      </p:sp>
      <p:sp>
        <p:nvSpPr>
          <p:cNvPr id="3" name="TextBox 2" descr="Footer: BADM 225 · Chapter 3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Chapter 3</a:t>
            </a:r>
          </a:p>
        </p:txBody>
      </p:sp>
      <p:sp>
        <p:nvSpPr>
          <p:cNvPr id="4" name="TextBox 3" descr="Slide number 7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7</a:t>
            </a:r>
          </a:p>
        </p:txBody>
      </p:sp>
      <p:sp>
        <p:nvSpPr>
          <p:cNvPr id="5" name="Chevron 4" descr="Step 1: DUMP"/>
          <p:cNvSpPr/>
          <p:nvPr/>
        </p:nvSpPr>
        <p:spPr>
          <a:xfrm>
            <a:off x="548640" y="1828800"/>
            <a:ext cx="3645408" cy="1143000"/>
          </a:xfrm>
          <a:prstGeom prst="chevron">
            <a:avLst/>
          </a:prstGeom>
          <a:solidFill>
            <a:srgbClr val="0E4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DUMP</a:t>
            </a:r>
          </a:p>
        </p:txBody>
      </p:sp>
      <p:sp>
        <p:nvSpPr>
          <p:cNvPr id="6" name="TextBox 5" descr="DUMP detail"/>
          <p:cNvSpPr txBox="1"/>
          <p:nvPr/>
        </p:nvSpPr>
        <p:spPr>
          <a:xfrm>
            <a:off x="548640" y="3154680"/>
            <a:ext cx="3645408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sz="1250" b="0" i="0">
                <a:solidFill>
                  <a:srgbClr val="212A26"/>
                </a:solidFill>
                <a:latin typeface="Calibri"/>
              </a:rPr>
              <a:t>Scratch-list every point you might make. No order, no judging.</a:t>
            </a:r>
          </a:p>
        </p:txBody>
      </p:sp>
      <p:sp>
        <p:nvSpPr>
          <p:cNvPr id="7" name="Chevron 6" descr="Step 2: GROUP"/>
          <p:cNvSpPr/>
          <p:nvPr/>
        </p:nvSpPr>
        <p:spPr>
          <a:xfrm>
            <a:off x="4303776" y="1828800"/>
            <a:ext cx="3645408" cy="1143000"/>
          </a:xfrm>
          <a:prstGeom prst="chevron">
            <a:avLst/>
          </a:prstGeom>
          <a:solidFill>
            <a:srgbClr val="5C8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GROUP</a:t>
            </a:r>
          </a:p>
        </p:txBody>
      </p:sp>
      <p:sp>
        <p:nvSpPr>
          <p:cNvPr id="8" name="TextBox 7" descr="GROUP detail"/>
          <p:cNvSpPr txBox="1"/>
          <p:nvPr/>
        </p:nvSpPr>
        <p:spPr>
          <a:xfrm>
            <a:off x="4303776" y="3154680"/>
            <a:ext cx="3645408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sz="1250" b="0" i="0">
                <a:solidFill>
                  <a:srgbClr val="212A26"/>
                </a:solidFill>
                <a:latin typeface="Calibri"/>
              </a:rPr>
              <a:t>Three-ish families, each with a NAME — the names become your headings.</a:t>
            </a:r>
          </a:p>
        </p:txBody>
      </p:sp>
      <p:sp>
        <p:nvSpPr>
          <p:cNvPr id="9" name="Chevron 8" descr="Step 3: SEQUENCE"/>
          <p:cNvSpPr/>
          <p:nvPr/>
        </p:nvSpPr>
        <p:spPr>
          <a:xfrm>
            <a:off x="8058912" y="1828800"/>
            <a:ext cx="3645408" cy="1143000"/>
          </a:xfrm>
          <a:prstGeom prst="chevron">
            <a:avLst/>
          </a:prstGeom>
          <a:solidFill>
            <a:srgbClr val="0E4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SEQUENCE</a:t>
            </a:r>
          </a:p>
        </p:txBody>
      </p:sp>
      <p:sp>
        <p:nvSpPr>
          <p:cNvPr id="10" name="TextBox 9" descr="SEQUENCE detail"/>
          <p:cNvSpPr txBox="1"/>
          <p:nvPr/>
        </p:nvSpPr>
        <p:spPr>
          <a:xfrm>
            <a:off x="8058912" y="3154680"/>
            <a:ext cx="3645408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sz="1250" b="0" i="0">
                <a:solidFill>
                  <a:srgbClr val="212A26"/>
                </a:solidFill>
                <a:latin typeface="Calibri"/>
              </a:rPr>
              <a:t>Direct or indirect, per the strategy call. Cut what serves no family.</a:t>
            </a:r>
          </a:p>
        </p:txBody>
      </p:sp>
      <p:sp>
        <p:nvSpPr>
          <p:cNvPr id="11" name="Rounded Rectangle 10" descr="Key insight"/>
          <p:cNvSpPr/>
          <p:nvPr/>
        </p:nvSpPr>
        <p:spPr>
          <a:xfrm>
            <a:off x="548640" y="4892040"/>
            <a:ext cx="11064240" cy="1234440"/>
          </a:xfrm>
          <a:prstGeom prst="roundRect">
            <a:avLst/>
          </a:prstGeom>
          <a:solidFill>
            <a:srgbClr val="EAF1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109728"/>
          <a:lstStyle/>
          <a:p>
            <a:pPr algn="l">
              <a:spcAft>
                <a:spcPts val="800"/>
              </a:spcAft>
            </a:pPr>
            <a:r>
              <a:rPr sz="1500" b="1">
                <a:solidFill>
                  <a:srgbClr val="0E4D33"/>
                </a:solidFill>
                <a:latin typeface="Calibri"/>
              </a:rPr>
              <a:t>Key insight:  </a:t>
            </a:r>
            <a:r>
              <a:rPr sz="1500" b="0" i="0">
                <a:solidFill>
                  <a:srgbClr val="212A26"/>
                </a:solidFill>
                <a:latin typeface="Calibri"/>
              </a:rPr>
              <a:t>Working memory holds about 7±2 chunks (Miller, 1956) — and tired readers on phones hold fewer. Three main points is a classic for a reason.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4D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Paragraphs"/>
          <p:cNvSpPr>
            <a:spLocks noGrp="1"/>
          </p:cNvSpPr>
          <p:nvPr>
            <p:ph type="title"/>
          </p:nvPr>
        </p:nvSpPr>
        <p:spPr>
          <a:xfrm>
            <a:off x="822960" y="2834640"/>
            <a:ext cx="10515600" cy="914400"/>
          </a:xfrm>
        </p:spPr>
        <p:txBody>
          <a:bodyPr wrap="square"/>
          <a:lstStyle/>
          <a:p>
            <a:pPr algn="l"/>
            <a:r>
              <a:rPr sz="4000" b="1">
                <a:solidFill>
                  <a:srgbClr val="FFFFFF"/>
                </a:solidFill>
                <a:latin typeface="Cambria"/>
              </a:rPr>
              <a:t>Paragraphs</a:t>
            </a:r>
          </a:p>
        </p:txBody>
      </p:sp>
      <p:sp>
        <p:nvSpPr>
          <p:cNvPr id="3" name="TextBox 2" descr="Section number 03"/>
          <p:cNvSpPr txBox="1"/>
          <p:nvPr/>
        </p:nvSpPr>
        <p:spPr>
          <a:xfrm>
            <a:off x="822960" y="1188720"/>
            <a:ext cx="2743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8000" b="1" i="0">
                <a:solidFill>
                  <a:srgbClr val="C9931A"/>
                </a:solidFill>
                <a:latin typeface="Cambria"/>
              </a:rPr>
              <a:t>03</a:t>
            </a:r>
          </a:p>
        </p:txBody>
      </p:sp>
      <p:sp>
        <p:nvSpPr>
          <p:cNvPr id="4" name="TextBox 3" descr="Section note"/>
          <p:cNvSpPr txBox="1"/>
          <p:nvPr/>
        </p:nvSpPr>
        <p:spPr>
          <a:xfrm>
            <a:off x="822960" y="4023360"/>
            <a:ext cx="9601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0" i="0">
                <a:solidFill>
                  <a:srgbClr val="EAF1EB"/>
                </a:solidFill>
                <a:latin typeface="Calibri"/>
              </a:rPr>
              <a:t>One claim, stated first, held together.</a:t>
            </a:r>
          </a:p>
        </p:txBody>
      </p:sp>
      <p:sp>
        <p:nvSpPr>
          <p:cNvPr id="5" name="TextBox 4" descr="Footer: BADM 225 · Chapter 3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Chapter 3</a:t>
            </a:r>
          </a:p>
        </p:txBody>
      </p:sp>
      <p:sp>
        <p:nvSpPr>
          <p:cNvPr id="6" name="TextBox 5" descr="Slide number 8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Paragraph anatomy"/>
          <p:cNvSpPr>
            <a:spLocks noGrp="1"/>
          </p:cNvSpPr>
          <p:nvPr>
            <p:ph type="title"/>
          </p:nvPr>
        </p:nvSpPr>
        <p:spPr>
          <a:xfrm>
            <a:off x="502920" y="411480"/>
            <a:ext cx="11155680" cy="914400"/>
          </a:xfrm>
        </p:spPr>
        <p:txBody>
          <a:bodyPr wrap="square"/>
          <a:lstStyle/>
          <a:p>
            <a:pPr algn="l"/>
            <a:r>
              <a:rPr sz="3200" b="1">
                <a:solidFill>
                  <a:srgbClr val="0E4D33"/>
                </a:solidFill>
                <a:latin typeface="Cambria"/>
              </a:rPr>
              <a:t>Paragraph anatomy</a:t>
            </a:r>
          </a:p>
        </p:txBody>
      </p:sp>
      <p:sp>
        <p:nvSpPr>
          <p:cNvPr id="3" name="TextBox 2" descr="Footer: BADM 225 · Chapter 3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Chapter 3</a:t>
            </a:r>
          </a:p>
        </p:txBody>
      </p:sp>
      <p:sp>
        <p:nvSpPr>
          <p:cNvPr id="4" name="TextBox 3" descr="Slide number 9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9</a:t>
            </a:r>
          </a:p>
        </p:txBody>
      </p:sp>
      <p:sp>
        <p:nvSpPr>
          <p:cNvPr id="5" name="Oval 4" descr="Topic sentence icon"/>
          <p:cNvSpPr/>
          <p:nvPr/>
        </p:nvSpPr>
        <p:spPr>
          <a:xfrm>
            <a:off x="640080" y="1655064"/>
            <a:ext cx="566928" cy="566928"/>
          </a:xfrm>
          <a:prstGeom prst="ellipse">
            <a:avLst/>
          </a:prstGeom>
          <a:solidFill>
            <a:srgbClr val="0E4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◎</a:t>
            </a:r>
          </a:p>
        </p:txBody>
      </p:sp>
      <p:sp>
        <p:nvSpPr>
          <p:cNvPr id="6" name="TextBox 5" descr="Topic sentence"/>
          <p:cNvSpPr txBox="1"/>
          <p:nvPr/>
        </p:nvSpPr>
        <p:spPr>
          <a:xfrm>
            <a:off x="1417320" y="1600200"/>
            <a:ext cx="10241280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50" b="1" i="0">
                <a:solidFill>
                  <a:srgbClr val="0E4D33"/>
                </a:solidFill>
                <a:latin typeface="Cambria"/>
              </a:rPr>
              <a:t>Topic sentence</a:t>
            </a:r>
          </a:p>
          <a:p>
            <a:pPr algn="l">
              <a:spcAft>
                <a:spcPts val="0"/>
              </a:spcAft>
            </a:pPr>
            <a:r>
              <a:rPr sz="1550" b="0" i="0">
                <a:solidFill>
                  <a:srgbClr val="212A26"/>
                </a:solidFill>
                <a:latin typeface="Calibri"/>
              </a:rPr>
              <a:t>The paragraph's one claim, stated first. Everything after works for it.</a:t>
            </a:r>
          </a:p>
        </p:txBody>
      </p:sp>
      <p:sp>
        <p:nvSpPr>
          <p:cNvPr id="7" name="Oval 6" descr="Unity icon"/>
          <p:cNvSpPr/>
          <p:nvPr/>
        </p:nvSpPr>
        <p:spPr>
          <a:xfrm>
            <a:off x="640080" y="2843784"/>
            <a:ext cx="566928" cy="566928"/>
          </a:xfrm>
          <a:prstGeom prst="ellipse">
            <a:avLst/>
          </a:prstGeom>
          <a:solidFill>
            <a:srgbClr val="0E4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▤</a:t>
            </a:r>
          </a:p>
        </p:txBody>
      </p:sp>
      <p:sp>
        <p:nvSpPr>
          <p:cNvPr id="8" name="TextBox 7" descr="Unity"/>
          <p:cNvSpPr txBox="1"/>
          <p:nvPr/>
        </p:nvSpPr>
        <p:spPr>
          <a:xfrm>
            <a:off x="1417320" y="2788920"/>
            <a:ext cx="10241280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50" b="1" i="0">
                <a:solidFill>
                  <a:srgbClr val="0E4D33"/>
                </a:solidFill>
                <a:latin typeface="Cambria"/>
              </a:rPr>
              <a:t>Unity</a:t>
            </a:r>
          </a:p>
          <a:p>
            <a:pPr algn="l">
              <a:spcAft>
                <a:spcPts val="0"/>
              </a:spcAft>
            </a:pPr>
            <a:r>
              <a:rPr sz="1550" b="0" i="0">
                <a:solidFill>
                  <a:srgbClr val="212A26"/>
                </a:solidFill>
                <a:latin typeface="Calibri"/>
              </a:rPr>
              <a:t>One claim per paragraph — the wandering sentence supports some other claim and should live there.</a:t>
            </a:r>
          </a:p>
        </p:txBody>
      </p:sp>
      <p:sp>
        <p:nvSpPr>
          <p:cNvPr id="9" name="Oval 8" descr="Coherence icon"/>
          <p:cNvSpPr/>
          <p:nvPr/>
        </p:nvSpPr>
        <p:spPr>
          <a:xfrm>
            <a:off x="640080" y="4032504"/>
            <a:ext cx="566928" cy="566928"/>
          </a:xfrm>
          <a:prstGeom prst="ellipse">
            <a:avLst/>
          </a:prstGeom>
          <a:solidFill>
            <a:srgbClr val="0E4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⛓</a:t>
            </a:r>
          </a:p>
        </p:txBody>
      </p:sp>
      <p:sp>
        <p:nvSpPr>
          <p:cNvPr id="10" name="TextBox 9" descr="Coherence"/>
          <p:cNvSpPr txBox="1"/>
          <p:nvPr/>
        </p:nvSpPr>
        <p:spPr>
          <a:xfrm>
            <a:off x="1417320" y="3977640"/>
            <a:ext cx="10241280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50" b="1" i="0">
                <a:solidFill>
                  <a:srgbClr val="0E4D33"/>
                </a:solidFill>
                <a:latin typeface="Cambria"/>
              </a:rPr>
              <a:t>Coherence</a:t>
            </a:r>
          </a:p>
          <a:p>
            <a:pPr algn="l">
              <a:spcAft>
                <a:spcPts val="0"/>
              </a:spcAft>
            </a:pPr>
            <a:r>
              <a:rPr sz="1550" b="0" i="0">
                <a:solidFill>
                  <a:srgbClr val="212A26"/>
                </a:solidFill>
                <a:latin typeface="Calibri"/>
              </a:rPr>
              <a:t>Transitions (however, therefore) plus echoed key words tie sentences together.</a:t>
            </a:r>
          </a:p>
        </p:txBody>
      </p:sp>
      <p:sp>
        <p:nvSpPr>
          <p:cNvPr id="11" name="Oval 10" descr="Brevity icon"/>
          <p:cNvSpPr/>
          <p:nvPr/>
        </p:nvSpPr>
        <p:spPr>
          <a:xfrm>
            <a:off x="640080" y="5221224"/>
            <a:ext cx="566928" cy="566928"/>
          </a:xfrm>
          <a:prstGeom prst="ellipse">
            <a:avLst/>
          </a:prstGeom>
          <a:solidFill>
            <a:srgbClr val="0E4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¶</a:t>
            </a:r>
          </a:p>
        </p:txBody>
      </p:sp>
      <p:sp>
        <p:nvSpPr>
          <p:cNvPr id="12" name="TextBox 11" descr="Brevity"/>
          <p:cNvSpPr txBox="1"/>
          <p:nvPr/>
        </p:nvSpPr>
        <p:spPr>
          <a:xfrm>
            <a:off x="1417320" y="5166360"/>
            <a:ext cx="10241280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50" b="1" i="0">
                <a:solidFill>
                  <a:srgbClr val="0E4D33"/>
                </a:solidFill>
                <a:latin typeface="Cambria"/>
              </a:rPr>
              <a:t>Brevity</a:t>
            </a:r>
          </a:p>
          <a:p>
            <a:pPr algn="l">
              <a:spcAft>
                <a:spcPts val="0"/>
              </a:spcAft>
            </a:pPr>
            <a:r>
              <a:rPr sz="1550" b="0" i="0">
                <a:solidFill>
                  <a:srgbClr val="212A26"/>
                </a:solidFill>
                <a:latin typeface="Calibri"/>
              </a:rPr>
              <a:t>On screens, 4–6 lines is a paragraph; 8 is a wall. White space is the reader's handhold.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Old before new: the flow readers expect"/>
          <p:cNvSpPr>
            <a:spLocks noGrp="1"/>
          </p:cNvSpPr>
          <p:nvPr>
            <p:ph type="title"/>
          </p:nvPr>
        </p:nvSpPr>
        <p:spPr>
          <a:xfrm>
            <a:off x="502920" y="411480"/>
            <a:ext cx="11155680" cy="914400"/>
          </a:xfrm>
        </p:spPr>
        <p:txBody>
          <a:bodyPr wrap="square"/>
          <a:lstStyle/>
          <a:p>
            <a:pPr algn="l"/>
            <a:r>
              <a:rPr sz="3200" b="1">
                <a:solidFill>
                  <a:srgbClr val="0E4D33"/>
                </a:solidFill>
                <a:latin typeface="Cambria"/>
              </a:rPr>
              <a:t>Old before new: the flow readers expect</a:t>
            </a:r>
          </a:p>
        </p:txBody>
      </p:sp>
      <p:sp>
        <p:nvSpPr>
          <p:cNvPr id="3" name="TextBox 2" descr="Footer: BADM 225 · Chapter 3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Chapter 3</a:t>
            </a:r>
          </a:p>
        </p:txBody>
      </p:sp>
      <p:sp>
        <p:nvSpPr>
          <p:cNvPr id="4" name="TextBox 3" descr="Slide number 10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10</a:t>
            </a:r>
          </a:p>
        </p:txBody>
      </p:sp>
      <p:sp>
        <p:nvSpPr>
          <p:cNvPr id="5" name="TextBox 4" descr="Key points"/>
          <p:cNvSpPr txBox="1"/>
          <p:nvPr/>
        </p:nvSpPr>
        <p:spPr>
          <a:xfrm>
            <a:off x="548640" y="1554480"/>
            <a:ext cx="110642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Topic position (sentence opening):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familiar information — the thing we're already discussing.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Stress position (sentence end):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the news, the emphasis — what the reader carries away (Gopen &amp; Swan, 1990).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Use the dial: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“The committee rejected the proposal” stresses the proposal; “…rejected by the FULL committee” stresses who.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Echo transitions: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repeat the last stress in the next topic — “…raises the question of cost. That cost has three parts.”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4D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Sentences"/>
          <p:cNvSpPr>
            <a:spLocks noGrp="1"/>
          </p:cNvSpPr>
          <p:nvPr>
            <p:ph type="title"/>
          </p:nvPr>
        </p:nvSpPr>
        <p:spPr>
          <a:xfrm>
            <a:off x="822960" y="2834640"/>
            <a:ext cx="10515600" cy="914400"/>
          </a:xfrm>
        </p:spPr>
        <p:txBody>
          <a:bodyPr wrap="square"/>
          <a:lstStyle/>
          <a:p>
            <a:pPr algn="l"/>
            <a:r>
              <a:rPr sz="4000" b="1">
                <a:solidFill>
                  <a:srgbClr val="FFFFFF"/>
                </a:solidFill>
                <a:latin typeface="Cambria"/>
              </a:rPr>
              <a:t>Sentences</a:t>
            </a:r>
          </a:p>
        </p:txBody>
      </p:sp>
      <p:sp>
        <p:nvSpPr>
          <p:cNvPr id="3" name="TextBox 2" descr="Section number 04"/>
          <p:cNvSpPr txBox="1"/>
          <p:nvPr/>
        </p:nvSpPr>
        <p:spPr>
          <a:xfrm>
            <a:off x="822960" y="1188720"/>
            <a:ext cx="2743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8000" b="1" i="0">
                <a:solidFill>
                  <a:srgbClr val="C9931A"/>
                </a:solidFill>
                <a:latin typeface="Cambria"/>
              </a:rPr>
              <a:t>04</a:t>
            </a:r>
          </a:p>
        </p:txBody>
      </p:sp>
      <p:sp>
        <p:nvSpPr>
          <p:cNvPr id="4" name="TextBox 3" descr="Section note"/>
          <p:cNvSpPr txBox="1"/>
          <p:nvPr/>
        </p:nvSpPr>
        <p:spPr>
          <a:xfrm>
            <a:off x="822960" y="4023360"/>
            <a:ext cx="9601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0" i="0">
                <a:solidFill>
                  <a:srgbClr val="EAF1EB"/>
                </a:solidFill>
                <a:latin typeface="Calibri"/>
              </a:rPr>
              <a:t>Voice, rhythm, parallelism, chunks.</a:t>
            </a:r>
          </a:p>
        </p:txBody>
      </p:sp>
      <p:sp>
        <p:nvSpPr>
          <p:cNvPr id="5" name="TextBox 4" descr="Footer: BADM 225 · Chapter 3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Chapter 3</a:t>
            </a:r>
          </a:p>
        </p:txBody>
      </p:sp>
      <p:sp>
        <p:nvSpPr>
          <p:cNvPr id="6" name="TextBox 5" descr="Slide number 11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Active by default, passive on purpose"/>
          <p:cNvSpPr>
            <a:spLocks noGrp="1"/>
          </p:cNvSpPr>
          <p:nvPr>
            <p:ph type="title"/>
          </p:nvPr>
        </p:nvSpPr>
        <p:spPr>
          <a:xfrm>
            <a:off x="502920" y="411480"/>
            <a:ext cx="11155680" cy="914400"/>
          </a:xfrm>
        </p:spPr>
        <p:txBody>
          <a:bodyPr wrap="square"/>
          <a:lstStyle/>
          <a:p>
            <a:pPr algn="l"/>
            <a:r>
              <a:rPr sz="3200" b="1">
                <a:solidFill>
                  <a:srgbClr val="0E4D33"/>
                </a:solidFill>
                <a:latin typeface="Cambria"/>
              </a:rPr>
              <a:t>Active by default, passive on purpose</a:t>
            </a:r>
          </a:p>
        </p:txBody>
      </p:sp>
      <p:sp>
        <p:nvSpPr>
          <p:cNvPr id="3" name="TextBox 2" descr="Footer: BADM 225 · Chapter 3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Chapter 3</a:t>
            </a:r>
          </a:p>
        </p:txBody>
      </p:sp>
      <p:sp>
        <p:nvSpPr>
          <p:cNvPr id="4" name="TextBox 3" descr="Slide number 12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12</a:t>
            </a:r>
          </a:p>
        </p:txBody>
      </p:sp>
      <p:sp>
        <p:nvSpPr>
          <p:cNvPr id="5" name="Rounded Rectangle 4" descr="ACTIVE — the default panel"/>
          <p:cNvSpPr/>
          <p:nvPr/>
        </p:nvSpPr>
        <p:spPr>
          <a:xfrm>
            <a:off x="548640" y="1554480"/>
            <a:ext cx="5394960" cy="4572000"/>
          </a:xfrm>
          <a:prstGeom prst="roundRect">
            <a:avLst/>
          </a:prstGeom>
          <a:solidFill>
            <a:srgbClr val="EAF1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109728"/>
          <a:lstStyle/>
          <a:p>
            <a:pPr algn="l">
              <a:spcAft>
                <a:spcPts val="1200"/>
              </a:spcAft>
            </a:pPr>
            <a:r>
              <a:rPr sz="1800" b="1" i="0">
                <a:solidFill>
                  <a:srgbClr val="0E4D33"/>
                </a:solidFill>
                <a:latin typeface="Cambria"/>
              </a:rPr>
              <a:t>ACTIVE — the default</a:t>
            </a:r>
          </a:p>
          <a:p>
            <a:pPr algn="l">
              <a:spcAft>
                <a:spcPts val="900"/>
              </a:spcAft>
            </a:pPr>
            <a:r>
              <a:rPr sz="1500">
                <a:solidFill>
                  <a:srgbClr val="8A6410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212A26"/>
                </a:solidFill>
                <a:latin typeface="Calibri"/>
              </a:rPr>
              <a:t>“Maria approved the budget.”</a:t>
            </a:r>
          </a:p>
          <a:p>
            <a:pPr algn="l">
              <a:spcAft>
                <a:spcPts val="900"/>
              </a:spcAft>
            </a:pPr>
            <a:r>
              <a:rPr sz="1500">
                <a:solidFill>
                  <a:srgbClr val="8A6410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212A26"/>
                </a:solidFill>
                <a:latin typeface="Calibri"/>
              </a:rPr>
              <a:t>Actor visible, shorter, faster to decode</a:t>
            </a:r>
          </a:p>
          <a:p>
            <a:pPr algn="l">
              <a:spcAft>
                <a:spcPts val="900"/>
              </a:spcAft>
            </a:pPr>
            <a:r>
              <a:rPr sz="1500">
                <a:solidFill>
                  <a:srgbClr val="8A6410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212A26"/>
                </a:solidFill>
                <a:latin typeface="Calibri"/>
              </a:rPr>
              <a:t>Honest about who did what</a:t>
            </a:r>
          </a:p>
        </p:txBody>
      </p:sp>
      <p:sp>
        <p:nvSpPr>
          <p:cNvPr id="6" name="Rounded Rectangle 5" descr="PASSIVE — the tool panel"/>
          <p:cNvSpPr/>
          <p:nvPr/>
        </p:nvSpPr>
        <p:spPr>
          <a:xfrm>
            <a:off x="6263640" y="1554480"/>
            <a:ext cx="5394960" cy="4572000"/>
          </a:xfrm>
          <a:prstGeom prst="roundRect">
            <a:avLst/>
          </a:prstGeom>
          <a:solidFill>
            <a:srgbClr val="F7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109728"/>
          <a:lstStyle/>
          <a:p>
            <a:pPr algn="l">
              <a:spcAft>
                <a:spcPts val="1200"/>
              </a:spcAft>
            </a:pPr>
            <a:r>
              <a:rPr sz="1800" b="1" i="0">
                <a:solidFill>
                  <a:srgbClr val="B23A31"/>
                </a:solidFill>
                <a:latin typeface="Cambria"/>
              </a:rPr>
              <a:t>PASSIVE — the tool</a:t>
            </a:r>
          </a:p>
          <a:p>
            <a:pPr algn="l">
              <a:spcAft>
                <a:spcPts val="900"/>
              </a:spcAft>
            </a:pPr>
            <a:r>
              <a:rPr sz="1500">
                <a:solidFill>
                  <a:srgbClr val="8A6410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212A26"/>
                </a:solidFill>
                <a:latin typeface="Calibri"/>
              </a:rPr>
              <a:t>Actor unknown: “damaged in transit”</a:t>
            </a:r>
          </a:p>
          <a:p>
            <a:pPr algn="l">
              <a:spcAft>
                <a:spcPts val="900"/>
              </a:spcAft>
            </a:pPr>
            <a:r>
              <a:rPr sz="1500">
                <a:solidFill>
                  <a:srgbClr val="8A6410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212A26"/>
                </a:solidFill>
                <a:latin typeface="Calibri"/>
              </a:rPr>
              <a:t>Actor obvious/irrelevant: “stored at −80 °C”</a:t>
            </a:r>
          </a:p>
          <a:p>
            <a:pPr algn="l">
              <a:spcAft>
                <a:spcPts val="900"/>
              </a:spcAft>
            </a:pPr>
            <a:r>
              <a:rPr sz="1500">
                <a:solidFill>
                  <a:srgbClr val="8A6410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212A26"/>
                </a:solidFill>
                <a:latin typeface="Calibri"/>
              </a:rPr>
              <a:t>Diplomatic focus on the act, not the person</a:t>
            </a:r>
          </a:p>
          <a:p>
            <a:pPr algn="l">
              <a:spcAft>
                <a:spcPts val="900"/>
              </a:spcAft>
            </a:pPr>
            <a:r>
              <a:rPr sz="1500">
                <a:solidFill>
                  <a:srgbClr val="8A6410"/>
                </a:solidFill>
                <a:latin typeface="Calibri"/>
              </a:rPr>
              <a:t>▪  </a:t>
            </a:r>
            <a:r>
              <a:rPr sz="1500" b="1">
                <a:solidFill>
                  <a:srgbClr val="0E4D33"/>
                </a:solidFill>
                <a:latin typeface="Calibri"/>
              </a:rPr>
              <a:t>NEVER:  </a:t>
            </a:r>
            <a:r>
              <a:rPr sz="1500" b="0" i="0">
                <a:solidFill>
                  <a:srgbClr val="212A26"/>
                </a:solidFill>
                <a:latin typeface="Calibri"/>
              </a:rPr>
              <a:t>“Mistakes were made” — accountability camouflage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Rhythm, parallelism, and chunks"/>
          <p:cNvSpPr>
            <a:spLocks noGrp="1"/>
          </p:cNvSpPr>
          <p:nvPr>
            <p:ph type="title"/>
          </p:nvPr>
        </p:nvSpPr>
        <p:spPr>
          <a:xfrm>
            <a:off x="502920" y="411480"/>
            <a:ext cx="11155680" cy="914400"/>
          </a:xfrm>
        </p:spPr>
        <p:txBody>
          <a:bodyPr wrap="square"/>
          <a:lstStyle/>
          <a:p>
            <a:pPr algn="l"/>
            <a:r>
              <a:rPr sz="3200" b="1">
                <a:solidFill>
                  <a:srgbClr val="0E4D33"/>
                </a:solidFill>
                <a:latin typeface="Cambria"/>
              </a:rPr>
              <a:t>Rhythm, parallelism, and chunks</a:t>
            </a:r>
          </a:p>
        </p:txBody>
      </p:sp>
      <p:sp>
        <p:nvSpPr>
          <p:cNvPr id="3" name="TextBox 2" descr="Footer: BADM 225 · Chapter 3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Chapter 3</a:t>
            </a:r>
          </a:p>
        </p:txBody>
      </p:sp>
      <p:sp>
        <p:nvSpPr>
          <p:cNvPr id="4" name="TextBox 3" descr="Slide number 13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13</a:t>
            </a:r>
          </a:p>
        </p:txBody>
      </p:sp>
      <p:sp>
        <p:nvSpPr>
          <p:cNvPr id="5" name="TextBox 4" descr="Key points"/>
          <p:cNvSpPr txBox="1"/>
          <p:nvPr/>
        </p:nvSpPr>
        <p:spPr>
          <a:xfrm>
            <a:off x="548640" y="1554480"/>
            <a:ext cx="110642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Vary sentence length.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Fifteen 20-word sentences read like a metronome. After long ones, a short sentence lands like a verdict. It works.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Parallelism: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same job, same form. “Safety procedures, report filing, client communication” — one clean series.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Chunk for working memory: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fourteen items in a paragraph is a memory test; three labeled lists of 4–5 is a document (Miller, 1956).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Unfreeze nominalizations: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“make a decision about the implementation of” = “decide to implement” wearing three coats.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The emphasis toolbox (in order of power)"/>
          <p:cNvSpPr>
            <a:spLocks noGrp="1"/>
          </p:cNvSpPr>
          <p:nvPr>
            <p:ph type="title"/>
          </p:nvPr>
        </p:nvSpPr>
        <p:spPr>
          <a:xfrm>
            <a:off x="502920" y="411480"/>
            <a:ext cx="11155680" cy="914400"/>
          </a:xfrm>
        </p:spPr>
        <p:txBody>
          <a:bodyPr wrap="square"/>
          <a:lstStyle/>
          <a:p>
            <a:pPr algn="l"/>
            <a:r>
              <a:rPr sz="3200" b="1">
                <a:solidFill>
                  <a:srgbClr val="0E4D33"/>
                </a:solidFill>
                <a:latin typeface="Cambria"/>
              </a:rPr>
              <a:t>The emphasis toolbox (in order of power)</a:t>
            </a:r>
          </a:p>
        </p:txBody>
      </p:sp>
      <p:sp>
        <p:nvSpPr>
          <p:cNvPr id="3" name="TextBox 2" descr="Footer: BADM 225 · Chapter 3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Chapter 3</a:t>
            </a:r>
          </a:p>
        </p:txBody>
      </p:sp>
      <p:sp>
        <p:nvSpPr>
          <p:cNvPr id="4" name="TextBox 3" descr="Slide number 14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14</a:t>
            </a:r>
          </a:p>
        </p:txBody>
      </p:sp>
      <p:sp>
        <p:nvSpPr>
          <p:cNvPr id="5" name="Oval 4" descr="Position icon"/>
          <p:cNvSpPr/>
          <p:nvPr/>
        </p:nvSpPr>
        <p:spPr>
          <a:xfrm>
            <a:off x="640080" y="1655064"/>
            <a:ext cx="566928" cy="566928"/>
          </a:xfrm>
          <a:prstGeom prst="ellipse">
            <a:avLst/>
          </a:prstGeom>
          <a:solidFill>
            <a:srgbClr val="0E4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6" name="TextBox 5" descr="Position"/>
          <p:cNvSpPr txBox="1"/>
          <p:nvPr/>
        </p:nvSpPr>
        <p:spPr>
          <a:xfrm>
            <a:off x="1417320" y="1600200"/>
            <a:ext cx="10241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50" b="1" i="0">
                <a:solidFill>
                  <a:srgbClr val="0E4D33"/>
                </a:solidFill>
                <a:latin typeface="Cambria"/>
              </a:rPr>
              <a:t>Position</a:t>
            </a:r>
          </a:p>
          <a:p>
            <a:pPr algn="l">
              <a:spcAft>
                <a:spcPts val="0"/>
              </a:spcAft>
            </a:pPr>
            <a:r>
              <a:rPr sz="1550" b="0" i="0">
                <a:solidFill>
                  <a:srgbClr val="212A26"/>
                </a:solidFill>
                <a:latin typeface="Calibri"/>
              </a:rPr>
              <a:t>First sentence of the message; end of the sentence; first line after a heading.</a:t>
            </a:r>
          </a:p>
        </p:txBody>
      </p:sp>
      <p:sp>
        <p:nvSpPr>
          <p:cNvPr id="7" name="Oval 6" descr="Isolation icon"/>
          <p:cNvSpPr/>
          <p:nvPr/>
        </p:nvSpPr>
        <p:spPr>
          <a:xfrm>
            <a:off x="640080" y="2679192"/>
            <a:ext cx="566928" cy="566928"/>
          </a:xfrm>
          <a:prstGeom prst="ellipse">
            <a:avLst/>
          </a:prstGeom>
          <a:solidFill>
            <a:srgbClr val="0E4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8" name="TextBox 7" descr="Isolation"/>
          <p:cNvSpPr txBox="1"/>
          <p:nvPr/>
        </p:nvSpPr>
        <p:spPr>
          <a:xfrm>
            <a:off x="1417320" y="2624328"/>
            <a:ext cx="10241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50" b="1" i="0">
                <a:solidFill>
                  <a:srgbClr val="0E4D33"/>
                </a:solidFill>
                <a:latin typeface="Cambria"/>
              </a:rPr>
              <a:t>Isolation</a:t>
            </a:r>
          </a:p>
          <a:p>
            <a:pPr algn="l">
              <a:spcAft>
                <a:spcPts val="0"/>
              </a:spcAft>
            </a:pPr>
            <a:r>
              <a:rPr sz="1550" b="0" i="0">
                <a:solidFill>
                  <a:srgbClr val="212A26"/>
                </a:solidFill>
                <a:latin typeface="Calibri"/>
              </a:rPr>
              <a:t>A one-sentence paragraph. Once = spotlight; often = confetti.</a:t>
            </a:r>
          </a:p>
        </p:txBody>
      </p:sp>
      <p:sp>
        <p:nvSpPr>
          <p:cNvPr id="9" name="Oval 8" descr="The short sentence icon"/>
          <p:cNvSpPr/>
          <p:nvPr/>
        </p:nvSpPr>
        <p:spPr>
          <a:xfrm>
            <a:off x="640080" y="3703320"/>
            <a:ext cx="566928" cy="566928"/>
          </a:xfrm>
          <a:prstGeom prst="ellipse">
            <a:avLst/>
          </a:prstGeom>
          <a:solidFill>
            <a:srgbClr val="0E4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0" name="TextBox 9" descr="The short sentence"/>
          <p:cNvSpPr txBox="1"/>
          <p:nvPr/>
        </p:nvSpPr>
        <p:spPr>
          <a:xfrm>
            <a:off x="1417320" y="3648456"/>
            <a:ext cx="10241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50" b="1" i="0">
                <a:solidFill>
                  <a:srgbClr val="0E4D33"/>
                </a:solidFill>
                <a:latin typeface="Cambria"/>
              </a:rPr>
              <a:t>The short sentence</a:t>
            </a:r>
          </a:p>
          <a:p>
            <a:pPr algn="l">
              <a:spcAft>
                <a:spcPts val="0"/>
              </a:spcAft>
            </a:pPr>
            <a:r>
              <a:rPr sz="1550" b="0" i="0">
                <a:solidFill>
                  <a:srgbClr val="212A26"/>
                </a:solidFill>
                <a:latin typeface="Calibri"/>
              </a:rPr>
              <a:t>After long ones — the verdict effect.</a:t>
            </a:r>
          </a:p>
        </p:txBody>
      </p:sp>
      <p:sp>
        <p:nvSpPr>
          <p:cNvPr id="11" name="Oval 10" descr="Labeled structure icon"/>
          <p:cNvSpPr/>
          <p:nvPr/>
        </p:nvSpPr>
        <p:spPr>
          <a:xfrm>
            <a:off x="640080" y="4727448"/>
            <a:ext cx="566928" cy="566928"/>
          </a:xfrm>
          <a:prstGeom prst="ellipse">
            <a:avLst/>
          </a:prstGeom>
          <a:solidFill>
            <a:srgbClr val="0E4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2" name="TextBox 11" descr="Labeled structure"/>
          <p:cNvSpPr txBox="1"/>
          <p:nvPr/>
        </p:nvSpPr>
        <p:spPr>
          <a:xfrm>
            <a:off x="1417320" y="4672584"/>
            <a:ext cx="10241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50" b="1" i="0">
                <a:solidFill>
                  <a:srgbClr val="0E4D33"/>
                </a:solidFill>
                <a:latin typeface="Cambria"/>
              </a:rPr>
              <a:t>Labeled structure</a:t>
            </a:r>
          </a:p>
          <a:p>
            <a:pPr algn="l">
              <a:spcAft>
                <a:spcPts val="0"/>
              </a:spcAft>
            </a:pPr>
            <a:r>
              <a:rPr sz="1550" b="0" i="0">
                <a:solidFill>
                  <a:srgbClr val="212A26"/>
                </a:solidFill>
                <a:latin typeface="Calibri"/>
              </a:rPr>
              <a:t>Headings and bolded lead-ins (“Deadline:”) that scanning can't miss.</a:t>
            </a:r>
          </a:p>
        </p:txBody>
      </p:sp>
      <p:sp>
        <p:nvSpPr>
          <p:cNvPr id="13" name="Oval 12" descr="What doesn't work icon"/>
          <p:cNvSpPr/>
          <p:nvPr/>
        </p:nvSpPr>
        <p:spPr>
          <a:xfrm>
            <a:off x="640080" y="5751576"/>
            <a:ext cx="566928" cy="566928"/>
          </a:xfrm>
          <a:prstGeom prst="ellipse">
            <a:avLst/>
          </a:prstGeom>
          <a:solidFill>
            <a:srgbClr val="0E4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✗</a:t>
            </a:r>
          </a:p>
        </p:txBody>
      </p:sp>
      <p:sp>
        <p:nvSpPr>
          <p:cNvPr id="14" name="TextBox 13" descr="What doesn't work"/>
          <p:cNvSpPr txBox="1"/>
          <p:nvPr/>
        </p:nvSpPr>
        <p:spPr>
          <a:xfrm>
            <a:off x="1417320" y="5696712"/>
            <a:ext cx="10241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50" b="1" i="0">
                <a:solidFill>
                  <a:srgbClr val="0E4D33"/>
                </a:solidFill>
                <a:latin typeface="Cambria"/>
              </a:rPr>
              <a:t>What doesn't work</a:t>
            </a:r>
          </a:p>
          <a:p>
            <a:pPr algn="l">
              <a:spcAft>
                <a:spcPts val="0"/>
              </a:spcAft>
            </a:pPr>
            <a:r>
              <a:rPr sz="1550" b="0" i="0">
                <a:solidFill>
                  <a:srgbClr val="212A26"/>
                </a:solidFill>
                <a:latin typeface="Calibri"/>
              </a:rPr>
              <a:t>Exclamation points, “very/really,” bold paragraphs, ALL CAPS — inflation that devalues the currency.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4D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Drafting"/>
          <p:cNvSpPr>
            <a:spLocks noGrp="1"/>
          </p:cNvSpPr>
          <p:nvPr>
            <p:ph type="title"/>
          </p:nvPr>
        </p:nvSpPr>
        <p:spPr>
          <a:xfrm>
            <a:off x="822960" y="2834640"/>
            <a:ext cx="10515600" cy="914400"/>
          </a:xfrm>
        </p:spPr>
        <p:txBody>
          <a:bodyPr wrap="square"/>
          <a:lstStyle/>
          <a:p>
            <a:pPr algn="l"/>
            <a:r>
              <a:rPr sz="4000" b="1">
                <a:solidFill>
                  <a:srgbClr val="FFFFFF"/>
                </a:solidFill>
                <a:latin typeface="Cambria"/>
              </a:rPr>
              <a:t>Drafting</a:t>
            </a:r>
          </a:p>
        </p:txBody>
      </p:sp>
      <p:sp>
        <p:nvSpPr>
          <p:cNvPr id="3" name="TextBox 2" descr="Section number 05"/>
          <p:cNvSpPr txBox="1"/>
          <p:nvPr/>
        </p:nvSpPr>
        <p:spPr>
          <a:xfrm>
            <a:off x="822960" y="1188720"/>
            <a:ext cx="2743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8000" b="1" i="0">
                <a:solidFill>
                  <a:srgbClr val="C9931A"/>
                </a:solidFill>
                <a:latin typeface="Cambria"/>
              </a:rPr>
              <a:t>05</a:t>
            </a:r>
          </a:p>
        </p:txBody>
      </p:sp>
      <p:sp>
        <p:nvSpPr>
          <p:cNvPr id="4" name="TextBox 3" descr="Section note"/>
          <p:cNvSpPr txBox="1"/>
          <p:nvPr/>
        </p:nvSpPr>
        <p:spPr>
          <a:xfrm>
            <a:off x="822960" y="4023360"/>
            <a:ext cx="9601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0" i="0">
                <a:solidFill>
                  <a:srgbClr val="EAF1EB"/>
                </a:solidFill>
                <a:latin typeface="Calibri"/>
              </a:rPr>
              <a:t>Permission to write badly — briefly, and on purpose.</a:t>
            </a:r>
          </a:p>
        </p:txBody>
      </p:sp>
      <p:sp>
        <p:nvSpPr>
          <p:cNvPr id="5" name="TextBox 4" descr="Footer: BADM 225 · Chapter 3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Chapter 3</a:t>
            </a:r>
          </a:p>
        </p:txBody>
      </p:sp>
      <p:sp>
        <p:nvSpPr>
          <p:cNvPr id="6" name="TextBox 5" descr="Slide number 15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Drafting habits that actually help"/>
          <p:cNvSpPr>
            <a:spLocks noGrp="1"/>
          </p:cNvSpPr>
          <p:nvPr>
            <p:ph type="title"/>
          </p:nvPr>
        </p:nvSpPr>
        <p:spPr>
          <a:xfrm>
            <a:off x="502920" y="411480"/>
            <a:ext cx="11155680" cy="914400"/>
          </a:xfrm>
        </p:spPr>
        <p:txBody>
          <a:bodyPr wrap="square"/>
          <a:lstStyle/>
          <a:p>
            <a:pPr algn="l"/>
            <a:r>
              <a:rPr sz="3200" b="1">
                <a:solidFill>
                  <a:srgbClr val="0E4D33"/>
                </a:solidFill>
                <a:latin typeface="Cambria"/>
              </a:rPr>
              <a:t>Drafting habits that actually help</a:t>
            </a:r>
          </a:p>
        </p:txBody>
      </p:sp>
      <p:sp>
        <p:nvSpPr>
          <p:cNvPr id="3" name="TextBox 2" descr="Footer: BADM 225 · Chapter 3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Chapter 3</a:t>
            </a:r>
          </a:p>
        </p:txBody>
      </p:sp>
      <p:sp>
        <p:nvSpPr>
          <p:cNvPr id="4" name="TextBox 3" descr="Slide number 16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16</a:t>
            </a:r>
          </a:p>
        </p:txBody>
      </p:sp>
      <p:sp>
        <p:nvSpPr>
          <p:cNvPr id="5" name="TextBox 4" descr="Key points"/>
          <p:cNvSpPr txBox="1"/>
          <p:nvPr/>
        </p:nvSpPr>
        <p:spPr>
          <a:xfrm>
            <a:off x="548640" y="1554480"/>
            <a:ext cx="110642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Write the easy section first.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Momentum transfers; openings are easier once the middle exists.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Topic sentences come from the outline.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The family names you wrote ARE the paragraph openers.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When wording fights back: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type the clumsy version, mark [FIX], keep moving. Revision is a separate appointment.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Park mid-thought.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Never stop at a section's end — tomorrow's re-entry will thank you.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Draft without editing; edit without drafting.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Two jobs, two sittings. Doing both at once stalls both.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Headings: the skeleton that skims"/>
          <p:cNvSpPr>
            <a:spLocks noGrp="1"/>
          </p:cNvSpPr>
          <p:nvPr>
            <p:ph type="title"/>
          </p:nvPr>
        </p:nvSpPr>
        <p:spPr>
          <a:xfrm>
            <a:off x="502920" y="411480"/>
            <a:ext cx="11155680" cy="914400"/>
          </a:xfrm>
        </p:spPr>
        <p:txBody>
          <a:bodyPr wrap="square"/>
          <a:lstStyle/>
          <a:p>
            <a:pPr algn="l"/>
            <a:r>
              <a:rPr sz="3200" b="1">
                <a:solidFill>
                  <a:srgbClr val="0E4D33"/>
                </a:solidFill>
                <a:latin typeface="Cambria"/>
              </a:rPr>
              <a:t>Headings: the skeleton that skims</a:t>
            </a:r>
          </a:p>
        </p:txBody>
      </p:sp>
      <p:sp>
        <p:nvSpPr>
          <p:cNvPr id="3" name="TextBox 2" descr="Footer: BADM 225 · Chapter 3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Chapter 3</a:t>
            </a:r>
          </a:p>
        </p:txBody>
      </p:sp>
      <p:sp>
        <p:nvSpPr>
          <p:cNvPr id="4" name="TextBox 3" descr="Slide number 17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17</a:t>
            </a:r>
          </a:p>
        </p:txBody>
      </p:sp>
      <p:sp>
        <p:nvSpPr>
          <p:cNvPr id="5" name="TextBox 4" descr="Key points"/>
          <p:cNvSpPr txBox="1"/>
          <p:nvPr/>
        </p:nvSpPr>
        <p:spPr>
          <a:xfrm>
            <a:off x="548640" y="1554480"/>
            <a:ext cx="110642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Informative beats categorical.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“Cost: TechServe saves $22K/year” outworks “Cost Analysis.”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The headings-only test: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read just your headings. Do they tell the story? A skimmer will read exactly that.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Two levels serve almost everything.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Four levels is a filing system, not a message.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Headings discipline the writer too: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a section you can't summarize honestly in its heading is two sections — or none.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Case: the buried recommendation"/>
          <p:cNvSpPr>
            <a:spLocks noGrp="1"/>
          </p:cNvSpPr>
          <p:nvPr>
            <p:ph type="title"/>
          </p:nvPr>
        </p:nvSpPr>
        <p:spPr>
          <a:xfrm>
            <a:off x="502920" y="411480"/>
            <a:ext cx="11155680" cy="914400"/>
          </a:xfrm>
        </p:spPr>
        <p:txBody>
          <a:bodyPr wrap="square"/>
          <a:lstStyle/>
          <a:p>
            <a:pPr algn="l"/>
            <a:r>
              <a:rPr sz="3200" b="1">
                <a:solidFill>
                  <a:srgbClr val="0E4D33"/>
                </a:solidFill>
                <a:latin typeface="Cambria"/>
              </a:rPr>
              <a:t>Case: the buried recommendation</a:t>
            </a:r>
          </a:p>
        </p:txBody>
      </p:sp>
      <p:sp>
        <p:nvSpPr>
          <p:cNvPr id="3" name="TextBox 2" descr="Footer: BADM 225 · Chapter 3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Chapter 3</a:t>
            </a:r>
          </a:p>
        </p:txBody>
      </p:sp>
      <p:sp>
        <p:nvSpPr>
          <p:cNvPr id="4" name="TextBox 3" descr="Slide number 18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18</a:t>
            </a:r>
          </a:p>
        </p:txBody>
      </p:sp>
      <p:sp>
        <p:nvSpPr>
          <p:cNvPr id="5" name="TextBox 4" descr="Key points"/>
          <p:cNvSpPr txBox="1"/>
          <p:nvPr/>
        </p:nvSpPr>
        <p:spPr>
          <a:xfrm>
            <a:off x="548640" y="1554480"/>
            <a:ext cx="110642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Two weeks of analysis,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organized as the chronology of the work: history → criteria → four alternatives → and in the last paragraph, the recommendation.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The VP read paragraph one,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filed it 'for later,' and asked a colleague whether the evaluation ever reached a conclusion.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The repair: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“I recommend renewing with TechServe on renegotiated terms — saving $22,000/year. Comparison below.”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The lesson: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organize by the reader's decision, never by the archaeology of your effort. Show the work in a skippable, labeled body.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Case: the incident report that named no one"/>
          <p:cNvSpPr>
            <a:spLocks noGrp="1"/>
          </p:cNvSpPr>
          <p:nvPr>
            <p:ph type="title"/>
          </p:nvPr>
        </p:nvSpPr>
        <p:spPr>
          <a:xfrm>
            <a:off x="502920" y="411480"/>
            <a:ext cx="11155680" cy="914400"/>
          </a:xfrm>
        </p:spPr>
        <p:txBody>
          <a:bodyPr wrap="square"/>
          <a:lstStyle/>
          <a:p>
            <a:pPr algn="l"/>
            <a:r>
              <a:rPr sz="3200" b="1">
                <a:solidFill>
                  <a:srgbClr val="0E4D33"/>
                </a:solidFill>
                <a:latin typeface="Cambria"/>
              </a:rPr>
              <a:t>Case: the incident report that named no one</a:t>
            </a:r>
          </a:p>
        </p:txBody>
      </p:sp>
      <p:sp>
        <p:nvSpPr>
          <p:cNvPr id="3" name="TextBox 2" descr="Footer: BADM 225 · Chapter 3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Chapter 3</a:t>
            </a:r>
          </a:p>
        </p:txBody>
      </p:sp>
      <p:sp>
        <p:nvSpPr>
          <p:cNvPr id="4" name="TextBox 3" descr="Slide number 19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19</a:t>
            </a:r>
          </a:p>
        </p:txBody>
      </p:sp>
      <p:sp>
        <p:nvSpPr>
          <p:cNvPr id="5" name="TextBox 4" descr="Key points"/>
          <p:cNvSpPr txBox="1"/>
          <p:nvPr/>
        </p:nvSpPr>
        <p:spPr>
          <a:xfrm>
            <a:off x="548640" y="1554480"/>
            <a:ext cx="110642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“The containment was found to have been compromised.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The transfer was performed without the checklist having been completed. Corrective measures have been identified.”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Grammatical. Useless.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Who transferred? Who found it? Who owns the fix, by when?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Active rewrite: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“The on-duty technician skipped the pre-transfer checklist… The lab manager will retrain all transfer-qualified staff by March 14.”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The stakes: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organizations learn from incidents only when reports carry actors, causes, and owners. Grammar is a safety system.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From outline to draft: the 20-minute pipeline"/>
          <p:cNvSpPr>
            <a:spLocks noGrp="1"/>
          </p:cNvSpPr>
          <p:nvPr>
            <p:ph type="title"/>
          </p:nvPr>
        </p:nvSpPr>
        <p:spPr>
          <a:xfrm>
            <a:off x="502920" y="411480"/>
            <a:ext cx="11155680" cy="914400"/>
          </a:xfrm>
        </p:spPr>
        <p:txBody>
          <a:bodyPr wrap="square"/>
          <a:lstStyle/>
          <a:p>
            <a:pPr algn="l"/>
            <a:r>
              <a:rPr sz="3200" b="1">
                <a:solidFill>
                  <a:srgbClr val="0E4D33"/>
                </a:solidFill>
                <a:latin typeface="Cambria"/>
              </a:rPr>
              <a:t>From outline to draft: the 20-minute pipeline</a:t>
            </a:r>
          </a:p>
        </p:txBody>
      </p:sp>
      <p:sp>
        <p:nvSpPr>
          <p:cNvPr id="3" name="TextBox 2" descr="Footer: BADM 225 · Chapter 3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Chapter 3</a:t>
            </a:r>
          </a:p>
        </p:txBody>
      </p:sp>
      <p:sp>
        <p:nvSpPr>
          <p:cNvPr id="4" name="TextBox 3" descr="Slide number 20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20</a:t>
            </a:r>
          </a:p>
        </p:txBody>
      </p:sp>
      <p:sp>
        <p:nvSpPr>
          <p:cNvPr id="5" name="Chevron 4" descr="Step 1: Plan (2 min)"/>
          <p:cNvSpPr/>
          <p:nvPr/>
        </p:nvSpPr>
        <p:spPr>
          <a:xfrm>
            <a:off x="548640" y="1828800"/>
            <a:ext cx="2143353" cy="1143000"/>
          </a:xfrm>
          <a:prstGeom prst="chevron">
            <a:avLst/>
          </a:prstGeom>
          <a:solidFill>
            <a:srgbClr val="0E4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Plan (2 min)</a:t>
            </a:r>
          </a:p>
        </p:txBody>
      </p:sp>
      <p:sp>
        <p:nvSpPr>
          <p:cNvPr id="6" name="TextBox 5" descr="Plan (2 min) detail"/>
          <p:cNvSpPr txBox="1"/>
          <p:nvPr/>
        </p:nvSpPr>
        <p:spPr>
          <a:xfrm>
            <a:off x="548640" y="3154680"/>
            <a:ext cx="2143353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sz="1250" b="0" i="0">
                <a:solidFill>
                  <a:srgbClr val="212A26"/>
                </a:solidFill>
                <a:latin typeface="Calibri"/>
              </a:rPr>
              <a:t>Purpose template + reader profile — Chapter 2's work</a:t>
            </a:r>
          </a:p>
        </p:txBody>
      </p:sp>
      <p:sp>
        <p:nvSpPr>
          <p:cNvPr id="7" name="Chevron 6" descr="Step 2: Dump (4 min)"/>
          <p:cNvSpPr/>
          <p:nvPr/>
        </p:nvSpPr>
        <p:spPr>
          <a:xfrm>
            <a:off x="2801721" y="1828800"/>
            <a:ext cx="2143353" cy="1143000"/>
          </a:xfrm>
          <a:prstGeom prst="chevron">
            <a:avLst/>
          </a:prstGeom>
          <a:solidFill>
            <a:srgbClr val="5C8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Dump (4 min)</a:t>
            </a:r>
          </a:p>
        </p:txBody>
      </p:sp>
      <p:sp>
        <p:nvSpPr>
          <p:cNvPr id="8" name="TextBox 7" descr="Dump (4 min) detail"/>
          <p:cNvSpPr txBox="1"/>
          <p:nvPr/>
        </p:nvSpPr>
        <p:spPr>
          <a:xfrm>
            <a:off x="2801721" y="3154680"/>
            <a:ext cx="2143353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sz="1250" b="0" i="0">
                <a:solidFill>
                  <a:srgbClr val="212A26"/>
                </a:solidFill>
                <a:latin typeface="Calibri"/>
              </a:rPr>
              <a:t>Fifteen scratch points, no judging</a:t>
            </a:r>
          </a:p>
        </p:txBody>
      </p:sp>
      <p:sp>
        <p:nvSpPr>
          <p:cNvPr id="9" name="Chevron 8" descr="Step 3: Group (3 min)"/>
          <p:cNvSpPr/>
          <p:nvPr/>
        </p:nvSpPr>
        <p:spPr>
          <a:xfrm>
            <a:off x="5054803" y="1828800"/>
            <a:ext cx="2143353" cy="1143000"/>
          </a:xfrm>
          <a:prstGeom prst="chevron">
            <a:avLst/>
          </a:prstGeom>
          <a:solidFill>
            <a:srgbClr val="0E4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Group (3 min)</a:t>
            </a:r>
          </a:p>
        </p:txBody>
      </p:sp>
      <p:sp>
        <p:nvSpPr>
          <p:cNvPr id="10" name="TextBox 9" descr="Group (3 min) detail"/>
          <p:cNvSpPr txBox="1"/>
          <p:nvPr/>
        </p:nvSpPr>
        <p:spPr>
          <a:xfrm>
            <a:off x="5054803" y="3154680"/>
            <a:ext cx="2143353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sz="1250" b="0" i="0">
                <a:solidFill>
                  <a:srgbClr val="212A26"/>
                </a:solidFill>
                <a:latin typeface="Calibri"/>
              </a:rPr>
              <a:t>Three named families; orphans die</a:t>
            </a:r>
          </a:p>
        </p:txBody>
      </p:sp>
      <p:sp>
        <p:nvSpPr>
          <p:cNvPr id="11" name="Chevron 10" descr="Step 4: Sequence (1 min)"/>
          <p:cNvSpPr/>
          <p:nvPr/>
        </p:nvSpPr>
        <p:spPr>
          <a:xfrm>
            <a:off x="7307884" y="1828800"/>
            <a:ext cx="2143353" cy="1143000"/>
          </a:xfrm>
          <a:prstGeom prst="chevron">
            <a:avLst/>
          </a:prstGeom>
          <a:solidFill>
            <a:srgbClr val="5C8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Sequence (1 min)</a:t>
            </a:r>
          </a:p>
        </p:txBody>
      </p:sp>
      <p:sp>
        <p:nvSpPr>
          <p:cNvPr id="12" name="TextBox 11" descr="Sequence (1 min) detail"/>
          <p:cNvSpPr txBox="1"/>
          <p:nvPr/>
        </p:nvSpPr>
        <p:spPr>
          <a:xfrm>
            <a:off x="7307884" y="3154680"/>
            <a:ext cx="2143353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sz="1250" b="0" i="0">
                <a:solidFill>
                  <a:srgbClr val="212A26"/>
                </a:solidFill>
                <a:latin typeface="Calibri"/>
              </a:rPr>
              <a:t>Direct for the neutral reader</a:t>
            </a:r>
          </a:p>
        </p:txBody>
      </p:sp>
      <p:sp>
        <p:nvSpPr>
          <p:cNvPr id="13" name="Chevron 12" descr="Step 5: Sprint (10 min)"/>
          <p:cNvSpPr/>
          <p:nvPr/>
        </p:nvSpPr>
        <p:spPr>
          <a:xfrm>
            <a:off x="9560966" y="1828800"/>
            <a:ext cx="2143353" cy="1143000"/>
          </a:xfrm>
          <a:prstGeom prst="chevron">
            <a:avLst/>
          </a:prstGeom>
          <a:solidFill>
            <a:srgbClr val="0E4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Sprint (10 min)</a:t>
            </a:r>
          </a:p>
        </p:txBody>
      </p:sp>
      <p:sp>
        <p:nvSpPr>
          <p:cNvPr id="14" name="TextBox 13" descr="Sprint (10 min) detail"/>
          <p:cNvSpPr txBox="1"/>
          <p:nvPr/>
        </p:nvSpPr>
        <p:spPr>
          <a:xfrm>
            <a:off x="9560966" y="3154680"/>
            <a:ext cx="2143353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sz="1250" b="0" i="0">
                <a:solidFill>
                  <a:srgbClr val="212A26"/>
                </a:solidFill>
                <a:latin typeface="Calibri"/>
              </a:rPr>
              <a:t>Topic sentences from family names; [FIX] marks; done</a:t>
            </a:r>
          </a:p>
        </p:txBody>
      </p:sp>
      <p:sp>
        <p:nvSpPr>
          <p:cNvPr id="15" name="Rounded Rectangle 14" descr="Key insight"/>
          <p:cNvSpPr/>
          <p:nvPr/>
        </p:nvSpPr>
        <p:spPr>
          <a:xfrm>
            <a:off x="548640" y="4892040"/>
            <a:ext cx="11064240" cy="1234440"/>
          </a:xfrm>
          <a:prstGeom prst="roundRect">
            <a:avLst/>
          </a:prstGeom>
          <a:solidFill>
            <a:srgbClr val="EAF1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109728"/>
          <a:lstStyle/>
          <a:p>
            <a:pPr algn="l">
              <a:spcAft>
                <a:spcPts val="800"/>
              </a:spcAft>
            </a:pPr>
            <a:r>
              <a:rPr sz="1500" b="1">
                <a:solidFill>
                  <a:srgbClr val="0E4D33"/>
                </a:solidFill>
                <a:latin typeface="Calibri"/>
              </a:rPr>
              <a:t>Key insight:  </a:t>
            </a:r>
            <a:r>
              <a:rPr sz="1500" b="0" i="0">
                <a:solidFill>
                  <a:srgbClr val="212A26"/>
                </a:solidFill>
                <a:latin typeface="Calibri"/>
              </a:rPr>
              <a:t>The hard intellectual work — deciding, grouping, sequencing — finishes before the prose pressure starts.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Measuring readability (and its limits)"/>
          <p:cNvSpPr>
            <a:spLocks noGrp="1"/>
          </p:cNvSpPr>
          <p:nvPr>
            <p:ph type="title"/>
          </p:nvPr>
        </p:nvSpPr>
        <p:spPr>
          <a:xfrm>
            <a:off x="502920" y="411480"/>
            <a:ext cx="11155680" cy="914400"/>
          </a:xfrm>
        </p:spPr>
        <p:txBody>
          <a:bodyPr wrap="square"/>
          <a:lstStyle/>
          <a:p>
            <a:pPr algn="l"/>
            <a:r>
              <a:rPr sz="3200" b="1">
                <a:solidFill>
                  <a:srgbClr val="0E4D33"/>
                </a:solidFill>
                <a:latin typeface="Cambria"/>
              </a:rPr>
              <a:t>Measuring readability (and its limits)</a:t>
            </a:r>
          </a:p>
        </p:txBody>
      </p:sp>
      <p:sp>
        <p:nvSpPr>
          <p:cNvPr id="3" name="TextBox 2" descr="Footer: BADM 225 · Chapter 3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Chapter 3</a:t>
            </a:r>
          </a:p>
        </p:txBody>
      </p:sp>
      <p:sp>
        <p:nvSpPr>
          <p:cNvPr id="4" name="TextBox 3" descr="Slide number 21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21</a:t>
            </a:r>
          </a:p>
        </p:txBody>
      </p:sp>
      <p:sp>
        <p:nvSpPr>
          <p:cNvPr id="5" name="TextBox 4" descr="Key points"/>
          <p:cNvSpPr txBox="1"/>
          <p:nvPr/>
        </p:nvSpPr>
        <p:spPr>
          <a:xfrm>
            <a:off x="548640" y="1554480"/>
            <a:ext cx="110642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Word will score your prose: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File → Options → Proofing → “Show readability statistics.”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Flesch Reading Ease ~50–70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and grade level ~9–12 fit most business prose (Flesch, 1949).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The formulas see only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sentence length and syllables — they can't detect a buried lead or a broken parallel.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Use them as a smoke detector, not a judge.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Grade 16 on a customer email is an alarm; grade 9 certifies nothing.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4D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Structure the eye can see"/>
          <p:cNvSpPr>
            <a:spLocks noGrp="1"/>
          </p:cNvSpPr>
          <p:nvPr>
            <p:ph type="title"/>
          </p:nvPr>
        </p:nvSpPr>
        <p:spPr>
          <a:xfrm>
            <a:off x="822960" y="2834640"/>
            <a:ext cx="10515600" cy="914400"/>
          </a:xfrm>
        </p:spPr>
        <p:txBody>
          <a:bodyPr wrap="square"/>
          <a:lstStyle/>
          <a:p>
            <a:pPr algn="l"/>
            <a:r>
              <a:rPr sz="4000" b="1">
                <a:solidFill>
                  <a:srgbClr val="FFFFFF"/>
                </a:solidFill>
                <a:latin typeface="Cambria"/>
              </a:rPr>
              <a:t>Structure the eye can see</a:t>
            </a:r>
          </a:p>
        </p:txBody>
      </p:sp>
      <p:sp>
        <p:nvSpPr>
          <p:cNvPr id="3" name="TextBox 2" descr="Section number 06"/>
          <p:cNvSpPr txBox="1"/>
          <p:nvPr/>
        </p:nvSpPr>
        <p:spPr>
          <a:xfrm>
            <a:off x="822960" y="1188720"/>
            <a:ext cx="2743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8000" b="1" i="0">
                <a:solidFill>
                  <a:srgbClr val="C9931A"/>
                </a:solidFill>
                <a:latin typeface="Cambria"/>
              </a:rPr>
              <a:t>06</a:t>
            </a:r>
          </a:p>
        </p:txBody>
      </p:sp>
      <p:sp>
        <p:nvSpPr>
          <p:cNvPr id="4" name="TextBox 3" descr="Section note"/>
          <p:cNvSpPr txBox="1"/>
          <p:nvPr/>
        </p:nvSpPr>
        <p:spPr>
          <a:xfrm>
            <a:off x="822960" y="4023360"/>
            <a:ext cx="9601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0" i="0">
                <a:solidFill>
                  <a:srgbClr val="EAF1EB"/>
                </a:solidFill>
                <a:latin typeface="Calibri"/>
              </a:rPr>
              <a:t>Lists, tables, transitions — and the way screens are actually read.</a:t>
            </a:r>
          </a:p>
        </p:txBody>
      </p:sp>
      <p:sp>
        <p:nvSpPr>
          <p:cNvPr id="5" name="TextBox 4" descr="Footer: BADM 225 · Chapter 3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Chapter 3</a:t>
            </a:r>
          </a:p>
        </p:txBody>
      </p:sp>
      <p:sp>
        <p:nvSpPr>
          <p:cNvPr id="6" name="TextBox 5" descr="Slide number 22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How screens are actually read"/>
          <p:cNvSpPr>
            <a:spLocks noGrp="1"/>
          </p:cNvSpPr>
          <p:nvPr>
            <p:ph type="title"/>
          </p:nvPr>
        </p:nvSpPr>
        <p:spPr>
          <a:xfrm>
            <a:off x="502920" y="411480"/>
            <a:ext cx="11155680" cy="914400"/>
          </a:xfrm>
        </p:spPr>
        <p:txBody>
          <a:bodyPr wrap="square"/>
          <a:lstStyle/>
          <a:p>
            <a:pPr algn="l"/>
            <a:r>
              <a:rPr sz="3200" b="1">
                <a:solidFill>
                  <a:srgbClr val="0E4D33"/>
                </a:solidFill>
                <a:latin typeface="Cambria"/>
              </a:rPr>
              <a:t>How screens are actually read</a:t>
            </a:r>
          </a:p>
        </p:txBody>
      </p:sp>
      <p:sp>
        <p:nvSpPr>
          <p:cNvPr id="3" name="TextBox 2" descr="Footer: BADM 225 · Chapter 3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Chapter 3</a:t>
            </a:r>
          </a:p>
        </p:txBody>
      </p:sp>
      <p:sp>
        <p:nvSpPr>
          <p:cNvPr id="4" name="TextBox 3" descr="Slide number 23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23</a:t>
            </a:r>
          </a:p>
        </p:txBody>
      </p:sp>
      <p:sp>
        <p:nvSpPr>
          <p:cNvPr id="5" name="Rounded Rectangle 4" descr="Highlighted statistic"/>
          <p:cNvSpPr/>
          <p:nvPr/>
        </p:nvSpPr>
        <p:spPr>
          <a:xfrm>
            <a:off x="548640" y="1645920"/>
            <a:ext cx="4206240" cy="4206240"/>
          </a:xfrm>
          <a:prstGeom prst="roundRect">
            <a:avLst/>
          </a:prstGeom>
          <a:solidFill>
            <a:srgbClr val="0E4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109728"/>
          <a:lstStyle/>
          <a:p>
            <a:pPr algn="ctr">
              <a:spcAft>
                <a:spcPts val="400"/>
              </a:spcAft>
            </a:pPr>
            <a:r>
              <a:rPr sz="6400" b="1">
                <a:solidFill>
                  <a:srgbClr val="FFFFFF"/>
                </a:solidFill>
                <a:latin typeface="Cambria"/>
              </a:rPr>
              <a:t>F</a:t>
            </a:r>
          </a:p>
          <a:p>
            <a:pPr algn="ctr">
              <a:spcAft>
                <a:spcPts val="800"/>
              </a:spcAft>
            </a:pPr>
            <a:r>
              <a:rPr sz="1500" b="0" i="0">
                <a:solidFill>
                  <a:srgbClr val="EAF1EB"/>
                </a:solidFill>
                <a:latin typeface="Calibri"/>
              </a:rPr>
              <a:t>Eye-tracking research shows readers scan web pages and email in an F-shape: across the top, a shorter sweep lower down, then straight down the left edge (Nielsen Norman Group).</a:t>
            </a:r>
          </a:p>
        </p:txBody>
      </p:sp>
      <p:sp>
        <p:nvSpPr>
          <p:cNvPr id="6" name="TextBox 5" descr="Supporting points"/>
          <p:cNvSpPr txBox="1"/>
          <p:nvPr/>
        </p:nvSpPr>
        <p:spPr>
          <a:xfrm>
            <a:off x="5212080" y="1737360"/>
            <a:ext cx="64008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1600">
                <a:solidFill>
                  <a:srgbClr val="8A6410"/>
                </a:solidFill>
                <a:latin typeface="Calibri"/>
              </a:rPr>
              <a:t>▪  </a:t>
            </a:r>
            <a:r>
              <a:rPr sz="1600" b="1">
                <a:solidFill>
                  <a:srgbClr val="0E4D33"/>
                </a:solidFill>
                <a:latin typeface="Calibri"/>
              </a:rPr>
              <a:t>The top line gets read.  </a:t>
            </a:r>
            <a:r>
              <a:rPr sz="1600" b="0" i="0">
                <a:solidFill>
                  <a:srgbClr val="212A26"/>
                </a:solidFill>
                <a:latin typeface="Calibri"/>
              </a:rPr>
              <a:t>Your first sentence is the only sentence you can count on — which is why the direct pattern wins on screens.</a:t>
            </a:r>
          </a:p>
          <a:p>
            <a:pPr algn="l">
              <a:spcAft>
                <a:spcPts val="1400"/>
              </a:spcAft>
            </a:pPr>
            <a:r>
              <a:rPr sz="1600">
                <a:solidFill>
                  <a:srgbClr val="8A6410"/>
                </a:solidFill>
                <a:latin typeface="Calibri"/>
              </a:rPr>
              <a:t>▪  </a:t>
            </a:r>
            <a:r>
              <a:rPr sz="1600" b="1">
                <a:solidFill>
                  <a:srgbClr val="0E4D33"/>
                </a:solidFill>
                <a:latin typeface="Calibri"/>
              </a:rPr>
              <a:t>The left edge gets scanned.  </a:t>
            </a:r>
            <a:r>
              <a:rPr sz="1600" b="0" i="0">
                <a:solidFill>
                  <a:srgbClr val="212A26"/>
                </a:solidFill>
                <a:latin typeface="Calibri"/>
              </a:rPr>
              <a:t>Paragraph openers, bolded lead-ins, and list items live on the scan path; mid-sentence content does not.</a:t>
            </a:r>
          </a:p>
          <a:p>
            <a:pPr algn="l">
              <a:spcAft>
                <a:spcPts val="1400"/>
              </a:spcAft>
            </a:pPr>
            <a:r>
              <a:rPr sz="1600">
                <a:solidFill>
                  <a:srgbClr val="8A6410"/>
                </a:solidFill>
                <a:latin typeface="Calibri"/>
              </a:rPr>
              <a:t>▪  </a:t>
            </a:r>
            <a:r>
              <a:rPr sz="1600" b="1">
                <a:solidFill>
                  <a:srgbClr val="0E4D33"/>
                </a:solidFill>
                <a:latin typeface="Calibri"/>
              </a:rPr>
              <a:t>Design for the F:  </a:t>
            </a:r>
            <a:r>
              <a:rPr sz="1600" b="0" i="0">
                <a:solidFill>
                  <a:srgbClr val="212A26"/>
                </a:solidFill>
                <a:latin typeface="Calibri"/>
              </a:rPr>
              <a:t>front-load sentences, front-load paragraphs, and put keywords where the eye actually travels.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Bullets or numbers? Each has a job"/>
          <p:cNvSpPr>
            <a:spLocks noGrp="1"/>
          </p:cNvSpPr>
          <p:nvPr>
            <p:ph type="title"/>
          </p:nvPr>
        </p:nvSpPr>
        <p:spPr>
          <a:xfrm>
            <a:off x="502920" y="411480"/>
            <a:ext cx="11155680" cy="914400"/>
          </a:xfrm>
        </p:spPr>
        <p:txBody>
          <a:bodyPr wrap="square"/>
          <a:lstStyle/>
          <a:p>
            <a:pPr algn="l"/>
            <a:r>
              <a:rPr sz="3200" b="1">
                <a:solidFill>
                  <a:srgbClr val="0E4D33"/>
                </a:solidFill>
                <a:latin typeface="Cambria"/>
              </a:rPr>
              <a:t>Bullets or numbers? Each has a job</a:t>
            </a:r>
          </a:p>
        </p:txBody>
      </p:sp>
      <p:sp>
        <p:nvSpPr>
          <p:cNvPr id="3" name="TextBox 2" descr="Footer: BADM 225 · Chapter 3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Chapter 3</a:t>
            </a:r>
          </a:p>
        </p:txBody>
      </p:sp>
      <p:sp>
        <p:nvSpPr>
          <p:cNvPr id="4" name="TextBox 3" descr="Slide number 24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24</a:t>
            </a:r>
          </a:p>
        </p:txBody>
      </p:sp>
      <p:sp>
        <p:nvSpPr>
          <p:cNvPr id="5" name="Rounded Rectangle 4" descr="BULLETED list — unordered panel"/>
          <p:cNvSpPr/>
          <p:nvPr/>
        </p:nvSpPr>
        <p:spPr>
          <a:xfrm>
            <a:off x="548640" y="1554480"/>
            <a:ext cx="5394960" cy="4572000"/>
          </a:xfrm>
          <a:prstGeom prst="roundRect">
            <a:avLst/>
          </a:prstGeom>
          <a:solidFill>
            <a:srgbClr val="EAF1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109728"/>
          <a:lstStyle/>
          <a:p>
            <a:pPr algn="l">
              <a:spcAft>
                <a:spcPts val="1200"/>
              </a:spcAft>
            </a:pPr>
            <a:r>
              <a:rPr sz="1800" b="1" i="0">
                <a:solidFill>
                  <a:srgbClr val="0E4D33"/>
                </a:solidFill>
                <a:latin typeface="Cambria"/>
              </a:rPr>
              <a:t>BULLETED list — unordered</a:t>
            </a:r>
          </a:p>
          <a:p>
            <a:pPr algn="l">
              <a:spcAft>
                <a:spcPts val="900"/>
              </a:spcAft>
            </a:pPr>
            <a:r>
              <a:rPr sz="1500">
                <a:solidFill>
                  <a:srgbClr val="8A6410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212A26"/>
                </a:solidFill>
                <a:latin typeface="Calibri"/>
              </a:rPr>
              <a:t>Items are parallel and interchangeable in order</a:t>
            </a:r>
          </a:p>
          <a:p>
            <a:pPr algn="l">
              <a:spcAft>
                <a:spcPts val="900"/>
              </a:spcAft>
            </a:pPr>
            <a:r>
              <a:rPr sz="1500">
                <a:solidFill>
                  <a:srgbClr val="8A6410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212A26"/>
                </a:solidFill>
                <a:latin typeface="Calibri"/>
              </a:rPr>
              <a:t>Options, features, criteria, examples</a:t>
            </a:r>
          </a:p>
          <a:p>
            <a:pPr algn="l">
              <a:spcAft>
                <a:spcPts val="900"/>
              </a:spcAft>
            </a:pPr>
            <a:r>
              <a:rPr sz="1500">
                <a:solidFill>
                  <a:srgbClr val="8A6410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212A26"/>
                </a:solidFill>
                <a:latin typeface="Calibri"/>
              </a:rPr>
              <a:t>Signals: 'these belong together; sequence doesn't matter'</a:t>
            </a:r>
          </a:p>
          <a:p>
            <a:pPr algn="l">
              <a:spcAft>
                <a:spcPts val="900"/>
              </a:spcAft>
            </a:pPr>
            <a:r>
              <a:rPr sz="1500">
                <a:solidFill>
                  <a:srgbClr val="8A6410"/>
                </a:solidFill>
                <a:latin typeface="Calibri"/>
              </a:rPr>
              <a:t>▪  </a:t>
            </a:r>
            <a:r>
              <a:rPr sz="1500" b="1">
                <a:solidFill>
                  <a:srgbClr val="0E4D33"/>
                </a:solidFill>
                <a:latin typeface="Calibri"/>
              </a:rPr>
              <a:t>Limit:  </a:t>
            </a:r>
            <a:r>
              <a:rPr sz="1500" b="0" i="0">
                <a:solidFill>
                  <a:srgbClr val="212A26"/>
                </a:solidFill>
                <a:latin typeface="Calibri"/>
              </a:rPr>
              <a:t>4–8 items; past that, group into labeled sub-lists</a:t>
            </a:r>
          </a:p>
        </p:txBody>
      </p:sp>
      <p:sp>
        <p:nvSpPr>
          <p:cNvPr id="6" name="Rounded Rectangle 5" descr="NUMBERED list — ordered panel"/>
          <p:cNvSpPr/>
          <p:nvPr/>
        </p:nvSpPr>
        <p:spPr>
          <a:xfrm>
            <a:off x="6263640" y="1554480"/>
            <a:ext cx="5394960" cy="4572000"/>
          </a:xfrm>
          <a:prstGeom prst="roundRect">
            <a:avLst/>
          </a:prstGeom>
          <a:solidFill>
            <a:srgbClr val="EAF1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109728"/>
          <a:lstStyle/>
          <a:p>
            <a:pPr algn="l">
              <a:spcAft>
                <a:spcPts val="1200"/>
              </a:spcAft>
            </a:pPr>
            <a:r>
              <a:rPr sz="1800" b="1" i="0">
                <a:solidFill>
                  <a:srgbClr val="0E4D33"/>
                </a:solidFill>
                <a:latin typeface="Cambria"/>
              </a:rPr>
              <a:t>NUMBERED list — ordered</a:t>
            </a:r>
          </a:p>
          <a:p>
            <a:pPr algn="l">
              <a:spcAft>
                <a:spcPts val="900"/>
              </a:spcAft>
            </a:pPr>
            <a:r>
              <a:rPr sz="1500">
                <a:solidFill>
                  <a:srgbClr val="8A6410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212A26"/>
                </a:solidFill>
                <a:latin typeface="Calibri"/>
              </a:rPr>
              <a:t>Sequence, ranking, or priority is the point</a:t>
            </a:r>
          </a:p>
          <a:p>
            <a:pPr algn="l">
              <a:spcAft>
                <a:spcPts val="900"/>
              </a:spcAft>
            </a:pPr>
            <a:r>
              <a:rPr sz="1500">
                <a:solidFill>
                  <a:srgbClr val="8A6410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212A26"/>
                </a:solidFill>
                <a:latin typeface="Calibri"/>
              </a:rPr>
              <a:t>Steps, instructions, ranked recommendations</a:t>
            </a:r>
          </a:p>
          <a:p>
            <a:pPr algn="l">
              <a:spcAft>
                <a:spcPts val="900"/>
              </a:spcAft>
            </a:pPr>
            <a:r>
              <a:rPr sz="1500">
                <a:solidFill>
                  <a:srgbClr val="8A6410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212A26"/>
                </a:solidFill>
                <a:latin typeface="Calibri"/>
              </a:rPr>
              <a:t>Numbers let readers reference: 'see item 3'</a:t>
            </a:r>
          </a:p>
          <a:p>
            <a:pPr algn="l">
              <a:spcAft>
                <a:spcPts val="900"/>
              </a:spcAft>
            </a:pPr>
            <a:r>
              <a:rPr sz="1500">
                <a:solidFill>
                  <a:srgbClr val="8A6410"/>
                </a:solidFill>
                <a:latin typeface="Calibri"/>
              </a:rPr>
              <a:t>▪  </a:t>
            </a:r>
            <a:r>
              <a:rPr sz="1500" b="1">
                <a:solidFill>
                  <a:srgbClr val="0E4D33"/>
                </a:solidFill>
                <a:latin typeface="Calibri"/>
              </a:rPr>
              <a:t>Rule:  </a:t>
            </a:r>
            <a:r>
              <a:rPr sz="1500" b="0" i="0">
                <a:solidFill>
                  <a:srgbClr val="212A26"/>
                </a:solidFill>
                <a:latin typeface="Calibri"/>
              </a:rPr>
              <a:t>never number a list whose order is arbitrary — numbers promise meaning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List discipline: what separates a list from a fragment pile"/>
          <p:cNvSpPr>
            <a:spLocks noGrp="1"/>
          </p:cNvSpPr>
          <p:nvPr>
            <p:ph type="title"/>
          </p:nvPr>
        </p:nvSpPr>
        <p:spPr>
          <a:xfrm>
            <a:off x="502920" y="411480"/>
            <a:ext cx="11155680" cy="914400"/>
          </a:xfrm>
        </p:spPr>
        <p:txBody>
          <a:bodyPr wrap="square"/>
          <a:lstStyle/>
          <a:p>
            <a:pPr algn="l"/>
            <a:r>
              <a:rPr sz="3200" b="1">
                <a:solidFill>
                  <a:srgbClr val="0E4D33"/>
                </a:solidFill>
                <a:latin typeface="Cambria"/>
              </a:rPr>
              <a:t>List discipline: what separates a list from a fragment pile</a:t>
            </a:r>
          </a:p>
        </p:txBody>
      </p:sp>
      <p:sp>
        <p:nvSpPr>
          <p:cNvPr id="3" name="TextBox 2" descr="Footer: BADM 225 · Chapter 3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Chapter 3</a:t>
            </a:r>
          </a:p>
        </p:txBody>
      </p:sp>
      <p:sp>
        <p:nvSpPr>
          <p:cNvPr id="4" name="TextBox 3" descr="Slide number 25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25</a:t>
            </a:r>
          </a:p>
        </p:txBody>
      </p:sp>
      <p:sp>
        <p:nvSpPr>
          <p:cNvPr id="5" name="TextBox 4" descr="Key points"/>
          <p:cNvSpPr txBox="1"/>
          <p:nvPr/>
        </p:nvSpPr>
        <p:spPr>
          <a:xfrm>
            <a:off x="548640" y="1554480"/>
            <a:ext cx="110642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Lead-in sentence.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Every list needs a sentence that tells the reader what the items are: 'The proposal has three risks:'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Parallel form.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All items start the same part of speech — all verbs, all nouns. One broken item breaks the rhythm of all of them.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Comparable weight.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A six-word item next to a sixty-word item signals the list wasn't designed — split or trim.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One level, maybe two.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Nested bullet forests three levels deep are outlines that never got written into prose. Flatten or restructure.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Punctuate consistently.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Fragments: no periods. Full sentences: periods. Never a mix within one list.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When a table beats prose"/>
          <p:cNvSpPr>
            <a:spLocks noGrp="1"/>
          </p:cNvSpPr>
          <p:nvPr>
            <p:ph type="title"/>
          </p:nvPr>
        </p:nvSpPr>
        <p:spPr>
          <a:xfrm>
            <a:off x="502920" y="411480"/>
            <a:ext cx="11155680" cy="914400"/>
          </a:xfrm>
        </p:spPr>
        <p:txBody>
          <a:bodyPr wrap="square"/>
          <a:lstStyle/>
          <a:p>
            <a:pPr algn="l"/>
            <a:r>
              <a:rPr sz="3200" b="1">
                <a:solidFill>
                  <a:srgbClr val="0E4D33"/>
                </a:solidFill>
                <a:latin typeface="Cambria"/>
              </a:rPr>
              <a:t>When a table beats prose</a:t>
            </a:r>
          </a:p>
        </p:txBody>
      </p:sp>
      <p:sp>
        <p:nvSpPr>
          <p:cNvPr id="3" name="TextBox 2" descr="Footer: BADM 225 · Chapter 3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Chapter 3</a:t>
            </a:r>
          </a:p>
        </p:txBody>
      </p:sp>
      <p:sp>
        <p:nvSpPr>
          <p:cNvPr id="4" name="TextBox 3" descr="Slide number 26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26</a:t>
            </a:r>
          </a:p>
        </p:txBody>
      </p:sp>
      <p:sp>
        <p:nvSpPr>
          <p:cNvPr id="5" name="Rounded Rectangle 4" descr="Use a TABLE when readers need to… panel"/>
          <p:cNvSpPr/>
          <p:nvPr/>
        </p:nvSpPr>
        <p:spPr>
          <a:xfrm>
            <a:off x="548640" y="1554480"/>
            <a:ext cx="5394960" cy="4572000"/>
          </a:xfrm>
          <a:prstGeom prst="roundRect">
            <a:avLst/>
          </a:prstGeom>
          <a:solidFill>
            <a:srgbClr val="EAF1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109728"/>
          <a:lstStyle/>
          <a:p>
            <a:pPr algn="l">
              <a:spcAft>
                <a:spcPts val="1200"/>
              </a:spcAft>
            </a:pPr>
            <a:r>
              <a:rPr sz="1800" b="1" i="0">
                <a:solidFill>
                  <a:srgbClr val="0E4D33"/>
                </a:solidFill>
                <a:latin typeface="Cambria"/>
              </a:rPr>
              <a:t>Use a TABLE when readers need to…</a:t>
            </a:r>
          </a:p>
          <a:p>
            <a:pPr algn="l">
              <a:spcAft>
                <a:spcPts val="900"/>
              </a:spcAft>
            </a:pPr>
            <a:r>
              <a:rPr sz="1500">
                <a:solidFill>
                  <a:srgbClr val="8A6410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212A26"/>
                </a:solidFill>
                <a:latin typeface="Calibri"/>
              </a:rPr>
              <a:t>Compare options across the same dimensions</a:t>
            </a:r>
          </a:p>
          <a:p>
            <a:pPr algn="l">
              <a:spcAft>
                <a:spcPts val="900"/>
              </a:spcAft>
            </a:pPr>
            <a:r>
              <a:rPr sz="1500">
                <a:solidFill>
                  <a:srgbClr val="8A6410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212A26"/>
                </a:solidFill>
                <a:latin typeface="Calibri"/>
              </a:rPr>
              <a:t>Look up exact values (prices, dates, specs)</a:t>
            </a:r>
          </a:p>
          <a:p>
            <a:pPr algn="l">
              <a:spcAft>
                <a:spcPts val="900"/>
              </a:spcAft>
            </a:pPr>
            <a:r>
              <a:rPr sz="1500">
                <a:solidFill>
                  <a:srgbClr val="8A6410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212A26"/>
                </a:solidFill>
                <a:latin typeface="Calibri"/>
              </a:rPr>
              <a:t>Check completeness — every cell visibly filled or empty</a:t>
            </a:r>
          </a:p>
          <a:p>
            <a:pPr algn="l">
              <a:spcAft>
                <a:spcPts val="900"/>
              </a:spcAft>
            </a:pPr>
            <a:r>
              <a:rPr sz="1500">
                <a:solidFill>
                  <a:srgbClr val="8A6410"/>
                </a:solidFill>
                <a:latin typeface="Calibri"/>
              </a:rPr>
              <a:t>▪  </a:t>
            </a:r>
            <a:r>
              <a:rPr sz="1500" b="1">
                <a:solidFill>
                  <a:srgbClr val="0E4D33"/>
                </a:solidFill>
                <a:latin typeface="Calibri"/>
              </a:rPr>
              <a:t>Test:  </a:t>
            </a:r>
            <a:r>
              <a:rPr sz="1500" b="0" i="0">
                <a:solidFill>
                  <a:srgbClr val="212A26"/>
                </a:solidFill>
                <a:latin typeface="Calibri"/>
              </a:rPr>
              <a:t>if you're writing 'X is $40, while Y is $55, whereas Z…' — that sentence wants to be a table</a:t>
            </a:r>
          </a:p>
        </p:txBody>
      </p:sp>
      <p:sp>
        <p:nvSpPr>
          <p:cNvPr id="6" name="Rounded Rectangle 5" descr="Keep PROSE when readers need to… panel"/>
          <p:cNvSpPr/>
          <p:nvPr/>
        </p:nvSpPr>
        <p:spPr>
          <a:xfrm>
            <a:off x="6263640" y="1554480"/>
            <a:ext cx="5394960" cy="4572000"/>
          </a:xfrm>
          <a:prstGeom prst="roundRect">
            <a:avLst/>
          </a:prstGeom>
          <a:solidFill>
            <a:srgbClr val="EAF1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109728"/>
          <a:lstStyle/>
          <a:p>
            <a:pPr algn="l">
              <a:spcAft>
                <a:spcPts val="1200"/>
              </a:spcAft>
            </a:pPr>
            <a:r>
              <a:rPr sz="1800" b="1" i="0">
                <a:solidFill>
                  <a:srgbClr val="0E4D33"/>
                </a:solidFill>
                <a:latin typeface="Cambria"/>
              </a:rPr>
              <a:t>Keep PROSE when readers need to…</a:t>
            </a:r>
          </a:p>
          <a:p>
            <a:pPr algn="l">
              <a:spcAft>
                <a:spcPts val="900"/>
              </a:spcAft>
            </a:pPr>
            <a:r>
              <a:rPr sz="1500">
                <a:solidFill>
                  <a:srgbClr val="8A6410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212A26"/>
                </a:solidFill>
                <a:latin typeface="Calibri"/>
              </a:rPr>
              <a:t>Follow causation — why something happened</a:t>
            </a:r>
          </a:p>
          <a:p>
            <a:pPr algn="l">
              <a:spcAft>
                <a:spcPts val="900"/>
              </a:spcAft>
            </a:pPr>
            <a:r>
              <a:rPr sz="1500">
                <a:solidFill>
                  <a:srgbClr val="8A6410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212A26"/>
                </a:solidFill>
                <a:latin typeface="Calibri"/>
              </a:rPr>
              <a:t>Weigh an argument with qualifications and exceptions</a:t>
            </a:r>
          </a:p>
          <a:p>
            <a:pPr algn="l">
              <a:spcAft>
                <a:spcPts val="900"/>
              </a:spcAft>
            </a:pPr>
            <a:r>
              <a:rPr sz="1500">
                <a:solidFill>
                  <a:srgbClr val="8A6410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212A26"/>
                </a:solidFill>
                <a:latin typeface="Calibri"/>
              </a:rPr>
              <a:t>Hear tone: goodwill, apology, persuasion</a:t>
            </a:r>
          </a:p>
          <a:p>
            <a:pPr algn="l">
              <a:spcAft>
                <a:spcPts val="900"/>
              </a:spcAft>
            </a:pPr>
            <a:r>
              <a:rPr sz="1500">
                <a:solidFill>
                  <a:srgbClr val="8A6410"/>
                </a:solidFill>
                <a:latin typeface="Calibri"/>
              </a:rPr>
              <a:t>▪  </a:t>
            </a:r>
            <a:r>
              <a:rPr sz="1500" b="1">
                <a:solidFill>
                  <a:srgbClr val="0E4D33"/>
                </a:solidFill>
                <a:latin typeface="Calibri"/>
              </a:rPr>
              <a:t>Test:  </a:t>
            </a:r>
            <a:r>
              <a:rPr sz="1500" b="0" i="0">
                <a:solidFill>
                  <a:srgbClr val="212A26"/>
                </a:solidFill>
                <a:latin typeface="Calibri"/>
              </a:rPr>
              <a:t>if every cell would hold a paragraph, the table is a cage, not a tool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Transitions: the traffic signals of prose"/>
          <p:cNvSpPr>
            <a:spLocks noGrp="1"/>
          </p:cNvSpPr>
          <p:nvPr>
            <p:ph type="title"/>
          </p:nvPr>
        </p:nvSpPr>
        <p:spPr>
          <a:xfrm>
            <a:off x="502920" y="411480"/>
            <a:ext cx="11155680" cy="914400"/>
          </a:xfrm>
        </p:spPr>
        <p:txBody>
          <a:bodyPr wrap="square"/>
          <a:lstStyle/>
          <a:p>
            <a:pPr algn="l"/>
            <a:r>
              <a:rPr sz="3200" b="1">
                <a:solidFill>
                  <a:srgbClr val="0E4D33"/>
                </a:solidFill>
                <a:latin typeface="Cambria"/>
              </a:rPr>
              <a:t>Transitions: the traffic signals of prose</a:t>
            </a:r>
          </a:p>
        </p:txBody>
      </p:sp>
      <p:sp>
        <p:nvSpPr>
          <p:cNvPr id="3" name="TextBox 2" descr="Footer: BADM 225 · Chapter 3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Chapter 3</a:t>
            </a:r>
          </a:p>
        </p:txBody>
      </p:sp>
      <p:sp>
        <p:nvSpPr>
          <p:cNvPr id="4" name="TextBox 3" descr="Slide number 27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27</a:t>
            </a:r>
          </a:p>
        </p:txBody>
      </p:sp>
      <p:sp>
        <p:nvSpPr>
          <p:cNvPr id="5" name="TextBox 4" descr="Context"/>
          <p:cNvSpPr txBox="1"/>
          <p:nvPr/>
        </p:nvSpPr>
        <p:spPr>
          <a:xfrm>
            <a:off x="548640" y="141732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 i="1">
                <a:solidFill>
                  <a:srgbClr val="5E6B64"/>
                </a:solidFill>
                <a:latin typeface="Calibri"/>
              </a:rPr>
              <a:t>Readers decode transitions before they decode the sentence — a wrong signal misroutes the whole paragraph.</a:t>
            </a:r>
          </a:p>
        </p:txBody>
      </p:sp>
      <p:sp>
        <p:nvSpPr>
          <p:cNvPr id="6" name="Oval 5" descr="Addition icon"/>
          <p:cNvSpPr/>
          <p:nvPr/>
        </p:nvSpPr>
        <p:spPr>
          <a:xfrm>
            <a:off x="640080" y="1975104"/>
            <a:ext cx="566928" cy="566928"/>
          </a:xfrm>
          <a:prstGeom prst="ellipse">
            <a:avLst/>
          </a:prstGeom>
          <a:solidFill>
            <a:srgbClr val="0E4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＋</a:t>
            </a:r>
          </a:p>
        </p:txBody>
      </p:sp>
      <p:sp>
        <p:nvSpPr>
          <p:cNvPr id="7" name="TextBox 6" descr="Addition"/>
          <p:cNvSpPr txBox="1"/>
          <p:nvPr/>
        </p:nvSpPr>
        <p:spPr>
          <a:xfrm>
            <a:off x="1417320" y="1920240"/>
            <a:ext cx="10241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50" b="1" i="0">
                <a:solidFill>
                  <a:srgbClr val="0E4D33"/>
                </a:solidFill>
                <a:latin typeface="Cambria"/>
              </a:rPr>
              <a:t>Addition</a:t>
            </a:r>
          </a:p>
          <a:p>
            <a:pPr algn="l">
              <a:spcAft>
                <a:spcPts val="0"/>
              </a:spcAft>
            </a:pPr>
            <a:r>
              <a:rPr sz="1550" b="0" i="0">
                <a:solidFill>
                  <a:srgbClr val="212A26"/>
                </a:solidFill>
                <a:latin typeface="Calibri"/>
              </a:rPr>
              <a:t>also · moreover · in addition — 'more of the same direction ahead.'</a:t>
            </a:r>
          </a:p>
        </p:txBody>
      </p:sp>
      <p:sp>
        <p:nvSpPr>
          <p:cNvPr id="8" name="Oval 7" descr="Contrast icon"/>
          <p:cNvSpPr/>
          <p:nvPr/>
        </p:nvSpPr>
        <p:spPr>
          <a:xfrm>
            <a:off x="640080" y="2999232"/>
            <a:ext cx="566928" cy="566928"/>
          </a:xfrm>
          <a:prstGeom prst="ellipse">
            <a:avLst/>
          </a:prstGeom>
          <a:solidFill>
            <a:srgbClr val="0E4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↔</a:t>
            </a:r>
          </a:p>
        </p:txBody>
      </p:sp>
      <p:sp>
        <p:nvSpPr>
          <p:cNvPr id="9" name="TextBox 8" descr="Contrast"/>
          <p:cNvSpPr txBox="1"/>
          <p:nvPr/>
        </p:nvSpPr>
        <p:spPr>
          <a:xfrm>
            <a:off x="1417320" y="2944368"/>
            <a:ext cx="10241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50" b="1" i="0">
                <a:solidFill>
                  <a:srgbClr val="0E4D33"/>
                </a:solidFill>
                <a:latin typeface="Cambria"/>
              </a:rPr>
              <a:t>Contrast</a:t>
            </a:r>
          </a:p>
          <a:p>
            <a:pPr algn="l">
              <a:spcAft>
                <a:spcPts val="0"/>
              </a:spcAft>
            </a:pPr>
            <a:r>
              <a:rPr sz="1550" b="0" i="0">
                <a:solidFill>
                  <a:srgbClr val="212A26"/>
                </a:solidFill>
                <a:latin typeface="Calibri"/>
              </a:rPr>
              <a:t>however · yet · on the other hand — 'turn coming; slow down.'</a:t>
            </a:r>
          </a:p>
        </p:txBody>
      </p:sp>
      <p:sp>
        <p:nvSpPr>
          <p:cNvPr id="10" name="Oval 9" descr="Cause &amp; consequence icon"/>
          <p:cNvSpPr/>
          <p:nvPr/>
        </p:nvSpPr>
        <p:spPr>
          <a:xfrm>
            <a:off x="640080" y="4023360"/>
            <a:ext cx="566928" cy="566928"/>
          </a:xfrm>
          <a:prstGeom prst="ellipse">
            <a:avLst/>
          </a:prstGeom>
          <a:solidFill>
            <a:srgbClr val="0E4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∴</a:t>
            </a:r>
          </a:p>
        </p:txBody>
      </p:sp>
      <p:sp>
        <p:nvSpPr>
          <p:cNvPr id="11" name="TextBox 10" descr="Cause &amp; consequence"/>
          <p:cNvSpPr txBox="1"/>
          <p:nvPr/>
        </p:nvSpPr>
        <p:spPr>
          <a:xfrm>
            <a:off x="1417320" y="3968496"/>
            <a:ext cx="10241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50" b="1" i="0">
                <a:solidFill>
                  <a:srgbClr val="0E4D33"/>
                </a:solidFill>
                <a:latin typeface="Cambria"/>
              </a:rPr>
              <a:t>Cause &amp; consequence</a:t>
            </a:r>
          </a:p>
          <a:p>
            <a:pPr algn="l">
              <a:spcAft>
                <a:spcPts val="0"/>
              </a:spcAft>
            </a:pPr>
            <a:r>
              <a:rPr sz="1550" b="0" i="0">
                <a:solidFill>
                  <a:srgbClr val="212A26"/>
                </a:solidFill>
                <a:latin typeface="Calibri"/>
              </a:rPr>
              <a:t>therefore · as a result · consequently — 'this follows from that.'</a:t>
            </a:r>
          </a:p>
        </p:txBody>
      </p:sp>
      <p:sp>
        <p:nvSpPr>
          <p:cNvPr id="12" name="Oval 11" descr="Sequence icon"/>
          <p:cNvSpPr/>
          <p:nvPr/>
        </p:nvSpPr>
        <p:spPr>
          <a:xfrm>
            <a:off x="640080" y="5047488"/>
            <a:ext cx="566928" cy="566928"/>
          </a:xfrm>
          <a:prstGeom prst="ellipse">
            <a:avLst/>
          </a:prstGeom>
          <a:solidFill>
            <a:srgbClr val="0E4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№</a:t>
            </a:r>
          </a:p>
        </p:txBody>
      </p:sp>
      <p:sp>
        <p:nvSpPr>
          <p:cNvPr id="13" name="TextBox 12" descr="Sequence"/>
          <p:cNvSpPr txBox="1"/>
          <p:nvPr/>
        </p:nvSpPr>
        <p:spPr>
          <a:xfrm>
            <a:off x="1417320" y="4992624"/>
            <a:ext cx="10241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50" b="1" i="0">
                <a:solidFill>
                  <a:srgbClr val="0E4D33"/>
                </a:solidFill>
                <a:latin typeface="Cambria"/>
              </a:rPr>
              <a:t>Sequence</a:t>
            </a:r>
          </a:p>
          <a:p>
            <a:pPr algn="l">
              <a:spcAft>
                <a:spcPts val="0"/>
              </a:spcAft>
            </a:pPr>
            <a:r>
              <a:rPr sz="1550" b="0" i="0">
                <a:solidFill>
                  <a:srgbClr val="212A26"/>
                </a:solidFill>
                <a:latin typeface="Calibri"/>
              </a:rPr>
              <a:t>first · next · finally — 'you are here' markers in a process.</a:t>
            </a:r>
          </a:p>
        </p:txBody>
      </p:sp>
      <p:sp>
        <p:nvSpPr>
          <p:cNvPr id="14" name="Oval 13" descr="Example &amp; proof icon"/>
          <p:cNvSpPr/>
          <p:nvPr/>
        </p:nvSpPr>
        <p:spPr>
          <a:xfrm>
            <a:off x="640080" y="6071616"/>
            <a:ext cx="566928" cy="566928"/>
          </a:xfrm>
          <a:prstGeom prst="ellipse">
            <a:avLst/>
          </a:prstGeom>
          <a:solidFill>
            <a:srgbClr val="0E4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◉</a:t>
            </a:r>
          </a:p>
        </p:txBody>
      </p:sp>
      <p:sp>
        <p:nvSpPr>
          <p:cNvPr id="15" name="TextBox 14" descr="Example &amp; proof"/>
          <p:cNvSpPr txBox="1"/>
          <p:nvPr/>
        </p:nvSpPr>
        <p:spPr>
          <a:xfrm>
            <a:off x="1417320" y="6016752"/>
            <a:ext cx="10241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50" b="1" i="0">
                <a:solidFill>
                  <a:srgbClr val="0E4D33"/>
                </a:solidFill>
                <a:latin typeface="Cambria"/>
              </a:rPr>
              <a:t>Example &amp; proof</a:t>
            </a:r>
          </a:p>
          <a:p>
            <a:pPr algn="l">
              <a:spcAft>
                <a:spcPts val="0"/>
              </a:spcAft>
            </a:pPr>
            <a:r>
              <a:rPr sz="1550" b="0" i="0">
                <a:solidFill>
                  <a:srgbClr val="212A26"/>
                </a:solidFill>
                <a:latin typeface="Calibri"/>
              </a:rPr>
              <a:t>for instance · specifically · in particular — 'the claim is about to get concrete.'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Openings that earn the reader's next ten seconds"/>
          <p:cNvSpPr>
            <a:spLocks noGrp="1"/>
          </p:cNvSpPr>
          <p:nvPr>
            <p:ph type="title"/>
          </p:nvPr>
        </p:nvSpPr>
        <p:spPr>
          <a:xfrm>
            <a:off x="502920" y="411480"/>
            <a:ext cx="11155680" cy="914400"/>
          </a:xfrm>
        </p:spPr>
        <p:txBody>
          <a:bodyPr wrap="square"/>
          <a:lstStyle/>
          <a:p>
            <a:pPr algn="l"/>
            <a:r>
              <a:rPr sz="3200" b="1">
                <a:solidFill>
                  <a:srgbClr val="0E4D33"/>
                </a:solidFill>
                <a:latin typeface="Cambria"/>
              </a:rPr>
              <a:t>Openings that earn the reader's next ten seconds</a:t>
            </a:r>
          </a:p>
        </p:txBody>
      </p:sp>
      <p:sp>
        <p:nvSpPr>
          <p:cNvPr id="3" name="TextBox 2" descr="Footer: BADM 225 · Chapter 3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Chapter 3</a:t>
            </a:r>
          </a:p>
        </p:txBody>
      </p:sp>
      <p:sp>
        <p:nvSpPr>
          <p:cNvPr id="4" name="TextBox 3" descr="Slide number 28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28</a:t>
            </a:r>
          </a:p>
        </p:txBody>
      </p:sp>
      <p:sp>
        <p:nvSpPr>
          <p:cNvPr id="5" name="TextBox 4" descr="Key points"/>
          <p:cNvSpPr txBox="1"/>
          <p:nvPr/>
        </p:nvSpPr>
        <p:spPr>
          <a:xfrm>
            <a:off x="548640" y="1554480"/>
            <a:ext cx="110642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The subject line is sentence zero.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'Budget approval needed by Friday' outworks 'Question' — the decision to open, defer, or delete is made right there.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Direct messages: main point, sentence one.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Request, recommendation, or news — before any background.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One sentence of context is a courtesy;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three paragraphs of context is a hostage situation.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Never open with the archaeology: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'I was reviewing the files from last quarter and noticed…' — start with what you found, not the story of finding it.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Closings that move the work forward"/>
          <p:cNvSpPr>
            <a:spLocks noGrp="1"/>
          </p:cNvSpPr>
          <p:nvPr>
            <p:ph type="title"/>
          </p:nvPr>
        </p:nvSpPr>
        <p:spPr>
          <a:xfrm>
            <a:off x="502920" y="411480"/>
            <a:ext cx="11155680" cy="914400"/>
          </a:xfrm>
        </p:spPr>
        <p:txBody>
          <a:bodyPr wrap="square"/>
          <a:lstStyle/>
          <a:p>
            <a:pPr algn="l"/>
            <a:r>
              <a:rPr sz="3200" b="1">
                <a:solidFill>
                  <a:srgbClr val="0E4D33"/>
                </a:solidFill>
                <a:latin typeface="Cambria"/>
              </a:rPr>
              <a:t>Closings that move the work forward</a:t>
            </a:r>
          </a:p>
        </p:txBody>
      </p:sp>
      <p:sp>
        <p:nvSpPr>
          <p:cNvPr id="3" name="TextBox 2" descr="Footer: BADM 225 · Chapter 3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Chapter 3</a:t>
            </a:r>
          </a:p>
        </p:txBody>
      </p:sp>
      <p:sp>
        <p:nvSpPr>
          <p:cNvPr id="4" name="TextBox 3" descr="Slide number 29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29</a:t>
            </a:r>
          </a:p>
        </p:txBody>
      </p:sp>
      <p:sp>
        <p:nvSpPr>
          <p:cNvPr id="5" name="TextBox 4" descr="Key points"/>
          <p:cNvSpPr txBox="1"/>
          <p:nvPr/>
        </p:nvSpPr>
        <p:spPr>
          <a:xfrm>
            <a:off x="548640" y="1554480"/>
            <a:ext cx="110642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Action, owner, date.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'Please send the revised figures to me by Thursday, March 12' — every request needs all three or it isn't a request, it's a wish.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Make the next step frictionless.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Attach the form, link the calendar, include the number — every step you remove doubles the odds of action.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End with goodwill that is specific.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'Thanks for turning this around during inventory week' beats the upholstery of 'Thanks in advance!'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Don't reopen the case in the closing.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New arguments in the last paragraph un-decide everything above them.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Case: the email that became a table"/>
          <p:cNvSpPr>
            <a:spLocks noGrp="1"/>
          </p:cNvSpPr>
          <p:nvPr>
            <p:ph type="title"/>
          </p:nvPr>
        </p:nvSpPr>
        <p:spPr>
          <a:xfrm>
            <a:off x="502920" y="411480"/>
            <a:ext cx="11155680" cy="914400"/>
          </a:xfrm>
        </p:spPr>
        <p:txBody>
          <a:bodyPr wrap="square"/>
          <a:lstStyle/>
          <a:p>
            <a:pPr algn="l"/>
            <a:r>
              <a:rPr sz="3200" b="1">
                <a:solidFill>
                  <a:srgbClr val="0E4D33"/>
                </a:solidFill>
                <a:latin typeface="Cambria"/>
              </a:rPr>
              <a:t>Case: the email that became a table</a:t>
            </a:r>
          </a:p>
        </p:txBody>
      </p:sp>
      <p:sp>
        <p:nvSpPr>
          <p:cNvPr id="3" name="TextBox 2" descr="Footer: BADM 225 · Chapter 3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Chapter 3</a:t>
            </a:r>
          </a:p>
        </p:txBody>
      </p:sp>
      <p:sp>
        <p:nvSpPr>
          <p:cNvPr id="4" name="TextBox 3" descr="Slide number 30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30</a:t>
            </a:r>
          </a:p>
        </p:txBody>
      </p:sp>
      <p:sp>
        <p:nvSpPr>
          <p:cNvPr id="5" name="TextBox 4" descr="Key points"/>
          <p:cNvSpPr txBox="1"/>
          <p:nvPr/>
        </p:nvSpPr>
        <p:spPr>
          <a:xfrm>
            <a:off x="548640" y="1554480"/>
            <a:ext cx="110642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Before: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Nine sentences comparing three vendors' prices, support hours, and contract terms — every fact true, no fact findable twice.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The reply: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'Can you summarize the differences?' — the writer had summarized them. In prose. That was the problem.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After: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A three-column table (vendor × price, support, term) plus TWO sentences of prose: the recommendation and the reason.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The lesson: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prose carries the argument; the table carries the facts. When you make readers hold six numbers in working memory, they hold none (Miller, 1956).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Key takeaways"/>
          <p:cNvSpPr>
            <a:spLocks noGrp="1"/>
          </p:cNvSpPr>
          <p:nvPr>
            <p:ph type="title"/>
          </p:nvPr>
        </p:nvSpPr>
        <p:spPr>
          <a:xfrm>
            <a:off x="502920" y="411480"/>
            <a:ext cx="11155680" cy="914400"/>
          </a:xfrm>
        </p:spPr>
        <p:txBody>
          <a:bodyPr wrap="square"/>
          <a:lstStyle/>
          <a:p>
            <a:pPr algn="l"/>
            <a:r>
              <a:rPr sz="3200" b="1">
                <a:solidFill>
                  <a:srgbClr val="0E4D33"/>
                </a:solidFill>
                <a:latin typeface="Cambria"/>
              </a:rPr>
              <a:t>Key takeaways</a:t>
            </a:r>
          </a:p>
        </p:txBody>
      </p:sp>
      <p:sp>
        <p:nvSpPr>
          <p:cNvPr id="3" name="TextBox 2" descr="Footer: BADM 225 · Chapter 3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Chapter 3</a:t>
            </a:r>
          </a:p>
        </p:txBody>
      </p:sp>
      <p:sp>
        <p:nvSpPr>
          <p:cNvPr id="4" name="TextBox 3" descr="Slide number 31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31</a:t>
            </a:r>
          </a:p>
        </p:txBody>
      </p:sp>
      <p:sp>
        <p:nvSpPr>
          <p:cNvPr id="5" name="Oval 4" descr="Checkmark"/>
          <p:cNvSpPr/>
          <p:nvPr/>
        </p:nvSpPr>
        <p:spPr>
          <a:xfrm>
            <a:off x="640080" y="1572768"/>
            <a:ext cx="420624" cy="420624"/>
          </a:xfrm>
          <a:prstGeom prst="ellipse">
            <a:avLst/>
          </a:prstGeom>
          <a:solidFill>
            <a:srgbClr val="0E4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6" name="TextBox 5" descr="Takeaway 1"/>
          <p:cNvSpPr txBox="1"/>
          <p:nvPr/>
        </p:nvSpPr>
        <p:spPr>
          <a:xfrm>
            <a:off x="1325880" y="1554480"/>
            <a:ext cx="10332720" cy="5551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350" b="0" i="0">
                <a:solidFill>
                  <a:srgbClr val="212A26"/>
                </a:solidFill>
                <a:latin typeface="Calibri"/>
              </a:rPr>
              <a:t>One decision first: direct for receptive readers, indirect for resistance and bad news.</a:t>
            </a:r>
          </a:p>
        </p:txBody>
      </p:sp>
      <p:sp>
        <p:nvSpPr>
          <p:cNvPr id="7" name="Oval 6" descr="Checkmark"/>
          <p:cNvSpPr/>
          <p:nvPr/>
        </p:nvSpPr>
        <p:spPr>
          <a:xfrm>
            <a:off x="640080" y="2127939"/>
            <a:ext cx="420624" cy="420624"/>
          </a:xfrm>
          <a:prstGeom prst="ellipse">
            <a:avLst/>
          </a:prstGeom>
          <a:solidFill>
            <a:srgbClr val="0E4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8" name="TextBox 7" descr="Takeaway 2"/>
          <p:cNvSpPr txBox="1"/>
          <p:nvPr/>
        </p:nvSpPr>
        <p:spPr>
          <a:xfrm>
            <a:off x="1325880" y="2109651"/>
            <a:ext cx="10332720" cy="5551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350" b="0" i="0">
                <a:solidFill>
                  <a:srgbClr val="212A26"/>
                </a:solidFill>
                <a:latin typeface="Calibri"/>
              </a:rPr>
              <a:t>Outline in three moves — dump, group into named families, sequence — and cut the orphans.</a:t>
            </a:r>
          </a:p>
        </p:txBody>
      </p:sp>
      <p:sp>
        <p:nvSpPr>
          <p:cNvPr id="9" name="Oval 8" descr="Checkmark"/>
          <p:cNvSpPr/>
          <p:nvPr/>
        </p:nvSpPr>
        <p:spPr>
          <a:xfrm>
            <a:off x="640080" y="2683110"/>
            <a:ext cx="420624" cy="420624"/>
          </a:xfrm>
          <a:prstGeom prst="ellipse">
            <a:avLst/>
          </a:prstGeom>
          <a:solidFill>
            <a:srgbClr val="0E4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0" name="TextBox 9" descr="Takeaway 3"/>
          <p:cNvSpPr txBox="1"/>
          <p:nvPr/>
        </p:nvSpPr>
        <p:spPr>
          <a:xfrm>
            <a:off x="1325880" y="2664822"/>
            <a:ext cx="10332720" cy="5551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350" b="0" i="0">
                <a:solidFill>
                  <a:srgbClr val="212A26"/>
                </a:solidFill>
                <a:latin typeface="Calibri"/>
              </a:rPr>
              <a:t>Paragraphs: one claim, topic sentence first, echoes carrying old-to-new flow.</a:t>
            </a:r>
          </a:p>
        </p:txBody>
      </p:sp>
      <p:sp>
        <p:nvSpPr>
          <p:cNvPr id="11" name="Oval 10" descr="Checkmark"/>
          <p:cNvSpPr/>
          <p:nvPr/>
        </p:nvSpPr>
        <p:spPr>
          <a:xfrm>
            <a:off x="640080" y="3238281"/>
            <a:ext cx="420624" cy="420624"/>
          </a:xfrm>
          <a:prstGeom prst="ellipse">
            <a:avLst/>
          </a:prstGeom>
          <a:solidFill>
            <a:srgbClr val="0E4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2" name="TextBox 11" descr="Takeaway 4"/>
          <p:cNvSpPr txBox="1"/>
          <p:nvPr/>
        </p:nvSpPr>
        <p:spPr>
          <a:xfrm>
            <a:off x="1325880" y="3219993"/>
            <a:ext cx="10332720" cy="5551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350" b="0" i="0">
                <a:solidFill>
                  <a:srgbClr val="212A26"/>
                </a:solidFill>
                <a:latin typeface="Calibri"/>
              </a:rPr>
              <a:t>The stress position at the sentence's end is your emphasis dial (Gopen &amp; Swan, 1990).</a:t>
            </a:r>
          </a:p>
        </p:txBody>
      </p:sp>
      <p:sp>
        <p:nvSpPr>
          <p:cNvPr id="13" name="Oval 12" descr="Checkmark"/>
          <p:cNvSpPr/>
          <p:nvPr/>
        </p:nvSpPr>
        <p:spPr>
          <a:xfrm>
            <a:off x="640080" y="3793452"/>
            <a:ext cx="420624" cy="420624"/>
          </a:xfrm>
          <a:prstGeom prst="ellipse">
            <a:avLst/>
          </a:prstGeom>
          <a:solidFill>
            <a:srgbClr val="0E4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4" name="TextBox 13" descr="Takeaway 5"/>
          <p:cNvSpPr txBox="1"/>
          <p:nvPr/>
        </p:nvSpPr>
        <p:spPr>
          <a:xfrm>
            <a:off x="1325880" y="3775164"/>
            <a:ext cx="10332720" cy="5551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350" b="0" i="0">
                <a:solidFill>
                  <a:srgbClr val="212A26"/>
                </a:solidFill>
                <a:latin typeface="Calibri"/>
              </a:rPr>
              <a:t>Active by default; passive on purpose; never as camouflage. Keep series parallel; chunk for 7±2.</a:t>
            </a:r>
          </a:p>
        </p:txBody>
      </p:sp>
      <p:sp>
        <p:nvSpPr>
          <p:cNvPr id="15" name="Oval 14" descr="Checkmark"/>
          <p:cNvSpPr/>
          <p:nvPr/>
        </p:nvSpPr>
        <p:spPr>
          <a:xfrm>
            <a:off x="640080" y="4348623"/>
            <a:ext cx="420624" cy="420624"/>
          </a:xfrm>
          <a:prstGeom prst="ellipse">
            <a:avLst/>
          </a:prstGeom>
          <a:solidFill>
            <a:srgbClr val="0E4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6" name="TextBox 15" descr="Takeaway 6"/>
          <p:cNvSpPr txBox="1"/>
          <p:nvPr/>
        </p:nvSpPr>
        <p:spPr>
          <a:xfrm>
            <a:off x="1325880" y="4330335"/>
            <a:ext cx="10332720" cy="5551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350" b="0" i="0">
                <a:solidFill>
                  <a:srgbClr val="212A26"/>
                </a:solidFill>
                <a:latin typeface="Calibri"/>
              </a:rPr>
              <a:t>Draft fast, judge later — generating and judging are different jobs.</a:t>
            </a:r>
          </a:p>
        </p:txBody>
      </p:sp>
      <p:sp>
        <p:nvSpPr>
          <p:cNvPr id="17" name="Oval 16" descr="Checkmark"/>
          <p:cNvSpPr/>
          <p:nvPr/>
        </p:nvSpPr>
        <p:spPr>
          <a:xfrm>
            <a:off x="640080" y="4903794"/>
            <a:ext cx="420624" cy="420624"/>
          </a:xfrm>
          <a:prstGeom prst="ellipse">
            <a:avLst/>
          </a:prstGeom>
          <a:solidFill>
            <a:srgbClr val="0E4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8" name="TextBox 17" descr="Takeaway 7"/>
          <p:cNvSpPr txBox="1"/>
          <p:nvPr/>
        </p:nvSpPr>
        <p:spPr>
          <a:xfrm>
            <a:off x="1325880" y="4885506"/>
            <a:ext cx="10332720" cy="5551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350" b="0" i="0">
                <a:solidFill>
                  <a:srgbClr val="212A26"/>
                </a:solidFill>
                <a:latin typeface="Calibri"/>
              </a:rPr>
              <a:t>Design for the F-pattern: front-load sentences and paragraphs; lists and tables where comparison lives.</a:t>
            </a:r>
          </a:p>
        </p:txBody>
      </p:sp>
      <p:sp>
        <p:nvSpPr>
          <p:cNvPr id="19" name="Rounded Rectangle 18" descr="Practice reminder"/>
          <p:cNvSpPr/>
          <p:nvPr/>
        </p:nvSpPr>
        <p:spPr>
          <a:xfrm>
            <a:off x="548640" y="5513829"/>
            <a:ext cx="10424160" cy="685800"/>
          </a:xfrm>
          <a:prstGeom prst="roundRect">
            <a:avLst/>
          </a:prstGeom>
          <a:solidFill>
            <a:srgbClr val="0E4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109728"/>
          <a:lstStyle/>
          <a:p>
            <a:pPr algn="l">
              <a:spcAft>
                <a:spcPts val="0"/>
              </a:spcAft>
            </a:pPr>
            <a:r>
              <a:rPr sz="1450" b="1" i="0">
                <a:solidFill>
                  <a:srgbClr val="FFFFFF"/>
                </a:solidFill>
                <a:latin typeface="Calibri"/>
              </a:rPr>
              <a:t>Practice now: course site → Chapter 3 → Practice, then the graded homework before the weekly deadline.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1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Worth keeping"/>
          <p:cNvSpPr>
            <a:spLocks noGrp="1"/>
          </p:cNvSpPr>
          <p:nvPr>
            <p:ph type="title"/>
          </p:nvPr>
        </p:nvSpPr>
        <p:spPr>
          <a:xfrm>
            <a:off x="502920" y="411480"/>
            <a:ext cx="11155680" cy="914400"/>
          </a:xfrm>
        </p:spPr>
        <p:txBody>
          <a:bodyPr wrap="square"/>
          <a:lstStyle/>
          <a:p>
            <a:pPr algn="l"/>
            <a:r>
              <a:rPr sz="3400" b="1">
                <a:solidFill>
                  <a:srgbClr val="0E4D33"/>
                </a:solidFill>
                <a:latin typeface="Cambria"/>
              </a:rPr>
              <a:t>Worth keeping</a:t>
            </a:r>
          </a:p>
        </p:txBody>
      </p:sp>
      <p:sp>
        <p:nvSpPr>
          <p:cNvPr id="3" name="TextBox 2" descr="Quotation"/>
          <p:cNvSpPr txBox="1"/>
          <p:nvPr/>
        </p:nvSpPr>
        <p:spPr>
          <a:xfrm>
            <a:off x="1280160" y="2194560"/>
            <a:ext cx="96012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700" b="0" i="1">
                <a:solidFill>
                  <a:srgbClr val="212A26"/>
                </a:solidFill>
                <a:latin typeface="Cambria"/>
              </a:rPr>
              <a:t>“Readers do not remember what you wrote. They remember what they read — and they read the first sentence, the headings, and the ends of things.”</a:t>
            </a:r>
          </a:p>
        </p:txBody>
      </p:sp>
      <p:sp>
        <p:nvSpPr>
          <p:cNvPr id="4" name="TextBox 3" descr="Attribution"/>
          <p:cNvSpPr txBox="1"/>
          <p:nvPr/>
        </p:nvSpPr>
        <p:spPr>
          <a:xfrm>
            <a:off x="1280160" y="475488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 i="0">
                <a:solidFill>
                  <a:srgbClr val="5E6B64"/>
                </a:solidFill>
                <a:latin typeface="Calibri"/>
              </a:rPr>
              <a:t>— this chapter, compressed</a:t>
            </a:r>
          </a:p>
        </p:txBody>
      </p:sp>
      <p:sp>
        <p:nvSpPr>
          <p:cNvPr id="5" name="TextBox 4" descr="Footer: BADM 225 · Chapter 3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Chapter 3</a:t>
            </a:r>
          </a:p>
        </p:txBody>
      </p:sp>
      <p:sp>
        <p:nvSpPr>
          <p:cNvPr id="6" name="TextBox 5" descr="Slide number 32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4D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Discussion questions"/>
          <p:cNvSpPr>
            <a:spLocks noGrp="1"/>
          </p:cNvSpPr>
          <p:nvPr>
            <p:ph type="title"/>
          </p:nvPr>
        </p:nvSpPr>
        <p:spPr>
          <a:xfrm>
            <a:off x="502920" y="411480"/>
            <a:ext cx="11155680" cy="914400"/>
          </a:xfrm>
        </p:spPr>
        <p:txBody>
          <a:bodyPr wrap="square"/>
          <a:lstStyle/>
          <a:p>
            <a:pPr algn="l"/>
            <a:r>
              <a:rPr sz="3400" b="1">
                <a:solidFill>
                  <a:srgbClr val="FFFFFF"/>
                </a:solidFill>
                <a:latin typeface="Cambria"/>
              </a:rPr>
              <a:t>Discussion questions</a:t>
            </a:r>
          </a:p>
        </p:txBody>
      </p:sp>
      <p:sp>
        <p:nvSpPr>
          <p:cNvPr id="3" name="TextBox 2" descr="Discussion questions"/>
          <p:cNvSpPr txBox="1"/>
          <p:nvPr/>
        </p:nvSpPr>
        <p:spPr>
          <a:xfrm>
            <a:off x="731520" y="173736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800"/>
              </a:spcAft>
            </a:pPr>
            <a:r>
              <a:rPr sz="1800" b="1">
                <a:solidFill>
                  <a:srgbClr val="C9931A"/>
                </a:solidFill>
                <a:latin typeface="Calibri"/>
              </a:rPr>
              <a:t>1.  </a:t>
            </a:r>
            <a:r>
              <a:rPr sz="1800" b="0" i="0">
                <a:solidFill>
                  <a:srgbClr val="FFFFFF"/>
                </a:solidFill>
                <a:latin typeface="Calibri"/>
              </a:rPr>
              <a:t>Find a real message organized by the writer's process instead of the reader's decision. What earns sentence one?</a:t>
            </a:r>
          </a:p>
          <a:p>
            <a:pPr algn="l">
              <a:spcAft>
                <a:spcPts val="1800"/>
              </a:spcAft>
            </a:pPr>
            <a:r>
              <a:rPr sz="1800" b="1">
                <a:solidFill>
                  <a:srgbClr val="C9931A"/>
                </a:solidFill>
                <a:latin typeface="Calibri"/>
              </a:rPr>
              <a:t>2.  </a:t>
            </a:r>
            <a:r>
              <a:rPr sz="1800" b="0" i="0">
                <a:solidFill>
                  <a:srgbClr val="FFFFFF"/>
                </a:solidFill>
                <a:latin typeface="Calibri"/>
              </a:rPr>
              <a:t>Collect three passives from documents around you: tool or camouflage? Rewrite the camouflage.</a:t>
            </a:r>
          </a:p>
          <a:p>
            <a:pPr algn="l">
              <a:spcAft>
                <a:spcPts val="1800"/>
              </a:spcAft>
            </a:pPr>
            <a:r>
              <a:rPr sz="1800" b="1">
                <a:solidFill>
                  <a:srgbClr val="C9931A"/>
                </a:solidFill>
                <a:latin typeface="Calibri"/>
              </a:rPr>
              <a:t>3.  </a:t>
            </a:r>
            <a:r>
              <a:rPr sz="1800" b="0" i="0">
                <a:solidFill>
                  <a:srgbClr val="FFFFFF"/>
                </a:solidFill>
                <a:latin typeface="Calibri"/>
              </a:rPr>
              <a:t>Audition every sentence of your last substantial paragraph against its topic sentence. What moves out?</a:t>
            </a:r>
          </a:p>
          <a:p>
            <a:pPr algn="l">
              <a:spcAft>
                <a:spcPts val="1800"/>
              </a:spcAft>
            </a:pPr>
            <a:r>
              <a:rPr sz="1800" b="1">
                <a:solidFill>
                  <a:srgbClr val="C9931A"/>
                </a:solidFill>
                <a:latin typeface="Calibri"/>
              </a:rPr>
              <a:t>4.  </a:t>
            </a:r>
            <a:r>
              <a:rPr sz="1800" b="0" i="0">
                <a:solidFill>
                  <a:srgbClr val="FFFFFF"/>
                </a:solidFill>
                <a:latin typeface="Calibri"/>
              </a:rPr>
              <a:t>Where is the line between direct and merely abrupt? Give a case from your own inbox.</a:t>
            </a:r>
          </a:p>
          <a:p>
            <a:pPr algn="l">
              <a:spcAft>
                <a:spcPts val="1800"/>
              </a:spcAft>
            </a:pPr>
            <a:r>
              <a:rPr sz="1800" b="1">
                <a:solidFill>
                  <a:srgbClr val="C9931A"/>
                </a:solidFill>
                <a:latin typeface="Calibri"/>
              </a:rPr>
              <a:t>5.  </a:t>
            </a:r>
            <a:r>
              <a:rPr sz="1800" b="0" i="0">
                <a:solidFill>
                  <a:srgbClr val="FFFFFF"/>
                </a:solidFill>
                <a:latin typeface="Calibri"/>
              </a:rPr>
              <a:t>Run Word's readability statistics on something you wrote. What does the score see — and what does it miss?</a:t>
            </a:r>
          </a:p>
        </p:txBody>
      </p:sp>
      <p:sp>
        <p:nvSpPr>
          <p:cNvPr id="4" name="TextBox 3" descr="Footer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A8C4B2"/>
                </a:solidFill>
                <a:latin typeface="Calibri"/>
              </a:rPr>
              <a:t>BADM 225 · Chapter 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Your next steps"/>
          <p:cNvSpPr>
            <a:spLocks noGrp="1"/>
          </p:cNvSpPr>
          <p:nvPr>
            <p:ph type="title"/>
          </p:nvPr>
        </p:nvSpPr>
        <p:spPr>
          <a:xfrm>
            <a:off x="502920" y="411480"/>
            <a:ext cx="11155680" cy="914400"/>
          </a:xfrm>
        </p:spPr>
        <p:txBody>
          <a:bodyPr wrap="square"/>
          <a:lstStyle/>
          <a:p>
            <a:pPr algn="l"/>
            <a:r>
              <a:rPr sz="3200" b="1">
                <a:solidFill>
                  <a:srgbClr val="0E4D33"/>
                </a:solidFill>
                <a:latin typeface="Cambria"/>
              </a:rPr>
              <a:t>Your next steps</a:t>
            </a:r>
          </a:p>
        </p:txBody>
      </p:sp>
      <p:sp>
        <p:nvSpPr>
          <p:cNvPr id="3" name="TextBox 2" descr="Footer: BADM 225 · Chapter 3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Chapter 3</a:t>
            </a:r>
          </a:p>
        </p:txBody>
      </p:sp>
      <p:sp>
        <p:nvSpPr>
          <p:cNvPr id="4" name="TextBox 3" descr="Slide number 34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34</a:t>
            </a:r>
          </a:p>
        </p:txBody>
      </p:sp>
      <p:sp>
        <p:nvSpPr>
          <p:cNvPr id="5" name="TextBox 4" descr="Key points"/>
          <p:cNvSpPr txBox="1"/>
          <p:nvPr/>
        </p:nvSpPr>
        <p:spPr>
          <a:xfrm>
            <a:off x="548640" y="1554480"/>
            <a:ext cx="110642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Practice: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Course site → Chapter 3 → Practice questions (instant feedback, unlimited tries).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Graded: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Complete the Chapter 3 homework on the site; paste your completion code into the Blackboard assignment before the weekly deadline.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Read: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The Chapter 3 Study Guide — includes the sentence workshop with ten repairs and answers.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Do: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Outline your next substantial message with dump-group-sequence before drafting a word.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Coming next: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Chapter 4 — revising and proofreading: conciseness, clarity, and catching what spellcheck can't.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