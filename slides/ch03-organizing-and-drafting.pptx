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3: building the message the plan decided on. Companion study guide has the full treatment.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site's Chapter 3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input decides: how will the reader feel? Chapters 7-8 develop the indirect 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 rails for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unity test applies to outlines too: every branch serves the box above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Topic sentences come straight from the outline's family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Prose honoring old→new feels lucid without the reader knowing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the reader needs the actor, name the 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highest-frequency sentence repairs in business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can't be important, or nothing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judging phase is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outline, left visible for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Excellent analysis, invisible conclusion — the most common structural heartbreak in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Passive-as-camouflage in its natural habitat. Ties to Chapter 1's upward-communication 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Walkthrough matches the study guide's worked memo.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Automated metrics as sanity check; human structure judgment remains the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is emphasis.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rganizing and Drafting Business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Organizing and Drafting Business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Direct vs. indirect strategy · outlines that think · paragraphs that hold · sentences that carry weight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3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Choose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direct or indirect strategy based on the reader's likely reaction — and defend the choice.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Outline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any message in three steps: dump, group into named families, sequence.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paragraphs with one claim each, opened by a topic sentence, held together by echoes.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Control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emphasis with the stress position, sentence rhythm, and active voice.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Repair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nominalizations, broken parallelism, and walls of unchunked text.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organizing decisi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organizing decision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Main point first — or reasons first? The reader's reaction decides.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wo master patter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two master patterns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Rounded Rectangle 4" descr="DIRECT — receptive/neutral reader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DIRECT — receptive/neutral readers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Main point in sentence one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Details and reasons after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Goodwill close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Why: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respects scanning, survives forwarding, reads as confidence</a:t>
            </a:r>
          </a:p>
        </p:txBody>
      </p:sp>
      <p:sp>
        <p:nvSpPr>
          <p:cNvPr id="6" name="Rounded Rectangle 5" descr="INDIRECT — resistance or bad new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INDIRECT — resistance or bad news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Buffer of honest context first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Reasons BEFORE the conclusion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Main point arrives pre-justified, then pivot forward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Why: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blunt opening slams minds shut before reasons get a hearing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abuses of the strategy choi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abuses of the strategy choice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Indirect as fog.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Burying a routine request under three paragraphs of preamble isn't diplomacy — it's hiding.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Direct as bluntness.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“Your project is cancelled, details below” is a wound with a bibliography.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strategy follows the reader's stakes — not the writer's nerves, not the writer's impatience.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Most business messages, most days: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direct.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utlin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Outlines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cheapest place to discover your message doesn't hold together.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utlining in three mov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Outlining in three moves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Chevron 4" descr="Step 1: DUMP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DUMP</a:t>
            </a:r>
          </a:p>
        </p:txBody>
      </p:sp>
      <p:sp>
        <p:nvSpPr>
          <p:cNvPr id="6" name="TextBox 5" descr="DUMP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Scratch-list every point you might make. No order, no judging.</a:t>
            </a:r>
          </a:p>
        </p:txBody>
      </p:sp>
      <p:sp>
        <p:nvSpPr>
          <p:cNvPr id="7" name="Chevron 6" descr="Step 2: GROUP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GROUP</a:t>
            </a:r>
          </a:p>
        </p:txBody>
      </p:sp>
      <p:sp>
        <p:nvSpPr>
          <p:cNvPr id="8" name="TextBox 7" descr="GROUP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Three-ish families, each with a NAME — the names become your headings.</a:t>
            </a:r>
          </a:p>
        </p:txBody>
      </p:sp>
      <p:sp>
        <p:nvSpPr>
          <p:cNvPr id="9" name="Chevron 8" descr="Step 3: SEQUENCE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SEQUENCE</a:t>
            </a:r>
          </a:p>
        </p:txBody>
      </p:sp>
      <p:sp>
        <p:nvSpPr>
          <p:cNvPr id="10" name="TextBox 9" descr="SEQUENCE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Direct or indirect, per the strategy call. Cut what serves no family.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Working memory holds about 7±2 chunks (Miller, 1956) — and tired readers on phones hold fewer. Three main points is a classic for a reason.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aragraph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Paragraphs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claim, stated first, held together.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aragraph anatom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Paragraph anatomy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Oval 4" descr="Topic sentenc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6" name="TextBox 5" descr="Topic sentenc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Topic sentence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paragraph's one claim, stated first. Everything after works for it.</a:t>
            </a:r>
          </a:p>
        </p:txBody>
      </p:sp>
      <p:sp>
        <p:nvSpPr>
          <p:cNvPr id="7" name="Oval 6" descr="Unity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▤</a:t>
            </a:r>
          </a:p>
        </p:txBody>
      </p:sp>
      <p:sp>
        <p:nvSpPr>
          <p:cNvPr id="8" name="TextBox 7" descr="Unity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Unity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claim per paragraph — the wandering sentence supports some other claim and should live there.</a:t>
            </a:r>
          </a:p>
        </p:txBody>
      </p:sp>
      <p:sp>
        <p:nvSpPr>
          <p:cNvPr id="9" name="Oval 8" descr="Coherence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⛓</a:t>
            </a:r>
          </a:p>
        </p:txBody>
      </p:sp>
      <p:sp>
        <p:nvSpPr>
          <p:cNvPr id="10" name="TextBox 9" descr="Coherence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Coherence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Transitions (however, therefore) plus echoed key words tie sentences together.</a:t>
            </a:r>
          </a:p>
        </p:txBody>
      </p:sp>
      <p:sp>
        <p:nvSpPr>
          <p:cNvPr id="11" name="Oval 10" descr="Brevity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¶</a:t>
            </a:r>
          </a:p>
        </p:txBody>
      </p:sp>
      <p:sp>
        <p:nvSpPr>
          <p:cNvPr id="12" name="TextBox 11" descr="Brevity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Brevity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 screens, 4–6 lines is a paragraph; 8 is a wall. White space is the reader's handhold.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ld before new: the flow readers expec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Old before new: the flow readers expect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Topic position (sentence opening):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familiar information — the thing we're already discussing.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Stress position (sentence end):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news, the emphasis — what the reader carries away (Gopen &amp; Swan, 1990).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the dial: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“The committee rejected the proposal” stresses the proposal; “…rejected by the FULL committee” stresses who.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Echo transitions: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repeat the last stress in the next topic — “…raises the question of cost. That cost has three parts.”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entenc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Sentences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Voice, rhythm, parallelism, chunks.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ctive by default, passive on purpo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Active by default, passive on purpose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ACTIVE — the default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ACTIVE — the default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“Maria approved the budget.”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Actor visible, shorter, faster to decode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Honest about who did what</a:t>
            </a:r>
          </a:p>
        </p:txBody>
      </p:sp>
      <p:sp>
        <p:nvSpPr>
          <p:cNvPr id="6" name="Rounded Rectangle 5" descr="PASSIVE — the tool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PASSIVE — the tool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Actor unknown: “damaged in transit”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Actor obvious/irrelevant: “stored at −80 °C”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Diplomatic focus on the act, not the person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NEVER: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“Mistakes were made” — accountability camouflage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hythm, parallelism, and chunk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Rhythm, parallelism, and chunks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Vary sentence length.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Fifteen 20-word sentences read like a metronome. After long ones, a short sentence lands like a verdict. It works.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Parallelism: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job, same form. “Safety procedures, report filing, client communication” — one clean series.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Chunk for working memory: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fourteen items in a paragraph is a memory test; three labeled lists of 4–5 is a document (Miller, 1956).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Unfreeze nominalizations: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“make a decision about the implementation of” = “decide to implement” wearing three coats.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mphasis toolbox (in order of power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emphasis toolbox (in order of power)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Oval 4" descr="Position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 descr="Position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Position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First sentence of the message; end of the sentence; first line after a heading.</a:t>
            </a:r>
          </a:p>
        </p:txBody>
      </p:sp>
      <p:sp>
        <p:nvSpPr>
          <p:cNvPr id="7" name="Oval 6" descr="Isolation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 descr="Isolation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Isolation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one-sentence paragraph. Once = spotlight; often = confetti.</a:t>
            </a:r>
          </a:p>
        </p:txBody>
      </p:sp>
      <p:sp>
        <p:nvSpPr>
          <p:cNvPr id="9" name="Oval 8" descr="The short sentence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 descr="The short sentence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short sentence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After long ones — the verdict effect.</a:t>
            </a:r>
          </a:p>
        </p:txBody>
      </p:sp>
      <p:sp>
        <p:nvSpPr>
          <p:cNvPr id="11" name="Oval 10" descr="Labeled structur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 descr="Labeled structur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Labeled structure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Headings and bolded lead-ins (“Deadline:”) that scanning can't miss.</a:t>
            </a:r>
          </a:p>
        </p:txBody>
      </p:sp>
      <p:sp>
        <p:nvSpPr>
          <p:cNvPr id="13" name="Oval 12" descr="What doesn't work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4" name="TextBox 13" descr="What doesn't work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What doesn't work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Exclamation points, “very/really,” bold paragraphs, ALL CAPS — inflation that devalues the currency.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raft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Drafting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Permission to write badly — briefly, and on purpose.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6" name="TextBox 5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rafting habits that actually help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Drafting habits that actually help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 easy section first.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Momentum transfers; openings are easier once the middle exists.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Topic sentences come from the outline.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family names you wrote ARE the paragraph openers.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wording fights back: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type the clumsy version, mark [FIX], keep moving. Revision is a separate appointment.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Park mid-thought.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stop at a section's end — tomorrow's re-entry will thank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Draft without editing; edit without drafting.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jobs, two sittings. Doing both at once stalls both.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eadings: the skeleton that skim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Headings: the skeleton that skims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Informative beats categorical.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“Cost: TechServe saves $22K/year” outworks “Cost Analysis.”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headings-only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read just your headings. Do they tell the story? A skimmer will read exactly that.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levels serve almost everything.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Four levels is a filing system, not a message.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Headings discipline the writer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section you can't summarize honestly in its heading is two sections — or none.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buried recommend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buried recommendation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weeks of analysis,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organized as the chronology of the work: history → criteria → four alternatives → and in the last paragraph, the recommendation.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VP read paragraph one,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filed it 'for later,' and asked a colleague whether the evaluation ever reached a conclusion.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repair: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“I recommend renewing with TechServe on renegotiated terms — saving $22,000/year. Comparison below.”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organize by the reader's decision, never by the archaeology of your effort. Show the work in a skippable, labeled body.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incident report that named no o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incident report that named no one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“The containment was found to have been compromised.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transfer was performed without the checklist having been completed. Corrective measures have been identified.”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Grammatical. Useless.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Who transferred? Who found it? Who owns the fix, by when?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Active rewrite: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“The on-duty technician skipped the pre-transfer checklist… The lab manager will retrain all transfer-qualified staff by March 14.”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stakes: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organizations learn from incidents only when reports carry actors, causes, and owners. Grammar is a safety system.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rom outline to draft: the 20-minute pipe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From outline to draft: the 20-minute pipeline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Chevron 4" descr="Step 1: Plan (2 min)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Plan (2 min)</a:t>
            </a:r>
          </a:p>
        </p:txBody>
      </p:sp>
      <p:sp>
        <p:nvSpPr>
          <p:cNvPr id="6" name="TextBox 5" descr="Plan (2 min)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Purpose template + reader profile — Chapter 2's work</a:t>
            </a:r>
          </a:p>
        </p:txBody>
      </p:sp>
      <p:sp>
        <p:nvSpPr>
          <p:cNvPr id="7" name="Chevron 6" descr="Step 2: Dump (4 min)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Dump (4 min)</a:t>
            </a:r>
          </a:p>
        </p:txBody>
      </p:sp>
      <p:sp>
        <p:nvSpPr>
          <p:cNvPr id="8" name="TextBox 7" descr="Dump (4 min)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Fifteen scratch points, no judging</a:t>
            </a:r>
          </a:p>
        </p:txBody>
      </p:sp>
      <p:sp>
        <p:nvSpPr>
          <p:cNvPr id="9" name="Chevron 8" descr="Step 3: Group (3 min)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Group (3 min)</a:t>
            </a:r>
          </a:p>
        </p:txBody>
      </p:sp>
      <p:sp>
        <p:nvSpPr>
          <p:cNvPr id="10" name="TextBox 9" descr="Group (3 min)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Three named families; orphans die</a:t>
            </a:r>
          </a:p>
        </p:txBody>
      </p:sp>
      <p:sp>
        <p:nvSpPr>
          <p:cNvPr id="11" name="Chevron 10" descr="Step 4: Sequence (1 min)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Sequence (1 min)</a:t>
            </a:r>
          </a:p>
        </p:txBody>
      </p:sp>
      <p:sp>
        <p:nvSpPr>
          <p:cNvPr id="12" name="TextBox 11" descr="Sequence (1 min)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Direct for the neutral reader</a:t>
            </a:r>
          </a:p>
        </p:txBody>
      </p:sp>
      <p:sp>
        <p:nvSpPr>
          <p:cNvPr id="13" name="Chevron 12" descr="Step 5: Sprint (10 min)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Sprint (10 min)</a:t>
            </a:r>
          </a:p>
        </p:txBody>
      </p:sp>
      <p:sp>
        <p:nvSpPr>
          <p:cNvPr id="14" name="TextBox 13" descr="Sprint (10 min)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Topic sentences from family names; [FIX] marks; done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hard intellectual work — deciding, grouping, sequencing — finishes before the prose pressure starts.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asuring readability (and its limit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Measuring readability (and its limits)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Word will score your prose: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File → Options → Proofing → “Show readability statistics.”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Flesch Reading Ease ~50–70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grade level ~9–12 fit most business prose (Flesch, 1949).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formulas see only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sentence length and syllables — they can't detect a buried lead or a broken parallel.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them as a smoke detector, not a judge.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Grade 16 on a customer email is an alarm; grade 9 certifies nothing.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decision first: direct for receptive readers, indirect for resistance and bad news.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Outline in three moves — dump, group into named families, sequence — and cut the orphans.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Paragraphs: one claim, topic sentence first, echoes carrying old-to-new flow.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stress position at the sentence's end is your emphasis dial (Gopen &amp; Swan, 1990).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Active by default; passive on purpose; never as camouflage. Keep series parallel; chunk for 7±2.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Draft fast, judge later — generating and judging are different jobs.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3 → Practice, then the graded homework before the weekly deadline.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“Readers do not remember what you wrote. They remember what they read — and they read the first sentence, the headings, and the ends of things.”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a real message organized by the writer's process instead of the reader's decision. What earns sentence one?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Collect three passives from documents around you: tool or camouflage? Rewrite the camouflage.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Audition every sentence of your last substantial paragraph against its topic sentence. What moves out?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 is the line between direct and merely abrupt? Give a case from your own inbox.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Run Word's readability statistics on something you wrote. What does the score see — and what does it miss?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3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3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3 Study Guide — includes the sentence workshop with ten repairs and answers.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Outline your next substantial message with dump-group-sequence before drafting a word.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4 — revising and proofreading: conciseness, clarity, and catching what spellcheck can't.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