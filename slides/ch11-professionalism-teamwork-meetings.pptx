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11: the behavioral layer — how the writing skills of Units 1–4 get a reputation attached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11 practice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professionalism defined behaviorally, not sartorially.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from Chapter 1, now as the operating system for teamwork. Each is checkable behavior, not personality.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Etiquette reframed as engineering: every courtesy exists to keep a shared channel usable. This framing lands better with skeptical students than 'manners matter.'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 metaphor organizes the chapter: professionalism is deposit behavior, and the payoff is denominated in communication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team communication — ground rules, conflict, and the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rules feel bureaucratic until the first real disagreement, when they're the difference between conflict about the idea and conflict about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that never conflict aren't harmonious — they're silent, and silence costs whatever the unspoken objection knew. The skill is keeping conflict in the left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Disagree-and-commit is the mechanism that lets teams argue hard without fracturing: full voice before, full support after, formal reopening on new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failure mode survives on ambiguity; each fix is a form of writing things down or making things public. That's the chapter's quiet thesis: documentation is team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Individual reliability, expressed as its effect on teammates. The 'ask early' point pushes against the student instinct that asking for help is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meetings, extending Chapter 5's calendar-communication rules into running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frame from Chapter 5's case, now as the organizing principle. Decisions, conflict, connection — if the meeting does none of these, it's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five-part anatomy; the middle part (facilitation) is the new material and gets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as five teachable behaviors. The read-back habit is the highest-value: it converts soft agreement into an actual decision while everyone's still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students will attend fifty meetings for every one they run — attendee craft matters more than facilitation for their first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one-remote-all-remote rule is the industry consensus fix for hybrid's two-tier problem. The remote-advocate role is assignable and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case argues for ground rules empirically. 'The doc lists every contributor' is a one-line credit norm that prevents the most common team wound.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all-hands survives — the point isn't 'meetings bad,' it's the three-job test applied honestly. Connection meetings are legitimate and should be run AS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in-person professionalism. Digital natives often have the least practice exactly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Phone anxiety is real and generational; framing the skills as checklists lowers the barrier. The fifteen-second voicemail spec is immediately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Introductions are the most rehearsable social skill in the chapter — students can literally practice the two-way pattern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vent warning ties to the screenshot case from Chapter 5 — same principle, analog channel. The one-drink ceiling framing gets remembered.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in tone, real in consequence — shared-space behavior is the most visible professionalism there is, because everyone sees it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 the section with the situation every student faces next: arriving new. The 'watch before optimizing' rule prevents the classic new-hire wound.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 Question four requires honesty and gets the best discussions.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fessionalism, Teamwork, and Meeting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Professionalism, Teamwork, and Meetings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Etiquette that compounds · teams that argue well · meetings people don't dread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11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professionalism fundamentals: reliability, responsiveness, composure, discretion — on purpose, daily.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Contribute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to teams that disagree productively: ground rules, roles, and conflict about ideas instead of people.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Run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meetings with outcomes, owners, and time boxes — and be the most valuable attendee in the ones you don't run.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Handle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hard moments: credit disputes, freeloaders, hidden agendas, and the colleague who talks over everyone.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trust account that makes every future message cheaper to send.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fessionalism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Professionalism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Predictability plus respect — demonstrated in small repeated behaviors.</a:t>
            </a:r>
          </a:p>
        </p:txBody>
      </p:sp>
      <p:sp>
        <p:nvSpPr>
          <p:cNvPr id="5" name="TextBox 4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ve daily fundamental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five daily fundamentals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Oval 4" descr="Reliability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6" name="TextBox 5" descr="Reliability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Reliability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Deadlines met, promises kept, meetings attended — trust is built on boring consistency (Chapter 1).</a:t>
            </a:r>
          </a:p>
        </p:txBody>
      </p:sp>
      <p:sp>
        <p:nvSpPr>
          <p:cNvPr id="7" name="Oval 6" descr="Responsiveness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↩</a:t>
            </a:r>
          </a:p>
        </p:txBody>
      </p:sp>
      <p:sp>
        <p:nvSpPr>
          <p:cNvPr id="8" name="TextBox 7" descr="Responsiveness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Responsiveness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Acknowledge within a business day, even when the full answer comes later — silence reads as avoidance.</a:t>
            </a:r>
          </a:p>
        </p:txBody>
      </p:sp>
      <p:sp>
        <p:nvSpPr>
          <p:cNvPr id="9" name="Oval 8" descr="Polish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10" name="TextBox 9" descr="Polish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Polish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Proofread everything; the typo tax is charged against your competence, not your typing.</a:t>
            </a:r>
          </a:p>
        </p:txBody>
      </p:sp>
      <p:sp>
        <p:nvSpPr>
          <p:cNvPr id="11" name="Oval 10" descr="Composure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🧊</a:t>
            </a:r>
          </a:p>
        </p:txBody>
      </p:sp>
      <p:sp>
        <p:nvSpPr>
          <p:cNvPr id="12" name="TextBox 11" descr="Composure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Composure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Never send angry; never match the temperature of a hostile thread (Chapter 7's de-escalation).</a:t>
            </a:r>
          </a:p>
        </p:txBody>
      </p:sp>
      <p:sp>
        <p:nvSpPr>
          <p:cNvPr id="13" name="Oval 12" descr="Discretion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🤐</a:t>
            </a:r>
          </a:p>
        </p:txBody>
      </p:sp>
      <p:sp>
        <p:nvSpPr>
          <p:cNvPr id="14" name="TextBox 13" descr="Discretion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Discretion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What colleagues tell you in confidence stays there. Gossip is a loan against your own trustworthiness.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tiquette is bandwidth manage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Etiquette is bandwidth management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Courtesy is not decoration — it's protocol.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'Please,' names spelled right, and warm openings keep the channel clear for the actual content.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Interruptions are expensive twice: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they cost the speaker's thought and the room's attention — the note-and-wait habit beats the blurt.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Punctuality is respect made visible.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Arriving late to a ten-person meeting spends ten people's minutes without asking.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Devices signal priorities.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open laptop says 'this meeting is my second screen' — and everyone reads it fluently.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rust accou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trust account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interaction deposits or withdraws.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Kept promises, early warnings, and passed credit deposit; surprises, spin, and hoarded credit withdraw.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Deposits are small; withdrawals are large.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'they knew and didn't tell us' can spend a year of reliability.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Trust makes communication cheap.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High-trust colleagues can send two-line messages that low-trust colleagues would need two pages to defend.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can't withdraw from an empty account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which is why professionalism has to run BEFORE the crisis that needs it (Chapter 7's slipping-launch case).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eamwork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Teamwork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Teams that argue well beat teams that agree fast.</a:t>
            </a:r>
          </a:p>
        </p:txBody>
      </p:sp>
      <p:sp>
        <p:nvSpPr>
          <p:cNvPr id="5" name="TextBox 4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6" name="TextBox 5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round rules: agree on process before stakes ris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Ground rules: agree on process before stakes rise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Decide how you'll decide.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Consensus, majority, or owner-decides-after-input — pick BEFORE the contested decision arrives.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Set the document rules: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living copy, drafts circulated 24 hours before meetings, comments resolved by owners (Chapter 5).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Name the communication norms: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which channel for what, response-time expectations, and when to escalate from chat to a call.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them down.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Unwritten norms are just the founders' habits — invisible to the person who joins in week six.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ductive conflict vs. personal conflic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Productive conflict vs. personal conflict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 descr="About the IDEA (grow this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About the IDEA (grow this)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'The timeline assumes zero vendor delay — that's the weak joint'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Specific, checkable, aimed at the work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Ends with a better decision and intact colleagues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Norm: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hard on the problem, soft on the person</a:t>
            </a:r>
          </a:p>
        </p:txBody>
      </p:sp>
      <p:sp>
        <p:nvSpPr>
          <p:cNvPr id="6" name="Rounded Rectangle 5" descr="About the PERSON (stop this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About the PERSON (stop this)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'You always lowball timelines'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General, unfalsifiable, aimed at character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Ends with a winner, a loser, and a quieter team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Repair: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restate as behavior + impact (Chapter 7's SBI)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agree, then commit — out lou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Disagree, then commit — out loud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Argue fully before the decision: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meeting's job is to stress-test the options while changing course is still cheap.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Once decided, the decision is everyone's.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voted against this but here's my full effort' is the most professional sentence in teamwork.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Relitigating in the hallway is the defection: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 keeps the argument alive after the fair fight ended — and everyone learns the meeting wasn't the real venue.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If new facts arrive, reopen formally: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vendor slipped — does that change our call?' goes to the group, not the grapevine.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our team failure modes (and their fixes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four team failure modes (and their fixes)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Oval 4" descr="The freeloader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🛋</a:t>
            </a:r>
          </a:p>
        </p:txBody>
      </p:sp>
      <p:sp>
        <p:nvSpPr>
          <p:cNvPr id="6" name="TextBox 5" descr="The freeloader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freeloader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Uneven effort, visible to all. Fix: tasks with names and dates in writing — vagueness is the freeloader's habitat.</a:t>
            </a:r>
          </a:p>
        </p:txBody>
      </p:sp>
      <p:sp>
        <p:nvSpPr>
          <p:cNvPr id="7" name="Oval 6" descr="The credit taker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8" name="TextBox 7" descr="The credit taker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credit taker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'My analysis' for the team's work. Fix: pass credit publicly and immediately; the pattern exposes itself (Chapter 6).</a:t>
            </a:r>
          </a:p>
        </p:txBody>
      </p:sp>
      <p:sp>
        <p:nvSpPr>
          <p:cNvPr id="9" name="Oval 8" descr="The hidden agenda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🕶</a:t>
            </a:r>
          </a:p>
        </p:txBody>
      </p:sp>
      <p:sp>
        <p:nvSpPr>
          <p:cNvPr id="10" name="TextBox 9" descr="The hidden agenda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hidden agenda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Decisions maneuvered outside the agenda. Fix: name the topic and put it ON the agenda — sunlight is the protocol.</a:t>
            </a:r>
          </a:p>
        </p:txBody>
      </p:sp>
      <p:sp>
        <p:nvSpPr>
          <p:cNvPr id="11" name="Oval 10" descr="The dominator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12" name="TextBox 11" descr="The dominator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dominator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Talks over everyone; the quiet expertise never surfaces. Fix: structured turns — 'let's hear from everyone on this one' — run by whoever holds the floor.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elivering your part: the teammate contrac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Delivering your part: the teammate contract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Your deadline is someone's input.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slip you announce Tuesday is a plan; a slip discovered Friday is a betrayal (Chapter 7's early-and-upward).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Report status without being asked.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three-line update (on track / slipping / need) is a gift to whoever depends on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early, not heroically.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Struggling silently for a week to 'not bother anyone' bothers everyone, later and worse.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Review others' work like you want yours reviewed: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triaged, specific, kind — Chapter 4's rules are team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eeting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Meetings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most expensive communication channel — spend it like money.</a:t>
            </a:r>
          </a:p>
        </p:txBody>
      </p:sp>
      <p:sp>
        <p:nvSpPr>
          <p:cNvPr id="5" name="TextBox 4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6" name="TextBox 5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meeting math nobody ru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meeting math nobody runs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8×1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Eight people for one hour is a working day of organizational time — priced accordingly, most status meetings would never be scheduled.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test from Chapter 5: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one-way information flow with no decision = a message wearing a meeting costume.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Meetings earn their cost on exactly three jobs: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decisions, conflict, and connection — things that need live humans.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Everything else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is a written update that arrived with a room attached.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atomy of a meeting that work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Anatomy of a meeting that works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Chevron 4" descr="Step 1: PURPOSE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6" name="TextBox 5" descr="PURPOSE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outcome, named in the invite: 'decide Q3 vendor'</a:t>
            </a:r>
          </a:p>
        </p:txBody>
      </p:sp>
      <p:sp>
        <p:nvSpPr>
          <p:cNvPr id="7" name="Chevron 6" descr="Step 2: AGENDA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 descr="AGENDA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Items as outcomes, each with owner + time box</a:t>
            </a:r>
          </a:p>
        </p:txBody>
      </p:sp>
      <p:sp>
        <p:nvSpPr>
          <p:cNvPr id="9" name="Chevron 8" descr="Step 3: THE ROOM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ROOM</a:t>
            </a:r>
          </a:p>
        </p:txBody>
      </p:sp>
      <p:sp>
        <p:nvSpPr>
          <p:cNvPr id="10" name="TextBox 9" descr="THE ROOM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Only the needed; notes to the curious</a:t>
            </a:r>
          </a:p>
        </p:txBody>
      </p:sp>
      <p:sp>
        <p:nvSpPr>
          <p:cNvPr id="11" name="Chevron 10" descr="Step 4: THE RECORD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RECORD</a:t>
            </a:r>
          </a:p>
        </p:txBody>
      </p:sp>
      <p:sp>
        <p:nvSpPr>
          <p:cNvPr id="12" name="TextBox 11" descr="THE RECORD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Decisions + owners + dates, sent within the hour</a:t>
            </a:r>
          </a:p>
        </p:txBody>
      </p:sp>
      <p:sp>
        <p:nvSpPr>
          <p:cNvPr id="13" name="Chevron 12" descr="Step 5: FOLLOW-THROUGH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FOLLOW-THROUGH</a:t>
            </a:r>
          </a:p>
        </p:txBody>
      </p:sp>
      <p:sp>
        <p:nvSpPr>
          <p:cNvPr id="14" name="TextBox 13" descr="FOLLOW-THROUGH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Actions tracked to done — or the meeting was theater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Chapter 5 built the invite, agenda, and record. This chapter adds the live skill: running the room in between.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unning the roo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Running the room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Start on time, with the purpose.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'We're here to pick the vendor — by 2:25' resets everyone's clock and dignity.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Hold the agenda visibly.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'Good point — parking-lotting it so we finish item two' protects the meeting from its most interesting tangent.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Draw out the quiet expertise: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'Dana, you ran the pilot — what did we miss?' The best data in the room often needs an invitation.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 back every decision before moving 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'recording: we renew, Maya drafts by the 12th' — contested wording surfaces NOW, not in the minutes war later.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End early when you're done.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Nothing builds meeting credibility like giving back eleven minutes.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eing the best attendee in someone else's meet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Being the best attendee in someone else's meeting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Arrive prepared: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pre-reads read, your data ready, your position thought through — preparation is visible within ninety seconds.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Speak to move the item forward: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add the missing fact, name the decision, or concede — repetition and speeches move nothing.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Disagree in the room, not after it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(the disagree-and-commit rule, live).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Volunteer for actions you'll actually do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then do them. The follow-through list is where meeting reputations are made.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mote and hybrid meetings: the added rul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Remote and hybrid meetings: the added rules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Rounded Rectangle 4" descr="Remote basic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Remote basics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Camera on for discussion; async for broadcast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Mute discipline; one conversation at a time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Chat is the parallel channel — someone must watch 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Being visibly present is the new eye contact (Chapter 1)</a:t>
            </a:r>
          </a:p>
        </p:txBody>
      </p:sp>
      <p:sp>
        <p:nvSpPr>
          <p:cNvPr id="6" name="Rounded Rectangle 5" descr="Hybrid hazard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Hybrid hazards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room forgets the screen — assign a remote advocate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Decisions made after the call 'ended' disenfranchise the remote half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Whiteboards need a camera or a shared doc equivalent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Rule: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if one person is remote, run it as a remote meeting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team that wrote its rules after the blowup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team that wrote its rules after the blowup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project had no ground rules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just five competent people, two of whom stopped speaking after a credit dispute in month two.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repair meeting made one deliverable: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one-page team agreement — decision method, document rules, credit norms ('the doc lists every contributor'), and a conflict protocol.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skeptics called it kindergarten.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Then the next dispute — same people, same stakes — resolved in one meeting, by the protocol, without a casualty.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rules written during peace are cheap; rules invented during war are impossible. Write them while nobody needs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meeting aud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meeting audit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new director inherited eleven standing meetings.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She ran the three-job test on each: decision, conflict, or connection?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Four became written updates.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merged. One shrank from 60 minutes to 25. The weekly all-hands kept its hour — connection is a real job.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Freed: roughly 40 person-hours a week.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Complaints: zero. The information all still flowed — in Chapter 5's channels, at reading speed.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nobody defends a dead meeting once someone prices it. Be the person who runs the audit, politely.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fessional, in perso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professional, in person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Phones, meals, introductions, shared space — the analog skills that still decide impressions.</a:t>
            </a:r>
          </a:p>
        </p:txBody>
      </p:sp>
      <p:sp>
        <p:nvSpPr>
          <p:cNvPr id="5" name="TextBox 4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6" name="TextBox 5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hone call: still a professional instru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phone call: still a professional instrument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Answer with your name: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'Quality lab, this is Derek' — the caller instantly knows they've landed, and with whom.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Calls beat threads at richness (Chapter 1):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hot replies or three rounds of confusion means pick up the phone — and then confirm in writing.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Voicemail in fifteen seconds: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name, number SLOWLY, one-line reason, best callback window. Repeat the number at the end.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Schedule calls like meetings: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'Can I call at 2:00 for ten minutes about the audit?' respects the other calendar — cold calls interrupt by design.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troductions: the ninety-second ski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Introductions: the ninety-second skill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Say names clearly, in both directions: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'Dana, this is Marcus from facilities — Marcus, Dana runs the audit team.' Context attached to each name.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Honor the order convention lightly: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introduce others TO the senior or client party first — but a warm, clear introduction beats a perfectly ordered mumble.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Forgot the name? Say so once, fast: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'I'm blanking on your name and I'm embarrassed about it' costs two seconds; a whole conversation of avoidance costs the relationship.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Introduce yourself when nobody does: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hand, name, role, one hook — 'I'm the one who sends the Friday status emails' — and you've rescued the whole circle.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business meal and the work social ev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business meal and the work social event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meal IS the meeting: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order mid-menu, mirror the host's pace, and let the other party's food arrive before your agenda does.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Alcohol: the ceiling is one, the floor is zero,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nobody was ever penalized for the floor.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social event is still work: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colleague you vent to at the party is the coworker who heard you vent — Chapter 5's permanence, without the screenshots.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Work the room like a professional: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arrive, greet the host, meet two new people properly (see: introductions), and leave on time — presence recorded, dignity intact.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hared space etiquette: open plans and common room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Shared space etiquette: open plans and common rooms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Sound travels; grievances travel further.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open-plan phone voice and the hallway complaint both have audiences you didn't invite.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Headphones are a door.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Respect them as one — and take yours off enough to remain reachable (availability signaling, Chapter 5).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Book the room you need, release the room you don't,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end on time — the next meeting's start is your hard stop.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kitchen and the printer are reputation venues: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person who leaves the jam, the mess, or the empty pot is more famous than they think.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rst ninety days: reputation onboard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first ninety days: reputation onboarding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Default to over-professionalism early: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punctual, prepared, camera on, names learned — you can relax a formality later; you can't easily un-relax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Learn the norms before bending them: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team has channel habits, meeting culture, and unwritten rules — watch for two weeks before optimizing anything.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Deliver something small, fast, and clean: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first finished task — polished and on time — sets the prior every later judgment updates from.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Find the person who knows how things work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buy the coffee. Every org has a Dana; the map she carries isn't written anywhere.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Professionalism is five daily behaviors: reliable, responsive, polished, composed, discreet.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Trust is an account: deposit small and constantly; withdrawals are always larger.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Write ground rules during peace: how you'll decide, document, communicate, and fight.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Keep conflict about ideas — specific and checkable — then disagree and commit, out loud.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Meetings earn their cost on decisions, conflict, and connection; everything else is mail.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Read decisions back in the room; send the two-line record within the hour; track actions to done.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11 → Practice, then the graded homework before the weekly deadline.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“Your teammates will forget most of what you wrote. They will remember, with perfect accuracy, whether you did what you said you would.”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6" name="TextBox 5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of the five fundamentals is your weakest — and what's the smallest visible behavior that would move it this week?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Describe a team conflict you've seen: was it about the idea or the person? What would have kept it in the left column?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Run the three-job test on a standing meeting you attend. What's your redesign — and how would you pitch it (Chapter 8)?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team failure mode have you actually been? What ambiguity made it possible?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Draft the five-line team agreement you'd want for your next group project.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11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11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11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Write the team agreement for your current group work — decision method, document rules, credit norm, conflict protocol.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Audit: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Price one recurring meeting you attend (people × hours). Which of the three jobs does it do?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12 — business presentations: the room, the slides, and the nerves.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