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Unit 3 opens: the foundation chapters meet the inbox.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Objectives map to the Chapter 5 bank and the email-signature assignment.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economics of the inbox.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part executes a foundation chapter.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front-loaded words decide everything.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Pollution control for a shared ecosystem.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Chat coordinates; email records.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Predictability beats raw speed: the reputation is 'always closes the loop.'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Internal is not private.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Composure is most visible when everyone else loses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Typed frustration is a screenshot on layaway. Safe venting: voice, off platform, outside the org chart.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receiver's side of the chapter.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Chapter 1's standing portfolio, operationalized.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Complete, frontloaded, correctly addressed.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frame.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Async-ready.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Delivery-neutral closing.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Short Workplace Messages and Digital Media"/>
          <p:cNvSpPr>
            <a:spLocks noGrp="1"/>
          </p:cNvSpPr>
          <p:nvPr>
            <p:ph type="title"/>
          </p:nvPr>
        </p:nvSpPr>
        <p:spPr>
          <a:xfrm>
            <a:off x="822960" y="1920240"/>
            <a:ext cx="10515600" cy="1737360"/>
          </a:xfrm>
        </p:spPr>
        <p:txBody>
          <a:bodyPr wrap="square"/>
          <a:lstStyle/>
          <a:p>
            <a:pPr algn="l"/>
            <a:r>
              <a:rPr sz="4800" b="1">
                <a:solidFill>
                  <a:srgbClr val="FFFFFF"/>
                </a:solidFill>
                <a:latin typeface="Cambria"/>
              </a:rPr>
              <a:t>Short Workplace Messages and Digital Media</a:t>
            </a:r>
          </a:p>
        </p:txBody>
      </p:sp>
      <p:sp>
        <p:nvSpPr>
          <p:cNvPr id="3" name="TextBox 2" descr="Course label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BFD8C6"/>
                </a:solidFill>
                <a:latin typeface="Calibri"/>
              </a:rPr>
              <a:t>BADM 225 · PROFESSIONAL COMMUNICATION FOR BUSINESS</a:t>
            </a:r>
          </a:p>
        </p:txBody>
      </p:sp>
      <p:sp>
        <p:nvSpPr>
          <p:cNvPr id="4" name="TextBox 3" descr="Subtitle"/>
          <p:cNvSpPr txBox="1"/>
          <p:nvPr/>
        </p:nvSpPr>
        <p:spPr>
          <a:xfrm>
            <a:off x="82296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EAF1EB"/>
                </a:solidFill>
                <a:latin typeface="Calibri"/>
              </a:rPr>
              <a:t>Email that works · chat that coordinates · the digital professionalism that follows your name</a:t>
            </a:r>
          </a:p>
        </p:txBody>
      </p:sp>
      <p:sp>
        <p:nvSpPr>
          <p:cNvPr id="5" name="TextBox 4" descr="Attribution"/>
          <p:cNvSpPr txBox="1"/>
          <p:nvPr/>
        </p:nvSpPr>
        <p:spPr>
          <a:xfrm>
            <a:off x="822960" y="5852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A8C4B2"/>
                </a:solidFill>
                <a:latin typeface="Calibri"/>
              </a:rPr>
              <a:t>BADM 225 · Chapter 5  ·  Original instructional material — no publisher content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What you'll be able to do after this chapter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What you'll be able to do after this chapter</a:t>
            </a:r>
          </a:p>
        </p:txBody>
      </p:sp>
      <p:sp>
        <p:nvSpPr>
          <p:cNvPr id="3" name="TextBox 2" descr="Footer: BADM 225 · Chapter 5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5</a:t>
            </a:r>
          </a:p>
        </p:txBody>
      </p:sp>
      <p:sp>
        <p:nvSpPr>
          <p:cNvPr id="4" name="TextBox 3" descr="Slide number 2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Build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emails with six working parts — subject as the job, point in sentence one, dated ask at the end.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Choose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among email, chat, and text by record, speed, and stakes — and know each channel's ceiling.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Practice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thread hygiene: reply-all discipline, To/CC clarity, new-topic-new-thread.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Write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as if legal reads it — because on workplace systems, it can.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Curate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digital layer that interviews before you 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Everyone you write to is drowning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Everyone you write to is drowning</a:t>
            </a:r>
          </a:p>
        </p:txBody>
      </p:sp>
      <p:sp>
        <p:nvSpPr>
          <p:cNvPr id="3" name="TextBox 2" descr="Footer: BADM 225 · Chapter 5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5</a:t>
            </a:r>
          </a:p>
        </p:txBody>
      </p:sp>
      <p:sp>
        <p:nvSpPr>
          <p:cNvPr id="4" name="TextBox 3" descr="Slide number 3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3</a:t>
            </a:r>
          </a:p>
        </p:txBody>
      </p:sp>
      <p:sp>
        <p:nvSpPr>
          <p:cNvPr id="5" name="Rounded Rectangle 4" descr="Highlighted statistic"/>
          <p:cNvSpPr/>
          <p:nvPr/>
        </p:nvSpPr>
        <p:spPr>
          <a:xfrm>
            <a:off x="548640" y="1645920"/>
            <a:ext cx="4206240" cy="4206240"/>
          </a:xfrm>
          <a:prstGeom prst="roundRect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>
              <a:spcAft>
                <a:spcPts val="400"/>
              </a:spcAft>
            </a:pPr>
            <a:r>
              <a:rPr sz="6400" b="1">
                <a:solidFill>
                  <a:srgbClr val="FFFFFF"/>
                </a:solidFill>
                <a:latin typeface="Cambria"/>
              </a:rPr>
              <a:t>28%</a:t>
            </a:r>
          </a:p>
          <a:p>
            <a:pPr algn="ctr">
              <a:spcAft>
                <a:spcPts val="800"/>
              </a:spcAft>
            </a:pPr>
            <a:r>
              <a:rPr sz="1500" b="0" i="0">
                <a:solidFill>
                  <a:srgbClr val="EAF1EB"/>
                </a:solidFill>
                <a:latin typeface="Calibri"/>
              </a:rPr>
              <a:t>of the interaction worker's week was already spent reading and answering email a decade ago (McKinsey Global Institute, 2012) — volume has only grown since.</a:t>
            </a:r>
          </a:p>
        </p:txBody>
      </p:sp>
      <p:sp>
        <p:nvSpPr>
          <p:cNvPr id="6" name="TextBox 5" descr="Supporting points"/>
          <p:cNvSpPr txBox="1"/>
          <p:nvPr/>
        </p:nvSpPr>
        <p:spPr>
          <a:xfrm>
            <a:off x="5212080" y="1737360"/>
            <a:ext cx="6400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>
                <a:solidFill>
                  <a:srgbClr val="8A6410"/>
                </a:solidFill>
                <a:latin typeface="Calibri"/>
              </a:rPr>
              <a:t>▪  </a:t>
            </a:r>
            <a:r>
              <a:rPr sz="1600" b="1">
                <a:solidFill>
                  <a:srgbClr val="0E4D33"/>
                </a:solidFill>
                <a:latin typeface="Calibri"/>
              </a:rPr>
              <a:t>Hundreds of billions of emails move daily  </a:t>
            </a:r>
            <a:r>
              <a:rPr sz="1600" b="0" i="0">
                <a:solidFill>
                  <a:srgbClr val="212A26"/>
                </a:solidFill>
                <a:latin typeface="Calibri"/>
              </a:rPr>
              <a:t>(Radicati Group, 2024).</a:t>
            </a:r>
          </a:p>
          <a:p>
            <a:pPr algn="l">
              <a:spcAft>
                <a:spcPts val="1400"/>
              </a:spcAft>
            </a:pPr>
            <a:r>
              <a:rPr sz="1600">
                <a:solidFill>
                  <a:srgbClr val="8A6410"/>
                </a:solidFill>
                <a:latin typeface="Calibri"/>
              </a:rPr>
              <a:t>▪  </a:t>
            </a:r>
            <a:r>
              <a:rPr sz="1600" b="1">
                <a:solidFill>
                  <a:srgbClr val="0E4D33"/>
                </a:solidFill>
                <a:latin typeface="Calibri"/>
              </a:rPr>
              <a:t>The professional consequence is arithmetic:  </a:t>
            </a:r>
            <a:r>
              <a:rPr sz="1600" b="0" i="0">
                <a:solidFill>
                  <a:srgbClr val="212A26"/>
                </a:solidFill>
                <a:latin typeface="Calibri"/>
              </a:rPr>
              <a:t>the writer who costs the reader the least time wins the reputation.</a:t>
            </a:r>
          </a:p>
          <a:p>
            <a:pPr algn="l">
              <a:spcAft>
                <a:spcPts val="1400"/>
              </a:spcAft>
            </a:pPr>
            <a:r>
              <a:rPr sz="1600">
                <a:solidFill>
                  <a:srgbClr val="8A6410"/>
                </a:solidFill>
                <a:latin typeface="Calibri"/>
              </a:rPr>
              <a:t>▪  </a:t>
            </a:r>
            <a:r>
              <a:rPr sz="1600" b="1">
                <a:solidFill>
                  <a:srgbClr val="0E4D33"/>
                </a:solidFill>
                <a:latin typeface="Calibri"/>
              </a:rPr>
              <a:t>Short messages aren't a new skill —  </a:t>
            </a:r>
            <a:r>
              <a:rPr sz="1600" b="0" i="0">
                <a:solidFill>
                  <a:srgbClr val="212A26"/>
                </a:solidFill>
                <a:latin typeface="Calibri"/>
              </a:rPr>
              <a:t>they are Chapters 1–4, compressed.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Email"/>
          <p:cNvSpPr>
            <a:spLocks noGrp="1"/>
          </p:cNvSpPr>
          <p:nvPr>
            <p:ph type="title"/>
          </p:nvPr>
        </p:nvSpPr>
        <p:spPr>
          <a:xfrm>
            <a:off x="822960" y="2834640"/>
            <a:ext cx="10515600" cy="914400"/>
          </a:xfrm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Email</a:t>
            </a:r>
          </a:p>
        </p:txBody>
      </p:sp>
      <p:sp>
        <p:nvSpPr>
          <p:cNvPr id="3" name="TextBox 2" descr="Section number 01"/>
          <p:cNvSpPr txBox="1"/>
          <p:nvPr/>
        </p:nvSpPr>
        <p:spPr>
          <a:xfrm>
            <a:off x="822960" y="11887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8000" b="1" i="0">
                <a:solidFill>
                  <a:srgbClr val="C9931A"/>
                </a:solidFill>
                <a:latin typeface="Cambria"/>
              </a:rPr>
              <a:t>01</a:t>
            </a:r>
          </a:p>
        </p:txBody>
      </p:sp>
      <p:sp>
        <p:nvSpPr>
          <p:cNvPr id="4" name="TextBox 3" descr="Section note"/>
          <p:cNvSpPr txBox="1"/>
          <p:nvPr/>
        </p:nvSpPr>
        <p:spPr>
          <a:xfrm>
            <a:off x="822960" y="40233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AF1EB"/>
                </a:solidFill>
                <a:latin typeface="Calibri"/>
              </a:rPr>
              <a:t>Still the workplace's official language — and the channel of record.</a:t>
            </a:r>
          </a:p>
        </p:txBody>
      </p:sp>
      <p:sp>
        <p:nvSpPr>
          <p:cNvPr id="5" name="TextBox 4" descr="Footer: BADM 225 · Chapter 5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5</a:t>
            </a:r>
          </a:p>
        </p:txBody>
      </p:sp>
      <p:sp>
        <p:nvSpPr>
          <p:cNvPr id="6" name="TextBox 5" descr="Slide number 4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Anatomy of a working email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Anatomy of a working email</a:t>
            </a:r>
          </a:p>
        </p:txBody>
      </p:sp>
      <p:sp>
        <p:nvSpPr>
          <p:cNvPr id="3" name="TextBox 2" descr="Footer: BADM 225 · Chapter 5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5</a:t>
            </a:r>
          </a:p>
        </p:txBody>
      </p:sp>
      <p:sp>
        <p:nvSpPr>
          <p:cNvPr id="4" name="TextBox 3" descr="Slide number 5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5</a:t>
            </a:r>
          </a:p>
        </p:txBody>
      </p:sp>
      <p:sp>
        <p:nvSpPr>
          <p:cNvPr id="5" name="Oval 4" descr="Subject = the message's job icon"/>
          <p:cNvSpPr/>
          <p:nvPr/>
        </p:nvSpPr>
        <p:spPr>
          <a:xfrm>
            <a:off x="640080" y="165506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①</a:t>
            </a:r>
          </a:p>
        </p:txBody>
      </p:sp>
      <p:sp>
        <p:nvSpPr>
          <p:cNvPr id="6" name="TextBox 5" descr="Subject = the message's job"/>
          <p:cNvSpPr txBox="1"/>
          <p:nvPr/>
        </p:nvSpPr>
        <p:spPr>
          <a:xfrm>
            <a:off x="1417320" y="160020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Subject = the message's job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“Approve Q3 budget rev by Fri 7/10” — opens it today, finds it next quarter.</a:t>
            </a:r>
          </a:p>
        </p:txBody>
      </p:sp>
      <p:sp>
        <p:nvSpPr>
          <p:cNvPr id="7" name="Oval 6" descr="Sentence one = the point icon"/>
          <p:cNvSpPr/>
          <p:nvPr/>
        </p:nvSpPr>
        <p:spPr>
          <a:xfrm>
            <a:off x="640080" y="2679192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②</a:t>
            </a:r>
          </a:p>
        </p:txBody>
      </p:sp>
      <p:sp>
        <p:nvSpPr>
          <p:cNvPr id="8" name="TextBox 7" descr="Sentence one = the point"/>
          <p:cNvSpPr txBox="1"/>
          <p:nvPr/>
        </p:nvSpPr>
        <p:spPr>
          <a:xfrm>
            <a:off x="1417320" y="2624328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Sentence one = the point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The ask, the news, the takeaway. Here. (Chapter 3's frontloading.)</a:t>
            </a:r>
          </a:p>
        </p:txBody>
      </p:sp>
      <p:sp>
        <p:nvSpPr>
          <p:cNvPr id="9" name="Oval 8" descr="Body = one screen icon"/>
          <p:cNvSpPr/>
          <p:nvPr/>
        </p:nvSpPr>
        <p:spPr>
          <a:xfrm>
            <a:off x="640080" y="3703320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③</a:t>
            </a:r>
          </a:p>
        </p:txBody>
      </p:sp>
      <p:sp>
        <p:nvSpPr>
          <p:cNvPr id="10" name="TextBox 9" descr="Body = one screen"/>
          <p:cNvSpPr txBox="1"/>
          <p:nvPr/>
        </p:nvSpPr>
        <p:spPr>
          <a:xfrm>
            <a:off x="1417320" y="3648456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Body = one screen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Lists and short paragraphs; scrolling means it's competing with reports.</a:t>
            </a:r>
          </a:p>
        </p:txBody>
      </p:sp>
      <p:sp>
        <p:nvSpPr>
          <p:cNvPr id="11" name="Oval 10" descr="Call to action = act + date icon"/>
          <p:cNvSpPr/>
          <p:nvPr/>
        </p:nvSpPr>
        <p:spPr>
          <a:xfrm>
            <a:off x="640080" y="4727448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④</a:t>
            </a:r>
          </a:p>
        </p:txBody>
      </p:sp>
      <p:sp>
        <p:nvSpPr>
          <p:cNvPr id="12" name="TextBox 11" descr="Call to action = act + date"/>
          <p:cNvSpPr txBox="1"/>
          <p:nvPr/>
        </p:nvSpPr>
        <p:spPr>
          <a:xfrm>
            <a:off x="1417320" y="4672584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Call to action = act + date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Standing alone at the end, where scanning terminates.</a:t>
            </a:r>
          </a:p>
        </p:txBody>
      </p:sp>
      <p:sp>
        <p:nvSpPr>
          <p:cNvPr id="13" name="Oval 12" descr="Signature = your letterhead icon"/>
          <p:cNvSpPr/>
          <p:nvPr/>
        </p:nvSpPr>
        <p:spPr>
          <a:xfrm>
            <a:off x="640080" y="5751576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⑤</a:t>
            </a:r>
          </a:p>
        </p:txBody>
      </p:sp>
      <p:sp>
        <p:nvSpPr>
          <p:cNvPr id="14" name="TextBox 13" descr="Signature = your letterhead"/>
          <p:cNvSpPr txBox="1"/>
          <p:nvPr/>
        </p:nvSpPr>
        <p:spPr>
          <a:xfrm>
            <a:off x="1417320" y="5696712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Signature = your letterhead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Name, title, organization, phone — this unit's signature assignment.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Subject lines: four formula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Subject lines: four formulas</a:t>
            </a:r>
          </a:p>
        </p:txBody>
      </p:sp>
      <p:sp>
        <p:nvSpPr>
          <p:cNvPr id="3" name="TextBox 2" descr="Footer: BADM 225 · Chapter 5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5</a:t>
            </a:r>
          </a:p>
        </p:txBody>
      </p:sp>
      <p:sp>
        <p:nvSpPr>
          <p:cNvPr id="4" name="TextBox 3" descr="Slide number 6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6</a:t>
            </a:r>
          </a:p>
        </p:txBody>
      </p:sp>
      <p:sp>
        <p:nvSpPr>
          <p:cNvPr id="5" name="Rounded Rectangle 4" descr="The formulas panel"/>
          <p:cNvSpPr/>
          <p:nvPr/>
        </p:nvSpPr>
        <p:spPr>
          <a:xfrm>
            <a:off x="548640" y="1554480"/>
            <a:ext cx="5394960" cy="457200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0E4D33"/>
                </a:solidFill>
                <a:latin typeface="Cambria"/>
              </a:rPr>
              <a:t>The formulas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1">
                <a:solidFill>
                  <a:srgbClr val="0E4D33"/>
                </a:solidFill>
                <a:latin typeface="Calibri"/>
              </a:rPr>
              <a:t>ACTION: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verb + object + date — “Approve vendor list by Thu”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1">
                <a:solidFill>
                  <a:srgbClr val="0E4D33"/>
                </a:solidFill>
                <a:latin typeface="Calibri"/>
              </a:rPr>
              <a:t>INFO: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topic + takeaway — “Migration done; all normal”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1">
                <a:solidFill>
                  <a:srgbClr val="0E4D33"/>
                </a:solidFill>
                <a:latin typeface="Calibri"/>
              </a:rPr>
              <a:t>QUESTION: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the actual question — “OK to move standup to 9:30?”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1">
                <a:solidFill>
                  <a:srgbClr val="0E4D33"/>
                </a:solidFill>
                <a:latin typeface="Calibri"/>
              </a:rPr>
              <a:t>RESCUE: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new topic = new subject line</a:t>
            </a:r>
          </a:p>
        </p:txBody>
      </p:sp>
      <p:sp>
        <p:nvSpPr>
          <p:cNvPr id="6" name="Rounded Rectangle 5" descr="Why they matter panel"/>
          <p:cNvSpPr/>
          <p:nvPr/>
        </p:nvSpPr>
        <p:spPr>
          <a:xfrm>
            <a:off x="6263640" y="1554480"/>
            <a:ext cx="5394960" cy="457200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0E4D33"/>
                </a:solidFill>
                <a:latin typeface="Cambria"/>
              </a:rPr>
              <a:t>Why they matter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A subject line has three careers: opened today, found next quarter, telling skimmers what's owed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“Quick question” has no careers at all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1">
                <a:solidFill>
                  <a:srgbClr val="0E4D33"/>
                </a:solidFill>
                <a:latin typeface="Calibri"/>
              </a:rPr>
              <a:t>Habit: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write the subject LAST — after the message tells you what it's about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read hygiene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Thread hygiene</a:t>
            </a:r>
          </a:p>
        </p:txBody>
      </p:sp>
      <p:sp>
        <p:nvSpPr>
          <p:cNvPr id="3" name="TextBox 2" descr="Footer: BADM 225 · Chapter 5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5</a:t>
            </a:r>
          </a:p>
        </p:txBody>
      </p:sp>
      <p:sp>
        <p:nvSpPr>
          <p:cNvPr id="4" name="TextBox 3" descr="Slide number 7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7</a:t>
            </a:r>
          </a:p>
        </p:txBody>
      </p:sp>
      <p:sp>
        <p:nvSpPr>
          <p:cNvPr id="5" name="Oval 4" descr="Reply vs. reply-all icon"/>
          <p:cNvSpPr/>
          <p:nvPr/>
        </p:nvSpPr>
        <p:spPr>
          <a:xfrm>
            <a:off x="640080" y="165506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↩</a:t>
            </a:r>
          </a:p>
        </p:txBody>
      </p:sp>
      <p:sp>
        <p:nvSpPr>
          <p:cNvPr id="6" name="TextBox 5" descr="Reply vs. reply-all"/>
          <p:cNvSpPr txBox="1"/>
          <p:nvPr/>
        </p:nvSpPr>
        <p:spPr>
          <a:xfrm>
            <a:off x="1417320" y="1600200"/>
            <a:ext cx="10241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Reply vs. reply-all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Reply-all only when every name needs every word. The reply-all “thanks!” taxes forty attention budgets.</a:t>
            </a:r>
          </a:p>
        </p:txBody>
      </p:sp>
      <p:sp>
        <p:nvSpPr>
          <p:cNvPr id="7" name="Oval 6" descr="New topic = new thread icon"/>
          <p:cNvSpPr/>
          <p:nvPr/>
        </p:nvSpPr>
        <p:spPr>
          <a:xfrm>
            <a:off x="640080" y="284378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🧵</a:t>
            </a:r>
          </a:p>
        </p:txBody>
      </p:sp>
      <p:sp>
        <p:nvSpPr>
          <p:cNvPr id="8" name="TextBox 7" descr="New topic = new thread"/>
          <p:cNvSpPr txBox="1"/>
          <p:nvPr/>
        </p:nvSpPr>
        <p:spPr>
          <a:xfrm>
            <a:off x="1417320" y="2788920"/>
            <a:ext cx="10241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New topic = new thread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Don't bury the hiring decision in “RE: RE: FW: lunch” — search will never find it.</a:t>
            </a:r>
          </a:p>
        </p:txBody>
      </p:sp>
      <p:sp>
        <p:nvSpPr>
          <p:cNvPr id="9" name="Oval 8" descr="To = act · CC = know icon"/>
          <p:cNvSpPr/>
          <p:nvPr/>
        </p:nvSpPr>
        <p:spPr>
          <a:xfrm>
            <a:off x="640080" y="403250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➤</a:t>
            </a:r>
          </a:p>
        </p:txBody>
      </p:sp>
      <p:sp>
        <p:nvSpPr>
          <p:cNvPr id="10" name="TextBox 9" descr="To = act · CC = know"/>
          <p:cNvSpPr txBox="1"/>
          <p:nvPr/>
        </p:nvSpPr>
        <p:spPr>
          <a:xfrm>
            <a:off x="1417320" y="3977640"/>
            <a:ext cx="10241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To = act · CC = know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Blurring them is why nobody is sure who owns the task.</a:t>
            </a:r>
          </a:p>
        </p:txBody>
      </p:sp>
      <p:sp>
        <p:nvSpPr>
          <p:cNvPr id="11" name="Oval 10" descr="BCC = the exit ramp icon"/>
          <p:cNvSpPr/>
          <p:nvPr/>
        </p:nvSpPr>
        <p:spPr>
          <a:xfrm>
            <a:off x="640080" y="522122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🚪</a:t>
            </a:r>
          </a:p>
        </p:txBody>
      </p:sp>
      <p:sp>
        <p:nvSpPr>
          <p:cNvPr id="12" name="TextBox 11" descr="BCC = the exit ramp"/>
          <p:cNvSpPr txBox="1"/>
          <p:nvPr/>
        </p:nvSpPr>
        <p:spPr>
          <a:xfrm>
            <a:off x="1417320" y="5166360"/>
            <a:ext cx="10241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BCC = the exit ramp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“Moving Dana to BCC with thanks” — freed, politely and visibly.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Chat, text, and boundaries"/>
          <p:cNvSpPr>
            <a:spLocks noGrp="1"/>
          </p:cNvSpPr>
          <p:nvPr>
            <p:ph type="title"/>
          </p:nvPr>
        </p:nvSpPr>
        <p:spPr>
          <a:xfrm>
            <a:off x="822960" y="2834640"/>
            <a:ext cx="10515600" cy="914400"/>
          </a:xfrm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Chat, text, and boundaries</a:t>
            </a:r>
          </a:p>
        </p:txBody>
      </p:sp>
      <p:sp>
        <p:nvSpPr>
          <p:cNvPr id="3" name="TextBox 2" descr="Section number 02"/>
          <p:cNvSpPr txBox="1"/>
          <p:nvPr/>
        </p:nvSpPr>
        <p:spPr>
          <a:xfrm>
            <a:off x="822960" y="11887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8000" b="1" i="0">
                <a:solidFill>
                  <a:srgbClr val="C9931A"/>
                </a:solidFill>
                <a:latin typeface="Cambria"/>
              </a:rPr>
              <a:t>02</a:t>
            </a:r>
          </a:p>
        </p:txBody>
      </p:sp>
      <p:sp>
        <p:nvSpPr>
          <p:cNvPr id="4" name="TextBox 3" descr="Section note"/>
          <p:cNvSpPr txBox="1"/>
          <p:nvPr/>
        </p:nvSpPr>
        <p:spPr>
          <a:xfrm>
            <a:off x="822960" y="40233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AF1EB"/>
                </a:solidFill>
                <a:latin typeface="Calibri"/>
              </a:rPr>
              <a:t>The hallway, digitized — and its ceiling.</a:t>
            </a:r>
          </a:p>
        </p:txBody>
      </p:sp>
      <p:sp>
        <p:nvSpPr>
          <p:cNvPr id="5" name="TextBox 4" descr="Footer: BADM 225 · Chapter 5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5</a:t>
            </a:r>
          </a:p>
        </p:txBody>
      </p:sp>
      <p:sp>
        <p:nvSpPr>
          <p:cNvPr id="6" name="TextBox 5" descr="Slide number 8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Chat's rules of engagement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Chat's rules of engagement</a:t>
            </a:r>
          </a:p>
        </p:txBody>
      </p:sp>
      <p:sp>
        <p:nvSpPr>
          <p:cNvPr id="3" name="TextBox 2" descr="Footer: BADM 225 · Chapter 5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5</a:t>
            </a:r>
          </a:p>
        </p:txBody>
      </p:sp>
      <p:sp>
        <p:nvSpPr>
          <p:cNvPr id="4" name="TextBox 3" descr="Slide number 9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9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Front-load even here.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“Quick one: OK to move the demo to 2:00? Need to know by 11” beats the naked “hey” that takes a hostage.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@mention like a hand on a shoulder,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not an air horn.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Know the ceiling: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moment chat produces a decision with consequences, it graduates to email — “confirming what we agreed.”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Texts are invitation-only: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time-critical logistics with people who shared their number; nothing confidential, complex, or contractual.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Response-time norm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Response-time norms</a:t>
            </a:r>
          </a:p>
        </p:txBody>
      </p:sp>
      <p:sp>
        <p:nvSpPr>
          <p:cNvPr id="3" name="TextBox 2" descr="Footer: BADM 225 · Chapter 5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5</a:t>
            </a:r>
          </a:p>
        </p:txBody>
      </p:sp>
      <p:sp>
        <p:nvSpPr>
          <p:cNvPr id="4" name="TextBox 3" descr="Slide number 10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10</a:t>
            </a:r>
          </a:p>
        </p:txBody>
      </p:sp>
      <p:sp>
        <p:nvSpPr>
          <p:cNvPr id="5" name="Oval 4" descr="External / client email icon"/>
          <p:cNvSpPr/>
          <p:nvPr/>
        </p:nvSpPr>
        <p:spPr>
          <a:xfrm>
            <a:off x="640080" y="165506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🌐</a:t>
            </a:r>
          </a:p>
        </p:txBody>
      </p:sp>
      <p:sp>
        <p:nvSpPr>
          <p:cNvPr id="6" name="TextBox 5" descr="External / client email"/>
          <p:cNvSpPr txBox="1"/>
          <p:nvPr/>
        </p:nvSpPr>
        <p:spPr>
          <a:xfrm>
            <a:off x="1417320" y="160020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External / client email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Acknowledge the same business day — even if the full answer comes Friday.</a:t>
            </a:r>
          </a:p>
        </p:txBody>
      </p:sp>
      <p:sp>
        <p:nvSpPr>
          <p:cNvPr id="7" name="Oval 6" descr="Manager's direct question icon"/>
          <p:cNvSpPr/>
          <p:nvPr/>
        </p:nvSpPr>
        <p:spPr>
          <a:xfrm>
            <a:off x="640080" y="2679192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👔</a:t>
            </a:r>
          </a:p>
        </p:txBody>
      </p:sp>
      <p:sp>
        <p:nvSpPr>
          <p:cNvPr id="8" name="TextBox 7" descr="Manager's direct question"/>
          <p:cNvSpPr txBox="1"/>
          <p:nvPr/>
        </p:nvSpPr>
        <p:spPr>
          <a:xfrm>
            <a:off x="1417320" y="2624328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Manager's direct question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Hours, not days. Silence reads as avoidance.</a:t>
            </a:r>
          </a:p>
        </p:txBody>
      </p:sp>
      <p:sp>
        <p:nvSpPr>
          <p:cNvPr id="9" name="Oval 8" descr="Chat @mention icon"/>
          <p:cNvSpPr/>
          <p:nvPr/>
        </p:nvSpPr>
        <p:spPr>
          <a:xfrm>
            <a:off x="640080" y="3703320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💬</a:t>
            </a:r>
          </a:p>
        </p:txBody>
      </p:sp>
      <p:sp>
        <p:nvSpPr>
          <p:cNvPr id="10" name="TextBox 9" descr="Chat @mention"/>
          <p:cNvSpPr txBox="1"/>
          <p:nvPr/>
        </p:nvSpPr>
        <p:spPr>
          <a:xfrm>
            <a:off x="1417320" y="3648456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Chat @mention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Within the working session.</a:t>
            </a:r>
          </a:p>
        </p:txBody>
      </p:sp>
      <p:sp>
        <p:nvSpPr>
          <p:cNvPr id="11" name="Oval 10" descr="CC / FYI traffic icon"/>
          <p:cNvSpPr/>
          <p:nvPr/>
        </p:nvSpPr>
        <p:spPr>
          <a:xfrm>
            <a:off x="640080" y="4727448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📋</a:t>
            </a:r>
          </a:p>
        </p:txBody>
      </p:sp>
      <p:sp>
        <p:nvSpPr>
          <p:cNvPr id="12" name="TextBox 11" descr="CC / FYI traffic"/>
          <p:cNvSpPr txBox="1"/>
          <p:nvPr/>
        </p:nvSpPr>
        <p:spPr>
          <a:xfrm>
            <a:off x="1417320" y="4672584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CC / FYI traffic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No reply owed — that's what CC means.</a:t>
            </a:r>
          </a:p>
        </p:txBody>
      </p:sp>
      <p:sp>
        <p:nvSpPr>
          <p:cNvPr id="13" name="Oval 12" descr="After-hours anything icon"/>
          <p:cNvSpPr/>
          <p:nvPr/>
        </p:nvSpPr>
        <p:spPr>
          <a:xfrm>
            <a:off x="640080" y="5751576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🌙</a:t>
            </a:r>
          </a:p>
        </p:txBody>
      </p:sp>
      <p:sp>
        <p:nvSpPr>
          <p:cNvPr id="14" name="TextBox 13" descr="After-hours anything"/>
          <p:cNvSpPr txBox="1"/>
          <p:nvPr/>
        </p:nvSpPr>
        <p:spPr>
          <a:xfrm>
            <a:off x="1417320" y="5696712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After-hours anything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Next business day. Schedule-send protects the norm for everyone — including future you.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Permanence"/>
          <p:cNvSpPr>
            <a:spLocks noGrp="1"/>
          </p:cNvSpPr>
          <p:nvPr>
            <p:ph type="title"/>
          </p:nvPr>
        </p:nvSpPr>
        <p:spPr>
          <a:xfrm>
            <a:off x="822960" y="2834640"/>
            <a:ext cx="10515600" cy="914400"/>
          </a:xfrm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Permanence</a:t>
            </a:r>
          </a:p>
        </p:txBody>
      </p:sp>
      <p:sp>
        <p:nvSpPr>
          <p:cNvPr id="3" name="TextBox 2" descr="Section number 03"/>
          <p:cNvSpPr txBox="1"/>
          <p:nvPr/>
        </p:nvSpPr>
        <p:spPr>
          <a:xfrm>
            <a:off x="822960" y="11887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8000" b="1" i="0">
                <a:solidFill>
                  <a:srgbClr val="C9931A"/>
                </a:solidFill>
                <a:latin typeface="Cambria"/>
              </a:rPr>
              <a:t>03</a:t>
            </a:r>
          </a:p>
        </p:txBody>
      </p:sp>
      <p:sp>
        <p:nvSpPr>
          <p:cNvPr id="4" name="TextBox 3" descr="Section note"/>
          <p:cNvSpPr txBox="1"/>
          <p:nvPr/>
        </p:nvSpPr>
        <p:spPr>
          <a:xfrm>
            <a:off x="822960" y="40233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AF1EB"/>
                </a:solidFill>
                <a:latin typeface="Calibri"/>
              </a:rPr>
              <a:t>Write like legal reads it — because legal can.</a:t>
            </a:r>
          </a:p>
        </p:txBody>
      </p:sp>
      <p:sp>
        <p:nvSpPr>
          <p:cNvPr id="5" name="TextBox 4" descr="Footer: BADM 225 · Chapter 5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5</a:t>
            </a:r>
          </a:p>
        </p:txBody>
      </p:sp>
      <p:sp>
        <p:nvSpPr>
          <p:cNvPr id="6" name="TextBox 5" descr="Slide number 11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permanence gradient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The permanence gradient</a:t>
            </a:r>
          </a:p>
        </p:txBody>
      </p:sp>
      <p:sp>
        <p:nvSpPr>
          <p:cNvPr id="3" name="TextBox 2" descr="Footer: BADM 225 · Chapter 5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5</a:t>
            </a:r>
          </a:p>
        </p:txBody>
      </p:sp>
      <p:sp>
        <p:nvSpPr>
          <p:cNvPr id="4" name="TextBox 3" descr="Slide number 12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12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Email and documents: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archived, searchable, discoverable in disputes.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Chat platforms: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logged and exportable — employer property, not private space.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“Disappearing” messages: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screenshots never do.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operating rule: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publicity test isn't hypothetical on digital channels — it's the literal condition. Type accordingly.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Case: the reply-all storm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Case: the reply-all storm</a:t>
            </a:r>
          </a:p>
        </p:txBody>
      </p:sp>
      <p:sp>
        <p:nvSpPr>
          <p:cNvPr id="3" name="TextBox 2" descr="Footer: BADM 225 · Chapter 5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5</a:t>
            </a:r>
          </a:p>
        </p:txBody>
      </p:sp>
      <p:sp>
        <p:nvSpPr>
          <p:cNvPr id="4" name="TextBox 3" descr="Slide number 13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13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1,400 names in the To line.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One “please remove me” → six more → eleven people sending “STOP REPLYING ALL” — reply-all.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900 messages in an hour;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IT locks the list; the sales director's all-caps meltdown becomes the company screenshot.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technical fix was one line: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mass mail goes BCC or through a no-reply tool — prevention beats etiquette.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behavioral lesson: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every “stop replying” author diagnosed the problem correctly and became it.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Case: the screenshot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Case: the screenshot</a:t>
            </a:r>
          </a:p>
        </p:txBody>
      </p:sp>
      <p:sp>
        <p:nvSpPr>
          <p:cNvPr id="3" name="TextBox 2" descr="Footer: BADM 225 · Chapter 5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5</a:t>
            </a:r>
          </a:p>
        </p:txBody>
      </p:sp>
      <p:sp>
        <p:nvSpPr>
          <p:cNvPr id="4" name="TextBox 3" descr="Slide number 14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14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A private-channel vent about a colleague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gets misforwarded to a group containing her manager. Apologies. Silence.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Three months later she's promoted —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to lead the venter's team — and the old screenshot recirculates.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Where the risk lived: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at the moment of TYPING. On logged platforms, you never control the copies.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recovery: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unhedged voice apology in hour one; a brief, forward-facing note in week one of the new org chart. Face the debt before it faces you.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Attention &amp; presence"/>
          <p:cNvSpPr>
            <a:spLocks noGrp="1"/>
          </p:cNvSpPr>
          <p:nvPr>
            <p:ph type="title"/>
          </p:nvPr>
        </p:nvSpPr>
        <p:spPr>
          <a:xfrm>
            <a:off x="822960" y="2834640"/>
            <a:ext cx="10515600" cy="914400"/>
          </a:xfrm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Attention &amp; presence</a:t>
            </a:r>
          </a:p>
        </p:txBody>
      </p:sp>
      <p:sp>
        <p:nvSpPr>
          <p:cNvPr id="3" name="TextBox 2" descr="Section number 04"/>
          <p:cNvSpPr txBox="1"/>
          <p:nvPr/>
        </p:nvSpPr>
        <p:spPr>
          <a:xfrm>
            <a:off x="822960" y="11887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8000" b="1" i="0">
                <a:solidFill>
                  <a:srgbClr val="C9931A"/>
                </a:solidFill>
                <a:latin typeface="Cambria"/>
              </a:rPr>
              <a:t>04</a:t>
            </a:r>
          </a:p>
        </p:txBody>
      </p:sp>
      <p:sp>
        <p:nvSpPr>
          <p:cNvPr id="4" name="TextBox 3" descr="Section note"/>
          <p:cNvSpPr txBox="1"/>
          <p:nvPr/>
        </p:nvSpPr>
        <p:spPr>
          <a:xfrm>
            <a:off x="822960" y="40233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AF1EB"/>
                </a:solidFill>
                <a:latin typeface="Calibri"/>
              </a:rPr>
              <a:t>The ping is engineered. Your defenses should be too.</a:t>
            </a:r>
          </a:p>
        </p:txBody>
      </p:sp>
      <p:sp>
        <p:nvSpPr>
          <p:cNvPr id="5" name="TextBox 4" descr="Footer: BADM 225 · Chapter 5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5</a:t>
            </a:r>
          </a:p>
        </p:txBody>
      </p:sp>
      <p:sp>
        <p:nvSpPr>
          <p:cNvPr id="6" name="TextBox 5" descr="Slide number 15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Attention management is inbox management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Attention management is inbox management</a:t>
            </a:r>
          </a:p>
        </p:txBody>
      </p:sp>
      <p:sp>
        <p:nvSpPr>
          <p:cNvPr id="3" name="TextBox 2" descr="Footer: BADM 225 · Chapter 5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5</a:t>
            </a:r>
          </a:p>
        </p:txBody>
      </p:sp>
      <p:sp>
        <p:nvSpPr>
          <p:cNvPr id="4" name="TextBox 3" descr="Slide number 16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16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As a sender: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every message spends someone's focus. Batch the small stuff; make messages answerable without a follow-up.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As a receiver: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process in blocks, not per ping. Triage: act (&lt;2 min) → schedule → file → delete.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Protect one unpinged stretch daily.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Continuous partial attention degrades even the conversations you stay in (Turkle, 2015).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Attention is career capital.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Spend it like money, because everyone else is spending yours.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Your digital layer interviews first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Your digital layer interviews first</a:t>
            </a:r>
          </a:p>
        </p:txBody>
      </p:sp>
      <p:sp>
        <p:nvSpPr>
          <p:cNvPr id="3" name="TextBox 2" descr="Footer: BADM 225 · Chapter 5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5</a:t>
            </a:r>
          </a:p>
        </p:txBody>
      </p:sp>
      <p:sp>
        <p:nvSpPr>
          <p:cNvPr id="4" name="TextBox 3" descr="Slide number 17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17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Public posts: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assume permanent and employer-visible — both are true.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Professional profiles: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a standing portfolio. Competent photo, headline that says what you do, activity showing judgment.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Private channels: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one screenshot from public — the gradient never sleeps.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goal isn't blandness: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it's that the person visible online and the person in the interview are colleagues, not strangers.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ree makeovers you'll use this week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Three makeovers you'll use this week</a:t>
            </a:r>
          </a:p>
        </p:txBody>
      </p:sp>
      <p:sp>
        <p:nvSpPr>
          <p:cNvPr id="3" name="TextBox 2" descr="Footer: BADM 225 · Chapter 5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5</a:t>
            </a:r>
          </a:p>
        </p:txBody>
      </p:sp>
      <p:sp>
        <p:nvSpPr>
          <p:cNvPr id="4" name="TextBox 3" descr="Slide number 18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18</a:t>
            </a:r>
          </a:p>
        </p:txBody>
      </p:sp>
      <p:sp>
        <p:nvSpPr>
          <p:cNvPr id="5" name="Rounded Rectangle 4" descr="Before panel"/>
          <p:cNvSpPr/>
          <p:nvPr/>
        </p:nvSpPr>
        <p:spPr>
          <a:xfrm>
            <a:off x="548640" y="1554480"/>
            <a:ext cx="5394960" cy="457200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0E4D33"/>
                </a:solidFill>
                <a:latin typeface="Cambria"/>
              </a:rPr>
              <a:t>Before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Chat: “hey” … “you there?” … “quick question”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Email: four paragraphs; the schedule slip hiding in paragraph three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Reply-all: “Thanks everyone!!” × 1,400 inboxes</a:t>
            </a:r>
          </a:p>
        </p:txBody>
      </p:sp>
      <p:sp>
        <p:nvSpPr>
          <p:cNvPr id="6" name="Rounded Rectangle 5" descr="After panel"/>
          <p:cNvSpPr/>
          <p:nvPr/>
        </p:nvSpPr>
        <p:spPr>
          <a:xfrm>
            <a:off x="6263640" y="1554480"/>
            <a:ext cx="5394960" cy="457200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0E4D33"/>
                </a:solidFill>
                <a:latin typeface="Cambria"/>
              </a:rPr>
              <a:t>After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“Quick one: OK to move the demo to 2:00 so Priya can join? Confirm by 11.”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“Sprint update — on track except one item. Slipping: data migration (3 days; fix due Wed). Need from you: nothing yet.”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Reply (sender only): “Thanks, Dana — the turnaround saved us.” Narrower = more personal.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Key takeaway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Key takeaways</a:t>
            </a:r>
          </a:p>
        </p:txBody>
      </p:sp>
      <p:sp>
        <p:nvSpPr>
          <p:cNvPr id="3" name="TextBox 2" descr="Footer: BADM 225 · Chapter 5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5</a:t>
            </a:r>
          </a:p>
        </p:txBody>
      </p:sp>
      <p:sp>
        <p:nvSpPr>
          <p:cNvPr id="4" name="TextBox 3" descr="Slide number 19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19</a:t>
            </a:r>
          </a:p>
        </p:txBody>
      </p:sp>
      <p:sp>
        <p:nvSpPr>
          <p:cNvPr id="5" name="Oval 4" descr="Checkmark"/>
          <p:cNvSpPr/>
          <p:nvPr/>
        </p:nvSpPr>
        <p:spPr>
          <a:xfrm>
            <a:off x="640080" y="1572768"/>
            <a:ext cx="420624" cy="420624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6" name="TextBox 5" descr="Takeaway 1"/>
          <p:cNvSpPr txBox="1"/>
          <p:nvPr/>
        </p:nvSpPr>
        <p:spPr>
          <a:xfrm>
            <a:off x="1325880" y="15544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The subject line is the message's job; sentence one delivers it; the dated ask ends it.</a:t>
            </a:r>
          </a:p>
        </p:txBody>
      </p:sp>
      <p:sp>
        <p:nvSpPr>
          <p:cNvPr id="7" name="Oval 6" descr="Checkmark"/>
          <p:cNvSpPr/>
          <p:nvPr/>
        </p:nvSpPr>
        <p:spPr>
          <a:xfrm>
            <a:off x="640080" y="2212848"/>
            <a:ext cx="420624" cy="420624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8" name="TextBox 7" descr="Takeaway 2"/>
          <p:cNvSpPr txBox="1"/>
          <p:nvPr/>
        </p:nvSpPr>
        <p:spPr>
          <a:xfrm>
            <a:off x="1325880" y="21945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One screen for routine mail — longer content becomes an attachment with a cover note.</a:t>
            </a:r>
          </a:p>
        </p:txBody>
      </p:sp>
      <p:sp>
        <p:nvSpPr>
          <p:cNvPr id="9" name="Oval 8" descr="Checkmark"/>
          <p:cNvSpPr/>
          <p:nvPr/>
        </p:nvSpPr>
        <p:spPr>
          <a:xfrm>
            <a:off x="640080" y="2852928"/>
            <a:ext cx="420624" cy="420624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 descr="Takeaway 3"/>
          <p:cNvSpPr txBox="1"/>
          <p:nvPr/>
        </p:nvSpPr>
        <p:spPr>
          <a:xfrm>
            <a:off x="1325880" y="2834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Reply-all only when every name needs every word; To acts, CC knows; new topic, new thread.</a:t>
            </a:r>
          </a:p>
        </p:txBody>
      </p:sp>
      <p:sp>
        <p:nvSpPr>
          <p:cNvPr id="11" name="Oval 10" descr="Checkmark"/>
          <p:cNvSpPr/>
          <p:nvPr/>
        </p:nvSpPr>
        <p:spPr>
          <a:xfrm>
            <a:off x="640080" y="3493008"/>
            <a:ext cx="420624" cy="420624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2" name="TextBox 11" descr="Takeaway 4"/>
          <p:cNvSpPr txBox="1"/>
          <p:nvPr/>
        </p:nvSpPr>
        <p:spPr>
          <a:xfrm>
            <a:off x="1325880" y="34747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Chat coordinates, email records; decisions graduate. Texts are invitation-only logistics.</a:t>
            </a:r>
          </a:p>
        </p:txBody>
      </p:sp>
      <p:sp>
        <p:nvSpPr>
          <p:cNvPr id="13" name="Oval 12" descr="Checkmark"/>
          <p:cNvSpPr/>
          <p:nvPr/>
        </p:nvSpPr>
        <p:spPr>
          <a:xfrm>
            <a:off x="640080" y="4133088"/>
            <a:ext cx="420624" cy="420624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TextBox 13" descr="Takeaway 5"/>
          <p:cNvSpPr txBox="1"/>
          <p:nvPr/>
        </p:nvSpPr>
        <p:spPr>
          <a:xfrm>
            <a:off x="1325880" y="41148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Everything on workplace systems is logged and discoverable — type like it.</a:t>
            </a:r>
          </a:p>
        </p:txBody>
      </p:sp>
      <p:sp>
        <p:nvSpPr>
          <p:cNvPr id="15" name="Oval 14" descr="Checkmark"/>
          <p:cNvSpPr/>
          <p:nvPr/>
        </p:nvSpPr>
        <p:spPr>
          <a:xfrm>
            <a:off x="640080" y="4773168"/>
            <a:ext cx="420624" cy="420624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 descr="Takeaway 6"/>
          <p:cNvSpPr txBox="1"/>
          <p:nvPr/>
        </p:nvSpPr>
        <p:spPr>
          <a:xfrm>
            <a:off x="1325880" y="47548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Curate the public layer; it interviews before you do. And guard your attention like capital.</a:t>
            </a:r>
          </a:p>
        </p:txBody>
      </p:sp>
      <p:sp>
        <p:nvSpPr>
          <p:cNvPr id="17" name="Rounded Rectangle 16" descr="Practice reminder"/>
          <p:cNvSpPr/>
          <p:nvPr/>
        </p:nvSpPr>
        <p:spPr>
          <a:xfrm>
            <a:off x="548640" y="5468112"/>
            <a:ext cx="10424160" cy="685800"/>
          </a:xfrm>
          <a:prstGeom prst="roundRect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Practice now: course site → Chapter 5 → Practice, then the graded homework before the weekly deadline.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Worth keeping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400" b="1">
                <a:solidFill>
                  <a:srgbClr val="0E4D33"/>
                </a:solidFill>
                <a:latin typeface="Cambria"/>
              </a:rPr>
              <a:t>Worth keeping</a:t>
            </a:r>
          </a:p>
        </p:txBody>
      </p:sp>
      <p:sp>
        <p:nvSpPr>
          <p:cNvPr id="3" name="TextBox 2" descr="Quotation"/>
          <p:cNvSpPr txBox="1"/>
          <p:nvPr/>
        </p:nvSpPr>
        <p:spPr>
          <a:xfrm>
            <a:off x="1280160" y="219456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700" b="0" i="1">
                <a:solidFill>
                  <a:srgbClr val="212A26"/>
                </a:solidFill>
                <a:latin typeface="Cambria"/>
              </a:rPr>
              <a:t>“On digital channels, the publicity test is not a thought experiment. It is the terms of service.”</a:t>
            </a:r>
          </a:p>
        </p:txBody>
      </p:sp>
      <p:sp>
        <p:nvSpPr>
          <p:cNvPr id="4" name="TextBox 3" descr="Attribution"/>
          <p:cNvSpPr txBox="1"/>
          <p:nvPr/>
        </p:nvSpPr>
        <p:spPr>
          <a:xfrm>
            <a:off x="1280160" y="47548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5E6B64"/>
                </a:solidFill>
                <a:latin typeface="Calibri"/>
              </a:rPr>
              <a:t>— this chapter, compressed</a:t>
            </a:r>
          </a:p>
        </p:txBody>
      </p:sp>
      <p:sp>
        <p:nvSpPr>
          <p:cNvPr id="5" name="TextBox 4" descr="Footer: BADM 225 · Chapter 5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5</a:t>
            </a:r>
          </a:p>
        </p:txBody>
      </p:sp>
      <p:sp>
        <p:nvSpPr>
          <p:cNvPr id="6" name="TextBox 5" descr="Slide number 20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Discussion question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400" b="1">
                <a:solidFill>
                  <a:srgbClr val="FFFFFF"/>
                </a:solidFill>
                <a:latin typeface="Cambria"/>
              </a:rPr>
              <a:t>Discussion questions</a:t>
            </a:r>
          </a:p>
        </p:txBody>
      </p:sp>
      <p:sp>
        <p:nvSpPr>
          <p:cNvPr id="3" name="TextBox 2" descr="Discussion questions"/>
          <p:cNvSpPr txBox="1"/>
          <p:nvPr/>
        </p:nvSpPr>
        <p:spPr>
          <a:xfrm>
            <a:off x="731520" y="17373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</a:pPr>
            <a:r>
              <a:rPr sz="1800" b="1">
                <a:solidFill>
                  <a:srgbClr val="C9931A"/>
                </a:solidFill>
                <a:latin typeface="Calibri"/>
              </a:rPr>
              <a:t>1.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Pull your three most recent subject lines. Which formula do they follow — and what are their repairs?</a:t>
            </a:r>
          </a:p>
          <a:p>
            <a:pPr algn="l">
              <a:spcAft>
                <a:spcPts val="1800"/>
              </a:spcAft>
            </a:pPr>
            <a:r>
              <a:rPr sz="1800" b="1">
                <a:solidFill>
                  <a:srgbClr val="C9931A"/>
                </a:solidFill>
                <a:latin typeface="Calibri"/>
              </a:rPr>
              <a:t>2.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Where does your team actually decide things, and what gets lost in that channel?</a:t>
            </a:r>
          </a:p>
          <a:p>
            <a:pPr algn="l">
              <a:spcAft>
                <a:spcPts val="1800"/>
              </a:spcAft>
            </a:pPr>
            <a:r>
              <a:rPr sz="1800" b="1">
                <a:solidFill>
                  <a:srgbClr val="C9931A"/>
                </a:solidFill>
                <a:latin typeface="Calibri"/>
              </a:rPr>
              <a:t>3.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Schedule-send: considerate boundary-keeping, or normalized after-hours work in disguise? Argue both, then commit.</a:t>
            </a:r>
          </a:p>
          <a:p>
            <a:pPr algn="l">
              <a:spcAft>
                <a:spcPts val="1800"/>
              </a:spcAft>
            </a:pPr>
            <a:r>
              <a:rPr sz="1800" b="1">
                <a:solidFill>
                  <a:srgbClr val="C9931A"/>
                </a:solidFill>
                <a:latin typeface="Calibri"/>
              </a:rPr>
              <a:t>4.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State your personal permanence-gradient policy: what will you never type on a logged platform?</a:t>
            </a:r>
          </a:p>
          <a:p>
            <a:pPr algn="l">
              <a:spcAft>
                <a:spcPts val="1800"/>
              </a:spcAft>
            </a:pPr>
            <a:r>
              <a:rPr sz="1800" b="1">
                <a:solidFill>
                  <a:srgbClr val="C9931A"/>
                </a:solidFill>
                <a:latin typeface="Calibri"/>
              </a:rPr>
              <a:t>5.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Design the company mass-email policy that makes reply-all storms impossible.</a:t>
            </a:r>
          </a:p>
        </p:txBody>
      </p:sp>
      <p:sp>
        <p:nvSpPr>
          <p:cNvPr id="4" name="TextBox 3" descr="Footer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8C4B2"/>
                </a:solidFill>
                <a:latin typeface="Calibri"/>
              </a:rPr>
              <a:t>BADM 225 · Chapter 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Your next step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Your next steps</a:t>
            </a:r>
          </a:p>
        </p:txBody>
      </p:sp>
      <p:sp>
        <p:nvSpPr>
          <p:cNvPr id="3" name="TextBox 2" descr="Footer: BADM 225 · Chapter 5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5</a:t>
            </a:r>
          </a:p>
        </p:txBody>
      </p:sp>
      <p:sp>
        <p:nvSpPr>
          <p:cNvPr id="4" name="TextBox 3" descr="Slide number 22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22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Practice: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Course site → Chapter 5 → Practice questions (instant feedback, unlimited tries).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Graded: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Complete the Chapter 5 homework on the site; paste your completion code into the Blackboard assignment before the weekly deadline.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Build: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Your email signature (this unit's assignment) to Figure 1's spec — and audit your last twenty sent messages against the playbook.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Read: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Chapter 5 Study Guide — the full channel matrix, both cases, and the triage system.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Coming next: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Chapter 6 — positive and neutral messages: the everyday mail that quietly builds your reputation.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