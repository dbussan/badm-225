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3 opens: the foundation chapters meet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the Chapter 5 bank and the email-signature assignment.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economics of the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part executes a foundation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front-loaded words decide everything.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Pollution control for a shared ecosystem.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 coordinates; email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Predictability beats raw speed: the reputation is 'always closes the loop.'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is not private.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Composure is most visible when everyone else loses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Typed frustration is a screenshot on layaway. Safe venting: voice, off platform, outside the org chart.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receiver's side of the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standing portfolio, operationalized.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Complete, frontloaded, correctly addressed.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the memo. Not nostalgia — a distinct tool for policy, record, and anything that must outlive an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memo survived because email is a delivery channel, not an archive. Anything with a shelf life belongs in a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Format walk-through. The subject line rules from Section 1 apply verbatim — 'Parking Permit Renewal Due June 15,' not 'Parking.'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highest-frequency 'manage up' document. The honest 'Slipping:' line builds more trust than a month of 'all good.'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calendar communication. A meeting is three written artifacts wrapped around a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invite is a persuasive message: it asks people to spend their scarcest resource. The cost math slide later makes this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Agendas fail when items are nouns instead of outcomes. 'Budget' can absorb an hour; 'approve the two changed budget lines' takes eight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chat-graduation rule applied to meetings: spoken decisions become written records or they evaporate. Chapter 9 develops formal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anti-meeting — anti-broadcast-meeting. Real-time belongs to conflict, complexity, and connection (Chapter 1's rich-channel rule).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7: collaboration platforms — comments, suggestions, versions.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Comment threads are permanent, visible-to-all writing. The margin of a shared doc is a public room, not a private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Cloud platforms made copies unnecessary — version chaos today is a habit problem, not a tooling problem. The 'as-submitted' snapshot ties to Chapter 10's versioning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Availability signaling is boundary-keeping made polite and searchable. Ties to response-time norms from 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8: wikis, internal posts, video messages — where knowledge lives after the thread scrolls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axis introduced: shelf life. Chat is minutes, email is weeks, the wiki is years. Writers who put long-shelf-life content in short-shelf-life channels doom the team to re-asking.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wiki is where Chapter 3's structure rules meet an audience of future strangers. Findability beats elegance.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 is rich but opaque to search; text is lean but permanent and quotable. The pairing pattern — video for tone, text summary for record — gets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setup for the email-signature assignment. The signature is letterhead: identification, not decoration.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Gloria Mark's UC Irvine work on interruption recovery — cite as approximate, the point is the order of magnitude. This arms students with the 'why' behind batching and focus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Async-ready.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hort Workplace Messages and Digital Media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Short Workplace Messages and Digital Media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Email that works · chat that coordinates · the digital professionalism that follows your name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5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emails with six working parts — subject as the job, point in sentence one, dated ask at the end.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among email, chat, and text by record, speed, and stakes — and know each channel's ceiling.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thread hygiene: reply-all discipline, To/CC clarity, new-topic-new-thread.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 if legal reads it — because on workplace systems, it can.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Curate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digital layer that interviews before you 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veryone you write to is drown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Everyone you write to is drowning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28%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of the interaction worker's week was already spent reading and answering email a decade ago (McKinsey Global Institute, 2012) — volume has only grown since.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Hundreds of billions of emails move daily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(Radicati Group, 2024).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professional consequence is arithmetic: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writer who costs the reader the least time wins the reputation.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Short messages aren't a new skill —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they are Chapters 1–4, compressed.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Email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Email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Still the workplace's official language — and the channel of record.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working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working email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Oval 4" descr="Subject = the message's job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①</a:t>
            </a:r>
          </a:p>
        </p:txBody>
      </p:sp>
      <p:sp>
        <p:nvSpPr>
          <p:cNvPr id="6" name="TextBox 5" descr="Subject = the message's job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Subject = the message's job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“Approve Q3 budget rev by Fri 7/10” — opens it today, finds it next quarter.</a:t>
            </a:r>
          </a:p>
        </p:txBody>
      </p:sp>
      <p:sp>
        <p:nvSpPr>
          <p:cNvPr id="7" name="Oval 6" descr="Sentence one = the point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②</a:t>
            </a:r>
          </a:p>
        </p:txBody>
      </p:sp>
      <p:sp>
        <p:nvSpPr>
          <p:cNvPr id="8" name="TextBox 7" descr="Sentence one = the point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Sentence one =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ask, the news, the takeaway. Here. (Chapter 3's frontloading.)</a:t>
            </a:r>
          </a:p>
        </p:txBody>
      </p:sp>
      <p:sp>
        <p:nvSpPr>
          <p:cNvPr id="9" name="Oval 8" descr="Body = one screen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③</a:t>
            </a:r>
          </a:p>
        </p:txBody>
      </p:sp>
      <p:sp>
        <p:nvSpPr>
          <p:cNvPr id="10" name="TextBox 9" descr="Body = one screen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Body = one screen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Lists and short paragraphs; scrolling means it's competing with reports.</a:t>
            </a:r>
          </a:p>
        </p:txBody>
      </p:sp>
      <p:sp>
        <p:nvSpPr>
          <p:cNvPr id="11" name="Oval 10" descr="Call to action = act + dat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④</a:t>
            </a:r>
          </a:p>
        </p:txBody>
      </p:sp>
      <p:sp>
        <p:nvSpPr>
          <p:cNvPr id="12" name="TextBox 11" descr="Call to action = act + dat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Call to action = act + 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Standing alone at the end, where scanning terminates.</a:t>
            </a:r>
          </a:p>
        </p:txBody>
      </p:sp>
      <p:sp>
        <p:nvSpPr>
          <p:cNvPr id="13" name="Oval 12" descr="Signature = your letterhead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⑤</a:t>
            </a:r>
          </a:p>
        </p:txBody>
      </p:sp>
      <p:sp>
        <p:nvSpPr>
          <p:cNvPr id="14" name="TextBox 13" descr="Signature = your letterhead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Signature = your letterhead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Name, title, organization, phone — this unit's signature assignment.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ubject lines: four formula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Subject lines: four formulas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The formula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formulas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ACTION: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verb + object + date — “Approve vendor list by Thu”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INFO: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topic + takeaway — “Migration done; all normal”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QUESTION: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actual question — “OK to move standup to 9:30?”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RESCUE: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new topic = new subject line</a:t>
            </a:r>
          </a:p>
        </p:txBody>
      </p:sp>
      <p:sp>
        <p:nvSpPr>
          <p:cNvPr id="6" name="Rounded Rectangle 5" descr="Why they mat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Why they matter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subject line has three careers: opened today, found next quarter, telling skimmers what's owed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“Quick question” has no careers at all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Habit: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write the subject LAST — after the message tells you what it's about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ad hygie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Thread hygiene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Oval 4" descr="Reply vs. reply-all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↩</a:t>
            </a:r>
          </a:p>
        </p:txBody>
      </p:sp>
      <p:sp>
        <p:nvSpPr>
          <p:cNvPr id="6" name="TextBox 5" descr="Reply vs. reply-all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Reply vs. reply-all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Reply-all only when every name needs every word. The reply-all “thanks!” taxes forty attention budgets.</a:t>
            </a:r>
          </a:p>
        </p:txBody>
      </p:sp>
      <p:sp>
        <p:nvSpPr>
          <p:cNvPr id="7" name="Oval 6" descr="New topic = new threa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🧵</a:t>
            </a:r>
          </a:p>
        </p:txBody>
      </p:sp>
      <p:sp>
        <p:nvSpPr>
          <p:cNvPr id="8" name="TextBox 7" descr="New topic = new threa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topic = new thread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Don't bury the hiring decision in “RE: RE: FW: lunch” — search will never find it.</a:t>
            </a:r>
          </a:p>
        </p:txBody>
      </p:sp>
      <p:sp>
        <p:nvSpPr>
          <p:cNvPr id="9" name="Oval 8" descr="To = act · CC = know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10" name="TextBox 9" descr="To = act · CC = know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 = act · CC = know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Blurring them is why nobody is sure who owns the task.</a:t>
            </a:r>
          </a:p>
        </p:txBody>
      </p:sp>
      <p:sp>
        <p:nvSpPr>
          <p:cNvPr id="11" name="Oval 10" descr="BCC = the exit ramp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🚪</a:t>
            </a:r>
          </a:p>
        </p:txBody>
      </p:sp>
      <p:sp>
        <p:nvSpPr>
          <p:cNvPr id="12" name="TextBox 11" descr="BCC = the exit ramp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BCC = the exit ramp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“Moving Dana to BCC with thanks” — freed, politely and visibly.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t, text, and boundarie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Chat, text, and boundaries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hallway, digitized — and its ceiling.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t's rules of eng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Chat's rules of engagement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Front-load even here.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“Quick one: OK to move the demo to 2:00? Need to know by 11” beats the naked “hey” that takes a hostage.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@mention like a hand on a shoulder,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an air horn.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Know the ceiling: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moment chat produces a decision with consequences, it graduates to email — “confirming what we agreed.”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Texts are invitation-only: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time-critical logistics with people who shared their number; nothing confidential, complex, or contractual.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Response-time norm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Response-time norms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Oval 4" descr="External / client email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🌐</a:t>
            </a:r>
          </a:p>
        </p:txBody>
      </p:sp>
      <p:sp>
        <p:nvSpPr>
          <p:cNvPr id="6" name="TextBox 5" descr="External / client email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External / client email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Acknowledge the same business day — even if the full answer comes Friday.</a:t>
            </a:r>
          </a:p>
        </p:txBody>
      </p:sp>
      <p:sp>
        <p:nvSpPr>
          <p:cNvPr id="7" name="Oval 6" descr="Manager's direct question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👔</a:t>
            </a:r>
          </a:p>
        </p:txBody>
      </p:sp>
      <p:sp>
        <p:nvSpPr>
          <p:cNvPr id="8" name="TextBox 7" descr="Manager's direct question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Manager's direct question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Hours, not days. Silence reads as avoidance.</a:t>
            </a:r>
          </a:p>
        </p:txBody>
      </p:sp>
      <p:sp>
        <p:nvSpPr>
          <p:cNvPr id="9" name="Oval 8" descr="Chat @mention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0" name="TextBox 9" descr="Chat @mention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Chat @mention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Within the working session.</a:t>
            </a:r>
          </a:p>
        </p:txBody>
      </p:sp>
      <p:sp>
        <p:nvSpPr>
          <p:cNvPr id="11" name="Oval 10" descr="CC / FYI traffic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📋</a:t>
            </a:r>
          </a:p>
        </p:txBody>
      </p:sp>
      <p:sp>
        <p:nvSpPr>
          <p:cNvPr id="12" name="TextBox 11" descr="CC / FYI traffic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CC / FYI traffic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 reply owed — that's what CC means.</a:t>
            </a:r>
          </a:p>
        </p:txBody>
      </p:sp>
      <p:sp>
        <p:nvSpPr>
          <p:cNvPr id="13" name="Oval 12" descr="After-hours anything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4" name="TextBox 13" descr="After-hours anything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After-hours anything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Next business day. Schedule-send protects the norm for everyone — including future you.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erman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Permanence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Write like legal reads it — because legal can.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permanence gradi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permanence gradient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Email and documents: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archived, searchable, discoverable in disputes.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Chat platforms: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logged and exportable — employer property, not private space.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“Disappearing” messages: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screenshots never do.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operating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publicity test isn't hypothetical on digital channels — it's the literal condition. Type accordingly.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reply-all stor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reply-all storm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1,400 names in the To line.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“please remove me” → six more → eleven people sending “STOP REPLYING ALL” — reply-all.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900 messages in an hour;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 locks the list; the sales director's all-caps meltdown becomes the company screenshot.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technical fix was one line: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mass mail goes BCC or through a no-reply tool — prevention beats etiquette.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behavioral lesson: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“stop replying” author diagnosed the problem correctly and became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creensho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screenshot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 private-channel vent about a colleague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gets misforwarded to a group containing her manager. Apologies. Silence.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Three months later she's promoted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lead the venter's team — and the old screenshot recirculates.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Where the risk lived: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at the moment of TYPING. On logged platforms, you never control the copies.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recovery: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unhedged voice apology in hour one; a brief, forward-facing note in week one of the new org chart. Face the debt before it faces you.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&amp; pres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Attention &amp; presence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ping is engineered. Your defenses should be too.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ttention management is inbox manag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Attention management is inbox management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 a sender: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message spends someone's focus. Batch the small stuff; make messages answerable without a follow-up.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 a receiver: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process in blocks, not per ping. Triage: act (&lt;2 min) → schedule → file → delete.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Protect one unpinged stretch daily.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Continuous partial attention degrades even the conversations you stay in (Turkle, 2015).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Attention is career capital.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Spend it like money, because everyone else is spending yours.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digital layer interviews fir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digital layer interviews first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Public posts: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assume permanent and employer-visible — both are true.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Professional profiles: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standing portfolio. Competent photo, headline that says what you do, activity showing judgment.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Private channels: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screenshot from public — the gradient never sleeps.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goal isn't blandness: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that the person visible online and the person in the interview are colleagues, not strangers.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makeovers you'll use this week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makeovers you'll use this week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Rounded Rectangle 4" descr="Befor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Before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Chat: “hey” … “you there?” … “quick question”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Email: four paragraphs; the schedule slip hiding in paragraph three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Reply-all: “Thanks everyone!!” × 1,400 inboxes</a:t>
            </a:r>
          </a:p>
        </p:txBody>
      </p:sp>
      <p:sp>
        <p:nvSpPr>
          <p:cNvPr id="6" name="Rounded Rectangle 5" descr="After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After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“Quick one: OK to move the demo to 2:00 so Priya can join? Confirm by 11.”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“Sprint update — on track except one item. Slipping: data migration (3 days; fix due Wed). Need from you: nothing yet.”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Reply (sender only): “Thanks, Dana — the turnaround saved us.” Narrower = more personal.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mos and internal docu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Memos and internal documents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Email's older sibling still has a job — knowing which job is the skill.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en a memo still beats an email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When a memo still beats an email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content must outlive the inbox.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Policies, procedures, and decisions of record get attached as memos — a document is filed; an email is buried.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audience is 'everyone, indefinitely.'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memo posted to the intranet reaches the person hired next year; an email never will.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formality is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signed memo announcing a reorganization says 'this is official' in a way a chat ping cannot.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practical 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two-line email carries a one-page memo attachment: 'Attached is the updated travel policy, effective August 1. Summary below.'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mo anatomy — four lines, then busin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Memo anatomy — four lines, then business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Oval 4" descr="TO / FROM / DATE / SUBJEC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➤</a:t>
            </a:r>
          </a:p>
        </p:txBody>
      </p:sp>
      <p:sp>
        <p:nvSpPr>
          <p:cNvPr id="6" name="TextBox 5" descr="TO / FROM / DATE / SUBJEC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TO / FROM / DATE / SUBJECT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four-line header replaces salutation and signature — no 'Dear,' no 'Sincerely.'</a:t>
            </a:r>
          </a:p>
        </p:txBody>
      </p:sp>
      <p:sp>
        <p:nvSpPr>
          <p:cNvPr id="7" name="Oval 6" descr="Opening = the poin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8" name="TextBox 7" descr="Opening = the poin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Opening = the point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First sentence states the news or decision, exactly like a direct email (Chapter 3).</a:t>
            </a:r>
          </a:p>
        </p:txBody>
      </p:sp>
      <p:sp>
        <p:nvSpPr>
          <p:cNvPr id="9" name="Oval 8" descr="Headings for anything past half a page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 descr="Headings for anything past half a page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Headings for anything past half a page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Memos get skimmed on bulletin boards and intranets — design for the F-pattern.</a:t>
            </a:r>
          </a:p>
        </p:txBody>
      </p:sp>
      <p:sp>
        <p:nvSpPr>
          <p:cNvPr id="11" name="Oval 10" descr="Initials, not signature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✍</a:t>
            </a:r>
          </a:p>
        </p:txBody>
      </p:sp>
      <p:sp>
        <p:nvSpPr>
          <p:cNvPr id="12" name="TextBox 11" descr="Initials, not signature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Initials, not signatures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Convention: the sender initials next to their name in the FROM line — the whole document is the signature.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tatus update that manages up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status update that manages up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three-line skeleton: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track: [what's fine]. Slipping: [what's not + the fix + new date]. Need from you: [ask or 'nothing yet'].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Lead with the exception.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something is slipping, that's the news — never make a manager excavate for it (Chapter 1's upward filter).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Same format every time.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Predictable structure means your manager reads it in ten seconds — and notices instantly when something changes.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Silence is a report too.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skipped update is read as 'something is wrong and they're not saying' — usually correctly.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Meetings start in writing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Meetings start in writing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invite, the agenda, and the two-line record afterward.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eeting invite is a message — write it like on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meeting invite is a message — write it like one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title states the outcome.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'Decide Q3 vendor' beats 'Sync' — attendees should know why they're there before they accept.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body carries the agenda,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pre-read links, and what each person should bring. An empty invite is a blank check drawn on everyone's calendar.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Invite the necessary, inform the rest.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optional attendee who comes anyway doubles the cost; send the notes to the curious instead.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Honest duration.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Book the 25 minutes it needs, not the 60 the calendar defaults to — meetings expand to fill the container.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genda anatomy: items that can actually be ru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Agenda anatomy: items that can actually be run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Oval 4" descr="Each item is an outcome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6" name="TextBox 5" descr="Each item is an outcome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is an outcome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'Choose between vendors A and B' — not the topic-shaped fog of 'Vendors.'</a:t>
            </a:r>
          </a:p>
        </p:txBody>
      </p:sp>
      <p:sp>
        <p:nvSpPr>
          <p:cNvPr id="7" name="Oval 6" descr="Each item has an own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👤</a:t>
            </a:r>
          </a:p>
        </p:txBody>
      </p:sp>
      <p:sp>
        <p:nvSpPr>
          <p:cNvPr id="8" name="TextBox 7" descr="Each item has an own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has an owner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person who presents, frames the decision, and captures the result.</a:t>
            </a:r>
          </a:p>
        </p:txBody>
      </p:sp>
      <p:sp>
        <p:nvSpPr>
          <p:cNvPr id="9" name="Oval 8" descr="Each item has a time box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⏱</a:t>
            </a:r>
          </a:p>
        </p:txBody>
      </p:sp>
      <p:sp>
        <p:nvSpPr>
          <p:cNvPr id="10" name="TextBox 9" descr="Each item has a time box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Each item has a time box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Ten minutes on item one is a promise to items two and three.</a:t>
            </a:r>
          </a:p>
        </p:txBody>
      </p:sp>
      <p:sp>
        <p:nvSpPr>
          <p:cNvPr id="11" name="Oval 10" descr="Pre-reads attached, expectations stated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📎</a:t>
            </a:r>
          </a:p>
        </p:txBody>
      </p:sp>
      <p:sp>
        <p:nvSpPr>
          <p:cNvPr id="12" name="TextBox 11" descr="Pre-reads attached, expectations stated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Pre-reads attached, expectations stated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'Read the one-pager before we meet; we will not walk through it live.'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fter the meeting: the two-line recor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After the meeting: the two-line record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Decisions + owners + 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'Decided: renew TechServe. Maya drafts terms by 7/12; Sam reviews by 7/15.' That's the whole document.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Send it within the hour,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 attendees AND the informed-but-absent — memory of a meeting has a half-life measured in minutes.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Post it where the team decides things,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not just in one inbox: the channel, the wiki, the project page.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Unrecorded decisions get re-decided.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three-minute summary is cheaper than the second meeting to settle what the first one settled.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meeting that should have been a messag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meeting that should have been a message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standing Thursday review: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eight people, one hour, status read aloud from slides nobody saw in advance.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math: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8 people × 1 hour × 50 weeks = 400 hours a year — reading aloud what a three-line status email carries in 30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repair: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written status by Wednesday noon; Thursday shrinks to 20 minutes for the two items that need discussion.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test that generalizes: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if information flows one way and no decision is made, it's a message wearing a meeting costume.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king in shared document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Working in shared documents</a:t>
            </a:r>
          </a:p>
        </p:txBody>
      </p:sp>
      <p:sp>
        <p:nvSpPr>
          <p:cNvPr id="3" name="TextBox 2" descr="Section number 07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07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document is the meeting room now — behave accordingly.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omment etiquette in shared documen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Comment etiquette in shared documents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Comment on the text, not the author.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'This claim needs a source' — not 'you never cite anything.' (Chapter 4's review rules apply verbatim.)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Make comments resolvable.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comment is a task: state what would satisfy it, so the writer can do the thing and close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 suggestion mode for wording,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comments for substance. Direct edits to someone else's live draft are drive-by rewrites.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Resolve your own threads.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your question is answered, close it — a document with 60 open comments is unnavigable.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Big disagreements leave the margins.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comment-thread volleys mean the discussion needs a richer channel; settle it, then record the outcome.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ersion discipline: chaos vs. system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Version discipline: chaos vs. system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You have version chaos if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You have version chaos if…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Report_FINAL_v2_REALLY_final.docx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Three people edited three copies — someone's Saturday merges them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deck presented wasn't the deck approved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'Which file is current?' gets asked weekly</a:t>
            </a:r>
          </a:p>
        </p:txBody>
      </p:sp>
      <p:sp>
        <p:nvSpPr>
          <p:cNvPr id="6" name="Rounded Rectangle 5" descr="The system (four rule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The system (four rules)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ONE living copy, in shared space — never emailed as an attachment for editing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filename says what it is; the platform tracks versions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One named owner per document — merge authority lives somewhere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Frozen snapshots (sent, approved, submitted) get dated copies: 'Proposal—as-submitted-2026-07-15'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ut-of-office replies and availability signal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Out-of-office replies and availability signals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OOO has three jobs: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dates you're gone, who covers what while you are, and when the sender can expect you — three lines, done.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Name a human per category: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'Contracts: Dana Ruiz. Everything else: I'll reply after July 21.' A bare 'I'm away' just defers the sender's problem.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No apology spiral.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'I apologize for any inconvenience my vacation may cause' — rest is not a billing discrepancy (Chapter 4's tone pass).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Status indicators are micro-OOOs.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'Focus time — back at 2:00' does for an afternoon what the autoreply does for a vacation. Set them honestly, honor others'.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ider digital workpla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wider digital workplace</a:t>
            </a:r>
          </a:p>
        </p:txBody>
      </p:sp>
      <p:sp>
        <p:nvSpPr>
          <p:cNvPr id="3" name="TextBox 2" descr="Section number 08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08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Beyond inbox and chat: the channels that hold institutional memory.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hannels beyond the inbox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Channels beyond the inbox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Match the channel to the content's SHELF LIFE, not just its urgency.</a:t>
            </a:r>
          </a:p>
        </p:txBody>
      </p:sp>
      <p:sp>
        <p:nvSpPr>
          <p:cNvPr id="6" name="Oval 5" descr="Wiki / intranet pages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📚</a:t>
            </a:r>
          </a:p>
        </p:txBody>
      </p:sp>
      <p:sp>
        <p:nvSpPr>
          <p:cNvPr id="7" name="TextBox 6" descr="Wiki / intranet pages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Wiki / intranet pages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Institutional memory: how-tos, policies, decisions of record. Written once, found for years.</a:t>
            </a:r>
          </a:p>
        </p:txBody>
      </p:sp>
      <p:sp>
        <p:nvSpPr>
          <p:cNvPr id="8" name="Oval 7" descr="Internal posts &amp; newsletters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9" name="TextBox 8" descr="Internal posts &amp; newsletters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Internal posts &amp; newsletters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Broadcast without reply-pressure — announcements, wins, context-setting from leadership.</a:t>
            </a:r>
          </a:p>
        </p:txBody>
      </p:sp>
      <p:sp>
        <p:nvSpPr>
          <p:cNvPr id="10" name="Oval 9" descr="Recorded video / audio messages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🎥</a:t>
            </a:r>
          </a:p>
        </p:txBody>
      </p:sp>
      <p:sp>
        <p:nvSpPr>
          <p:cNvPr id="11" name="TextBox 10" descr="Recorded video / audio messages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Recorded video / audio messages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Tone-rich broadcast for change and morale; pair with a written summary for searchability.</a:t>
            </a:r>
          </a:p>
        </p:txBody>
      </p:sp>
      <p:sp>
        <p:nvSpPr>
          <p:cNvPr id="12" name="Oval 11" descr="Forums &amp; open channels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13" name="TextBox 12" descr="Forums &amp; open channels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Forums &amp; open channels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Questions asked in public teach everyone — yesterday's answered thread is tomorrow's documentation.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ing for the wiki: findability is the whole gam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Writing for the wiki: findability is the whole game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Title for the searcher, not the writer.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'How to submit a travel reimbursement' — the words a desperate colleague will actually type.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Answer first, context after.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Wiki readers arrive mid-task; give the steps, then the background (the inverted pyramid, again).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Date it and own it.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Every page shows when it was last verified and who maintains it — undated pages read as unreliable and usually are.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Delete or redirect the obsolete.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wrong wiki page is worse than none; it answers confidently and incorrectly forever.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Video message or written message?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Video message or written message?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35</a:t>
            </a:r>
          </a:p>
        </p:txBody>
      </p:sp>
      <p:sp>
        <p:nvSpPr>
          <p:cNvPr id="5" name="Rounded Rectangle 4" descr="Record VIDEO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Record VIDEO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Tone carries the content: change, thanks, morale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You're demonstrating something visual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audience is broad and the message is once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Always: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keep it short and attach the decisions in text</a:t>
            </a:r>
          </a:p>
        </p:txBody>
      </p:sp>
      <p:sp>
        <p:nvSpPr>
          <p:cNvPr id="6" name="Rounded Rectangle 5" descr="Write TEXT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Write TEXT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Anyone will need to find it later — video is unsearchable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Readers need to skim, quote, or forward pieces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Precision matters: numbers, dates, commitments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if someone will ask 'what exactly did they say?' — text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ignature block anatomy (this unit's assignment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Signature block anatomy (this unit's assignment)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load-bearing four: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name · title · organization · one phone number. Everything else is optional.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Optional and fine: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pronouns, LinkedIn URL, office hours or time zone — anything that helps a stranger reach you correctly.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Leave out: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inspirational quote forests, six social icons, legal disclaimers you weren't told to add, and images that arrive as attachment paperclips.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Test it where it will live: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 a phone screen, in a reply chain, in plain-text mode — the signature that only works in one client doesn't work.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real cost of 'quick' interrup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real cost of 'quick' interruptions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37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~23 min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is roughly how long it takes to fully re-engage with demanding work after an interruption, in University of California, Irvine research on task switching (Mark et al.).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ping is never just the ping.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Ten 'quick questions' can dissolve a workday without any of them being unreasonable alone.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Sender-side implication: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batch non-urgent asks; one message with three questions costs one recovery, not three.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Receiver-side implication: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unpinged block from Section 4 isn't a luxury — it's where the demanding work actually happens.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3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38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subject line is the message's job; sentence one delivers it; the dated ask ends it.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screen for routine mail — longer content becomes an attachment with a cover note.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Reply-all only when every name needs every word; To acts, CC knows; new topic, new thread.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Chat coordinates, email records; decisions graduate. Texts are invitation-only logistics.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Everything on workplace systems is logged and discoverable — type like it.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Curate the public layer; it interviews before you do. And guard your attention like capital.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5 → Practice, then the graded homework before the weekly deadline.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“On digital channels, the publicity test is not a thought experiment. It is the terms of service.”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</a:t>
            </a:r>
          </a:p>
        </p:txBody>
      </p:sp>
      <p:sp>
        <p:nvSpPr>
          <p:cNvPr id="5" name="TextBox 4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6" name="TextBox 5" descr="Slide number 3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Pull your three most recent subject lines. Which formula do they follow — and what are their repairs?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Where does your team actually decide things, and what gets lost in that channel?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Schedule-send: considerate boundary-keeping, or normalized after-hours work in disguise? Argue both, then commit.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State your personal permanence-gradient policy: what will you never type on a logged platform?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Design the company mass-email policy that makes reply-all storms impossible.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5  ·  © Derek D. Bussan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5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5  ·  © Derek D. Bussan</a:t>
            </a:r>
          </a:p>
        </p:txBody>
      </p:sp>
      <p:sp>
        <p:nvSpPr>
          <p:cNvPr id="4" name="TextBox 3" descr="Slide number 4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5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5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Build: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 email signature (this unit's assignment) to Figure 1's spec — and audit your last twenty sent messages against the playbook.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5 Study Guide — the full channel matrix, both cases, and the triage system.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6 — positive and neutral messages: the everyday mail that quietly builds your reputation.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