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17: the capstone. Value-based strategy essentials — in the tradition of the value-stick framework taught at Harvard Business School — so students' proposals and career decisions speak the language leadership actually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17 practice bank. Attribution note: the value stick framework is associated with value-based strategy scholarship at HBS (Oberholzer-Gee and colleagues) — presented here in original words with original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motivation slide: strategy literacy as a communication skill. The 'currencies leadership doesn't spend' line frames the whole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the core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stick in one slide. Customer delight = WTP − price; firm margin = price − cost; supplier/employee surplus = cost − WTS. Total value = WTP − WTS. Everything else in the chapter is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Create-vs-capture is the framework's ethical core and its practical one: positive-sum moves are more durable AND easier to sell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WTP operationalized. The invoice-vs-behavior point connects to primary research from Chapter 9 — WTP is discoverable, not mystical.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WTS is the framework's freshest idea for students. The employee application (better jobs = lower WTS = value created) reframes 'culture' as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three-lever test is the chapter's workhorse: every project, proposal, and initiative can be located on the stick — or exposed as unlocated.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WTP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WTP drivers, each tied back to persuasion machinery — the frameworks converge because they describe the same buyer.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Complements/substitutes with the pairing heuristic. The give-away-the-complement logic explains pricing students see everywhere (razors, printers, platforms).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near-customer concept — one of value-based strategy's most actionable — framed as market-scale audience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the lower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real-vs-fake cut distinction gives students the analytical vocabulary for the cost proposals they'll write and endure.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most useful reframe for future managers: culture initiatives argued in WTS language survive budget season; argued as niceness, they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Supplier WTS closes the stick tour — and lands on the thesis that the lever is literally made of business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using the framework on real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Trade-offs as the discipline of strategy. The off-strategy-proposal warning sets up the strategy-reading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Strategy-reading as an employee survival skill. The 'locate your own work' question is the career pivot the last section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strategy-vs-planning distinction, with the stop-doing test. The one-page-theory habit is the practical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worked case: diagnosis (unnamed driver), trade-off (dropped services), and the punchline — the strategic act was an act of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bringing it home to documents and careers.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practical payload: four habits that convert competent proposals into funded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closing case pairs with Chapter 13's two-candidates case deliberately: in both, the content was equal and the WRITING was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turned inward — the graduation slide. 'Communication makes your other skills visible' ties the whole course into the career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Course content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Attributed framing paraphrase, flagged as 'after' the tradition rather than a verbatim quotation.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 Question five doubles as a career-planning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 Course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rategy for Communicator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Strategy for Communicators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Where value comes from · willingness to pay, willingness to sell · and proposals that speak the language of both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17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Explain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where profit actually comes from: the gap between willingness to pay and willingness to sell.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Analyze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any business move as raising WTP, cutting cost, or lowering WTS — the only three levers there are.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proposals in value language: every ask translated into the drivers leadership already funds.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own organization's strategy well enough to aim your work at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same arithmetic to your career: your personal WTP, and what raises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y a communication course ends with strateg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Why a communication course ends with strategy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$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Every document you've learned to write — the proposal, the report, the pitch — is ultimately read by someone asking one question: does this create value?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Most professionals can't say where value comes from,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so their proposals argue features, effort, and fairness — currencies leadership doesn't spend.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writer who CAN say it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aims every ask at willingness to pay or cost — and gets funded at rates that look like luck.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This chapter is the decoder ring: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one framework, three levers, and the writing habits that use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value stick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value stick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Four points on a line explain almost everything.</a:t>
            </a:r>
          </a:p>
        </p:txBody>
      </p:sp>
      <p:sp>
        <p:nvSpPr>
          <p:cNvPr id="5" name="TextBox 4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value stick, top to botto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value stick, top to bottom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Chevron 4" descr="Step 1: WTP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WTP</a:t>
            </a:r>
          </a:p>
        </p:txBody>
      </p:sp>
      <p:sp>
        <p:nvSpPr>
          <p:cNvPr id="6" name="TextBox 5" descr="WTP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Willingness to pay: the MOST a customer would ever pay — set by the value they get</a:t>
            </a:r>
          </a:p>
        </p:txBody>
      </p:sp>
      <p:sp>
        <p:nvSpPr>
          <p:cNvPr id="7" name="Chevron 6" descr="Step 2: PRICE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8" name="TextBox 7" descr="PRICE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they actually pay — the split point of the customer's share</a:t>
            </a:r>
          </a:p>
        </p:txBody>
      </p:sp>
      <p:sp>
        <p:nvSpPr>
          <p:cNvPr id="9" name="Chevron 8" descr="Step 3: COST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TextBox 9" descr="COST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the firm spends to deliver</a:t>
            </a:r>
          </a:p>
        </p:txBody>
      </p:sp>
      <p:sp>
        <p:nvSpPr>
          <p:cNvPr id="11" name="Chevron 10" descr="Step 4: WTS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WTS</a:t>
            </a:r>
          </a:p>
        </p:txBody>
      </p:sp>
      <p:sp>
        <p:nvSpPr>
          <p:cNvPr id="12" name="TextBox 11" descr="WTS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Willingness to sell: the LEAST suppliers and employees would accept — set by how good the deal feels to them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Value created = WTP minus WTS. The firm's profit, the customer's delight, and the employee's satisfaction are all just SLICES of that one stick.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Value created vs. value captur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Value created vs. value captured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Creating value and capturing it are different acts: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firm can create enormous value and keep none (price wars), or capture briefly without creating (until customers notice).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Durable profit needs BOTH: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wide stick (big WTP-to-WTS gap) and a defensible split — which is why price alone is never a strategy.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deepest insight: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best firms compete by WIDENING the stick — more delight, better jobs — not by fighting harder over a fixed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Communication runs on the same physics: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proposal that widens the stick ('this raises WTP') beats the one that just claims a bigger slice ('we should charge more').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illingness to pay: the customer's ceil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Willingness to pay: the customer's ceiling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WTP is the maximum they'd pay before walking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the price, and not the budget: the point of indifference between buying and not.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Everything that improves their life raises 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quality, convenience, status, risk removed, time returned — WTP is where 'value' stops being abstract (Chapter 4's ladder: it has a number).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can't see WTP on an invoice;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 find it in behavior: what they trade off, what they complain about, what the audit costs them (Chapter 9's research methods).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proposal implication: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saves your team 30 hours a month' is a WTP argument — it names what the customer's ceiling is made 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illingness to sell: the floor nobody watch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Willingness to sell: the floor nobody watches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WTS is the least a supplier — or an employee — would accept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still say yes: the floor of the stick, and the most neglected lever in business.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For employees, WTS falls when work gets BETTER: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flexibility, growth, meaning, respect — people accept less total compensation for jobs they'd choose again (and stay longer, which is the cost lever wearing a culture costume).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For suppliers, WTS falls when you're a better customer: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reliable forecasts, fast payment, honest specs — being easy to sell to is a discount nobody invoices.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insight leaders miss: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lowering WTS creates value WITHOUT squeezing anyone — the opposite of the beat-them-down purchasing playbook.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only three levers there a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only three levers there are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 descr="Widen the stick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Widen the stick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Raise WTP: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customers' lives better — quality, convenience, complements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Lower WTS: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make working with you better — for employees and suppliers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Positive-sum: someone gains, nobody must lose</a:t>
            </a:r>
          </a:p>
        </p:txBody>
      </p:sp>
      <p:sp>
        <p:nvSpPr>
          <p:cNvPr id="6" name="Rounded Rectangle 5" descr="Or work the middle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Or work the middle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Cut cost: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deliver the same value for less spend — scale, learning, operations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Move price: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captures differently, creates NOTHING — the lever that looks like strategy and isn't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Test any initiative: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which lever is this? 'None' = it's not strategy, it's activity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aising willingness to pa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Raising willingness to pay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top of the stick: delight, complements, and the near-customer.</a:t>
            </a:r>
          </a:p>
        </p:txBody>
      </p:sp>
      <p:sp>
        <p:nvSpPr>
          <p:cNvPr id="5" name="TextBox 4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6" name="TextBox 5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actually raises WTP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actually raises WTP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Quality that shows up in THEIR outcomes: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instrument that cuts audit findings raises the lab's WTP by the findings' cost — not by the spec sheet's elegance (Chapter 8's outcomes-not-features).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Convenience is quality: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step removed, every integration that just works — WTP rises with friction removed (the same physics as Chapter 8's ask design).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Risk removed is WTP added: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guarantees, pilots, reliability records — certainty is a product feature customers pay for (Chapter 8's risk reversal, priced).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Status and belonging are real: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brand on the badge, the tool the good labs use — social WTP is still WTP; snobbery about it is margin left on the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plements: the products that raise YOUR valu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Complements: the products that raise YOUR value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complement makes YOUR product more valuable: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app that makes the instrument easy, the training that makes the software sticky — WTP for one rises with the other.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Cheap complements are strategy: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the complement gets cheaper, YOUR stick widens — which is why firms give away what makes their core product shine.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Spot them by the pairing question: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do customers use WITH this?' — then ask who controls it and what it costs.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Substitutes work in reverse: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cheaper alternatives cap your WTP from below — the honest proposal names both (Chapter 9's completeness).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near-customer: growth hiding in plain sigh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near-customer: growth hiding in plain sight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Near-customers value the product but don't buy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price sits above THEIR WTP, or one friction blocks them: complexity, access, a missing complement.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what blocks them, not what's wrong with them: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lab that 'can't afford it' may really mean 'can't spare the validation downtime' — different problem, solvable.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Small WTP moves recruit whole segments: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simpler tier, the financing option, the turnkey install — each converts a band of near-customers at once.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business writer should know their near-customer: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the audience-analysis question (Chapter 2), asked about the whole market.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utting cost, lowering WT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Cutting cost, lowering WTS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bottom of the stick: operations, and the jobs people would choose again.</a:t>
            </a:r>
          </a:p>
        </p:txBody>
      </p:sp>
      <p:sp>
        <p:nvSpPr>
          <p:cNvPr id="5" name="TextBox 4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6" name="TextBox 5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st: the honest lev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Cost: the honest lever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Real cost reduction delivers the SAME value for less: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scale spreading fixed costs, learning curves compounding, waste engineered out (the barcode pilot was a cost lever all along).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Fake cost reduction just moves the cost: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onto customers (worse service = WTP falls), onto employees (burnout = WTS rises) — the stick doesn't shrink; it shifts, and then it shrinks.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test for any cut: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'what happens to WTP and WTS?' — a cut that pays for itself in churn and turnover was a loan, not a saving.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cost cases in stick language: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cut leaves WTP untouched — same turnaround, same quality — and here's the verification' (Chapter 10's evidence rules).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owering employee WTS: culture as arithmetic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Lowering employee WTS: culture as arithmetic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improvement in how work FEELS lowers WTS: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autonomy, flexibility, growth, a manager who runs Chapter 16 — people stay for less than competitors must pay to poach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savings are real and layered: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lower churn, cheaper recruiting, retained knowledge — turnover is the cost line that hides in four other budgets.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This is why 'soft' initiatives are hard strategy: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mentoring program isn't a perk; it's a WTS lever with a measurable stick effect — WRITE it that way and watch it get funded.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caution: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perks nobody wants lower nothing — WTS falls when work actually improves, which requires asking (Chapter 9's surveys, Chapter 1's listening).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upplier WTS: be the customer they'd discount fo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Supplier WTS: be the customer they'd discount for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Suppliers price the RELATIONSHIP, not just the order: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chaotic buyers pay for their chaos — rush orders, spec churn, and slow payment all arrive back inside the quote.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Lower their cost of serving you, and WTS follows: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reliable forecasts, clean specs (Chapter 6's complete-ask, at contract scale), payment on time.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Share the widened stick deliberately: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long-term partners who co-invest beat auctioned vendors on everything but the first invoice.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communicator's role is the whole lever: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supplier WTS is moved almost entirely by the quality of what your organization WRITES to them — forecasts, specs, confirmations (Chapter 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rategy in practic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Strategy in practice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Trade-offs, value maps, and the difference between strategy and planning.</a:t>
            </a:r>
          </a:p>
        </p:txBody>
      </p:sp>
      <p:sp>
        <p:nvSpPr>
          <p:cNvPr id="5" name="TextBox 4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6" name="TextBox 5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rade-offs: strategy is choosing what to be bad a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Trade-offs: strategy is choosing what to be bad at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No firm can top every driver: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cheapest, fastest, highest-touch, most premium lab-services company is four different companies.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Great strategies pick their drivers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accept visible weakness on the rest — the discount airline is PROUDLY bad at legroom; that's the strategy working.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Straddling kills: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chasing every driver averages the value proposition into 'fine' — and 'fine' has the WTP of a shrug.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writing implication: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proposal that improves an off-strategy driver is well-meant noise — know which drivers YOUR firm competes on before you draft (next slide).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ading your own organization's strateg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Reading your own organization's strategy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Ignore the mission statement; watch the money: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gets funded without a fight, who gets promoted, which customers get fired — revealed strategy beats stated strategy.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Find the value drivers in the wild: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do YOUR loyal customers say they'd miss most? That answer is the strategy, whatever the poster says.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Locate your own work on the stick: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does your role raise WTP, cut cost, or lower WTS? If you can't answer, your performance review is being graded in a language you haven't learned.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Then aim your proposals at the live drivers: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initiative that serves the actual strategy needs half the persuasion (Chapter 8) of the one that fights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rategy is not plann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Strategy is not planning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plan is a list of activities with dates;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strategy is a theory of value: 'we win because our stick is wider HERE, for THESE customers.'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strategy tells you what to STOP doing; a plan never does — if nothing got harder to justify, no strategy was made.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Both are needed, in order: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theory first, activities second — a brilliant plan for an unlocated position is fast travel in a random direction.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Communicators inherit the confusion: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most 'strategy documents' you'll be asked to write are plans. Writing the actual theory in one page first (Chapter 10's one-pager) is the upgrade nobody asks for and everyone funds.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regional lab chai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regional lab chain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Twelve locations, squeezed by national discounters on price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boutique labs on service — the classic straddle, dying politely.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stick analysis: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their loyal customers' WTP driver was TURNAROUND — results a day faster than anyone, because couriers ran twice daily. Nobody inside had named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choice: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fund the driver (third courier run, overnight processing) and RAISE prices 8%; drop the money-losing services the strategy didn't need.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Two years on: fewer services, higher prices, record margins.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strategy was always there — someone finally wrote it down. That someone was a communicator with a framework.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riting with strateg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Writing with strategy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Value language in proposals — and the arithmetic of your own career.</a:t>
            </a:r>
          </a:p>
        </p:txBody>
      </p:sp>
      <p:sp>
        <p:nvSpPr>
          <p:cNvPr id="5" name="TextBox 4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6" name="TextBox 5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posal, rewritten in value languag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proposal, rewritten in value language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ask maps to a lever, named early: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raises client WTP by cutting their audit prep' or 'this is a pure cost lever: same output, 30 fewer hours' (Chapter 10's problem section, upgraded).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Price the status quo in stick terms: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'doing nothing keeps our WTS high — we're losing techs to labs with better systems' (Chapter 8's status-quo move, with a framework behind it).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Quantify the lever, not the effort: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leadership doesn't fund busy; it funds moved sticks — '$18K of annual rework' beats 'significant team effort' every time (Chapter 4).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lever per proposal, argued deep: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initiative that claims all three levers usually moves none — the dilution effect (Chapter 8) applies to value claims too.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wo proposals, one budget li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two proposals, one budget line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Proposal A asked for a $30K training program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because 'our people deserve investment and morale is suffering.' True, heartfelt, unfunded.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Proposal B asked for the same $30K: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'Exit interviews name growth as our top loss driver. Replacing one tech costs $22K. This program targets the three roles with the worst churn — breakeven at 1.4 retentions, and we lose 4 a year.'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Same program. Same price. Same sincerity.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 named the lever (WTS down), priced the status quo, and did the breakeven arithmetic — the language of the people holding the pen.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leadership wasn't heartless in rejecting A. A never told them what it was worth. B did. That's the entire chapter — and most of the course.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personal value stic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personal value stick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Employers have a WTP for you: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set by the problems you can solve — every skill in this course raises it, because communication is the skill that makes your other skills visible (Chapter 13's case).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 have a WTS: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least you'd accept for THIS job — and it moves with growth, flexibility, meaning, and a manager who runs Chapter 16.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Negotiate the whole gap, not just salary (Chapter 14):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the price is fixed, development budget and flexibility are WTS moves — value for you that costs them less than cash.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Career strategy is stick strategy: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pick roles that RAISE your future WTP (skills, evidence, network) even at equal pay — the wide stick compounds; the flat one just pays.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Value created = WTP minus WTS; profit, delight, and good jobs are slices of that one stick.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Only three levers exist: raise WTP, cut real cost, lower WTS — locate every initiative or call it activity.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WTS is the neglected lever: better jobs and better partnerships create value without squeezing anyone.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Strategy is trade-offs — it tells you what to stop; watch the money, not the mission statement.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Write proposals in lever language with the status quo priced — funded beats heartfelt, and both is best.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Run the stick on your career: raise your WTP with skills and evidence; negotiate the whole gap.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17 → Practice, then the graded homework before the weekly deadline.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“Value is created in the gap between what customers would pay and what it truly costs to serve them — and it is communicated, or it is lost.”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 — after the value-based strategy tradition (Harvard Business School)</a:t>
            </a:r>
          </a:p>
        </p:txBody>
      </p:sp>
      <p:sp>
        <p:nvSpPr>
          <p:cNvPr id="5" name="TextBox 4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6" name="TextBox 5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Run the three-lever test on your employer's (or university's) last three visible initiatives. Which lever — or was it activity?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Name a firm that is PROUDLY bad at something. What does that weakness buy on the drivers it competes on?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Find the WTS lever in a job you've held: what change would have made you stay for less — and what did it cost the employer NOT to make it?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Rewrite a real (or imagined) proposal ask in value language: lever named, status quo priced, breakeven shown.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Draw your personal value stick for your target role: what sets your WTP, what sets your WTS, and which skill moves your WTP most this year?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17  ·  © Derek D. Bussan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17  ·  © Derek D. Bussan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17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17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Rewrite your capstone proposal's opening in value language — lever, status quo price, breakeven.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Reflect: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 now own the full stack: plan, draft, revise, persuade, report, present, lead, and locate the value. Use it on something real this month.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course site stays up: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practice banks, study guides, and decks remain available — the toolkit doesn't expire with the term.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