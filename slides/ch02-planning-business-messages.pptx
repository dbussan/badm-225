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2: the invisible half of writing — planning. Companion study guide covers everything here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guide sections and the site's Chapter 2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rework is the hidden cost of unplanned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Unbundling the three mental jobs explains most 'writer's block': it is usually undone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template aloud with two or three class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versions are falsifiable — you can check whether the purpose was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overload is the most common planning failure in student and workplace email alike.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messages travel. The rings are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Memorable compression of the rings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Archetypes accelerate audience analysis. Most change announcements fail the third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Frontloading is not style preference; it is designing for measured reading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facts, re-anchored on the reader. Grammar follows the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Connects to Chapter 16's face-saving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rungs usually suffice. Great drill for resumes too — preview of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Tone is planned, not left to mood.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context continuum, applied at planning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the objection first is manufactured ethos — honestly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Compressed discipline for real inboxes.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sentences, matched to message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single exception — indirect openings for bad news — and its own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Silence on the top objection hands interpretation to the grapevine — Chapter 1's rule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the overlap between your goal and their benefit; both people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widens the hypothesis list; judgment stays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discussion-board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Planning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Purpose · audience analysis · reader benefits · tone · the decisions before the first word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2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one-sentence purpose statement naming who must do what, and why they would want to.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audience in rings — primary, secondary, gatekeeper, hidden — and write for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Convert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writer-view sentences and feature lists into you-view benefits.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tone deliberately with the formality dial: positive, fossil-free, bias-free.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 skeptical readers: name objections, answer the big two, make yes small and dated.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expensive sentence i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expensive sentence in business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×2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…is the one that has to be sent twice. Unclear messages generate replies, corrections, meetings, and wrong action.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Planning buys the time back.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Minutes spent deciding purpose, audience, and benefit are repaid every time version one does its job.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 agrees: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 writers differ from novices mostly in how much they plan — goals and audience, before and during drafting (Flower &amp; Hayes, 1981).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Novices start typing.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Experts start deciding.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riting proc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writing process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Plan, draft, revise — three different mental jobs, deliberately separated.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phases, three different job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phases, three different jobs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PLAN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6" name="TextBox 5" descr="PLAN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Decide: purpose, audience, benefit, channel. Half the work happens here.</a:t>
            </a:r>
          </a:p>
        </p:txBody>
      </p:sp>
      <p:sp>
        <p:nvSpPr>
          <p:cNvPr id="7" name="Chevron 6" descr="Step 2: DRAFT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8" name="TextBox 7" descr="DRAFT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Generate: get it down, not perfect. Refuse to edit while writing.</a:t>
            </a:r>
          </a:p>
        </p:txBody>
      </p:sp>
      <p:sp>
        <p:nvSpPr>
          <p:cNvPr id="9" name="Chevron 8" descr="Step 3: REVIS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REVISE</a:t>
            </a:r>
          </a:p>
        </p:txBody>
      </p:sp>
      <p:sp>
        <p:nvSpPr>
          <p:cNvPr id="10" name="TextBox 9" descr="REVIS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Judge: reader's eyes, structure, polish, proof. Chapter 4's territory.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Separating deciding, generating, and judging is why drafts come faster and revisions cut deeper. This chapter is phase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Purpose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message, one job.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purpose stat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purpose statement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WHO must act?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WHO must act?</a:t>
            </a:r>
          </a:p>
        </p:txBody>
      </p:sp>
      <p:sp>
        <p:nvSpPr>
          <p:cNvPr id="6" name="TextBox 5" descr="WHO must act?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 — named, not 'everyone.'</a:t>
            </a:r>
          </a:p>
        </p:txBody>
      </p:sp>
      <p:sp>
        <p:nvSpPr>
          <p:cNvPr id="7" name="Chevron 6" descr="Step 2: WHAT exactly?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exactly?</a:t>
            </a:r>
          </a:p>
        </p:txBody>
      </p:sp>
      <p:sp>
        <p:nvSpPr>
          <p:cNvPr id="8" name="TextBox 7" descr="WHAT exactly?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 checkable act with a date, not a topic.</a:t>
            </a:r>
          </a:p>
        </p:txBody>
      </p:sp>
      <p:sp>
        <p:nvSpPr>
          <p:cNvPr id="9" name="Chevron 8" descr="Step 3: WHY would they?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WHY would they?</a:t>
            </a:r>
          </a:p>
        </p:txBody>
      </p:sp>
      <p:sp>
        <p:nvSpPr>
          <p:cNvPr id="10" name="TextBox 9" descr="WHY would they?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reason — the benefit in their terms.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Template: “So that [reader] does [specific act] because [their reason].” If you can't complete it, you're not ready to draft.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statements: weak vs.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statements: weak vs. working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Wea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Weak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“Update everyone on the project.”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“Tell the team about the new expense system.”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actor, no action, no test for success</a:t>
            </a:r>
          </a:p>
        </p:txBody>
      </p:sp>
      <p:sp>
        <p:nvSpPr>
          <p:cNvPr id="6" name="Rounded Rectangle 5" descr="Work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Working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my manager approves two extra testing days, because shipping untested risks the client.”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every team member submits May expenses in the new system by May 31, because late entries wait until July.”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someone else could verify whether the message worked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overload: the message that does everything and achieves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overload: the message that does everything and achieves nothing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asks, two announcements, and a question in one email — every purpose competes with the others.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Readers act on one 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Ten asks produce either the easiest one or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message, one job. The second ask gets its own message or a clearly separated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Corollary for subject 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subject names THE job: “Approve budget rev by Fri” beats “Some updates.”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udi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Audience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to the person who is actually there — and everyone behind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audience comes in ring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audience comes in rings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Primar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6" name="TextBox 5" descr="Primary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reader who acts. Profile them: what do they know, feel, need?</a:t>
            </a:r>
          </a:p>
        </p:txBody>
      </p:sp>
      <p:sp>
        <p:nvSpPr>
          <p:cNvPr id="7" name="Oval 6" descr="Secondar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◍</a:t>
            </a:r>
          </a:p>
        </p:txBody>
      </p:sp>
      <p:sp>
        <p:nvSpPr>
          <p:cNvPr id="8" name="TextBox 7" descr="Secondar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forward, the file, next year's reader. Define terms they won't know.</a:t>
            </a:r>
          </a:p>
        </p:txBody>
      </p:sp>
      <p:sp>
        <p:nvSpPr>
          <p:cNvPr id="9" name="Oval 8" descr="Gatekeep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0" name="TextBox 9" descr="Gatekeep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Gatekeeper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Decides whether your message reaches the primary reader at all — the assistant, the moderator, the algorithm.</a:t>
            </a:r>
          </a:p>
        </p:txBody>
      </p:sp>
      <p:sp>
        <p:nvSpPr>
          <p:cNvPr id="11" name="Oval 10" descr="Hidden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12" name="TextBox 11" descr="Hidden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Hidden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Legal, HR, competitors, the public record. Never write what this ring shouldn't see.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rwardabi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forwardability test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FWD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Could this message be forwarded, unedited, without embarrassing me?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compresses audience analysis into one question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— and it is the question your message will eventually face anyway.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Passing it changes drafting: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defined terms, professional tone everywhere, nothing said about people you wouldn't say to them.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Failing it has a name in court records: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'Exhibit A.'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readers you will meet everywhe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readers you will meet everywhere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The executive skimm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6" name="TextBox 5" descr="The executive skimm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executive skimmer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line, two sentences, bolded deadline — on a phone. Frontload or vanish.</a:t>
            </a:r>
          </a:p>
        </p:txBody>
      </p:sp>
      <p:sp>
        <p:nvSpPr>
          <p:cNvPr id="7" name="Oval 6" descr="The expert scrutiniz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8" name="TextBox 7" descr="The expert scrutiniz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expert scrutinizer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Checks your numbers, notices omissions. Precise claims, cited evidence, objections addressed.</a:t>
            </a:r>
          </a:p>
        </p:txBody>
      </p:sp>
      <p:sp>
        <p:nvSpPr>
          <p:cNvPr id="9" name="Oval 8" descr="The anxious stakehold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💭</a:t>
            </a:r>
          </a:p>
        </p:txBody>
      </p:sp>
      <p:sp>
        <p:nvSpPr>
          <p:cNvPr id="10" name="TextBox 9" descr="The anxious stakehold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anxious stakeholder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Asks only 'what does this mean for ME?' Answer it explicitly and early — inference under anxiety picks the worst reading.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sign for how peopl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Design for how people actually read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Screen readers scan in an F-pattern: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first lines fully, then less of each line, then down the left edge (Nielsen, 2006).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ask lives in sentence one; paragraphs open with their point; deadlines get bold; lists give scanners handholds.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inverted pyramid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most important first — has served journalism for a century for the same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Below the first screen is optional reading.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hide required action there.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you-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you-view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reader is the main character.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er-view → you-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Writer-view → you-view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Writer-view (I/w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Writer-view (I/we)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are pleased to announce our new evening hours.”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have approved your request.”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policy requires this form.”</a:t>
            </a:r>
          </a:p>
        </p:txBody>
      </p:sp>
      <p:sp>
        <p:nvSpPr>
          <p:cNvPr id="6" name="Rounded Rectangle 5" descr="You-view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You-view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 can now shop weeknights until 9 p.m.”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request is approved — your new hours begin Monday.”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“To protect your refund, submit this form by Friday.”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cautions that keep the you-view hon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cautions that keep the you-view honest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not the word “you.”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organizing content around reader benefit — “you will be terminated” is you-view grammar and a diplomatic disaster.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 criticism, pivot AWAY from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report needs sources” beats “you forgot the sources” — protect dignity, target the 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principle under both: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face the reader's interests, protect the reader's face.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Ethics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framing real benefits is respect; inventing benefits is manipulation.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“which means” ladder: features → benefi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“which means” ladder: features → benefits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Chevron 4" descr="Step 1: Fea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 descr="Fea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“The new LIMS auto-logs samples”</a:t>
            </a:r>
          </a:p>
        </p:txBody>
      </p:sp>
      <p:sp>
        <p:nvSpPr>
          <p:cNvPr id="7" name="Chevron 6" descr="Step 2: …which mean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8" name="TextBox 7" descr="…which mean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manual entry for your techs</a:t>
            </a:r>
          </a:p>
        </p:txBody>
      </p:sp>
      <p:sp>
        <p:nvSpPr>
          <p:cNvPr id="9" name="Chevron 8" descr="Step 3: …which means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10" name="TextBox 9" descr="…which means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 hour a day saved, and transcription errors gone from audits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Climb until the sentence contains something the reader would put in their own status report. Can't finish the ladder? The feature may not belong in the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Tone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professional voice, dialed to the occasion.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tting the dial delibera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Setting the dial deliberately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Prefer positive framing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☀</a:t>
            </a:r>
          </a:p>
        </p:txBody>
      </p:sp>
      <p:sp>
        <p:nvSpPr>
          <p:cNvPr id="6" name="TextBox 5" descr="Prefer positive framing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Prefer positive framing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order ships Friday” beats “We cannot ship before Friday.” Same fact, opposite experience.</a:t>
            </a:r>
          </a:p>
        </p:txBody>
      </p:sp>
      <p:sp>
        <p:nvSpPr>
          <p:cNvPr id="7" name="Oval 6" descr="Retire the fossil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8" name="TextBox 7" descr="Retire the fossil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Retire the fossils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“Per my last email,” “please be advised,” “enclosed please find” — inherited noise, not respect.</a:t>
            </a:r>
          </a:p>
        </p:txBody>
      </p:sp>
      <p:sp>
        <p:nvSpPr>
          <p:cNvPr id="9" name="Oval 8" descr="Bias-free by defaul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0" name="TextBox 9" descr="Bias-free by defaul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Bias-free by default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Neutral titles, person-first language, the names and pronouns people use. Precision IS respect.</a:t>
            </a:r>
          </a:p>
        </p:txBody>
      </p:sp>
      <p:sp>
        <p:nvSpPr>
          <p:cNvPr id="11" name="Oval 10" descr="Match the reader's stak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🎚</a:t>
            </a:r>
          </a:p>
        </p:txBody>
      </p:sp>
      <p:sp>
        <p:nvSpPr>
          <p:cNvPr id="12" name="TextBox 11" descr="Match the reader's stak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Match the reader's stakes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Cheerful tone on their billing error reads as indifference. Measured tone earns trust.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global and multicultural rea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global and multicultural readers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Strip idioms at the planning stage.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“Low-hanging fruit” and every sports metaphor force double translation.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Unambiguous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“5 March 2026,” never “3/5/26.”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More context for high-context readers.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Relationship before business isn't padding — it's the message working (Hall, 1976).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a reluctant no surface safely.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“What obstacles should we plan around?” beats demanding a yes/no.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gently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Explicit for low-context readers, face-saving for high-context ones.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keptical read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skeptical reader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Receptive audiences forgive shortcuts. Skeptical ones bill for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resist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resistance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Chevron 4" descr="Step 1: List their objections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List their objections</a:t>
            </a:r>
          </a:p>
        </p:txBody>
      </p:sp>
      <p:sp>
        <p:nvSpPr>
          <p:cNvPr id="6" name="TextBox 5" descr="List their objections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Before writing. Honestly.</a:t>
            </a:r>
          </a:p>
        </p:txBody>
      </p:sp>
      <p:sp>
        <p:nvSpPr>
          <p:cNvPr id="7" name="Chevron 6" descr="Step 2: Answer the big two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 the big two</a:t>
            </a:r>
          </a:p>
        </p:txBody>
      </p:sp>
      <p:sp>
        <p:nvSpPr>
          <p:cNvPr id="8" name="TextBox 7" descr="Answer the big two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Inside the message, not after it.</a:t>
            </a:r>
          </a:p>
        </p:txBody>
      </p:sp>
      <p:sp>
        <p:nvSpPr>
          <p:cNvPr id="9" name="Chevron 8" descr="Step 3: Show, don't clai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Show, don't claim</a:t>
            </a:r>
          </a:p>
        </p:txBody>
      </p:sp>
      <p:sp>
        <p:nvSpPr>
          <p:cNvPr id="10" name="TextBox 9" descr="Show, don't clai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beats adjectives.</a:t>
            </a:r>
          </a:p>
        </p:txBody>
      </p:sp>
      <p:sp>
        <p:nvSpPr>
          <p:cNvPr id="11" name="Chevron 10" descr="Step 4: Make yes easy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Make yes easy</a:t>
            </a:r>
          </a:p>
        </p:txBody>
      </p:sp>
      <p:sp>
        <p:nvSpPr>
          <p:cNvPr id="12" name="TextBox 11" descr="Make yes easy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Small ask, clear step, real date.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 the price yourself: “This costs $2,400, and here's why it pays back in six weeks” beats hoping nobody notices.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 time to plan? The 60-second vers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 time to plan? The 60-second version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Three questions cover routine messages. Save the full canvas for money, strangers, resistance, or permanence.</a:t>
            </a:r>
          </a:p>
        </p:txBody>
      </p:sp>
      <p:sp>
        <p:nvSpPr>
          <p:cNvPr id="6" name="Oval 5" descr="What do I want?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What do I want?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 I want?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Complete the purpose template silently: so that [reader] does [act] because [reason].</a:t>
            </a:r>
          </a:p>
        </p:txBody>
      </p:sp>
      <p:sp>
        <p:nvSpPr>
          <p:cNvPr id="8" name="Oval 7" descr="Why would they care?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Why would they care?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Why would they care?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reader benefit — moved into sentence one.</a:t>
            </a:r>
          </a:p>
        </p:txBody>
      </p:sp>
      <p:sp>
        <p:nvSpPr>
          <p:cNvPr id="10" name="Oval 9" descr="What happens next?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What happens next?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happens next?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specific act plus a date, at the 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1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1)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Routine requ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6" name="TextBox 5" descr="Routine request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Routine request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 immediately: “Could you send the Q2 vendor list by Thursday noon?”</a:t>
            </a:r>
          </a:p>
        </p:txBody>
      </p:sp>
      <p:sp>
        <p:nvSpPr>
          <p:cNvPr id="7" name="Oval 6" descr="Good new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8" name="TextBox 7" descr="Good new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Good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itself: “Your proposal is approved — funding starts May 1.”</a:t>
            </a:r>
          </a:p>
        </p:txBody>
      </p:sp>
      <p:sp>
        <p:nvSpPr>
          <p:cNvPr id="9" name="Oval 8" descr="Updat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ℹ</a:t>
            </a:r>
          </a:p>
        </p:txBody>
      </p:sp>
      <p:sp>
        <p:nvSpPr>
          <p:cNvPr id="10" name="TextBox 9" descr="Updat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one-line takeaway: “Migration finished; all systems normal.”</a:t>
            </a:r>
          </a:p>
        </p:txBody>
      </p:sp>
      <p:sp>
        <p:nvSpPr>
          <p:cNvPr id="11" name="Oval 10" descr="Meeting follow-up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2" name="TextBox 11" descr="Meeting follow-up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Meeting follow-up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decisions: “Three decisions from today's call:”</a:t>
            </a:r>
          </a:p>
        </p:txBody>
      </p:sp>
      <p:sp>
        <p:nvSpPr>
          <p:cNvPr id="13" name="Oval 12" descr="Request to a stranger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14" name="TextBox 13" descr="Request to a stranger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Request to a stranger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connection: “Dr. Rios suggested I contact you about the co-op program.”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2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2)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Oval 4" descr="Gentle remin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6" name="TextBox 5" descr="Gentle reminder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Gentle reminder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Assume good faith: “Resending in case this got buried — form due Friday.”</a:t>
            </a:r>
          </a:p>
        </p:txBody>
      </p:sp>
      <p:sp>
        <p:nvSpPr>
          <p:cNvPr id="7" name="Oval 6" descr="Complex proposal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Complex proposal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Complex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Recommendation first, roadmap second: “I recommend renewing with TechServe; comparison below.”</a:t>
            </a:r>
          </a:p>
        </p:txBody>
      </p:sp>
      <p:sp>
        <p:nvSpPr>
          <p:cNvPr id="9" name="Oval 8" descr="Bad new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☁</a:t>
            </a:r>
          </a:p>
        </p:txBody>
      </p:sp>
      <p:sp>
        <p:nvSpPr>
          <p:cNvPr id="10" name="TextBox 9" descr="Bad new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Bad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 exception: a buffer of honest context first. (Chapter 7 covers this.)</a:t>
            </a:r>
          </a:p>
        </p:txBody>
      </p:sp>
      <p:sp>
        <p:nvSpPr>
          <p:cNvPr id="11" name="Oval 10" descr="Thank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12" name="TextBox 11" descr="Thank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Thanks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specific act: “Your triage of Saturday's outage saved the launch.”</a:t>
            </a:r>
          </a:p>
        </p:txBody>
      </p:sp>
      <p:sp>
        <p:nvSpPr>
          <p:cNvPr id="13" name="Oval 12" descr="Apolog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14" name="TextBox 13" descr="Apolog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Apology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Ownership without hedging: “I missed the deadline I committed to.”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wellness memo that backfi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wellness memo that backfired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launch: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all-staff memo celebrating the company's investment, listing program features, closing with excitement. Participation: 11%.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grapevine's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“they're making us do screenings so insurance can raise our rates.”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Planning failures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benefits were the company's feature list; the audience's #1 objection (my data?) went unanswered; the anxious stakeholder was forgotten.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replanned opening: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“A $40 monthly premium credit and free screenings on work time. Your results go to you alone — the company sees only anonymous counts.”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$545 request, planned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$545 request, planned two 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Rounded Rectangle 4" descr="Version A (declined politely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A (declined politely)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“…this certification would be a great step in my professional growth…”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writer's growth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Manager's benefits: zero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Call to action: “I hope…” — nothing checkable</a:t>
            </a:r>
          </a:p>
        </p:txBody>
      </p:sp>
      <p:sp>
        <p:nvSpPr>
          <p:cNvPr id="6" name="Rounded Rectangle 5" descr="Version B (approv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 (approved)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“Funding my CQA exam ($545) lets us close audit findings in-house instead of $1,800 external reviews.”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department's math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Ask: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“approve by the 15th for the early rate”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your real reasons are legitimate — the MESSAGE'S reasons must be the reader's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as a planning partn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as a planning partner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Safest AI phase of writing: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generating hypotheses, not facts.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Useful prompts: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“List objections a hospital CFO might raise” · “What does a first-year employee NOT know in this announcement?” · “Rewrite this opening so the reader benefit comes first.”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boundary: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reader. Treat output as a brainstormed list; verify against the human you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paste confidential context into public tools. (Chapter 15 has the full playbook.)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Experts decide before they draft — planning is half the work.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message, one job: “so that [reader] does [act] because [their reason].”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Audiences come in rings; write to the primary, write knowing the rest exist.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you-view faces the reader's interests and protects the reader's dignity.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 is one voice on a deliberate dial — positive, fossil-free, bias-free, stakes-matched.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skeptics: name objections, answer the big two, show evidence, make yes small and dated.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2 → Practice, then the graded homework before the weekly deadline.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question that rescues more messages than any other: why would the reader want to?”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 to one line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Write the purpose statement for a recent message that flopped. Did the sent version serve that purpose?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real gatekeeper or hidden audience in your world. How does their existence change one message this month?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marketing email's opening in genuine you-view. Who was the original planned for?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Aristotle's appeals do you lean on by habit — and which audience needs the one you use least?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Apply the six-box canvas to a public document that fails plain-language standards. What was never decided?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2  ·  © Derek D. Bussan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2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2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2 Study Guide (course site download) — the full 20+ page treatment with figures, cases, and the planner worksheet.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the 60-second plan on every real message you send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3 — organizing and drafting: direct vs. indirect strategy, paragraphs, and sentences that carry weight.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