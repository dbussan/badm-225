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10: the formal apparatus. Everything from Chapter 9's pyramid, plus front matter, back matter, and the compliance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map to the Chapter 10 practice bank and the capstone feasibility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Framing: this chapter is the commercial summit of the course. Students who write fundable proposals have a permanently portable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1: classification. The quadrants matter because each shifts what you must prove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unsolicited proposal spends its first third proving the problem exists and costs money — skipping that step is the genre's classic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External proposals become legal documents on acceptance — every promised deliverable and date should be written as if a lawyer will read it, because one might.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spine of the chapter. Each part gets its own slide next — the skeleton is memorizable, the craft is in the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Funders fund problems, then choose solutions. The discipline of keeping the solution out of the problem section is what makes the problem credible.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dated-milestone plan is also your future protection: scope creep attacks proposals with fuzzy deliverables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staffing section is where unsupported confidence goes to die. Two credentials per person, chosen for fit, is the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framing rule ties budget to problem quantification — the two sections argue as a pair. Lowballing discussion: winning unprofitable work is losing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risks section is counterintuitively where trust is built: proposals with no named risks read as either naive or evasive, and evaluators can't tell which is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2: solicited proposals and the compliance discipline that decides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Government and institutional RFPs especially: compliance screening happens before scoring, and it is clerical, not judgmental. The rules are the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matrix is tedious and decisive. Teams that build it on day one write toward it; teams that build it the night before discover the gaps at the worst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proposal shop has a near-miss story; the 24-hour buffer rule is written in someone's scar tissue. The questions-deadline point is the one students don't know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Composite of the standard procurement pattern. 'Not found' doesn't mean absent — it means not findable in the time an evaluator actually 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3: the formal report's anatomy — the upgrade kit bolted onto Chapter 9's pyramid.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three-reader model organizes the whole section. Nobody reads a formal report cover to cover — it's a building with three entrances.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generated-TOC rule is practical: typed TOCs drift from reality by the third revision, and a wrong page number in the TOC indicts everything after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four-beat anatomy from the study guide's figure. 'Written last' because you can't summarize what doesn't exist yet; drafting it first produces a summary of intentions.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preview-vs-verdict distinction is the most common failure. The outsider test operationalizes 'standalone' into something students can actually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chain must be auditable: finding → conclusion → recommendation. A recommendation with no parent conclusion is advocacy that snuck in — evaluators hunt for exactly those.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verification layer completes the three-reader design: the auditor's path must be as deliberate as the decider's. Landfill appendices signal a writer who couldn't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4: research integrity. Formal reports live or die on whether their evidence survives hostile checking.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ladder from the study guide. Rung 5 includes AI: fluent, confident, and uncited is exactly the failure mode the ladder exists to catch.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CAP+C — a fast, memorable screen. The purpose question does the most work in business contexts, where most convenient sources are interested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quadrant from the guide. The your-analysis rung reframes citation positively: citing generously makes clear which insights are original — it takes nothing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practical AI-research policy in four lines. The fabricated-citation problem is the vivid one: a confident reference to a nonexistent paper survives every check except the real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Deliberately minimal: enough mechanics to be correct, pointed at consistency as the real standard. The two-way promise rule catches most student citation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5: document operations — the unglamorous discipline that separates proposal shops from proposal accidents.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guide's versioning deep dive. The as-submitted snapshot is the load-bearing habit: post-award disputes are almost always about which words were operative when.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red-team review is standard in serious proposal shops and unknown to students — one cold reader with the RFP's checklist finds what six authors can't.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guide's one-pager section. The synchronization warning is real: decks and one-pagers drift from the master document unless someone owns the pairing.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three-reader model closing its loop: proposals are won in the summary, defended in the body, and decided — more often than anyone admits — in the back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before column is recognizable from real reports — grammatically flawless, informationally empty. The after column is the four-beat anatomy, executed.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Async-ready.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Delivery-neutral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roposals and Formal Reports"/>
          <p:cNvSpPr>
            <a:spLocks noGrp="1"/>
          </p:cNvSpPr>
          <p:nvPr>
            <p:ph type="title"/>
          </p:nvPr>
        </p:nvSpPr>
        <p:spPr>
          <a:xfrm>
            <a:off x="822960" y="1920240"/>
            <a:ext cx="10515600" cy="173736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Proposals and Formal Reports</a:t>
            </a:r>
          </a:p>
        </p:txBody>
      </p:sp>
      <p:sp>
        <p:nvSpPr>
          <p:cNvPr id="3" name="TextBox 2" descr="Course label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BFD8C6"/>
                </a:solidFill>
                <a:latin typeface="Calibri"/>
              </a:rPr>
              <a:t>BADM 225 · PROFESSIONAL COMMUNICATION FOR BUSINESS</a:t>
            </a:r>
          </a:p>
        </p:txBody>
      </p:sp>
      <p:sp>
        <p:nvSpPr>
          <p:cNvPr id="4" name="TextBox 3" descr="Subtitle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EAF1EB"/>
                </a:solidFill>
                <a:latin typeface="Calibri"/>
              </a:rPr>
              <a:t>The documents that move money · executive summaries · RFP compliance · sources that survive scrutiny</a:t>
            </a:r>
          </a:p>
        </p:txBody>
      </p:sp>
      <p:sp>
        <p:nvSpPr>
          <p:cNvPr id="5" name="TextBox 4" descr="Attribution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A8C4B2"/>
                </a:solidFill>
                <a:latin typeface="Calibri"/>
              </a:rPr>
              <a:t>BADM 225 · Chapter 10  ·  Original instructional material — no publisher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you'll be able to do after this chapt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you'll be able to do after this chapter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Map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any proposal onto the quadrants — solicited/unsolicited, internal/external — and know which burden of proof you carry.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Build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six-part proposal skeleton: problem, solution, plan, staffing, budget, risks.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Win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RFP compliance game: their structure, their checklist, their deadline — before your brilliance is even read.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Assemble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formal report's three layers — front matter, body, back matter — for three different readers.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Write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executive summary last, place it first, and make it stand alone.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Grade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 source on the credibility ladder and cite it with integrity.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roposals are how money mov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Proposals are how money moves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</a:t>
            </a:r>
          </a:p>
        </p:txBody>
      </p:sp>
      <p:sp>
        <p:nvSpPr>
          <p:cNvPr id="5" name="Rounded Rectangle 4" descr="Highlighted statistic"/>
          <p:cNvSpPr/>
          <p:nvPr/>
        </p:nvSpPr>
        <p:spPr>
          <a:xfrm>
            <a:off x="548640" y="1645920"/>
            <a:ext cx="4206240" cy="420624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$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AF1EB"/>
                </a:solidFill>
                <a:latin typeface="Calibri"/>
              </a:rPr>
              <a:t>Almost every dollar that changes hands between organizations — grants, contracts, budgets, partnerships — was asked for in writing first.</a:t>
            </a:r>
          </a:p>
        </p:txBody>
      </p:sp>
      <p:sp>
        <p:nvSpPr>
          <p:cNvPr id="6" name="TextBox 5" descr="Supporting points"/>
          <p:cNvSpPr txBox="1"/>
          <p:nvPr/>
        </p:nvSpPr>
        <p:spPr>
          <a:xfrm>
            <a:off x="5212080" y="173736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proposal is persuasion (Chapter 8)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wearing formal dress: same pipeline, higher stakes, stricter rules.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formal report is analysis (Chapter 9)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built for readers who weren't in the room — including readers you'll never meet.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Together they are the genre where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writing skill converts most directly into funded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proposal quadrant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proposal quadrants</a:t>
            </a:r>
          </a:p>
        </p:txBody>
      </p:sp>
      <p:sp>
        <p:nvSpPr>
          <p:cNvPr id="3" name="TextBox 2" descr="Section number 01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01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Who asked, and who's paying — two questions that set your burden of proof.</a:t>
            </a:r>
          </a:p>
        </p:txBody>
      </p:sp>
      <p:sp>
        <p:nvSpPr>
          <p:cNvPr id="5" name="TextBox 4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6" name="TextBox 5" descr="Slide number 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olicited or unsolicited?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Solicited or unsolicited?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5</a:t>
            </a:r>
          </a:p>
        </p:txBody>
      </p:sp>
      <p:sp>
        <p:nvSpPr>
          <p:cNvPr id="5" name="Rounded Rectangle 4" descr="SOLICITED — they asked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SOLICITED — they asked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An RFP (request for proposals) defines the need, format, and deadline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problem is already sold — your job is the best answer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Compliance with THEIR structure is scored before content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Burden of proof: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why YOU, against known competitors</a:t>
            </a:r>
          </a:p>
        </p:txBody>
      </p:sp>
      <p:sp>
        <p:nvSpPr>
          <p:cNvPr id="6" name="Rounded Rectangle 5" descr="UNSOLICITED — you spotted it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UNSOLICITED — you spotted it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You saw a need they haven't formally named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You must sell the PROBLEM before any solution (Chapter 8's hook)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No format rules — but no budget line waiting either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Burden of proof: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why THIS problem deserves money at 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Internal or external?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Internal or external?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6</a:t>
            </a:r>
          </a:p>
        </p:txBody>
      </p:sp>
      <p:sp>
        <p:nvSpPr>
          <p:cNvPr id="5" name="Rounded Rectangle 4" descr="INTERNAL — inside your organization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INTERNAL — inside your organization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Justification reports' big sibling (Chapter 9)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Reader knows the context; skip the company history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Currency: hours, budget lines, strategic fit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Tone: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direct, memo-dressed, politically aware — pre-wire it (Chapter 8)</a:t>
            </a:r>
          </a:p>
        </p:txBody>
      </p:sp>
      <p:sp>
        <p:nvSpPr>
          <p:cNvPr id="6" name="Rounded Rectangle 5" descr="EXTERNAL — crossing the boundary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EXTERNAL — crossing the boundary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Contracts, grants, client work — binding commitments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Reader may know nothing; context earns its pages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Formal apparatus expected: letterhead, signatures, terms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Tone: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write like a contract, because it may become 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six-part proposal skelet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six-part proposal skeleton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7</a:t>
            </a:r>
          </a:p>
        </p:txBody>
      </p:sp>
      <p:sp>
        <p:nvSpPr>
          <p:cNvPr id="5" name="Chevron 4" descr="Step 1: PROBLEM"/>
          <p:cNvSpPr/>
          <p:nvPr/>
        </p:nvSpPr>
        <p:spPr>
          <a:xfrm>
            <a:off x="548640" y="1828800"/>
            <a:ext cx="1767840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6" name="TextBox 5" descr="PROBLEM detail"/>
          <p:cNvSpPr txBox="1"/>
          <p:nvPr/>
        </p:nvSpPr>
        <p:spPr>
          <a:xfrm>
            <a:off x="548640" y="3154680"/>
            <a:ext cx="176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Their pain, quantified — why money should move</a:t>
            </a:r>
          </a:p>
        </p:txBody>
      </p:sp>
      <p:sp>
        <p:nvSpPr>
          <p:cNvPr id="7" name="Chevron 6" descr="Step 2: SOLUTION"/>
          <p:cNvSpPr/>
          <p:nvPr/>
        </p:nvSpPr>
        <p:spPr>
          <a:xfrm>
            <a:off x="2426208" y="1828800"/>
            <a:ext cx="1767840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8" name="TextBox 7" descr="SOLUTION detail"/>
          <p:cNvSpPr txBox="1"/>
          <p:nvPr/>
        </p:nvSpPr>
        <p:spPr>
          <a:xfrm>
            <a:off x="2426208" y="3154680"/>
            <a:ext cx="176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What, how, and why THIS approach</a:t>
            </a:r>
          </a:p>
        </p:txBody>
      </p:sp>
      <p:sp>
        <p:nvSpPr>
          <p:cNvPr id="9" name="Chevron 8" descr="Step 3: PLAN"/>
          <p:cNvSpPr/>
          <p:nvPr/>
        </p:nvSpPr>
        <p:spPr>
          <a:xfrm>
            <a:off x="4303776" y="1828800"/>
            <a:ext cx="1767840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0" name="TextBox 9" descr="PLAN detail"/>
          <p:cNvSpPr txBox="1"/>
          <p:nvPr/>
        </p:nvSpPr>
        <p:spPr>
          <a:xfrm>
            <a:off x="4303776" y="3154680"/>
            <a:ext cx="176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Phases, milestones, deliverables — dated</a:t>
            </a:r>
          </a:p>
        </p:txBody>
      </p:sp>
      <p:sp>
        <p:nvSpPr>
          <p:cNvPr id="11" name="Chevron 10" descr="Step 4: STAFFING"/>
          <p:cNvSpPr/>
          <p:nvPr/>
        </p:nvSpPr>
        <p:spPr>
          <a:xfrm>
            <a:off x="6181344" y="1828800"/>
            <a:ext cx="1767840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STAFFING</a:t>
            </a:r>
          </a:p>
        </p:txBody>
      </p:sp>
      <p:sp>
        <p:nvSpPr>
          <p:cNvPr id="12" name="TextBox 11" descr="STAFFING detail"/>
          <p:cNvSpPr txBox="1"/>
          <p:nvPr/>
        </p:nvSpPr>
        <p:spPr>
          <a:xfrm>
            <a:off x="6181344" y="3154680"/>
            <a:ext cx="176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Why you — ethos with evidence</a:t>
            </a:r>
          </a:p>
        </p:txBody>
      </p:sp>
      <p:sp>
        <p:nvSpPr>
          <p:cNvPr id="13" name="Chevron 12" descr="Step 5: BUDGET"/>
          <p:cNvSpPr/>
          <p:nvPr/>
        </p:nvSpPr>
        <p:spPr>
          <a:xfrm>
            <a:off x="8058912" y="1828800"/>
            <a:ext cx="1767840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BUDGET</a:t>
            </a:r>
          </a:p>
        </p:txBody>
      </p:sp>
      <p:sp>
        <p:nvSpPr>
          <p:cNvPr id="14" name="TextBox 13" descr="BUDGET detail"/>
          <p:cNvSpPr txBox="1"/>
          <p:nvPr/>
        </p:nvSpPr>
        <p:spPr>
          <a:xfrm>
            <a:off x="8058912" y="3154680"/>
            <a:ext cx="176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Itemized, justified, framed</a:t>
            </a:r>
          </a:p>
        </p:txBody>
      </p:sp>
      <p:sp>
        <p:nvSpPr>
          <p:cNvPr id="15" name="Chevron 14" descr="Step 6: RISKS"/>
          <p:cNvSpPr/>
          <p:nvPr/>
        </p:nvSpPr>
        <p:spPr>
          <a:xfrm>
            <a:off x="9936480" y="1828800"/>
            <a:ext cx="1767840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RISKS</a:t>
            </a:r>
          </a:p>
        </p:txBody>
      </p:sp>
      <p:sp>
        <p:nvSpPr>
          <p:cNvPr id="16" name="TextBox 15" descr="RISKS detail"/>
          <p:cNvSpPr txBox="1"/>
          <p:nvPr/>
        </p:nvSpPr>
        <p:spPr>
          <a:xfrm>
            <a:off x="9936480" y="3154680"/>
            <a:ext cx="176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 could go wrong + mitigations</a:t>
            </a:r>
          </a:p>
        </p:txBody>
      </p:sp>
      <p:sp>
        <p:nvSpPr>
          <p:cNvPr id="17" name="Rounded Rectangle 16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Every funder reads with three questions: is the problem real? will this fix it? can THESE people deliver it? The skeleton answers them in order.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problem section: where proposals are w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problem section: where proposals are won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8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Quantify the pain in the reader's units.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'Manual intake burns 30 tech-hours a month' — their hours, their dollars, their risk (Chapter 8's hook, formalized).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Cite the source of every number.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problem statement built on 'it seems like a lot' funds nothing; the helpdesk export funds projects.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Show the cost of doing nothing.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status quo has a price tag — print it. 'No' is never free, and this paragraph proves 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Stop before the solution leaks in.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problem section that mentions your product is a sales pitch wearing a lab coat — readers smell it instantly.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olution and plan: specific enough to be checke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Solution and plan: specific enough to be checked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solution states the mechanism,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not the magic: what happens, in what order, producing what — 'barcode intake replaces manual entry at both benches.'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Why THIS approach beats the alternatives: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name the two you rejected and the reason (two-sided argument, Chapter 8) — evaluators are comparing anyway.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plan converts promise to milestones: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phases with dates, deliverables per phase, and what the client sees at each gate.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Every vague verb is a negotiation you'll lose later.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'Optimize workflows' commits you to nothing and to everything — 'reduce intake time below 60 seconds' can be verified and invoiced.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taffing: ethos with a résumé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Staffing: ethos with a résumé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Name the people who will actually do the work,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with the two credentials each that matter for THIS project — not the firm's whole trophy case.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Relevant beats impressive.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'Ran three lab migrations this size' outweighs 'twenty years of industry leadership' every time.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Show capacity, not just capability: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evaluators fund teams that visibly have room — 'lead assigned at 60% for the duration' answers the unasked question.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Past performance is the strongest evidence: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one named, referenceable, similar project — with its result — beats a page of adjectives (social proof, Chapter 8).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budget: arithmetic with an argumen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budget: arithmetic with an argument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Itemize to the level the reader must defend.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Your funder has a funder — give them the line items THEY need to justify the yes upstairs.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Justify the big lines in one sentence each.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'Two calibration units at $3,200 — one per bench, eliminating the queue' — number, purpose, consequence.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Frame the total against the problem's cost.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'$24K against the $67K the current process burns annually' — the budget's last line should recall the problem's first number.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No padding, no lowballing.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Padding gets found in evaluation; lowballing gets found in month three — both are reputation events, one is also a loss.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isks and evaluation: the section that builds trus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Risks and evaluation: the section that builds trust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Name the real risks yourself.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evaluator has already thought of them — your naming them first converts a vulnerability into ethos (two-sided, again).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Each risk gets a mitigation, not a shrug.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'Vendor delay → pre-ordered long-lead items in week one' — the pair is the point.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Define success measurably, in advance.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'Intake under 60 seconds, zero transcription findings at 90 days' — agreed metrics make your final report unarguable (Chapter 8's pilot case).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Include how and when you'll report.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promised cadence — 'milestone reports at each gate' — is a small line that signals operational maturity.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RFP game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RFP game</a:t>
            </a:r>
          </a:p>
        </p:txBody>
      </p:sp>
      <p:sp>
        <p:nvSpPr>
          <p:cNvPr id="3" name="TextBox 2" descr="Section number 02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02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Compliance is scored before content is read.</a:t>
            </a:r>
          </a:p>
        </p:txBody>
      </p:sp>
      <p:sp>
        <p:nvSpPr>
          <p:cNvPr id="5" name="TextBox 4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6" name="TextBox 5" descr="Slide number 1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ir structure is your structur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Their structure is your structure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1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14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Mirror the RFP's section names and order — exactly.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Evaluators score with a checklist built from their own document; making them hunt costs you points before content is judged.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Answer every requirement where they expect it,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even when your material fits better elsewhere — 'see section 4' is a point deduction wearing a courtesy.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Respect every format rule: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page limits, font sizes, file formats — a 21-page response to a 20-page limit can be disqualified unread, and sometimes is.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Brilliance is tiebreaker, compliance is entry.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order matters: non-compliant proposals don't reach the round where brilliance counts.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compliance matrix: your submission insuranc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compliance matrix: your submission insurance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1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15</a:t>
            </a:r>
          </a:p>
        </p:txBody>
      </p:sp>
      <p:sp>
        <p:nvSpPr>
          <p:cNvPr id="5" name="Oval 4" descr="Harvest every 'shall' and 'must'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6" name="TextBox 5" descr="Harvest every 'shall' and 'must'"/>
          <p:cNvSpPr txBox="1"/>
          <p:nvPr/>
        </p:nvSpPr>
        <p:spPr>
          <a:xfrm>
            <a:off x="1417320" y="16002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Harvest every 'shall' and 'must'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Read the RFP with a highlighter; each one is a scored requirement, including the ones buried in appendices.</a:t>
            </a:r>
          </a:p>
        </p:txBody>
      </p:sp>
      <p:sp>
        <p:nvSpPr>
          <p:cNvPr id="7" name="Oval 6" descr="Map requirement → your section → page icon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🗺</a:t>
            </a:r>
          </a:p>
        </p:txBody>
      </p:sp>
      <p:sp>
        <p:nvSpPr>
          <p:cNvPr id="8" name="TextBox 7" descr="Map requirement → your section → page"/>
          <p:cNvSpPr txBox="1"/>
          <p:nvPr/>
        </p:nvSpPr>
        <p:spPr>
          <a:xfrm>
            <a:off x="1417320" y="278892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Map requirement → your section → page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Three columns; every row filled before submission — the empty row IS the finding.</a:t>
            </a:r>
          </a:p>
        </p:txBody>
      </p:sp>
      <p:sp>
        <p:nvSpPr>
          <p:cNvPr id="9" name="Oval 8" descr="Assign an owner per requirement icon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10" name="TextBox 9" descr="Assign an owner per requirement"/>
          <p:cNvSpPr txBox="1"/>
          <p:nvPr/>
        </p:nvSpPr>
        <p:spPr>
          <a:xfrm>
            <a:off x="1417320" y="39776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Assign an owner per requirement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On team proposals, unowned requirements are how 'I thought you had it' reaches the evaluator.</a:t>
            </a:r>
          </a:p>
        </p:txBody>
      </p:sp>
      <p:sp>
        <p:nvSpPr>
          <p:cNvPr id="11" name="Oval 10" descr="Submit the matrix with the proposal icon"/>
          <p:cNvSpPr/>
          <p:nvPr/>
        </p:nvSpPr>
        <p:spPr>
          <a:xfrm>
            <a:off x="640080" y="52212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📎</a:t>
            </a:r>
          </a:p>
        </p:txBody>
      </p:sp>
      <p:sp>
        <p:nvSpPr>
          <p:cNvPr id="12" name="TextBox 11" descr="Submit the matrix with the proposal"/>
          <p:cNvSpPr txBox="1"/>
          <p:nvPr/>
        </p:nvSpPr>
        <p:spPr>
          <a:xfrm>
            <a:off x="1417320" y="51663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Submit the matrix with the proposal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Many RFPs require it; the rest reward it — you just did the evaluator's first pass for them.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eadlines are cliffs, not target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Deadlines are cliffs, not targets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2:00 PM means 1:59 was the last safe minute.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2:01 submission is a non-submission — no evaluator will ever see how good it was.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Portals crash at 1:55.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Everyone submits in the final window; plan to be complete 24 hours early and uploaded by breakfast.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Time zones have eaten fortunes.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'2:00 PM ET' read casually in Denver is a career story — convert every deadline to your clock, in writing, on day one.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questions deadline matters too: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most RFPs close clarification questions weeks before submission — the ambiguity you sit on becomes the guess you submit.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B+ that beat the A−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B+ that beat the A−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Firm A wrote the smarter solution: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genuinely better architecture, sharper pricing — organized their own way, two requirements answered 'throughout the document.'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Firm B wrote the compliant one: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 section mirrored the RFP, compliance matrix attached, every 'shall' traceable in thirty seconds.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Scoring: B won on points before quality was weighed.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Two of A's requirements were marked 'not found' — the evaluators had 40 proposals and 40 minutes each.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lesson: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evaluator's constraint is time, not intelligence. Compliance is how you respect it — and how you win with the second-best mousetrap.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Formal report architecture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Formal report architecture</a:t>
            </a:r>
          </a:p>
        </p:txBody>
      </p:sp>
      <p:sp>
        <p:nvSpPr>
          <p:cNvPr id="3" name="TextBox 2" descr="Section number 03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03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Three layers, three readers, three paths through the document.</a:t>
            </a:r>
          </a:p>
        </p:txBody>
      </p:sp>
      <p:sp>
        <p:nvSpPr>
          <p:cNvPr id="5" name="TextBox 4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6" name="TextBox 5" descr="Slide number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three layer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three layers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19</a:t>
            </a:r>
          </a:p>
        </p:txBody>
      </p:sp>
      <p:sp>
        <p:nvSpPr>
          <p:cNvPr id="5" name="Chevron 4" descr="Step 1: FRONT MATTER"/>
          <p:cNvSpPr/>
          <p:nvPr/>
        </p:nvSpPr>
        <p:spPr>
          <a:xfrm>
            <a:off x="548640" y="1828800"/>
            <a:ext cx="3645408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FRONT MATTER</a:t>
            </a:r>
          </a:p>
        </p:txBody>
      </p:sp>
      <p:sp>
        <p:nvSpPr>
          <p:cNvPr id="6" name="TextBox 5" descr="FRONT MATTER detail"/>
          <p:cNvSpPr txBox="1"/>
          <p:nvPr/>
        </p:nvSpPr>
        <p:spPr>
          <a:xfrm>
            <a:off x="548640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Cover · title page · transmittal · contents · executive summary</a:t>
            </a:r>
          </a:p>
        </p:txBody>
      </p:sp>
      <p:sp>
        <p:nvSpPr>
          <p:cNvPr id="7" name="Chevron 6" descr="Step 2: BODY"/>
          <p:cNvSpPr/>
          <p:nvPr/>
        </p:nvSpPr>
        <p:spPr>
          <a:xfrm>
            <a:off x="4303776" y="1828800"/>
            <a:ext cx="3645408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BODY</a:t>
            </a:r>
          </a:p>
        </p:txBody>
      </p:sp>
      <p:sp>
        <p:nvSpPr>
          <p:cNvPr id="8" name="TextBox 7" descr="BODY detail"/>
          <p:cNvSpPr txBox="1"/>
          <p:nvPr/>
        </p:nvSpPr>
        <p:spPr>
          <a:xfrm>
            <a:off x="4303776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Introduction → findings → conclusions → recommendations</a:t>
            </a:r>
          </a:p>
        </p:txBody>
      </p:sp>
      <p:sp>
        <p:nvSpPr>
          <p:cNvPr id="9" name="Chevron 8" descr="Step 3: BACK MATTER"/>
          <p:cNvSpPr/>
          <p:nvPr/>
        </p:nvSpPr>
        <p:spPr>
          <a:xfrm>
            <a:off x="8058912" y="1828800"/>
            <a:ext cx="3645408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BACK MATTER</a:t>
            </a:r>
          </a:p>
        </p:txBody>
      </p:sp>
      <p:sp>
        <p:nvSpPr>
          <p:cNvPr id="10" name="TextBox 9" descr="BACK MATTER detail"/>
          <p:cNvSpPr txBox="1"/>
          <p:nvPr/>
        </p:nvSpPr>
        <p:spPr>
          <a:xfrm>
            <a:off x="8058912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References · appendices — the verification layer</a:t>
            </a:r>
          </a:p>
        </p:txBody>
      </p:sp>
      <p:sp>
        <p:nvSpPr>
          <p:cNvPr id="11" name="Rounded Rectangle 10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Three readers, three paths: the decider reads the executive summary, the implementer reads the body, the auditor reads the appendices. Design all three paths deliberately.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Front matter, piece by piec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Front matter, piece by piece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2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20</a:t>
            </a:r>
          </a:p>
        </p:txBody>
      </p:sp>
      <p:sp>
        <p:nvSpPr>
          <p:cNvPr id="5" name="Oval 4" descr="Title page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🏷</a:t>
            </a:r>
          </a:p>
        </p:txBody>
      </p:sp>
      <p:sp>
        <p:nvSpPr>
          <p:cNvPr id="6" name="TextBox 5" descr="Title page"/>
          <p:cNvSpPr txBox="1"/>
          <p:nvPr/>
        </p:nvSpPr>
        <p:spPr>
          <a:xfrm>
            <a:off x="1417320" y="16002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Title page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Title that states the subject AND scope · prepared for/by · date. 'Feasibility of Barcode Intake at the Fargo Lab' — not 'Lab Report.'</a:t>
            </a:r>
          </a:p>
        </p:txBody>
      </p:sp>
      <p:sp>
        <p:nvSpPr>
          <p:cNvPr id="7" name="Oval 6" descr="Transmittal letter or memo icon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✉</a:t>
            </a:r>
          </a:p>
        </p:txBody>
      </p:sp>
      <p:sp>
        <p:nvSpPr>
          <p:cNvPr id="8" name="TextBox 7" descr="Transmittal letter or memo"/>
          <p:cNvSpPr txBox="1"/>
          <p:nvPr/>
        </p:nvSpPr>
        <p:spPr>
          <a:xfrm>
            <a:off x="1417320" y="278892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Transmittal letter or memo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handshake: what this is, why they're receiving it, the one-line bottom line, and your contact for questions.</a:t>
            </a:r>
          </a:p>
        </p:txBody>
      </p:sp>
      <p:sp>
        <p:nvSpPr>
          <p:cNvPr id="9" name="Oval 8" descr="Table of contents icon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📑</a:t>
            </a:r>
          </a:p>
        </p:txBody>
      </p:sp>
      <p:sp>
        <p:nvSpPr>
          <p:cNvPr id="10" name="TextBox 9" descr="Table of contents"/>
          <p:cNvSpPr txBox="1"/>
          <p:nvPr/>
        </p:nvSpPr>
        <p:spPr>
          <a:xfrm>
            <a:off x="1417320" y="39776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Table of contents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Generated, never typed — informative headings (Chapter 3) make it read as a summary by itself.</a:t>
            </a:r>
          </a:p>
        </p:txBody>
      </p:sp>
      <p:sp>
        <p:nvSpPr>
          <p:cNvPr id="11" name="Oval 10" descr="Executive summary icon"/>
          <p:cNvSpPr/>
          <p:nvPr/>
        </p:nvSpPr>
        <p:spPr>
          <a:xfrm>
            <a:off x="640080" y="52212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⭐</a:t>
            </a:r>
          </a:p>
        </p:txBody>
      </p:sp>
      <p:sp>
        <p:nvSpPr>
          <p:cNvPr id="12" name="TextBox 11" descr="Executive summary"/>
          <p:cNvSpPr txBox="1"/>
          <p:nvPr/>
        </p:nvSpPr>
        <p:spPr>
          <a:xfrm>
            <a:off x="1417320" y="51663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Executive summary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most-read page in the document — next two slides.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Executive summary anatom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Executive summary anatomy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2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21</a:t>
            </a:r>
          </a:p>
        </p:txBody>
      </p:sp>
      <p:sp>
        <p:nvSpPr>
          <p:cNvPr id="5" name="Chevron 4" descr="Step 1: SITUATION"/>
          <p:cNvSpPr/>
          <p:nvPr/>
        </p:nvSpPr>
        <p:spPr>
          <a:xfrm>
            <a:off x="548640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SITUATION</a:t>
            </a:r>
          </a:p>
        </p:txBody>
      </p:sp>
      <p:sp>
        <p:nvSpPr>
          <p:cNvPr id="6" name="TextBox 5" descr="SITUATION detail"/>
          <p:cNvSpPr txBox="1"/>
          <p:nvPr/>
        </p:nvSpPr>
        <p:spPr>
          <a:xfrm>
            <a:off x="548640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Why this document exists — one or two sentences</a:t>
            </a:r>
          </a:p>
        </p:txBody>
      </p:sp>
      <p:sp>
        <p:nvSpPr>
          <p:cNvPr id="7" name="Chevron 6" descr="Step 2: ANSWER"/>
          <p:cNvSpPr/>
          <p:nvPr/>
        </p:nvSpPr>
        <p:spPr>
          <a:xfrm>
            <a:off x="3364992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ANSWER</a:t>
            </a:r>
          </a:p>
        </p:txBody>
      </p:sp>
      <p:sp>
        <p:nvSpPr>
          <p:cNvPr id="8" name="TextBox 7" descr="ANSWER detail"/>
          <p:cNvSpPr txBox="1"/>
          <p:nvPr/>
        </p:nvSpPr>
        <p:spPr>
          <a:xfrm>
            <a:off x="3364992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recommendation + its strongest number</a:t>
            </a:r>
          </a:p>
        </p:txBody>
      </p:sp>
      <p:sp>
        <p:nvSpPr>
          <p:cNvPr id="9" name="Chevron 8" descr="Step 3: REASONS"/>
          <p:cNvSpPr/>
          <p:nvPr/>
        </p:nvSpPr>
        <p:spPr>
          <a:xfrm>
            <a:off x="6181344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REASONS</a:t>
            </a:r>
          </a:p>
        </p:txBody>
      </p:sp>
      <p:sp>
        <p:nvSpPr>
          <p:cNvPr id="10" name="TextBox 9" descr="REASONS detail"/>
          <p:cNvSpPr txBox="1"/>
          <p:nvPr/>
        </p:nvSpPr>
        <p:spPr>
          <a:xfrm>
            <a:off x="6181344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pyramid's second layer, one sentence each</a:t>
            </a:r>
          </a:p>
        </p:txBody>
      </p:sp>
      <p:sp>
        <p:nvSpPr>
          <p:cNvPr id="11" name="Chevron 10" descr="Step 4: THE ASK"/>
          <p:cNvSpPr/>
          <p:nvPr/>
        </p:nvSpPr>
        <p:spPr>
          <a:xfrm>
            <a:off x="8997696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12" name="TextBox 11" descr="THE ASK detail"/>
          <p:cNvSpPr txBox="1"/>
          <p:nvPr/>
        </p:nvSpPr>
        <p:spPr>
          <a:xfrm>
            <a:off x="8997696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Decision needed, by whom, by when</a:t>
            </a:r>
          </a:p>
        </p:txBody>
      </p:sp>
      <p:sp>
        <p:nvSpPr>
          <p:cNvPr id="13" name="Rounded Rectangle 12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Written LAST · placed FIRST · standalone. Most readers read nothing else — the summary must survive being the only page anyone sees.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Executive summary disciplin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Executive summary discipline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2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It is not a preview — it is the verdict.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'This report examines three options…' summarizes the table of contents; 'Refurbish the three units — saving $23K a year' summarizes the REPORT.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Standalone means standalone: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 'as shown in section 3,' no undefined acronyms, no dependence on exhibits the reader won't open.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 page, hard limit.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two-page executive summary is a short report with an identity crisis — compress or cut.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Test it on someone who won't read the report.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If they can state your recommendation and its reason afterward, it works. That test is the whole spec.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onclusions vs. recommendations — keep them separat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Conclusions vs. recommendations — keep them separate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2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23</a:t>
            </a:r>
          </a:p>
        </p:txBody>
      </p:sp>
      <p:sp>
        <p:nvSpPr>
          <p:cNvPr id="5" name="Rounded Rectangle 4" descr="CONCLUSIONS — what the evidence means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CONCLUSIONS — what the evidence means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'The current process cannot scale past 600 samples/week'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Interpretations, drawn strictly from the findings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Each conclusion traceable to specific evidence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No new facts allowed here</a:t>
            </a:r>
          </a:p>
        </p:txBody>
      </p:sp>
      <p:sp>
        <p:nvSpPr>
          <p:cNvPr id="6" name="Rounded Rectangle 5" descr="RECOMMENDATIONS — what to do about it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RECOMMENDATIONS — what to do about it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'Adopt barcode intake at both benches by Q4'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Actions: verb-first, owner-ready, dated where possible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Each recommendation traceable to a conclusion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Numbered, so meetings can argue about #3 by name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ack matter: the verification lay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Back matter: the verification layer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2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24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Appendices hold the journey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summit displaced: raw data, method detail, instrument specs, interview notes — everything the auditor needs and the decider skips.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Every appendix is referenced from the body,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by its point: 'full survey results in Appendix B' — an unreferenced appendix is cargo (Chapter 9's exhibit rule).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References let every claim be traced.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list is where 'trust me' becomes 'check me' — the report's whole credibility, itemized.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appendix is not a landfill.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Material that supports nothing in the body doesn't get to hide in the back — cut means cut.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ources and citation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Sources and citation</a:t>
            </a:r>
          </a:p>
        </p:txBody>
      </p:sp>
      <p:sp>
        <p:nvSpPr>
          <p:cNvPr id="3" name="TextBox 2" descr="Section number 04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04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credibility ladder — and the boundary that protects your name.</a:t>
            </a:r>
          </a:p>
        </p:txBody>
      </p:sp>
      <p:sp>
        <p:nvSpPr>
          <p:cNvPr id="5" name="TextBox 4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6" name="TextBox 5" descr="Slide number 2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source credibility ladd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source credibility ladder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2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26</a:t>
            </a:r>
          </a:p>
        </p:txBody>
      </p:sp>
      <p:sp>
        <p:nvSpPr>
          <p:cNvPr id="5" name="TextBox 4" descr="Context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5E6B64"/>
                </a:solidFill>
                <a:latin typeface="Calibri"/>
              </a:rPr>
              <a:t>A recommendation is only as strong as the weakest source under its load-bearing claim.</a:t>
            </a:r>
          </a:p>
        </p:txBody>
      </p:sp>
      <p:sp>
        <p:nvSpPr>
          <p:cNvPr id="6" name="Oval 5" descr="Primary data — strongest icon"/>
          <p:cNvSpPr/>
          <p:nvPr/>
        </p:nvSpPr>
        <p:spPr>
          <a:xfrm>
            <a:off x="640080" y="19751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 descr="Primary data — strongest"/>
          <p:cNvSpPr txBox="1"/>
          <p:nvPr/>
        </p:nvSpPr>
        <p:spPr>
          <a:xfrm>
            <a:off x="1417320" y="19202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Primary data — strongest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Your measurements, surveys, pilots: yours to defend, and defensible.</a:t>
            </a:r>
          </a:p>
        </p:txBody>
      </p:sp>
      <p:sp>
        <p:nvSpPr>
          <p:cNvPr id="8" name="Oval 7" descr="Peer-reviewed and official icon"/>
          <p:cNvSpPr/>
          <p:nvPr/>
        </p:nvSpPr>
        <p:spPr>
          <a:xfrm>
            <a:off x="640080" y="2999232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 descr="Peer-reviewed and official"/>
          <p:cNvSpPr txBox="1"/>
          <p:nvPr/>
        </p:nvSpPr>
        <p:spPr>
          <a:xfrm>
            <a:off x="1417320" y="294436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Peer-reviewed and official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Journals, standards bodies, government statistics — vetted before you arrived.</a:t>
            </a:r>
          </a:p>
        </p:txBody>
      </p:sp>
      <p:sp>
        <p:nvSpPr>
          <p:cNvPr id="10" name="Oval 9" descr="Reputable secondary icon"/>
          <p:cNvSpPr/>
          <p:nvPr/>
        </p:nvSpPr>
        <p:spPr>
          <a:xfrm>
            <a:off x="640080" y="4023360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 descr="Reputable secondary"/>
          <p:cNvSpPr txBox="1"/>
          <p:nvPr/>
        </p:nvSpPr>
        <p:spPr>
          <a:xfrm>
            <a:off x="1417320" y="396849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Reputable secondary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Industry reports, quality journalism — verify the underlying source before leaning.</a:t>
            </a:r>
          </a:p>
        </p:txBody>
      </p:sp>
      <p:sp>
        <p:nvSpPr>
          <p:cNvPr id="12" name="Oval 11" descr="Vendor and advocacy icon"/>
          <p:cNvSpPr/>
          <p:nvPr/>
        </p:nvSpPr>
        <p:spPr>
          <a:xfrm>
            <a:off x="640080" y="5047488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 descr="Vendor and advocacy"/>
          <p:cNvSpPr txBox="1"/>
          <p:nvPr/>
        </p:nvSpPr>
        <p:spPr>
          <a:xfrm>
            <a:off x="1417320" y="499262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Vendor and advocacy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Useful, interested — corroborate before any load-bearing use.</a:t>
            </a:r>
          </a:p>
        </p:txBody>
      </p:sp>
      <p:sp>
        <p:nvSpPr>
          <p:cNvPr id="14" name="Oval 13" descr="Unsourced web / AI output — never load-bearing icon"/>
          <p:cNvSpPr/>
          <p:nvPr/>
        </p:nvSpPr>
        <p:spPr>
          <a:xfrm>
            <a:off x="640080" y="6071616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 descr="Unsourced web / AI output — never load-bearing"/>
          <p:cNvSpPr txBox="1"/>
          <p:nvPr/>
        </p:nvSpPr>
        <p:spPr>
          <a:xfrm>
            <a:off x="1417320" y="601675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Unsourced web / AI output — never load-bearing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Trace it to a real source or drop the claim. No exceptions for convenient claims.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Evaluating any source in ninety second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Evaluating any source in ninety seconds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2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Currency: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when was this true? The 2019 benchmark in a 2026 report needs a reason to still be there.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Authority: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who says so, and what would they know? An author, an institution, a method — findable or the rung drops.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Purpose: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who benefits if you believe it? The vendor whitepaper isn't false — it's interested, and interest shapes selection.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Corroboration: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does anyone independent agree? One source is a claim; two independent sources are the start of a fact.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itation integrity: what needs a citati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Citation integrity: what needs a citation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2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28</a:t>
            </a:r>
          </a:p>
        </p:txBody>
      </p:sp>
      <p:sp>
        <p:nvSpPr>
          <p:cNvPr id="5" name="TextBox 4" descr="Context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5E6B64"/>
                </a:solidFill>
                <a:latin typeface="Calibri"/>
              </a:rPr>
              <a:t>The boundary protects you twice: from plagiarism, and from owning claims you can't defend.</a:t>
            </a:r>
          </a:p>
        </p:txBody>
      </p:sp>
      <p:sp>
        <p:nvSpPr>
          <p:cNvPr id="6" name="Oval 5" descr="Quote icon"/>
          <p:cNvSpPr/>
          <p:nvPr/>
        </p:nvSpPr>
        <p:spPr>
          <a:xfrm>
            <a:off x="640080" y="19751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“”</a:t>
            </a:r>
          </a:p>
        </p:txBody>
      </p:sp>
      <p:sp>
        <p:nvSpPr>
          <p:cNvPr id="7" name="TextBox 6" descr="Quote"/>
          <p:cNvSpPr txBox="1"/>
          <p:nvPr/>
        </p:nvSpPr>
        <p:spPr>
          <a:xfrm>
            <a:off x="1417320" y="19202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Quote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Their exact words → quotation marks + citation. Both, always.</a:t>
            </a:r>
          </a:p>
        </p:txBody>
      </p:sp>
      <p:sp>
        <p:nvSpPr>
          <p:cNvPr id="8" name="Oval 7" descr="Paraphrase icon"/>
          <p:cNvSpPr/>
          <p:nvPr/>
        </p:nvSpPr>
        <p:spPr>
          <a:xfrm>
            <a:off x="640080" y="31638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↺</a:t>
            </a:r>
          </a:p>
        </p:txBody>
      </p:sp>
      <p:sp>
        <p:nvSpPr>
          <p:cNvPr id="9" name="TextBox 8" descr="Paraphrase"/>
          <p:cNvSpPr txBox="1"/>
          <p:nvPr/>
        </p:nvSpPr>
        <p:spPr>
          <a:xfrm>
            <a:off x="1417320" y="31089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Paraphrase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Their idea, your words → citation still required. Rewording transfers nothing.</a:t>
            </a:r>
          </a:p>
        </p:txBody>
      </p:sp>
      <p:sp>
        <p:nvSpPr>
          <p:cNvPr id="10" name="Oval 9" descr="Common knowledge icon"/>
          <p:cNvSpPr/>
          <p:nvPr/>
        </p:nvSpPr>
        <p:spPr>
          <a:xfrm>
            <a:off x="640080" y="435254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11" name="TextBox 10" descr="Common knowledge"/>
          <p:cNvSpPr txBox="1"/>
          <p:nvPr/>
        </p:nvSpPr>
        <p:spPr>
          <a:xfrm>
            <a:off x="1417320" y="429768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Common knowledge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Undisputed and widely available → no citation needed.</a:t>
            </a:r>
          </a:p>
        </p:txBody>
      </p:sp>
      <p:sp>
        <p:nvSpPr>
          <p:cNvPr id="12" name="Oval 11" descr="Your analysis icon"/>
          <p:cNvSpPr/>
          <p:nvPr/>
        </p:nvSpPr>
        <p:spPr>
          <a:xfrm>
            <a:off x="640080" y="55412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13" name="TextBox 12" descr="Your analysis"/>
          <p:cNvSpPr txBox="1"/>
          <p:nvPr/>
        </p:nvSpPr>
        <p:spPr>
          <a:xfrm>
            <a:off x="1417320" y="54864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Your analysis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Your conclusions from cited evidence → the part that's actually yours — and the part your name should sit 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AI in the research pipelin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AI in the research pipeline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2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AI is a research assistant, not a source.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'ChatGPT says' is rung five — use it to find real sources, summarize them, and draft, never as the authority itself.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Verify every fact it hands you.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AI produces plausible citations to papers that don't exist — check that the source is real AND says what's claimed (both failures are common).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Disclose per your institution's and client's rules.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Norms are still forming; the safe default is transparency about tools in the method section.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judgment stays yours: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source selection, evidence weighing, and the recommendation are the parts that can't be delegated — they're also the parts being graded, in school and after.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ocumentation without the semina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Documentation without the seminar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3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Pick one style and be consistent.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APA is the business-school default; consistency matters more than which style — mixed formats read as carelessness.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In-text: author and year carry the weight.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(Okafor, 2025) — enough for the reader to find the full entry; page numbers for quotes.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references list is a promise: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 in-text citation appears there; everything there is cited in text. Orphans in either direction are findings.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Cite the version you actually used: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2024 revision, the June dataset, the archived page — sources move, and your citation is a timestamp.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Managing the living document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Managing the living document</a:t>
            </a:r>
          </a:p>
        </p:txBody>
      </p:sp>
      <p:sp>
        <p:nvSpPr>
          <p:cNvPr id="3" name="TextBox 2" descr="Section number 05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05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Versions, teams, and the one-pager that travels ahead of the tome.</a:t>
            </a:r>
          </a:p>
        </p:txBody>
      </p:sp>
      <p:sp>
        <p:nvSpPr>
          <p:cNvPr id="5" name="TextBox 4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6" name="TextBox 5" descr="Slide number 3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Versioning the living proposal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Versioning the living proposal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3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 living copy, one owner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(Chapter 5's rules, at contract stakes) — merge authority lives with a named person, or Saturday belongs to someone.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Freeze what leaves the building: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'Proposal—as-submitted-2026-07-15' is a dated, read-only snapshot — because 'which version did they sign?' is a legal question.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Negotiations amend the frozen copy visibly: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tracked changes against as-submitted, so every delta from the original promise is findable.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version log is one line per freeze: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date, what changed, who approved — thirty seconds of writing per event, hours of dispute insurance.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riting big documents as a team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Writing big documents as a team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3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33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Divide by section, unify by skeleton: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everyone writes into the agreed pyramid and compliance matrix — division of labor without division of structure.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 voice pass at the end, one editor.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Six authors are audible in an unedited proposal; the final pass makes it one document instead of a stapled anthology.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Shared style decisions up front: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terminology, tense, how the client is named — the two-minute glossary prevents two hundred inconsistencies.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red team reads it cold: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one colleague who wrote nothing, scoring it as the evaluator will — their confusion is your cheapest revision (Chapter 4, scaled up).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one-pager: the document that travels ahea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one-pager: the document that travels ahead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3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34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Every big proposal needs a light envoy: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one page — problem, solution, number, ask — for the meeting, the forward, the hallway.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It's the executive summary with a life of its own: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same four beats, standing fully alone, formatted to be read on a phone in a corridor.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one-pager gets you the meeting;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proposal survives the scrutiny the meeting triggers. Different jobs — build both, and build them to agree.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Keep them synchronized: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one-pager promising what the proposal doesn't say is a credibility event at the worst possible moment.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proposal that won on the appendix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proposal that won on the appendix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3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Two finalists, near-identical solutions and prices.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evaluation committee deadlocked and did what deadlocked committees do: sent both to their technical staff.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Firm A's appendix held the method: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instrument validation data, the pilot's raw numbers, the survey with its denominator — every body-claim traceable in one hop.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Firm B's appendix held brochures.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technical reviewer's one-line memo: 'A shows their work; B shows their marketing.'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lesson: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auditor's path decided a seven-figure award. The verification layer isn't overhead — it's the tiebreaker you build in advance.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executive summary: before and aft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executive summary: before and after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3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36</a:t>
            </a:r>
          </a:p>
        </p:txBody>
      </p:sp>
      <p:sp>
        <p:nvSpPr>
          <p:cNvPr id="5" name="Rounded Rectangle 4" descr="Before (a preview)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F7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B23A31"/>
                </a:solidFill>
                <a:latin typeface="Cambria"/>
              </a:rPr>
              <a:t>Before (a preview)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'This report examines the feasibility of automated sample intake at the Fargo facility.'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'Multiple options were evaluated across several criteria.'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'Findings and recommendations are presented in the sections that follow.'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Three sentences; zero information</a:t>
            </a:r>
          </a:p>
        </p:txBody>
      </p:sp>
      <p:sp>
        <p:nvSpPr>
          <p:cNvPr id="6" name="Rounded Rectangle 5" descr="After (a verdict)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After (a verdict)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'Barcode intake is feasible and pays back in 14 months. We recommend a two-bench rollout by Q4 ($24K).'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'Three reasons: intake time drops 38% (pilot, App. C); transcription findings go to zero; the current process fails past 600 samples/week.'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'Decision needed from the ops committee by July 25 to hold vendor pricing.'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Situation → answer → reasons → ask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ey takea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3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37</a:t>
            </a:r>
          </a:p>
        </p:txBody>
      </p:sp>
      <p:sp>
        <p:nvSpPr>
          <p:cNvPr id="5" name="Oval 4" descr="Checkmark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 descr="Takeaway 1"/>
          <p:cNvSpPr txBox="1"/>
          <p:nvPr/>
        </p:nvSpPr>
        <p:spPr>
          <a:xfrm>
            <a:off x="132588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Know your quadrant: solicited proposals prove 'why us'; unsolicited ones prove the problem first.</a:t>
            </a:r>
          </a:p>
        </p:txBody>
      </p:sp>
      <p:sp>
        <p:nvSpPr>
          <p:cNvPr id="7" name="Oval 6" descr="Checkmark"/>
          <p:cNvSpPr/>
          <p:nvPr/>
        </p:nvSpPr>
        <p:spPr>
          <a:xfrm>
            <a:off x="640080" y="221284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 descr="Takeaway 2"/>
          <p:cNvSpPr txBox="1"/>
          <p:nvPr/>
        </p:nvSpPr>
        <p:spPr>
          <a:xfrm>
            <a:off x="132588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Six parts, in order: problem, solution, plan, staffing, budget, risks — each checkable, each dated.</a:t>
            </a:r>
          </a:p>
        </p:txBody>
      </p:sp>
      <p:sp>
        <p:nvSpPr>
          <p:cNvPr id="9" name="Oval 8" descr="Checkmark"/>
          <p:cNvSpPr/>
          <p:nvPr/>
        </p:nvSpPr>
        <p:spPr>
          <a:xfrm>
            <a:off x="640080" y="285292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 descr="Takeaway 3"/>
          <p:cNvSpPr txBox="1"/>
          <p:nvPr/>
        </p:nvSpPr>
        <p:spPr>
          <a:xfrm>
            <a:off x="132588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Compliance is entry, brilliance is tiebreaker: their structure, a compliance matrix, and a 24-hour deadline buffer.</a:t>
            </a:r>
          </a:p>
        </p:txBody>
      </p:sp>
      <p:sp>
        <p:nvSpPr>
          <p:cNvPr id="11" name="Oval 10" descr="Checkmark"/>
          <p:cNvSpPr/>
          <p:nvPr/>
        </p:nvSpPr>
        <p:spPr>
          <a:xfrm>
            <a:off x="640080" y="349300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 descr="Takeaway 4"/>
          <p:cNvSpPr txBox="1"/>
          <p:nvPr/>
        </p:nvSpPr>
        <p:spPr>
          <a:xfrm>
            <a:off x="132588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Three layers for three readers: summary for the decider, body for the implementer, appendix for the auditor.</a:t>
            </a:r>
          </a:p>
        </p:txBody>
      </p:sp>
      <p:sp>
        <p:nvSpPr>
          <p:cNvPr id="13" name="Oval 12" descr="Checkmark"/>
          <p:cNvSpPr/>
          <p:nvPr/>
        </p:nvSpPr>
        <p:spPr>
          <a:xfrm>
            <a:off x="640080" y="413308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 descr="Takeaway 5"/>
          <p:cNvSpPr txBox="1"/>
          <p:nvPr/>
        </p:nvSpPr>
        <p:spPr>
          <a:xfrm>
            <a:off x="1325880" y="4114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executive summary is a verdict, written last, placed first, standing alone.</a:t>
            </a:r>
          </a:p>
        </p:txBody>
      </p:sp>
      <p:sp>
        <p:nvSpPr>
          <p:cNvPr id="15" name="Oval 14" descr="Checkmark"/>
          <p:cNvSpPr/>
          <p:nvPr/>
        </p:nvSpPr>
        <p:spPr>
          <a:xfrm>
            <a:off x="640080" y="47731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 descr="Takeaway 6"/>
          <p:cNvSpPr txBox="1"/>
          <p:nvPr/>
        </p:nvSpPr>
        <p:spPr>
          <a:xfrm>
            <a:off x="132588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Grade sources on the ladder; cite across the integrity quadrants; AI is an assistant, never a source.</a:t>
            </a:r>
          </a:p>
        </p:txBody>
      </p:sp>
      <p:sp>
        <p:nvSpPr>
          <p:cNvPr id="17" name="Rounded Rectangle 16" descr="Practice reminder"/>
          <p:cNvSpPr/>
          <p:nvPr/>
        </p:nvSpPr>
        <p:spPr>
          <a:xfrm>
            <a:off x="548640" y="5468112"/>
            <a:ext cx="10424160" cy="68580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Practice now: course site → Chapter 10 → Practice, then the graded homework before the weekly deadline.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orth keep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0E4D33"/>
                </a:solidFill>
                <a:latin typeface="Cambria"/>
              </a:rPr>
              <a:t>Worth keeping</a:t>
            </a:r>
          </a:p>
        </p:txBody>
      </p:sp>
      <p:sp>
        <p:nvSpPr>
          <p:cNvPr id="3" name="TextBox 2" descr="Quotation"/>
          <p:cNvSpPr txBox="1"/>
          <p:nvPr/>
        </p:nvSpPr>
        <p:spPr>
          <a:xfrm>
            <a:off x="1280160" y="219456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0" i="1">
                <a:solidFill>
                  <a:srgbClr val="212A26"/>
                </a:solidFill>
                <a:latin typeface="Cambria"/>
              </a:rPr>
              <a:t>“The proposal is the only genre where the reader's yes comes with money attached. Every rule in it exists because someone, somewhere, lost the money by breaking it.”</a:t>
            </a:r>
          </a:p>
        </p:txBody>
      </p:sp>
      <p:sp>
        <p:nvSpPr>
          <p:cNvPr id="4" name="TextBox 3" descr="Attribution"/>
          <p:cNvSpPr txBox="1"/>
          <p:nvPr/>
        </p:nvSpPr>
        <p:spPr>
          <a:xfrm>
            <a:off x="1280160" y="4754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E6B64"/>
                </a:solidFill>
                <a:latin typeface="Calibri"/>
              </a:rPr>
              <a:t>— this chapter, compressed</a:t>
            </a:r>
          </a:p>
        </p:txBody>
      </p:sp>
      <p:sp>
        <p:nvSpPr>
          <p:cNvPr id="5" name="TextBox 4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6" name="TextBox 5" descr="Slide number 3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iscussion question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Discussion questions</a:t>
            </a:r>
          </a:p>
        </p:txBody>
      </p:sp>
      <p:sp>
        <p:nvSpPr>
          <p:cNvPr id="3" name="TextBox 2" descr="Discussion questions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1.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Find a real RFP (grants.gov posts thousands). Build its compliance matrix — how many 'shall's did the casual read miss?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2.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Take a report you've written and draft its executive summary as a VERDICT. What did you have to decide that the report avoided deciding?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3.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Argue it: should the budget ever appear in the executive summary? When does the number help, and when does it ambush?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4.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Grade five sources from your last research project on the credibility ladder. What was load-bearing on rung four or five?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5.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Your team's proposal is due at 2:00 PM and the portal is down at 1:40. Walk through what you do — then design the process so it never happens.</a:t>
            </a:r>
          </a:p>
        </p:txBody>
      </p:sp>
      <p:sp>
        <p:nvSpPr>
          <p:cNvPr id="4" name="TextBox 3" descr="Footer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C4B2"/>
                </a:solidFill>
                <a:latin typeface="Calibri"/>
              </a:rPr>
              <a:t>BADM 225 · Chapter 10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next step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next steps</a:t>
            </a:r>
          </a:p>
        </p:txBody>
      </p:sp>
      <p:sp>
        <p:nvSpPr>
          <p:cNvPr id="3" name="TextBox 2" descr="Footer: BADM 225 · Chapter 10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10</a:t>
            </a:r>
          </a:p>
        </p:txBody>
      </p:sp>
      <p:sp>
        <p:nvSpPr>
          <p:cNvPr id="4" name="TextBox 3" descr="Slide number 4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Practice: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Course site → Chapter 10 → Practice questions (instant feedback, unlimited tries).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Graded: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Complete the Chapter 10 homework on the site; paste your completion code into the Blackboard assignment before the weekly deadline.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Read: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Chapter 10 Study Guide — the full skeleton walkthrough, the RFP game, and the versioning deep dive.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Apply: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Your capstone feasibility report uses this chapter's architecture end to end — start its compliance matrix now.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Coming next: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Chapter 11 — professionalism, teamwork, and meetings: the workplace behaviors that give your documents their reputation.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