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10: the formal apparatus. Everything from Chapter 9's pyramid, plus front matter, back matter, and the compliance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10 practice bank and the capstone feasibility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chapter is the commercial summit of the course. Students who write fundable proposals have a permanently portable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classification. The quadrants matter because each shifts what you must prove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unsolicited proposal spends its first third proving the problem exists and costs money — skipping that step is the genre's classic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 proposals become legal documents on acceptance — every promised deliverable and date should be written as if a lawyer will read it, because one might.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chapter. Each part gets its own slide next — the skeleton is memorizable, the craft is in the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Funders fund problems, then choose solutions. The discipline of keeping the solution out of the problem section is what makes the problem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dated-milestone plan is also your future protection: scope creep attacks proposals with fuzzy deliverables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staffing section is where unsupported confidence goes to die. Two credentials per person, chosen for fit,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rule ties budget to problem quantification — the two sections argue as a pair. Lowballing discussion: winning unprofitable work is losing slowly.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risks section is counterintuitively where trust is built: proposals with no named risks read as either naive or evasive, and evaluators can't tell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solicited proposals and the compliance discipline that decides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Government and institutional RFPs especially: compliance screening happens before scoring, and it is clerical, not judgmental. The rules are the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matrix is tedious and decisive. Teams that build it on day one write toward it; teams that build it the night before discover the gaps at the worst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proposal shop has a near-miss story; the 24-hour buffer rule is written in someone's scar tissue. The questions-deadline point is the one students don't know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the standard procurement pattern. 'Not found' doesn't mean absent — it means not findable in the time an evaluator actually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formal report's anatomy — the upgrade kit bolted onto Chapter 9's pyramid.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three-reader model organizes the whole section. Nobody reads a formal report cover to cover — it's a building with three entrances.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generated-TOC rule is practical: typed TOCs drift from reality by the third revision, and a wrong page number in the TOC indicts everything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four-beat anatomy from the study guide's figure. 'Written last' because you can't summarize what doesn't exist yet; drafting it first produces a summary of intentions.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preview-vs-verdict distinction is the most common failure. The outsider test operationalizes 'standalone' into something students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must be auditable: finding → conclusion → recommendation. A recommendation with no parent conclusion is advocacy that snuck in — evaluators hunt for exactly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verification layer completes the three-reader design: the auditor's path must be as deliberate as the decider's. Landfill appendices signal a writer who couldn't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research integrity. Formal reports live or die on whether their evidence survives hostile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from the study guide. Rung 5 includes AI: fluent, confident, and uncited is exactly the failure mode the ladder exists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CAP+C — a fast, memorable screen. The purpose question does the most work in business contexts, where most convenient sources are interested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quadrant from the guide. The your-analysis rung reframes citation positively: citing generously makes clear which insights are original — it takes nothing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AI-research policy in four lines. The fabricated-citation problem is the vivid one: a confident reference to a nonexistent paper survives every check except the real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minimal: enough mechanics to be correct, pointed at consistency as the real standard. The two-way promise rule catches most student citation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document operations — the unglamorous discipline that separates proposal shops from proposal accidents.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guide's versioning deep dive. The as-submitted snapshot is the load-bearing habit: post-award disputes are almost always about which words were operative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red-team review is standard in serious proposal shops and unknown to students — one cold reader with the RFP's checklist finds what six authors can't.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guide's one-pager section. The synchronization warning is real: decks and one-pagers drift from the master document unless someone owns the pairing.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three-reader model closing its loop: proposals are won in the summary, defended in the body, and decided — more often than anyone admits — in the back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before column is recognizable from real reports — grammatically flawless, informationally empty. The after column is the four-beat anatomy,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posals and Formal Report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Proposals and Formal Reports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The documents that move money · executive summaries · RFP compliance · sources that survive scrutiny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10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Map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proposal onto the quadrants — solicited/unsolicited, internal/external — and know which burden of proof you carry.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six-part proposal skeleton: problem, solution, plan, staffing, budget, risks.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RFP compliance game: their structure, their checklist, their deadline — before your brilliance is even 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Assemble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formal report's three layers — front matter, body, back matter — for three different readers.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executive summary last, place it first, and make it stand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source on the credibility ladder and cite it with integrity.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posals are how money mov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Proposals are how money moves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$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Almost every dollar that changes hands between organizations — grants, contracts, budgets, partnerships — was asked for in writing first.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proposal is persuasion (Chapter 8)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wearing formal dress: same pipeline, higher stakes, stricter rules.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formal report is analysis (Chapter 9)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built for readers who weren't in the room — including readers you'll never meet.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Together they are the genre where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writing skill converts most directly into funded 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 quadra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proposal quadrants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Who asked, and who's paying — two questions that set your burden of proof.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licited or unsolicited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Solicited or unsolicited?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SOLICITED — they ask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SOLICITED — they asked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 RFP (request for proposals) defines the need, format, and deadline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problem is already sold — your job is the best answer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Compliance with THEIR structure is scored before content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Burden of proof: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why YOU, against known competitors</a:t>
            </a:r>
          </a:p>
        </p:txBody>
      </p:sp>
      <p:sp>
        <p:nvSpPr>
          <p:cNvPr id="6" name="Rounded Rectangle 5" descr="UNSOLICITED — you spotted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UNSOLICITED — you spotted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saw a need they haven't formally named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must sell the PROBLEM before any solution (Chapter 8's hook)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format rules — but no budget line waiting either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Burden of proof: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why THIS problem deserves money at 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nal or external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Internal or external?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INTERNAL — inside your organization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— inside your organization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Justification reports' big sibling (Chapter 9)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 knows the context; skip the company history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Currency: hours, budget lines, strategic fit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Tone: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direct, memo-dressed, politically aware — pre-wire it (Chapter 8)</a:t>
            </a:r>
          </a:p>
        </p:txBody>
      </p:sp>
      <p:sp>
        <p:nvSpPr>
          <p:cNvPr id="6" name="Rounded Rectangle 5" descr="EXTERNAL — crossing the boundary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— crossing the boundary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Contracts, grants, client work — binding commitments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 may know nothing; context earns its pages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Formal apparatus expected: letterhead, signatures, terms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Tone: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write like a contract, because it may become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ix-part proposal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six-part proposal skeleton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PROBLEM"/>
          <p:cNvSpPr/>
          <p:nvPr/>
        </p:nvSpPr>
        <p:spPr>
          <a:xfrm>
            <a:off x="548640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 descr="PROBLEM detail"/>
          <p:cNvSpPr txBox="1"/>
          <p:nvPr/>
        </p:nvSpPr>
        <p:spPr>
          <a:xfrm>
            <a:off x="548640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pain, quantified — why money should move</a:t>
            </a:r>
          </a:p>
        </p:txBody>
      </p:sp>
      <p:sp>
        <p:nvSpPr>
          <p:cNvPr id="7" name="Chevron 6" descr="Step 2: SOLUTION"/>
          <p:cNvSpPr/>
          <p:nvPr/>
        </p:nvSpPr>
        <p:spPr>
          <a:xfrm>
            <a:off x="2426208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 descr="SOLUTION detail"/>
          <p:cNvSpPr txBox="1"/>
          <p:nvPr/>
        </p:nvSpPr>
        <p:spPr>
          <a:xfrm>
            <a:off x="2426208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What, how, and why THIS approach</a:t>
            </a:r>
          </a:p>
        </p:txBody>
      </p:sp>
      <p:sp>
        <p:nvSpPr>
          <p:cNvPr id="9" name="Chevron 8" descr="Step 3: PLAN"/>
          <p:cNvSpPr/>
          <p:nvPr/>
        </p:nvSpPr>
        <p:spPr>
          <a:xfrm>
            <a:off x="4303776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0" name="TextBox 9" descr="PLAN detail"/>
          <p:cNvSpPr txBox="1"/>
          <p:nvPr/>
        </p:nvSpPr>
        <p:spPr>
          <a:xfrm>
            <a:off x="4303776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Phases, milestones, deliverables — dated</a:t>
            </a:r>
          </a:p>
        </p:txBody>
      </p:sp>
      <p:sp>
        <p:nvSpPr>
          <p:cNvPr id="11" name="Chevron 10" descr="Step 4: STAFFING"/>
          <p:cNvSpPr/>
          <p:nvPr/>
        </p:nvSpPr>
        <p:spPr>
          <a:xfrm>
            <a:off x="6181344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STAFFING</a:t>
            </a:r>
          </a:p>
        </p:txBody>
      </p:sp>
      <p:sp>
        <p:nvSpPr>
          <p:cNvPr id="12" name="TextBox 11" descr="STAFFING detail"/>
          <p:cNvSpPr txBox="1"/>
          <p:nvPr/>
        </p:nvSpPr>
        <p:spPr>
          <a:xfrm>
            <a:off x="6181344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 you — ethos with evidence</a:t>
            </a:r>
          </a:p>
        </p:txBody>
      </p:sp>
      <p:sp>
        <p:nvSpPr>
          <p:cNvPr id="13" name="Chevron 12" descr="Step 5: BUDGET"/>
          <p:cNvSpPr/>
          <p:nvPr/>
        </p:nvSpPr>
        <p:spPr>
          <a:xfrm>
            <a:off x="8058912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BUDGET</a:t>
            </a:r>
          </a:p>
        </p:txBody>
      </p:sp>
      <p:sp>
        <p:nvSpPr>
          <p:cNvPr id="14" name="TextBox 13" descr="BUDGET detail"/>
          <p:cNvSpPr txBox="1"/>
          <p:nvPr/>
        </p:nvSpPr>
        <p:spPr>
          <a:xfrm>
            <a:off x="8058912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Itemized, justified, framed</a:t>
            </a:r>
          </a:p>
        </p:txBody>
      </p:sp>
      <p:sp>
        <p:nvSpPr>
          <p:cNvPr id="15" name="Chevron 14" descr="Step 6: RISKS"/>
          <p:cNvSpPr/>
          <p:nvPr/>
        </p:nvSpPr>
        <p:spPr>
          <a:xfrm>
            <a:off x="9936480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RISKS</a:t>
            </a:r>
          </a:p>
        </p:txBody>
      </p:sp>
      <p:sp>
        <p:nvSpPr>
          <p:cNvPr id="16" name="TextBox 15" descr="RISKS detail"/>
          <p:cNvSpPr txBox="1"/>
          <p:nvPr/>
        </p:nvSpPr>
        <p:spPr>
          <a:xfrm>
            <a:off x="9936480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could go wrong + mitigations</a:t>
            </a:r>
          </a:p>
        </p:txBody>
      </p:sp>
      <p:sp>
        <p:nvSpPr>
          <p:cNvPr id="17" name="Rounded Rectangle 16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funder reads with three questions: is the problem real? will this fix it? can THESE people deliver it? The skeleton answers them in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blem section: where proposals are w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problem section: where proposals are won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Quantify the pain in the reader's units.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'Manual intake burns 30 tech-hours a month' — their hours, their dollars, their risk (Chapter 8's hook, formalized).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Cite the source of every number.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problem statement built on 'it seems like a lot' funds nothing; the helpdesk export funds projects.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the cost of doing nothing.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status quo has a price tag — print it. 'No' is never free, and this paragraph proves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Stop before the solution leaks in.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problem section that mentions your product is a sales pitch wearing a lab coat — readers smell it instantly.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lution and plan: specific enough to be check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Solution and plan: specific enough to be checked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solution states the mechanism,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the magic: what happens, in what order, producing what — 'barcode intake replaces manual entry at both benches.'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Why THIS approach beats the alternatives: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the two you rejected and the reason (two-sided argument, Chapter 8) — evaluators are comparing anyway.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plan converts promise to milestones: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phases with dates, deliverables per phase, and what the client sees at each gate.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vague verb is a negotiation you'll lose later.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'Optimize workflows' commits you to nothing and to everything — 'reduce intake time below 60 seconds' can be verified and invoiced.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ffing: ethos with a résumé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Staffing: ethos with a résumé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people who will actually do the work,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the two credentials each that matter for THIS project — not the firm's whole trophy case.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Relevant beats impressive.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'Ran three lab migrations this size' outweighs 'twenty years of industry leadership' every time.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capacity, not just capability: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evaluators fund teams that visibly have room — 'lead assigned at 60% for the duration' answers the unasked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Past performance is the strongest evidence: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named, referenceable, similar project — with its result — beats a page of adjectives (social proof, Chapter 8).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dget: arithmetic with an arg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budget: arithmetic with an argument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Itemize to the level the reader must defend.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funder has a funder — give them the line items THEY need to justify the yes upstairs.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Justify the big lines in one sentence each.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'Two calibration units at $3,200 — one per bench, eliminating the queue' — number, purpose, consequence.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the total against the problem's cost.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'$24K against the $67K the current process burns annually' — the budget's last line should recall the problem's first number.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padding, no lowballing.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Padding gets found in evaluation; lowballing gets found in month three — both are reputation events, one is also a loss.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isks and evaluation: the section that builds tru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Risks and evaluation: the section that builds trust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real risks yourself.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evaluator has already thought of them — your naming them first converts a vulnerability into ethos (two-sided,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Each risk gets a mitigation, not a shrug.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'Vendor delay → pre-ordered long-lead items in week one' — the pair is the point.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Define success measurably, in advance.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'Intake under 60 seconds, zero transcription findings at 90 days' — agreed metrics make your final report unarguable (Chapter 8's pilot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Include how and when you'll report.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promised cadence — 'milestone reports at each gate' — is a small line that signals operational maturity.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FP gam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RFP game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Compliance is scored before content is read.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ir structure is your structu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Their structure is your structure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Mirror the RFP's section names and order — exactly.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Evaluators score with a checklist built from their own document; making them hunt costs you points before content is judged.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every requirement where they expect it,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when your material fits better elsewhere — 'see section 4' is a point deduction wearing a courtesy.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every format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page limits, font sizes, file formats — a 21-page response to a 20-page limit can be disqualified unread, and sometimes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Brilliance is tiebreaker, compliance is entry.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order matters: non-compliant proposals don't reach the round where brilliance counts.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pliance matrix: your submission insur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compliance matrix: your submission insurance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Harvest every 'shall' and 'must'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6" name="TextBox 5" descr="Harvest every 'shall' and 'must'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Harvest every 'shall' and 'must'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 the RFP with a highlighter; each one is a scored requirement, including the ones buried in appendices.</a:t>
            </a:r>
          </a:p>
        </p:txBody>
      </p:sp>
      <p:sp>
        <p:nvSpPr>
          <p:cNvPr id="7" name="Oval 6" descr="Map requirement → your section → pag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🗺</a:t>
            </a:r>
          </a:p>
        </p:txBody>
      </p:sp>
      <p:sp>
        <p:nvSpPr>
          <p:cNvPr id="8" name="TextBox 7" descr="Map requirement → your section → pag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Map requirement → your section →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columns; every row filled before submission — the empty row IS the finding.</a:t>
            </a:r>
          </a:p>
        </p:txBody>
      </p:sp>
      <p:sp>
        <p:nvSpPr>
          <p:cNvPr id="9" name="Oval 8" descr="Assign an owner per requiremen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10" name="TextBox 9" descr="Assign an owner per requiremen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Assign an owner per requirement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 team proposals, unowned requirements are how 'I thought you had it' reaches the evaluator.</a:t>
            </a:r>
          </a:p>
        </p:txBody>
      </p:sp>
      <p:sp>
        <p:nvSpPr>
          <p:cNvPr id="11" name="Oval 10" descr="Submit the matrix with the proposal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2" name="TextBox 11" descr="Submit the matrix with the proposal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Submit the matrix with the proposal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Many RFPs require it; the rest reward it — you just did the evaluator's first pass for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adlines are cliffs, not targ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Deadlines are cliffs, not targets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2:00 PM means 1:59 was the last safe minute.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2:01 submission is a non-submission — no evaluator will ever see how good it was.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Portals crash at 1:55.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Everyone submits in the final window; plan to be complete 24 hours early and uploaded by breakfast.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zones have eaten fortunes.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'2:00 PM ET' read casually in Denver is a career story — convert every deadline to your clock, in writing, on day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questions deadline matters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RFPs close clarification questions weeks before submission — the ambiguity you sit on becomes the guess you submit.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B+ that beat the A−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B+ that beat the A−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A wrote the smarter solution: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genuinely better architecture, sharper pricing — organized their own way, two requirements answered 'throughout the document.'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B wrote the compliant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section mirrored the RFP, compliance matrix attached, every 'shall' traceable in thirty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Scoring: B won on points before quality was weighed.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of A's requirements were marked 'not found' — the evaluators had 40 proposals and 40 minutes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evaluator's constraint is time, not intelligence. Compliance is how you respect it — and how you win with the second-best mousetrap.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rmal report architectu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Formal report architecture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layers, three readers, three paths through the document.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ree lay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three layers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Chevron 4" descr="Step 1: FRONT MATTER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FRONT MATTER</a:t>
            </a:r>
          </a:p>
        </p:txBody>
      </p:sp>
      <p:sp>
        <p:nvSpPr>
          <p:cNvPr id="6" name="TextBox 5" descr="FRONT MATTER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Cover · title page · transmittal · contents · executive summary</a:t>
            </a:r>
          </a:p>
        </p:txBody>
      </p:sp>
      <p:sp>
        <p:nvSpPr>
          <p:cNvPr id="7" name="Chevron 6" descr="Step 2: BODY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BODY</a:t>
            </a:r>
          </a:p>
        </p:txBody>
      </p:sp>
      <p:sp>
        <p:nvSpPr>
          <p:cNvPr id="8" name="TextBox 7" descr="BODY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Introduction → findings → conclusions → recommendations</a:t>
            </a:r>
          </a:p>
        </p:txBody>
      </p:sp>
      <p:sp>
        <p:nvSpPr>
          <p:cNvPr id="9" name="Chevron 8" descr="Step 3: BACK MATTER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BACK MATTER</a:t>
            </a:r>
          </a:p>
        </p:txBody>
      </p:sp>
      <p:sp>
        <p:nvSpPr>
          <p:cNvPr id="10" name="TextBox 9" descr="BACK MATTER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References · appendices — the verification layer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readers, three paths: the decider reads the executive summary, the implementer reads the body, the auditor reads the appendices. Design all three paths deliberately.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ont matter, piece by pie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Front matter, piece by piece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Title pag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🏷</a:t>
            </a:r>
          </a:p>
        </p:txBody>
      </p:sp>
      <p:sp>
        <p:nvSpPr>
          <p:cNvPr id="6" name="TextBox 5" descr="Title pag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Title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Title that states the subject AND scope · prepared for/by · date. 'Feasibility of Barcode Intake at the Fargo Lab' — not 'Lab Report.'</a:t>
            </a:r>
          </a:p>
        </p:txBody>
      </p:sp>
      <p:sp>
        <p:nvSpPr>
          <p:cNvPr id="7" name="Oval 6" descr="Transmittal letter or memo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8" name="TextBox 7" descr="Transmittal letter or memo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Transmittal letter or memo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handshake: what this is, why they're receiving it, the one-line bottom line, and your contact for questions.</a:t>
            </a:r>
          </a:p>
        </p:txBody>
      </p:sp>
      <p:sp>
        <p:nvSpPr>
          <p:cNvPr id="9" name="Oval 8" descr="Table of contents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10" name="TextBox 9" descr="Table of contents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Table of contents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Generated, never typed — informative headings (Chapter 3) make it read as a summary by itself.</a:t>
            </a:r>
          </a:p>
        </p:txBody>
      </p:sp>
      <p:sp>
        <p:nvSpPr>
          <p:cNvPr id="11" name="Oval 10" descr="Executive summar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⭐</a:t>
            </a:r>
          </a:p>
        </p:txBody>
      </p:sp>
      <p:sp>
        <p:nvSpPr>
          <p:cNvPr id="12" name="TextBox 11" descr="Executive summar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Executive summary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most-read page in the document — next two slides.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xecutive summary anatom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Executive summary anatomy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 this document exists — one or two sentences</a:t>
            </a:r>
          </a:p>
        </p:txBody>
      </p:sp>
      <p:sp>
        <p:nvSpPr>
          <p:cNvPr id="7" name="Chevron 6" descr="Step 2: ANSWER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 descr="ANSWER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recommendation + its strongest number</a:t>
            </a:r>
          </a:p>
        </p:txBody>
      </p:sp>
      <p:sp>
        <p:nvSpPr>
          <p:cNvPr id="9" name="Chevron 8" descr="Step 3: REASON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REASONS</a:t>
            </a:r>
          </a:p>
        </p:txBody>
      </p:sp>
      <p:sp>
        <p:nvSpPr>
          <p:cNvPr id="10" name="TextBox 9" descr="REASON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pyramid's second layer, one sentence each</a:t>
            </a:r>
          </a:p>
        </p:txBody>
      </p:sp>
      <p:sp>
        <p:nvSpPr>
          <p:cNvPr id="11" name="Chevron 10" descr="Step 4: THE ASK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2" name="TextBox 11" descr="THE ASK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Decision needed, by whom, by when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Written LAST · placed FIRST · standalone. Most readers read nothing else — the summary must survive being the only page anyone sees.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xecutive summary discip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Executive summary discipline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is not a preview — it is the verdict.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report examines three options…' summarizes the table of contents; 'Refurbish the three units — saving $23K a year' summarizes the REPORT.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Standalone means standalone: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'as shown in section 3,' no undefined acronyms, no dependence on exhibits the reader won't open.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page, hard limit.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two-page executive summary is a short report with an identity crisis — compress or cut.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Test it on someone who won't read the report.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they can state your recommendation and its reason afterward, it works. That test is the whole spec.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clusions vs. recommendations — keep them separa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Conclusions vs. recommendations — keep them separate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Rounded Rectangle 4" descr="CONCLUSIONS — what the evidence mean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CONCLUSIONS — what the evidence means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current process cannot scale past 600 samples/week'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Interpretations, drawn strictly from the findings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conclusion traceable to specific evidence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new facts allowed here</a:t>
            </a:r>
          </a:p>
        </p:txBody>
      </p:sp>
      <p:sp>
        <p:nvSpPr>
          <p:cNvPr id="6" name="Rounded Rectangle 5" descr="RECOMMENDATIONS — what to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RECOMMENDATIONS — what to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'Adopt barcode intake at both benches by Q4'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Actions: verb-first, owner-ready, dated where possible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recommendation traceable to a conclusion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Numbered, so meetings can argue about #3 by name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ck matter: the verification lay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Back matter: the verification layer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Appendices hold the journey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summit displaced: raw data, method detail, instrument specs, interview notes — everything the auditor needs and the decider skips.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appendix is referenced from the body,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its point: 'full survey results in Appendix B' — an unreferenced appendix is cargo (Chapter 9's exhibit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References let every claim be traced.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list is where 'trust me' becomes 'check me' — the report's whole credibility, itemized.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appendix is not a landfill.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Material that supports nothing in the body doesn't get to hide in the back — cut means cut.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urces and cit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Sources and citation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credibility ladder — and the boundary that protects your name.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ource credibility lad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source credibility ladder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 recommendation is only as strong as the weakest source under its load-bearing claim.</a:t>
            </a:r>
          </a:p>
        </p:txBody>
      </p:sp>
      <p:sp>
        <p:nvSpPr>
          <p:cNvPr id="6" name="Oval 5" descr="Primary data — strongest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rimary data — strongest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Primary data — strongest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measurements, surveys, pilots: yours to defend, and defensible.</a:t>
            </a:r>
          </a:p>
        </p:txBody>
      </p:sp>
      <p:sp>
        <p:nvSpPr>
          <p:cNvPr id="8" name="Oval 7" descr="Peer-reviewed and official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Peer-reviewed and official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Peer-reviewed and official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Journals, standards bodies, government statistics — vetted before you arrived.</a:t>
            </a:r>
          </a:p>
        </p:txBody>
      </p:sp>
      <p:sp>
        <p:nvSpPr>
          <p:cNvPr id="10" name="Oval 9" descr="Reputable secondary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Reputable secondary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Reputable secondary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Industry reports, quality journalism — verify the underlying source before leaning.</a:t>
            </a:r>
          </a:p>
        </p:txBody>
      </p:sp>
      <p:sp>
        <p:nvSpPr>
          <p:cNvPr id="12" name="Oval 11" descr="Vendor and advocacy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Vendor and advocacy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Vendor and advocacy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Useful, interested — corroborate before any load-bearing use.</a:t>
            </a:r>
          </a:p>
        </p:txBody>
      </p:sp>
      <p:sp>
        <p:nvSpPr>
          <p:cNvPr id="14" name="Oval 13" descr="Unsourced web / AI output — never load-bearing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 descr="Unsourced web / AI output — never load-bearing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Unsourced web / AI output — never load-bearing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Trace it to a real source or drop the claim. No exceptions for convenient claims.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aluating any source in ninety seco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Evaluating any source in ninety seconds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Currency: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was this true? The 2019 benchmark in a 2026 report needs a reason to still be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Authority: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says so, and what would they know? An author, an institution, a method — findable or the rung drops.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Purpose: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benefits if you believe it? The vendor whitepaper isn't false — it's interested, and interest shapes selection.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Corroboration: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does anyone independent agree? One source is a claim; two independent sources are the start of a fact.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itation integrity: what needs a ci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Citation integrity: what needs a citation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The boundary protects you twice: from plagiarism, and from owning claims you can't defend.</a:t>
            </a:r>
          </a:p>
        </p:txBody>
      </p:sp>
      <p:sp>
        <p:nvSpPr>
          <p:cNvPr id="6" name="Oval 5" descr="Quo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“”</a:t>
            </a:r>
          </a:p>
        </p:txBody>
      </p:sp>
      <p:sp>
        <p:nvSpPr>
          <p:cNvPr id="7" name="TextBox 6" descr="Quo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Quote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exact words → quotation marks + citation. Both, always.</a:t>
            </a:r>
          </a:p>
        </p:txBody>
      </p:sp>
      <p:sp>
        <p:nvSpPr>
          <p:cNvPr id="8" name="Oval 7" descr="Paraphra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9" name="TextBox 8" descr="Paraphra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idea, your words → citation still required. Rewording transfers nothing.</a:t>
            </a:r>
          </a:p>
        </p:txBody>
      </p:sp>
      <p:sp>
        <p:nvSpPr>
          <p:cNvPr id="10" name="Oval 9" descr="Common knowledg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11" name="TextBox 10" descr="Common knowledg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Common knowledge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Undisputed and widely available → no citation needed.</a:t>
            </a:r>
          </a:p>
        </p:txBody>
      </p:sp>
      <p:sp>
        <p:nvSpPr>
          <p:cNvPr id="12" name="Oval 11" descr="Your analysis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13" name="TextBox 12" descr="Your analysis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Your analysis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conclusions from cited evidence → the part that's actually yours — and the part your name should sit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in the research pipe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in the research pipeline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is a research assistant, not a source.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'ChatGPT says' is rung five — use it to find real sources, summarize them, and draft, never as the authority itself.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every fact it hands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produces plausible citations to papers that don't exist — check that the source is real AND says what's claimed (both failures are common).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per your institution's and client's rules.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Norms are still forming; the safe default is transparency about tools in the method section.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judgment stays yours: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source selection, evidence weighing, and the recommendation are the parts that can't be delegated — they're also the parts being graded, in school and after.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ocumentation without the semina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Documentation without the seminar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Pick one style and be consistent.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APA is the business-school default; consistency matters more than which style — mixed formats read as carelessness.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In-text: author and year carry the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(Okafor, 2025) — enough for the reader to find the full entry; page numbers for quotes.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references list is a promise: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in-text citation appears there; everything there is cited in text. Orphans in either direction are findings.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Cite the version you actually used: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2024 revision, the June dataset, the archived page — sources move, and your citation is a timestamp.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naging the living document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Managing the living document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Versions, teams, and the one-pager that travels ahead of the tome.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sioning the living proposa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Versioning the living proposal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living copy, one owner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5's rules, at contract stakes) — merge authority lives with a named person, or Saturday belongs to someone.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Freeze what leaves the building: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'Proposal—as-submitted-2026-07-15' is a dated, read-only snapshot — because 'which version did they sign?' is a legal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Negotiations amend the frozen copy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tracked changes against as-submitted, so every delta from the original promise is findable.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version log is one line per freeze: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date, what changed, who approved — thirty seconds of writing per event, hours of dispute insurance.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big documents as a tea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Writing big documents as a team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Divide by section, unify by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everyone writes into the agreed pyramid and compliance matrix — division of labor without division of 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voice pass at the end, one editor.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Six authors are audible in an unedited proposal; the final pass makes it one document instead of a stapled anthology.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Shared style decisions up front: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terminology, tense, how the client is named — the two-minute glossary prevents two hundred inconsistencies.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red team reads it cold: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colleague who wrote nothing, scoring it as the evaluator will — their confusion is your cheapest revision (Chapter 4, scaled up).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ne-pager: the document that travels ah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one-pager: the document that travels ahead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big proposal needs a light envoy: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page — problem, solution, number, ask — for the meeting, the forward,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executive summary with a life of its own: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four beats, standing fully alone, formatted to be read on a phone in a corridor.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one-pager gets you the meeting;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proposal survives the scrutiny the meeting triggers. Different jobs — build both, and build them to agree.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them synchronized: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one-pager promising what the proposal doesn't say is a credibility event at the worst possible moment.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proposal that won on the appendi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proposal that won on the appendix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finalists, near-identical solutions and prices.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evaluation committee deadlocked and did what deadlocked committees do: sent both to their technical staff.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A's appendix held the method: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instrument validation data, the pilot's raw numbers, the survey with its denominator — every body-claim traceable in one hop.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B's appendix held brochures.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technical reviewer's one-line memo: 'A shows their work; B shows their marketing.'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auditor's path decided a seven-figure award. The verification layer isn't overhead — it's the tiebreaker you build in advance.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xecutive summary: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executive summary: before and after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Rounded Rectangle 4" descr="Before (a preview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Before (a preview)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'This report examines the feasibility of automated sample intake at the Fargo facility.'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'Multiple options were evaluated across several criteria.'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'Findings and recommendations are presented in the sections that follow.'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sentences; zero information</a:t>
            </a:r>
          </a:p>
        </p:txBody>
      </p:sp>
      <p:sp>
        <p:nvSpPr>
          <p:cNvPr id="6" name="Rounded Rectangle 5" descr="After (a verdict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 (a verdict)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'Barcode intake is feasible and pays back in 14 months. We recommend a two-bench rollout by Q4 ($24K).'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'Three reasons: intake time drops 38% (pilot, App. C); transcription findings go to zero; the current process fails past 600 samples/week.'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'Decision needed from the ops committee by July 25 to hold vendor pricing.'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Situation → answer → reasons → ask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Know your quadrant: solicited proposals prove 'why us'; unsolicited ones prove the problem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Six parts, in order: problem, solution, plan, staffing, budget, risks — each checkable, each dated.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Compliance is entry, brilliance is tiebreaker: their structure, a compliance matrix, and a 24-hour deadline buffer.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layers for three readers: summary for the decider, body for the implementer, appendix for the auditor.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executive summary is a verdict, written last, placed first, standing alone.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Grade sources on the ladder; cite across the integrity quadrants; AI is an assistant, never a source.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10 → Practice, then the graded homework before the weekly deadline.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proposal is the only genre where the reader's yes comes with money attached. Every rule in it exists because someone, somewhere, lost the money by breaking it.”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real RFP (grants.gov posts thousands). Build its compliance matrix — how many 'shall's did the casual read miss?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report you've written and draft its executive summary as a VERDICT. What did you have to decide that the report avoided deciding?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should the budget ever appear in the executive summary? When does the number help, and when does it ambush?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Grade five sources from your last research project on the credibility ladder. What was load-bearing on rung four or five?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Your team's proposal is due at 2:00 PM and the portal is down at 1:40. Walk through what you do — then design the process so it never happens.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10  ·  © Derek D. Bussan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10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10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10 Study Guide — the full skeleton walkthrough, the RFP game, and the versioning deep dive.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capstone feasibility report uses this chapter's architecture end to end — start its compliance matrix 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11 — professionalism, teamwork, and meetings: the workplace behaviors that give your documents their reputation.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