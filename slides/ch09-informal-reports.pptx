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4 opens: the long-form genres. The pyramid is the engine of everything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9 bank and the market-research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'Informal' describes the container, not the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Writers who conclude first produce documents where every section knows its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the structural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pyramid, then transcribe it — the permanent answer to 'how do I organize this?'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Answer-first is also cheaper to WRITE: selection replaces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reader's first question is the report's first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Committees that interrogate yellows manufacture greens — incentive design matters (Chapter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Contested wording gets resolved IN the meeting: 'let me read back the decision as I'll record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3's incident case, now as the full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Tufte's canon: maximize data-ink, kill the chartjunk. The truncated bar axis is the most common honest-numbers-dishonest-picture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3's informative headings, wearing axes. Calibration vocabulary from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B's report was also FASTER to write: one hard thought replaced a week of easy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are allowed to be persuasive. You are required to be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marketing is legitimate craft.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research for informal reports. Chapter 10 develops formal research; this is the practical week-one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sequencing rule saves the most time; the dating rule prevents the most embarrassment. Both feed the credibility ladder in Chapter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viable rigor: enough method to be honest, not so much the report never ships. The denominator rule connects to the analysis-vs-advocacy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evidence trail converts a report from an opinion with formatting into an auditable document — which is what lets it travel above your manager's head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format selection. Students often think format is assigned by tradition; it's chosen by reader and shelf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slide-doc deserves the caveat: it rewards the takeaway-title discipline and punishes topic titles brutally — a slide titled 'Background' is a blank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5's one-screen rule meeting report genres. The subject-line-as-status-line habit is small and career-visible.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analytical skeletons. The genres that inherit Chapter 8's persuasive machinery under Chapter 9's completeness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have seen this skeleton twice now (proposal, executive ask) — the repetition is the curriculum: one structure, three genres.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Criteria-first is the anti-rigging discipline — same move as the pilot case's agreed-metrics-in-advance in Chapter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conditions section separates professional feasibility work from cheerleading: every yes has load-bearing assumptions, and naming them is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7: display selection and the integrity rules, extending Section 3's table-or-chart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selection as question-answering, not decoration. The pie constraint is defensible and practical: humans compare angles poorly.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be able to both detect and name these — detection for reading, naming for the discussion question about rebuilding a wild chart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squint test is the visual version of the headings-only test from Chapter 3 — a two-second audit anyone can run before a chart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Reports travel above your manager's head with your name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formal Report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Informal Reports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Progress · incidents · minutes · recommendations — documents that carry facts to decisions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9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Classify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reports by the reader's question — informational (what happened?) vs. analytical (what should we do?).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pyramid: answer on top, MECE reasons beneath, evidence beneath those.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status reports with honest yellows, minutes that record decisions, incidents that name causes.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Design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displays that make one point each — takeaway in the title, axes honest.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Hold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analysis-versus-advocacy line: persuasive AND complete.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eport famil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report family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INFORMATIONAL — “what happened?”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INFORMATIONAL — “what happened?”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Progress and status reports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Trip and conference reports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Meeting minutes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Incident records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Virtues: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accuracy, proportion, findability</a:t>
            </a:r>
          </a:p>
        </p:txBody>
      </p:sp>
      <p:sp>
        <p:nvSpPr>
          <p:cNvPr id="6" name="Rounded Rectangle 5" descr="ANALYTICAL — “what should we do?”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ANALYTICAL — “what should we do?”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Justification / recommendation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Comparison and evaluation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Feasibility (your capstone)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Inherits everything, adds: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Chapter 8's persuasive machinery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The test: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ends in a recommendation → analytical rules govern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ipeline: conclude BEFORE structur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pipeline: conclude BEFORE structuring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Chevron 4" descr="Step 1: DEFINE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DEFINE</a:t>
            </a:r>
          </a:p>
        </p:txBody>
      </p:sp>
      <p:sp>
        <p:nvSpPr>
          <p:cNvPr id="6" name="TextBox 5" descr="DEFINE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question this report answers</a:t>
            </a:r>
          </a:p>
        </p:txBody>
      </p:sp>
      <p:sp>
        <p:nvSpPr>
          <p:cNvPr id="7" name="Chevron 6" descr="Step 2: GATHER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GATHER</a:t>
            </a:r>
          </a:p>
        </p:txBody>
      </p:sp>
      <p:sp>
        <p:nvSpPr>
          <p:cNvPr id="8" name="TextBox 7" descr="GATHER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Data, sources, evidence</a:t>
            </a:r>
          </a:p>
        </p:txBody>
      </p:sp>
      <p:sp>
        <p:nvSpPr>
          <p:cNvPr id="9" name="Chevron 8" descr="Step 3: CONCLUDE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CONCLUDE</a:t>
            </a:r>
          </a:p>
        </p:txBody>
      </p:sp>
      <p:sp>
        <p:nvSpPr>
          <p:cNvPr id="10" name="TextBox 9" descr="CONCLUDE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answer — one written sentence, FIRST</a:t>
            </a:r>
          </a:p>
        </p:txBody>
      </p:sp>
      <p:sp>
        <p:nvSpPr>
          <p:cNvPr id="11" name="Chevron 10" descr="Step 4: PYRAMID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PYRAMID</a:t>
            </a:r>
          </a:p>
        </p:txBody>
      </p:sp>
      <p:sp>
        <p:nvSpPr>
          <p:cNvPr id="12" name="TextBox 11" descr="PYRAMID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Answer → reasons → evidence</a:t>
            </a:r>
          </a:p>
        </p:txBody>
      </p:sp>
      <p:sp>
        <p:nvSpPr>
          <p:cNvPr id="13" name="Chevron 12" descr="Step 5: DRAFT + REVISE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DRAFT + REVISE</a:t>
            </a:r>
          </a:p>
        </p:txBody>
      </p:sp>
      <p:sp>
        <p:nvSpPr>
          <p:cNvPr id="14" name="TextBox 13" descr="DRAFT + REVISE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Chapters 3–4, applied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deepest report error happens before writing: structuring the investigation's story instead of the conclusion's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yramid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pyramid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Answer on top. Reasons beneath. Evidence beneath those. (Minto)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yramid mechanic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Pyramid mechanics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Oval 4" descr="Summit disciplin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6" name="TextBox 5" descr="Summit discipline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Summit discipline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top is an ANSWER (“Renew with TechServe”), never a topic (“Vendor Analysis”). A noun phrase is a filing label.</a:t>
            </a:r>
          </a:p>
        </p:txBody>
      </p:sp>
      <p:sp>
        <p:nvSpPr>
          <p:cNvPr id="7" name="Oval 6" descr="Vertical logic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⇅</a:t>
            </a:r>
          </a:p>
        </p:txBody>
      </p:sp>
      <p:sp>
        <p:nvSpPr>
          <p:cNvPr id="8" name="TextBox 7" descr="Vertical logic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Vertical logic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Each layer answers the question the layer above provokes: why? → how do you know?</a:t>
            </a:r>
          </a:p>
        </p:txBody>
      </p:sp>
      <p:sp>
        <p:nvSpPr>
          <p:cNvPr id="9" name="Oval 8" descr="Horizontal logic (MECE)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⇔</a:t>
            </a:r>
          </a:p>
        </p:txBody>
      </p:sp>
      <p:sp>
        <p:nvSpPr>
          <p:cNvPr id="10" name="TextBox 9" descr="Horizontal logic (MECE)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Horizontal logic (MECE)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Reasons are the same KIND, no overlaps, no gaps. “Cost, price, budget” is one reason in three costumes.</a:t>
            </a:r>
          </a:p>
        </p:txBody>
      </p:sp>
      <p:sp>
        <p:nvSpPr>
          <p:cNvPr id="11" name="Oval 10" descr="It generates the document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2" name="TextBox 11" descr="It generates the document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It generates the document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Summit = opening + subject line · reasons = headings in decision-weight order · evidence = body · orphans = cut or appendix.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y answer-first works (even though it feels wrong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Why answer-first works (even though it feels wrong)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resistance: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 want the reader to experience the journey — the method, the earned conclusion.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cognition: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working memory is small (Miller, 1956); a reader holding your unresolved question retains fragments. Given the answer, everything after becomes active confirmation or challenge.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Better meetings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attendees argue WITH the recommendation instead of asking what it 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journey has a home: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appendix — where the scrutinizer audits your method after the summit earned their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workhors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workhorses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Status reports, minutes, incidents.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gress report skelet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progress report skeleton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Chevron 4" descr="Step 1: STATUS LINE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STATUS LINE</a:t>
            </a:r>
          </a:p>
        </p:txBody>
      </p:sp>
      <p:sp>
        <p:nvSpPr>
          <p:cNvPr id="6" name="TextBox 5" descr="STATUS LINE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“On track for 8/16” — the verdict, sentence one, no suspense</a:t>
            </a:r>
          </a:p>
        </p:txBody>
      </p:sp>
      <p:sp>
        <p:nvSpPr>
          <p:cNvPr id="7" name="Chevron 6" descr="Step 2: DONE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8" name="TextBox 7" descr="DONE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Completed since last report, with dates</a:t>
            </a:r>
          </a:p>
        </p:txBody>
      </p:sp>
      <p:sp>
        <p:nvSpPr>
          <p:cNvPr id="9" name="Chevron 8" descr="Step 3: IN PROGRESS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0" name="TextBox 9" descr="IN PROGRESS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Current work, expected completion</a:t>
            </a:r>
          </a:p>
        </p:txBody>
      </p:sp>
      <p:sp>
        <p:nvSpPr>
          <p:cNvPr id="11" name="Chevron 10" descr="Step 4: BLOCKED / RISKS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BLOCKED / RISKS</a:t>
            </a:r>
          </a:p>
        </p:txBody>
      </p:sp>
      <p:sp>
        <p:nvSpPr>
          <p:cNvPr id="12" name="TextBox 11" descr="BLOCKED / RISKS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honest yellow: threat + plan + what you need</a:t>
            </a:r>
          </a:p>
        </p:txBody>
      </p:sp>
      <p:sp>
        <p:nvSpPr>
          <p:cNvPr id="13" name="Chevron 12" descr="Step 5: NEXT + ASK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+ ASK</a:t>
            </a:r>
          </a:p>
        </p:txBody>
      </p:sp>
      <p:sp>
        <p:nvSpPr>
          <p:cNvPr id="14" name="TextBox 13" descr="NEXT + ASK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coming period; any decision needed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Fixed cadence, fixed skeleton, deltas over restatements (Chapter 5). The BLOCKED section carries the report's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honest yellow — and the dashboard that lied politel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honest yellow — and the dashboard that lied politely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Five months of green;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month six: integration goes green → red. The committee: “how does a project fail in thirty days?” It didn't — the PM's private tracker showed four months of known slippage.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No false sentence was ever written.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“Green” drifted from “on track” to “I can still fix this quietly” — the MUM effect wearing a status color (Rosen &amp; Tesser, 1970).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audit is retrospective: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projects fail, old status reports get reread. The week-3 yellow is diligence; the week-11 green is the career event.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structural fix: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define green with teeth — “all milestones met AND no known risk to the next” — and ask every report: “what's the yellowest thing in your green?”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inutes: decisions, not transcrip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Minutes: decisions, not transcripts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 descr="Transcript minute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Transcript minutes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Who said what, in order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Long, late, unread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Occasionally dangerous — the stray remark as Exhibit A</a:t>
            </a:r>
          </a:p>
        </p:txBody>
      </p:sp>
      <p:sp>
        <p:nvSpPr>
          <p:cNvPr id="6" name="Rounded Rectangle 5" descr="Decision minutes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Decision minutes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Decisions (verbatim where wording matters)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Owners + deadlines per action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Open questions, explicitly parked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One page. Same day.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Five private meetings become one shared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cident anatomy: grammar as a safety syste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Incident anatomy: grammar as a safety system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Chevron 4" descr="Step 1: WHAT HAPPENED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 HAPPENED</a:t>
            </a:r>
          </a:p>
        </p:txBody>
      </p:sp>
      <p:sp>
        <p:nvSpPr>
          <p:cNvPr id="6" name="TextBox 5" descr="WHAT HAPPENED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Time order, actors NAMED — active voice is functional here</a:t>
            </a:r>
          </a:p>
        </p:txBody>
      </p:sp>
      <p:sp>
        <p:nvSpPr>
          <p:cNvPr id="7" name="Chevron 6" descr="Step 2: IMPACT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8" name="TextBox 7" descr="IMPACT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Downtime, product, exposure — quantified</a:t>
            </a:r>
          </a:p>
        </p:txBody>
      </p:sp>
      <p:sp>
        <p:nvSpPr>
          <p:cNvPr id="9" name="Chevron 8" descr="Step 3: ROOT CAUSE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0" name="TextBox 9" descr="ROOT CAUSE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Past the convenient stop: “technician error” is one why short</a:t>
            </a:r>
          </a:p>
        </p:txBody>
      </p:sp>
      <p:sp>
        <p:nvSpPr>
          <p:cNvPr id="11" name="Chevron 10" descr="Step 4: ACTIONS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12" name="TextBox 11" descr="ACTIONS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Owner + date each. “Identified” ≠ “assigned”</a:t>
            </a:r>
          </a:p>
        </p:txBody>
      </p:sp>
      <p:sp>
        <p:nvSpPr>
          <p:cNvPr id="13" name="Chevron 12" descr="Step 5: PREVENTION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PREVENTION</a:t>
            </a:r>
          </a:p>
        </p:txBody>
      </p:sp>
      <p:sp>
        <p:nvSpPr>
          <p:cNvPr id="14" name="TextBox 13" descr="PREVENTION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system change that makes recurrence hard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Reports written to assign blame get gamed; reports written to fix systems get fed. Safe reporting is complete reporting.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ata display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Data displays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One display, one point — announced in the title.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able or chart?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Table or chart?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 descr="TABLE — exact value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TABLE — exact values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Lookup and line-item comparison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Audit trails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When the reader will USE the numbers</a:t>
            </a:r>
          </a:p>
        </p:txBody>
      </p:sp>
      <p:sp>
        <p:nvSpPr>
          <p:cNvPr id="6" name="Rounded Rectangle 5" descr="CHART — the shape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CHART — the shape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Trend, proportion, outlier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Comparison at a glance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Either way: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takeaway in the title · units labeled · sources named · axes honest (zero, or loudly marked)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itles carr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Titles carry takeaways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Topic title: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“Figure 2: Response Time Data” — informs no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Takeaway title: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“Figure 2: Response times fell 41% after barcode intake” — works even for readers who never parse the bars.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Integration rule: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exhibit is referenced in the text BY ITS POINT; the unreferenced exhibit is cargo the reader unloads alone — cut it or appendix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Uncertainty is carried in the verbs: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shows / suggests / we estimate / we believe — ranges beat false-precision points.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trip report nobody could us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trip report nobody could use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Engineer A: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four chronological pages, filed a week later — flights, booth, sessions, “valuable overall.”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Engineer B, next morning, one page: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“Three findings that matter: competitor ships barcode intake Q4 (roadmap assumption dead) · Meridian wants a joint study (decision by the 15th) · FDA draft hits our amendment logs (summary attached).”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Six months later: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B's page shaped the roadmap; B briefs the executives before the next show.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chronology is what writers reach for when they haven't decided what matters. Every report samples your judgment — selection IS the content.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nalysis vs. advocacy: the li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Analysis vs. advocacy: the line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standard: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present the evidence that lets a competent skeptic reach YOUR conclusion — including what gave you pause.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failure modes: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selection bias · strawman alternatives · precision theater · buried assumptions.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Cost the strongest alternative — and “do nothing.”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Pricing the status quo is usually your best paragraph.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most skeptical reader, with full data access — every gap between what exists and what you presented is a withdrawal against your name.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etting your report actually rea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Getting your report actually read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transmittal note IS the executive summary: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“Bottom line: refurbishing three units saves $23K/yr; decision needed by 7/25” — never “please find attached.”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Time it to the live decision;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pre-brief the key decider before wide release (Chapter 8's pre-wiring).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Schedule the next touch: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“I'll bring this to Thursday's ops meeting” — a report without follow-up is a message in a bottle.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Length signals: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one-pager with a rigorous appendix beats the thick report — judgment plus depth, both visible.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etting the data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Getting the data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 report is only as good as what it stands on — gather before you conclude.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econdary first, primary secon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Secondary first, primary second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Someone probably measured it already.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Internal dashboards, past reports, industry data, published benchmarks — an hour of looking beats a week of collecting.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Then fill the gaps with primary work: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own counts, timings, interviews, and pilots — collected for THIS question, owned by you, defended by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Date every number you inherit.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Last year's baseline presented as current is the most common silent error in workplace reports.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Record the 'as of' and the source in the exhibit itself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— 'Support tickets, Jan–Jun 2026, helpdesk export 7/1' — so the report survives its author's vacation.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terviews and quick surveys, minimum viable rigo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Interviews and quick surveys, minimum viable rigor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Interviews: prepare five questions, ask three,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and spend the savings listening (Chapter 1) — the best material is behind the follow-up, not the script.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for stories, not opinions.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'Walk me through the last time intake backed up' yields facts; 'do you think intake is slow?' yields politics.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Surveys: every question you add cuts completion.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Five questions, one open-ended, mobile-friendly — and pilot it on two people before sending to two hundred.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Report the denominator, always.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'80% of respondents' means nothing without '…of the 10 who answered, from 200 asked' — hiding the response rate is selection bias in a costume.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ep the evidence trai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Keep the evidence trail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claim in the report should be traceable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to a file, a dataset, an interview note — by you, six months later, under hostile questioning.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Keep a sources appendix as you work,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after: one line per source — what it is, where it lives, what it supports.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Screenshots and exports age better than links.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dashboard will change; your report's exhibit shouldn't.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trail is also your protection: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the recommendation is challenged, 'here's the export, here's the method' ends arguments that 'I'm pretty sure' starts.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ntainers and deliver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Containers and delivery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Same pyramid, four wrappers — pick by audience and afterlife.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our containe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four containers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The container changes the dress code, never the pyramid.</a:t>
            </a:r>
          </a:p>
        </p:txBody>
      </p:sp>
      <p:sp>
        <p:nvSpPr>
          <p:cNvPr id="6" name="Oval 5" descr="The email report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7" name="TextBox 6" descr="The email report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email report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Short, internal, time-stamped — the status update and quick findings live here. Dies with the thread.</a:t>
            </a:r>
          </a:p>
        </p:txBody>
      </p:sp>
      <p:sp>
        <p:nvSpPr>
          <p:cNvPr id="8" name="Oval 7" descr="The memo report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9" name="TextBox 8" descr="The memo report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memo report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Internal, 1–5 pages, headed sections — the workhorse for anything that gets filed or forwarded.</a:t>
            </a:r>
          </a:p>
        </p:txBody>
      </p:sp>
      <p:sp>
        <p:nvSpPr>
          <p:cNvPr id="10" name="Oval 9" descr="The letter report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11" name="TextBox 10" descr="The letter report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letter report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Short report to an EXTERNAL reader on letterhead — consultant findings, inspection results (Chapter 6's letter rules apply).</a:t>
            </a:r>
          </a:p>
        </p:txBody>
      </p:sp>
      <p:sp>
        <p:nvSpPr>
          <p:cNvPr id="12" name="Oval 11" descr="The slide-doc icon"/>
          <p:cNvSpPr/>
          <p:nvPr/>
        </p:nvSpPr>
        <p:spPr>
          <a:xfrm>
            <a:off x="640080" y="55412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3" name="TextBox 12" descr="The slide-doc"/>
          <p:cNvSpPr txBox="1"/>
          <p:nvPr/>
        </p:nvSpPr>
        <p:spPr>
          <a:xfrm>
            <a:off x="1417320" y="54864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slide-doc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Sections become slides, read not presented — executive-friendly, but every slide needs a takeaway title or it's just a thin report in landscape.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en the report IS the emai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When the report IS the email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Under a page? Don't attach 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 attached one-pager is a click that half the readers won't spend — the body of the email is prime real estate.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Subject line = status line: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'Migration report: on track, one yellow (vendor cert, fix by 7/20)' — the report's summit, in the inbox list view.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Attachment threshold: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past one page, or needing tables/exhibits, or destined for filing — attach, and make the email body the three-line transmittal.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make readers open a file to learn the verdict.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verdict travels in the body even when the evidence travels attached.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analytical workhors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analytical workhorses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Justification, comparison, feasibility — the reports that end in a decision.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justification repor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justification report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Chevron 4" descr="Step 1: RECOMMEND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RECOMMEND</a:t>
            </a:r>
          </a:p>
        </p:txBody>
      </p:sp>
      <p:sp>
        <p:nvSpPr>
          <p:cNvPr id="6" name="TextBox 5" descr="RECOMMEND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Sentence one: the action and its headline number</a:t>
            </a:r>
          </a:p>
        </p:txBody>
      </p:sp>
      <p:sp>
        <p:nvSpPr>
          <p:cNvPr id="7" name="Chevron 6" descr="Step 2: PROBLEM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 descr="PROBLEM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cost of now — quantified, sourced</a:t>
            </a:r>
          </a:p>
        </p:txBody>
      </p:sp>
      <p:sp>
        <p:nvSpPr>
          <p:cNvPr id="9" name="Chevron 8" descr="Step 3: SOLUTION + COST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SOLUTION + COST</a:t>
            </a:r>
          </a:p>
        </p:txBody>
      </p:sp>
      <p:sp>
        <p:nvSpPr>
          <p:cNvPr id="10" name="TextBox 9" descr="SOLUTION + COST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What, how much, how long</a:t>
            </a:r>
          </a:p>
        </p:txBody>
      </p:sp>
      <p:sp>
        <p:nvSpPr>
          <p:cNvPr id="11" name="Chevron 10" descr="Step 4: PAYBACK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12" name="TextBox 11" descr="PAYBACK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When the spend returns — the CFO's paragraph</a:t>
            </a:r>
          </a:p>
        </p:txBody>
      </p:sp>
      <p:sp>
        <p:nvSpPr>
          <p:cNvPr id="13" name="Chevron 12" descr="Step 5: RISKS + PLAN B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RISKS + PLAN B</a:t>
            </a:r>
          </a:p>
        </p:txBody>
      </p:sp>
      <p:sp>
        <p:nvSpPr>
          <p:cNvPr id="14" name="TextBox 13" descr="RISKS + PLAN B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could fail; the honest yellow, pre-disclosed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justification report is the internal proposal (Chapter 8) wearing report clothes — same skeleton, completeness rules now mandatory.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mparison reports: criteria before candidat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Comparison reports: criteria before candidates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Agree the criteria FIRST — with the decider.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Weighting price 40% after seeing the results is how comparisons become advocacy with a rubric.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Same data, every candidate.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glowing paragraph for vendor A and a spec table for vendor B is selection bias in layout form.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matrix shows, the prose judges.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Criteria × candidates table for the facts; a short recommendation section for what the facts mean (Chapter 3's table rule).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Disclose the near-miss honestly.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'B wins on price and loses on the integration our timeline requires' — the runner-up's best case, stated fairly, is your credibility exhibit.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easibility report (your capstone's shape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feasibility report (your capstone's shape)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Chevron 4" descr="Step 1: THE VERDICT"/>
          <p:cNvSpPr/>
          <p:nvPr/>
        </p:nvSpPr>
        <p:spPr>
          <a:xfrm>
            <a:off x="548640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VERDICT</a:t>
            </a:r>
          </a:p>
        </p:txBody>
      </p:sp>
      <p:sp>
        <p:nvSpPr>
          <p:cNvPr id="6" name="TextBox 5" descr="THE VERDICT detail"/>
          <p:cNvSpPr txBox="1"/>
          <p:nvPr/>
        </p:nvSpPr>
        <p:spPr>
          <a:xfrm>
            <a:off x="548640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Feasible or not, under what conditions — sentence one</a:t>
            </a:r>
          </a:p>
        </p:txBody>
      </p:sp>
      <p:sp>
        <p:nvSpPr>
          <p:cNvPr id="7" name="Chevron 6" descr="Step 2: THE PROPOSAL"/>
          <p:cNvSpPr/>
          <p:nvPr/>
        </p:nvSpPr>
        <p:spPr>
          <a:xfrm>
            <a:off x="2801721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PROPOSAL</a:t>
            </a:r>
          </a:p>
        </p:txBody>
      </p:sp>
      <p:sp>
        <p:nvSpPr>
          <p:cNvPr id="8" name="TextBox 7" descr="THE PROPOSAL detail"/>
          <p:cNvSpPr txBox="1"/>
          <p:nvPr/>
        </p:nvSpPr>
        <p:spPr>
          <a:xfrm>
            <a:off x="2801721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What's being evaluated, scoped precisely</a:t>
            </a:r>
          </a:p>
        </p:txBody>
      </p:sp>
      <p:sp>
        <p:nvSpPr>
          <p:cNvPr id="9" name="Chevron 8" descr="Step 3: THE TESTS"/>
          <p:cNvSpPr/>
          <p:nvPr/>
        </p:nvSpPr>
        <p:spPr>
          <a:xfrm>
            <a:off x="5054803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TESTS</a:t>
            </a:r>
          </a:p>
        </p:txBody>
      </p:sp>
      <p:sp>
        <p:nvSpPr>
          <p:cNvPr id="10" name="TextBox 9" descr="THE TESTS detail"/>
          <p:cNvSpPr txBox="1"/>
          <p:nvPr/>
        </p:nvSpPr>
        <p:spPr>
          <a:xfrm>
            <a:off x="5054803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Technical · financial · operational · schedule — each pass/fail with evidence</a:t>
            </a:r>
          </a:p>
        </p:txBody>
      </p:sp>
      <p:sp>
        <p:nvSpPr>
          <p:cNvPr id="11" name="Chevron 10" descr="Step 4: THE CONDITIONS"/>
          <p:cNvSpPr/>
          <p:nvPr/>
        </p:nvSpPr>
        <p:spPr>
          <a:xfrm>
            <a:off x="7307884" y="1828800"/>
            <a:ext cx="2143353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CONDITIONS</a:t>
            </a:r>
          </a:p>
        </p:txBody>
      </p:sp>
      <p:sp>
        <p:nvSpPr>
          <p:cNvPr id="12" name="TextBox 11" descr="THE CONDITIONS detail"/>
          <p:cNvSpPr txBox="1"/>
          <p:nvPr/>
        </p:nvSpPr>
        <p:spPr>
          <a:xfrm>
            <a:off x="7307884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must be true for yes to hold — named assumptions</a:t>
            </a:r>
          </a:p>
        </p:txBody>
      </p:sp>
      <p:sp>
        <p:nvSpPr>
          <p:cNvPr id="13" name="Chevron 12" descr="Step 5: NEXT STEPS"/>
          <p:cNvSpPr/>
          <p:nvPr/>
        </p:nvSpPr>
        <p:spPr>
          <a:xfrm>
            <a:off x="9560966" y="1828800"/>
            <a:ext cx="2143353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 descr="NEXT STEPS detail"/>
          <p:cNvSpPr txBox="1"/>
          <p:nvPr/>
        </p:nvSpPr>
        <p:spPr>
          <a:xfrm>
            <a:off x="9560966" y="3154680"/>
            <a:ext cx="214335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If yes: the first three moves, dated. If no: what would change the answer</a:t>
            </a:r>
          </a:p>
        </p:txBody>
      </p:sp>
      <p:sp>
        <p:nvSpPr>
          <p:cNvPr id="15" name="Rounded Rectangle 14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Feasibility asks 'CAN we, and should we?' — the verdict can be 'yes, if…' and the ifs are the report's most valuable lines.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art clinic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Chart clinic</a:t>
            </a:r>
          </a:p>
        </p:txBody>
      </p:sp>
      <p:sp>
        <p:nvSpPr>
          <p:cNvPr id="3" name="TextBox 2" descr="Section number 07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07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Pick the chart by the question — and keep the axes honest.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ick the chart by the reader's ques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Pick the chart by the reader's question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If you can't name the reader's question, no chart type will save the exhibit.</a:t>
            </a:r>
          </a:p>
        </p:txBody>
      </p:sp>
      <p:sp>
        <p:nvSpPr>
          <p:cNvPr id="6" name="Oval 5" descr="'Which is bigger?' → bar chart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▮</a:t>
            </a:r>
          </a:p>
        </p:txBody>
      </p:sp>
      <p:sp>
        <p:nvSpPr>
          <p:cNvPr id="7" name="TextBox 6" descr="'Which is bigger?' → bar chart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'Which is bigger?' → bar chart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Comparison across categories — bars start at zero or they lie (next slide).</a:t>
            </a:r>
          </a:p>
        </p:txBody>
      </p:sp>
      <p:sp>
        <p:nvSpPr>
          <p:cNvPr id="8" name="Oval 7" descr="'Where is it heading?' → line chart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9" name="TextBox 8" descr="'Where is it heading?' → line chart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'Where is it heading?' → line chart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Trend over time — the workhorse for status and progress evidence.</a:t>
            </a:r>
          </a:p>
        </p:txBody>
      </p:sp>
      <p:sp>
        <p:nvSpPr>
          <p:cNvPr id="10" name="Oval 9" descr="'What share of the whole?' → pie (≤4 slices) or stacked bar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◔</a:t>
            </a:r>
          </a:p>
        </p:txBody>
      </p:sp>
      <p:sp>
        <p:nvSpPr>
          <p:cNvPr id="11" name="TextBox 10" descr="'What share of the whole?' → pie (≤4 slices) or stacked bar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'What share of the whole?' → pie (≤4 slices) or stacked bar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Past four slices, a pie is a mystery — use a sorted bar instead.</a:t>
            </a:r>
          </a:p>
        </p:txBody>
      </p:sp>
      <p:sp>
        <p:nvSpPr>
          <p:cNvPr id="12" name="Oval 11" descr="'Is there a relationship?' → scatter icon"/>
          <p:cNvSpPr/>
          <p:nvPr/>
        </p:nvSpPr>
        <p:spPr>
          <a:xfrm>
            <a:off x="640080" y="55412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⣿</a:t>
            </a:r>
          </a:p>
        </p:txBody>
      </p:sp>
      <p:sp>
        <p:nvSpPr>
          <p:cNvPr id="13" name="TextBox 12" descr="'Is there a relationship?' → scatter"/>
          <p:cNvSpPr txBox="1"/>
          <p:nvPr/>
        </p:nvSpPr>
        <p:spPr>
          <a:xfrm>
            <a:off x="1417320" y="54864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'Is there a relationship?' → scatter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Two variables, every point a case — the honest way to show 'more X, more Y.'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dishonest chart hall of fam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dishonest chart hall of fame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truncated bar axis: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bars starting at 40 make a 42-vs-44 difference look like a doubling — zero the axis, or switch to a dot plot and SAY the axis is cropped.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dual-axis special: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lines, two scales, one implied correlation — the axes were chosen to make the lines dance together.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cherry-picked window: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trend since March looks great because February was the cliff — show the full relevant period or disclose the cut.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3-D pie: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perspective inflates the front slice — decoration that changes the data. Flat, always.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one of these can be built from TRUE numbers.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That's the point: honest data, dishonest picture — and your name on the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lor, labels, and the squint t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Color, labels, and the squint test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color for data, one for THE point.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forest-green bars and the single gold bar — highlight is a spending decision; spend it once (Chapter 3's emphasis rule).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encode meaning in color alone.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tenth of your male readers can't see the red/green distinction — pair color with position, shape, or a label.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Label the data directly when you can.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Values on the bars beat a legend across the room — every eye-trip to a legend is a chance to lose the reader.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squint test: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blur your eyes; whatever still stands out is what the chart actually says. If that isn't your point, the chart isn't done.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Classify by the reader's question; a recommendation ending invokes analytical rules.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Conclude before structuring — then build the pyramid: answer, MECE reasons, evidence.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Status lines carry verdicts; honest yellows beat green-to-red surprises — the audit is retrospective.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Minutes: decisions, owners, deadlines — one page, same day. Incidents: actors, causes, owners, prevention.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Displays make one point, announced in the title, on honest axes.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Persuasive AND complete: the skeptic test governs the analytical line.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9 → Practice, then the graded homework before the weekly deadline.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“Every report is an audition you didn't know was scheduled — judged by readers you may never meet, on the one skill organizations can't fake caring about: knowing what matters.”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6" name="TextBox 5" descr="Slide number 3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Bring a real report and build its pyramid on one page: summit, reasons, orphans.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Why do organizations reward the reporting behaviors they claim to hate? Locate the incentive.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Defend or attack: the one-page report is harder and more senior than the twelve-page report.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Design a definition of “green” that a judgment call cannot stretch.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Find a misleading-but-true chart in the wild; name the mechanism and rebuild it honestly.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9  ·  © Derek D. Bussan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9  ·  © Derek D. Bussan</a:t>
            </a:r>
          </a:p>
        </p:txBody>
      </p:sp>
      <p:sp>
        <p:nvSpPr>
          <p:cNvPr id="4" name="TextBox 3" descr="Slide number 3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9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9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market-research assignment's sections are a pyramid scaffold — this chapter is its manual.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9 Study Guide — the full workshop, templates, and both cases.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10 — proposals and formal reports: the upgrade kit for the same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