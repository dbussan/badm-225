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Unit 4 opens: the long-form genres. The pyramid is the engine of everything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Chapter 9 bank and the market-research assignment.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'Informal' describes the container, not the care.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Writers who conclude first produce documents where every section knows its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1: the structural engine.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Build the pyramid, then transcribe it — the permanent answer to 'how do I organize this?'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Answer-first is also cheaper to WRITE: selection replaces narration.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reader's first question is the report's first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Committees that interrogate yellows manufacture greens — incentive design matters (Chapter 16).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Contested wording gets resolved IN the meeting: 'let me read back the decision as I'll record it.'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3's incident case, now as the full genre.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Tufte's canon: maximize data-ink, kill the chartjunk. The truncated bar axis is the most common honest-numbers-dishonest-picture trick.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3's informative headings, wearing axes. Calibration vocabulary from the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B's report was also FASTER to write: one hard thought replaced a week of easy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 are allowed to be persuasive. You are required to be 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Internal marketing is legitimate craft.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Reports travel above your manager's head with your name attached.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Informal Reports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Informal Reports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Progress · incidents · minutes · recommendations — documents that carry facts to decisions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9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Classify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reports by the reader's question — informational (what happened?) vs. analytical (what should we do?).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Build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pyramid: answer on top, MECE reasons beneath, evidence beneath those.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status reports with honest yellows, minutes that record decisions, incidents that name causes.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Design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displays that make one point each — takeaway in the title, axes honest.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Hold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analysis-versus-advocacy line: persuasive AND complete.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report famil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report family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  <p:sp>
        <p:nvSpPr>
          <p:cNvPr id="5" name="Rounded Rectangle 4" descr="INFORMATIONAL — “what happened?”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INFORMATIONAL — “what happened?”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Progress and status reports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Trip and conference reports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Meeting minutes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Incident records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Virtues: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accuracy, proportion, findability</a:t>
            </a:r>
          </a:p>
        </p:txBody>
      </p:sp>
      <p:sp>
        <p:nvSpPr>
          <p:cNvPr id="6" name="Rounded Rectangle 5" descr="ANALYTICAL — “what should we do?”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ANALYTICAL — “what should we do?”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Justification / recommendation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Comparison and evaluation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Feasibility (your capstone)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Inherits everything, adds: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Chapter 8's persuasive machinery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The test: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ends in a recommendation → analytical rules govern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ipeline: conclude BEFORE structur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pipeline: conclude BEFORE structuring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  <p:sp>
        <p:nvSpPr>
          <p:cNvPr id="5" name="Chevron 4" descr="Step 1: DEFINE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DEFINE</a:t>
            </a:r>
          </a:p>
        </p:txBody>
      </p:sp>
      <p:sp>
        <p:nvSpPr>
          <p:cNvPr id="6" name="TextBox 5" descr="DEFINE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question this report answers</a:t>
            </a:r>
          </a:p>
        </p:txBody>
      </p:sp>
      <p:sp>
        <p:nvSpPr>
          <p:cNvPr id="7" name="Chevron 6" descr="Step 2: GATHER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GATHER</a:t>
            </a:r>
          </a:p>
        </p:txBody>
      </p:sp>
      <p:sp>
        <p:nvSpPr>
          <p:cNvPr id="8" name="TextBox 7" descr="GATHER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Data, sources, evidence</a:t>
            </a:r>
          </a:p>
        </p:txBody>
      </p:sp>
      <p:sp>
        <p:nvSpPr>
          <p:cNvPr id="9" name="Chevron 8" descr="Step 3: CONCLUDE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CONCLUDE</a:t>
            </a:r>
          </a:p>
        </p:txBody>
      </p:sp>
      <p:sp>
        <p:nvSpPr>
          <p:cNvPr id="10" name="TextBox 9" descr="CONCLUDE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answer — one written sentence, FIRST</a:t>
            </a:r>
          </a:p>
        </p:txBody>
      </p:sp>
      <p:sp>
        <p:nvSpPr>
          <p:cNvPr id="11" name="Chevron 10" descr="Step 4: PYRAMID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PYRAMID</a:t>
            </a:r>
          </a:p>
        </p:txBody>
      </p:sp>
      <p:sp>
        <p:nvSpPr>
          <p:cNvPr id="12" name="TextBox 11" descr="PYRAMID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Answer → reasons → evidence</a:t>
            </a:r>
          </a:p>
        </p:txBody>
      </p:sp>
      <p:sp>
        <p:nvSpPr>
          <p:cNvPr id="13" name="Chevron 12" descr="Step 5: DRAFT + REVISE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DRAFT + REVISE</a:t>
            </a:r>
          </a:p>
        </p:txBody>
      </p:sp>
      <p:sp>
        <p:nvSpPr>
          <p:cNvPr id="14" name="TextBox 13" descr="DRAFT + REVISE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Chapters 3–4, applied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deepest report error happens before writing: structuring the investigation's story instead of the conclusion's case.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yramid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pyramid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Answer on top. Reasons beneath. Evidence beneath those. (Minto)</a:t>
            </a:r>
          </a:p>
        </p:txBody>
      </p:sp>
      <p:sp>
        <p:nvSpPr>
          <p:cNvPr id="5" name="TextBox 4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6" name="TextBox 5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yramid mechanic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Pyramid mechanics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  <p:sp>
        <p:nvSpPr>
          <p:cNvPr id="5" name="Oval 4" descr="Summit discipline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▲</a:t>
            </a:r>
          </a:p>
        </p:txBody>
      </p:sp>
      <p:sp>
        <p:nvSpPr>
          <p:cNvPr id="6" name="TextBox 5" descr="Summit discipline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Summit discipline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top is an ANSWER (“Renew with TechServe”), never a topic (“Vendor Analysis”). A noun phrase is a filing label.</a:t>
            </a:r>
          </a:p>
        </p:txBody>
      </p:sp>
      <p:sp>
        <p:nvSpPr>
          <p:cNvPr id="7" name="Oval 6" descr="Vertical logic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⇅</a:t>
            </a:r>
          </a:p>
        </p:txBody>
      </p:sp>
      <p:sp>
        <p:nvSpPr>
          <p:cNvPr id="8" name="TextBox 7" descr="Vertical logic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Vertical logic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Each layer answers the question the layer above provokes: why? → how do you know?</a:t>
            </a:r>
          </a:p>
        </p:txBody>
      </p:sp>
      <p:sp>
        <p:nvSpPr>
          <p:cNvPr id="9" name="Oval 8" descr="Horizontal logic (MECE)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⇔</a:t>
            </a:r>
          </a:p>
        </p:txBody>
      </p:sp>
      <p:sp>
        <p:nvSpPr>
          <p:cNvPr id="10" name="TextBox 9" descr="Horizontal logic (MECE)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Horizontal logic (MECE)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Reasons are the same KIND, no overlaps, no gaps. “Cost, price, budget” is one reason in three costumes.</a:t>
            </a:r>
          </a:p>
        </p:txBody>
      </p:sp>
      <p:sp>
        <p:nvSpPr>
          <p:cNvPr id="11" name="Oval 10" descr="It generates the document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📄</a:t>
            </a:r>
          </a:p>
        </p:txBody>
      </p:sp>
      <p:sp>
        <p:nvSpPr>
          <p:cNvPr id="12" name="TextBox 11" descr="It generates the document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It generates the document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Summit = opening + subject line · reasons = headings in decision-weight order · evidence = body · orphans = cut or appendix.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y answer-first works (even though it feels wrong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Why answer-first works (even though it feels wrong)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resistance: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 want the reader to experience the journey — the method, the earned conclusion.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cognition: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working memory is small (Miller, 1956); a reader holding your unresolved question retains fragments. Given the answer, everything after becomes active confirmation or challenge.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Better meetings too: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attendees argue WITH the recommendation instead of asking what it is.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journey has a home: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appendix — where the scrutinizer audits your method after the summit earned their attention.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workhorse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workhorses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Status reports, minutes, incidents.</a:t>
            </a:r>
          </a:p>
        </p:txBody>
      </p:sp>
      <p:sp>
        <p:nvSpPr>
          <p:cNvPr id="5" name="TextBox 4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6" name="TextBox 5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rogress report skelet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progress report skeleton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  <p:sp>
        <p:nvSpPr>
          <p:cNvPr id="5" name="Chevron 4" descr="Step 1: STATUS LINE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STATUS LINE</a:t>
            </a:r>
          </a:p>
        </p:txBody>
      </p:sp>
      <p:sp>
        <p:nvSpPr>
          <p:cNvPr id="6" name="TextBox 5" descr="STATUS LINE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“On track for 8/16” — the verdict, sentence one, no suspense</a:t>
            </a:r>
          </a:p>
        </p:txBody>
      </p:sp>
      <p:sp>
        <p:nvSpPr>
          <p:cNvPr id="7" name="Chevron 6" descr="Step 2: DONE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DONE</a:t>
            </a:r>
          </a:p>
        </p:txBody>
      </p:sp>
      <p:sp>
        <p:nvSpPr>
          <p:cNvPr id="8" name="TextBox 7" descr="DONE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Completed since last report, with dates</a:t>
            </a:r>
          </a:p>
        </p:txBody>
      </p:sp>
      <p:sp>
        <p:nvSpPr>
          <p:cNvPr id="9" name="Chevron 8" descr="Step 3: IN PROGRESS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IN PROGRESS</a:t>
            </a:r>
          </a:p>
        </p:txBody>
      </p:sp>
      <p:sp>
        <p:nvSpPr>
          <p:cNvPr id="10" name="TextBox 9" descr="IN PROGRESS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Current work, expected completion</a:t>
            </a:r>
          </a:p>
        </p:txBody>
      </p:sp>
      <p:sp>
        <p:nvSpPr>
          <p:cNvPr id="11" name="Chevron 10" descr="Step 4: BLOCKED / RISKS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BLOCKED / RISKS</a:t>
            </a:r>
          </a:p>
        </p:txBody>
      </p:sp>
      <p:sp>
        <p:nvSpPr>
          <p:cNvPr id="12" name="TextBox 11" descr="BLOCKED / RISKS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honest yellow: threat + plan + what you need</a:t>
            </a:r>
          </a:p>
        </p:txBody>
      </p:sp>
      <p:sp>
        <p:nvSpPr>
          <p:cNvPr id="13" name="Chevron 12" descr="Step 5: NEXT + ASK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NEXT + ASK</a:t>
            </a:r>
          </a:p>
        </p:txBody>
      </p:sp>
      <p:sp>
        <p:nvSpPr>
          <p:cNvPr id="14" name="TextBox 13" descr="NEXT + ASK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coming period; any decision needed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Fixed cadence, fixed skeleton, deltas over restatements (Chapter 5). The BLOCKED section carries the report's integrity.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honest yellow — and the dashboard that lied politel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honest yellow — and the dashboard that lied politely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Five months of green;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month six: integration goes green → red. The committee: “how does a project fail in thirty days?” It didn't — the PM's private tracker showed four months of known slippage.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No false sentence was ever written.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“Green” drifted from “on track” to “I can still fix this quietly” — the MUM effect wearing a status color (Rosen &amp; Tesser, 1970).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audit is retrospective: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when projects fail, old status reports get reread. The week-3 yellow is diligence; the week-11 green is the career event.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structural fix: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define green with teeth — “all milestones met AND no known risk to the next” — and ask every report: “what's the yellowest thing in your green?”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Minutes: decisions, not transcript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Minutes: decisions, not transcripts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  <p:sp>
        <p:nvSpPr>
          <p:cNvPr id="5" name="Rounded Rectangle 4" descr="Transcript minute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Transcript minutes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Who said what, in order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Long, late, unread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Occasionally dangerous — the stray remark as Exhibit A</a:t>
            </a:r>
          </a:p>
        </p:txBody>
      </p:sp>
      <p:sp>
        <p:nvSpPr>
          <p:cNvPr id="6" name="Rounded Rectangle 5" descr="Decision minutes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Decision minutes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Decisions (verbatim where wording matters)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Owners + deadlines per action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Open questions, explicitly parked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One page. Same day.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Five private meetings become one shared one.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Incident anatomy: grammar as a safety system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Incident anatomy: grammar as a safety system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Chevron 4" descr="Step 1: WHAT HAPPENED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WHAT HAPPENED</a:t>
            </a:r>
          </a:p>
        </p:txBody>
      </p:sp>
      <p:sp>
        <p:nvSpPr>
          <p:cNvPr id="6" name="TextBox 5" descr="WHAT HAPPENED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Time order, actors NAMED — active voice is functional here</a:t>
            </a:r>
          </a:p>
        </p:txBody>
      </p:sp>
      <p:sp>
        <p:nvSpPr>
          <p:cNvPr id="7" name="Chevron 6" descr="Step 2: IMPACT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IMPACT</a:t>
            </a:r>
          </a:p>
        </p:txBody>
      </p:sp>
      <p:sp>
        <p:nvSpPr>
          <p:cNvPr id="8" name="TextBox 7" descr="IMPACT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Downtime, product, exposure — quantified</a:t>
            </a:r>
          </a:p>
        </p:txBody>
      </p:sp>
      <p:sp>
        <p:nvSpPr>
          <p:cNvPr id="9" name="Chevron 8" descr="Step 3: ROOT CAUSE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ROOT CAUSE</a:t>
            </a:r>
          </a:p>
        </p:txBody>
      </p:sp>
      <p:sp>
        <p:nvSpPr>
          <p:cNvPr id="10" name="TextBox 9" descr="ROOT CAUSE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Past the convenient stop: “technician error” is one why short</a:t>
            </a:r>
          </a:p>
        </p:txBody>
      </p:sp>
      <p:sp>
        <p:nvSpPr>
          <p:cNvPr id="11" name="Chevron 10" descr="Step 4: ACTIONS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ACTIONS</a:t>
            </a:r>
          </a:p>
        </p:txBody>
      </p:sp>
      <p:sp>
        <p:nvSpPr>
          <p:cNvPr id="12" name="TextBox 11" descr="ACTIONS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Owner + date each. “Identified” ≠ “assigned”</a:t>
            </a:r>
          </a:p>
        </p:txBody>
      </p:sp>
      <p:sp>
        <p:nvSpPr>
          <p:cNvPr id="13" name="Chevron 12" descr="Step 5: PREVENTION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PREVENTION</a:t>
            </a:r>
          </a:p>
        </p:txBody>
      </p:sp>
      <p:sp>
        <p:nvSpPr>
          <p:cNvPr id="14" name="TextBox 13" descr="PREVENTION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system change that makes recurrence hard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Reports written to assign blame get gamed; reports written to fix systems get fed. Safe reporting is complete reporting.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ata display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Data displays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One display, one point — announced in the title.</a:t>
            </a:r>
          </a:p>
        </p:txBody>
      </p:sp>
      <p:sp>
        <p:nvSpPr>
          <p:cNvPr id="5" name="TextBox 4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6" name="TextBox 5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able or chart?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Table or chart?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  <p:sp>
        <p:nvSpPr>
          <p:cNvPr id="5" name="Rounded Rectangle 4" descr="TABLE — exact value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TABLE — exact values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Lookup and line-item comparison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Audit trails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When the reader will USE the numbers</a:t>
            </a:r>
          </a:p>
        </p:txBody>
      </p:sp>
      <p:sp>
        <p:nvSpPr>
          <p:cNvPr id="6" name="Rounded Rectangle 5" descr="CHART — the shape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CHART — the shape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Trend, proportion, outlier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Comparison at a glance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Either way: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takeaway in the title · units labeled · sources named · axes honest (zero, or loudly marked)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itles carr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Titles carry takeaways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Topic title: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“Figure 2: Response Time Data” — informs no 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Takeaway title: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“Figure 2: Response times fell 41% after barcode intake” — works even for readers who never parse the bars.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Integration rule: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exhibit is referenced in the text BY ITS POINT; the unreferenced exhibit is cargo the reader unloads alone — cut it or appendix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Uncertainty is carried in the verbs: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shows / suggests / we estimate / we believe — ranges beat false-precision points.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trip report nobody could us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trip report nobody could use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Engineer A: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four chronological pages, filed a week later — flights, booth, sessions, “valuable overall.”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Engineer B, next morning, one page: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“Three findings that matter: competitor ships barcode intake Q4 (roadmap assumption dead) · Meridian wants a joint study (decision by the 15th) · FDA draft hits our amendment logs (summary attached).”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Six months later: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B's page shaped the roadmap; B briefs the executives before the next show.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chronology is what writers reach for when they haven't decided what matters. Every report samples your judgment — selection IS the content.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nalysis vs. advocacy: the lin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Analysis vs. advocacy: the line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standard: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present the evidence that lets a competent skeptic reach YOUR conclusion — including what gave you pause.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failure modes: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selection bias · strawman alternatives · precision theater · buried assumptions.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Cost the strongest alternative — and “do nothing.”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Pricing the status quo is usually your best paragraph.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test: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most skeptical reader, with full data access — every gap between what exists and what you presented is a withdrawal against your name.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Getting your report actually rea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Getting your report actually read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transmittal note IS the executive summary: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“Bottom line: refurbishing three units saves $23K/yr; decision needed by 7/25” — never “please find attached.”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Time it to the live decision;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pre-brief the key decider before wide release (Chapter 8's pre-wiring).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Schedule the next touch: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“I'll bring this to Thursday's ops meeting” — a report without follow-up is a message in a bottle.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Length signals: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one-pager with a rigorous appendix beats the thick report — judgment plus depth, both visible.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Classify by the reader's question; a recommendation ending invokes analytical rules.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Conclude before structuring — then build the pyramid: answer, MECE reasons, evidence.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Status lines carry verdicts; honest yellows beat green-to-red surprises — the audit is retrospective.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Minutes: decisions, owners, deadlines — one page, same day. Incidents: actors, causes, owners, prevention.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Displays make one point, announced in the title, on honest axes.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Persuasive AND complete: the skeptic test governs the analytical line.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9 → Practice, then the graded homework before the weekly deadline.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“Every report is an audition you didn't know was scheduled — judged by readers you may never meet, on the one skill organizations can't fake caring about: knowing what matters.”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</a:t>
            </a:r>
          </a:p>
        </p:txBody>
      </p:sp>
      <p:sp>
        <p:nvSpPr>
          <p:cNvPr id="5" name="TextBox 4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6" name="TextBox 5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Bring a real report and build its pyramid on one page: summit, reasons, orphans.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Why do organizations reward the reporting behaviors they claim to hate? Locate the incentive.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Defend or attack: the one-page report is harder and more senior than the twelve-page report.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Design a definition of “green” that a judgment call cannot stretch.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Find a misleading-but-true chart in the wild; name the mechanism and rebuild it honestly.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</a:t>
            </a:r>
          </a:p>
        </p:txBody>
      </p:sp>
      <p:sp>
        <p:nvSpPr>
          <p:cNvPr id="4" name="TextBox 3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9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9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Apply: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market-research assignment's sections are a pyramid scaffold — this chapter is its manual.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Chapter 9 Study Guide — the full workshop, templates, and both cases.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10 — proposals and formal reports: the upgrade kit for the same engine.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