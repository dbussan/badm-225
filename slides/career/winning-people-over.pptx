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Career-series lecture on influence and people skills. Inspired by the principles Dale Carnegie popularized; every word here is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influence as career capital. Connect to students' group work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quotation with attribution. Carnegie's 1936 classic popularized the principles this lecture builds on; the treatment and examples that follow are original. Recommend the book as optional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the foundational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psychology: criticism activates self-justification. People rarely blame themselves — plan your communication around that reality rather than resenting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of thumb: if you couldn't name the specific thing, it isn't appreciation yet. One specific sentence of recognition outweighs a page of adjectives.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reframe — from my request to their benefit — is the highest-leverage habit in the deck, and it's also the 'you-view' from our writing chapters applied to persuasion.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likability as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brief notes after conversations if memory is weak — the follow-up question weeks later lands as extraordinary because almost nobody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the active-listening techniques from Chapter 1: attend, paraphrase, question, pause. Same skills, aimed at influence.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persuasion.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argument (ego contest) from disagreement (idea comparison). Professionals disagree constantly without arguing.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'their idea' move is the advanced version: influence that doesn't need the credit gets the outcome plus an 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leadership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Leadership variant of every earlier principle: influence under authority. Authority makes these habits MORE necessary, not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credit is the cheapest, most reliable influence investment available to anyone — student or CEO.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visibility test: if the other person could see your technique, would they still feel respected? Carnegie's own insistence: sincerity is the whole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directly to the course's Influencing Positively and complaint-handling assignments and Chapter 8 persuasion.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plus the book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async discussion-board prompts; question 2 doubles as a writing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inning People Over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Winning People Over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INSTRUCTOR’S CAREER SERIES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Influence, likability, and leading without resentment — people skills as a professional discipline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Career Series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y people skills decide caree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Why people skills decide careers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Technical skill gets you hired.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People skills get you promoted — leadership is influence, and influence is a people skill.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deliverable has a human on the other end.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Reports persuade, emails negotiate, meetings build or burn trust.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Influence is learnable.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Like listening and writing, it is technique plus practice — not a personality you were born with.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stakes compound.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colleague you win over today is the reference, ally, or hiring manager of your next decade.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 classic worth know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A classic worth knowing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“You can make more friends in two months by becoming interested in other people than you can in two years by trying to get other people interested in you.”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Dale Carnegie, How to Win Friends and Influence People (1936)</a:t>
            </a:r>
          </a:p>
        </p:txBody>
      </p:sp>
      <p:sp>
        <p:nvSpPr>
          <p:cNvPr id="5" name="TextBox 4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andling people without bruising them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Handling people without bruising them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foundation: nobody was ever argued into liking you.</a:t>
            </a:r>
          </a:p>
        </p:txBody>
      </p:sp>
      <p:sp>
        <p:nvSpPr>
          <p:cNvPr id="5" name="TextBox 4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riticism feels productive — and almost never i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Criticism feels productive — and almost never is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 descr="What criticism actually doe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What criticism actually does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Triggers defense, not reflection — people justify, they don't reconsider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Wounds pride and creates a quiet enemy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Teaches people to hide mistakes from you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Feels satisfying to give; costs you influence you can't see</a:t>
            </a:r>
          </a:p>
        </p:txBody>
      </p:sp>
      <p:sp>
        <p:nvSpPr>
          <p:cNvPr id="6" name="Rounded Rectangle 5" descr="What works instead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What works instead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Get curious first.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“Walk me through what happened” beats “why did you do that?”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Critique the work, never the person.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“This section needs sources” vs. “you're careless.”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Assume a reason.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Most 'incompetence' is a missing fact, tool, or instruction.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ppreciation vs. flattery — only one builds influe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Appreciation vs. flattery — only one builds influence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 descr="Flattery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Flattery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Generic: “great job, team!”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Insincere — and people can tell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About getting something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Cheap to give, worth nothing</a:t>
            </a:r>
          </a:p>
        </p:txBody>
      </p:sp>
      <p:sp>
        <p:nvSpPr>
          <p:cNvPr id="6" name="Rounded Rectangle 5" descr="Honest appreciation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Honest appreciation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Specific: “your cost table made the decision easy for the committee”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True — you actually noticed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About the other person's real contribution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Costs attention, compounds into loyalty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rame it in their interests — the master ke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Frame it in their interests — the master key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amateur asks: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“How do I get what I want?”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professional asks: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“Why would this be good for them?” — and leads with that.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Weak: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“I need your data by Friday for my report.”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Strong: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“If I get your data by Friday, your team's results go in front of the VP in Monday's report.”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This is not manipulation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 is finding the genuine overlap between what you need and what they value. If there is no overlap, influence isn't your problem; the proposal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ecoming someone people say yes to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Becoming someone people say yes to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Likability isn't charm. It's attention, reliably paid.</a:t>
            </a:r>
          </a:p>
        </p:txBody>
      </p:sp>
      <p:sp>
        <p:nvSpPr>
          <p:cNvPr id="5" name="TextBox 4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6" name="TextBox 5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mall habits that make people like working with you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small habits that make people like working with you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Oval 4" descr="Be genuinely interested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❤</a:t>
            </a:r>
          </a:p>
        </p:txBody>
      </p:sp>
      <p:sp>
        <p:nvSpPr>
          <p:cNvPr id="6" name="TextBox 5" descr="Be genuinely interested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Be genuinely interested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Ask about their project, their constraint, their weekend — and actually listen to the answer.</a:t>
            </a:r>
          </a:p>
        </p:txBody>
      </p:sp>
      <p:sp>
        <p:nvSpPr>
          <p:cNvPr id="7" name="Oval 6" descr="Warmth is visible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☺</a:t>
            </a:r>
          </a:p>
        </p:txBody>
      </p:sp>
      <p:sp>
        <p:nvSpPr>
          <p:cNvPr id="8" name="TextBox 7" descr="Warmth is visible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Warmth is visible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 greeting with energy — in person, on camera, even in an email's first line — sets the entire exchange.</a:t>
            </a:r>
          </a:p>
        </p:txBody>
      </p:sp>
      <p:sp>
        <p:nvSpPr>
          <p:cNvPr id="9" name="Oval 8" descr="Names matter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✍</a:t>
            </a:r>
          </a:p>
        </p:txBody>
      </p:sp>
      <p:sp>
        <p:nvSpPr>
          <p:cNvPr id="10" name="TextBox 9" descr="Names matter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Names matter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Learn them, spell them right, pronounce them right. A misspelled name in an email is a small insult.</a:t>
            </a:r>
          </a:p>
        </p:txBody>
      </p:sp>
      <p:sp>
        <p:nvSpPr>
          <p:cNvPr id="11" name="Oval 10" descr="Remember the details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2" name="TextBox 11" descr="Remember the details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Remember the details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“How did the inspection go?” three weeks later tells someone they exist in your world.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istening is the most underrated influence too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Listening is the most underrated influence tool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People trust those who hear them.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Being truly listened to is rare enough that it creates instant goodwill.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Let them talk more than you.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person doing the talking feels the conversation went well — use that math.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Their interests are the agenda.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Open with what they care about, not with your pitch.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them feel important — honestly.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Ask their advice in their area of strength. “You've run more of these projects than anyone — what am I missing?”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inning agreement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Winning agreement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You cannot win an argument — even when you win it.</a:t>
            </a:r>
          </a:p>
        </p:txBody>
      </p:sp>
      <p:sp>
        <p:nvSpPr>
          <p:cNvPr id="5" name="TextBox 4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6" name="TextBox 5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argument paradox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argument paradox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Lose–lose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Win the argument and you've usually lost the person — they walk away embarrassed, resentful, and unconvinced.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Avoid the head-on collision.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State your view once, clearly; repetition at higher volume converts no one.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Respect the other opinion out loud.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“I can see why you'd read it that way” costs nothing and lowers every defense.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Admit your errors fast and first.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Beating others to your own mistake converts a weakness into credibility.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ild a path to y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Build a path to yes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Open friendly.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Tone in the first ten seconds — or first sentence of the email — decides the temperature of everything after.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Start where you agree.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Stack the easy agreements first; momentum toward 'yes' is real psychology.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questions instead of asserting.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“What would it take to hit Friday?” beats “This must be done Friday.”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Let them do most of the talking.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Their objections, spoken aloud, often answer themselves.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Let the idea become theirs.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“Building on what Maria said…” — shared ownership beats sole credit, every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Leading without resentment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Leading without resentment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Correcting people while keeping them — the manager's hardest skill.</a:t>
            </a:r>
          </a:p>
        </p:txBody>
      </p:sp>
      <p:sp>
        <p:nvSpPr>
          <p:cNvPr id="5" name="TextBox 4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6" name="TextBox 5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anging behavior without making an enem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Changing behavior without making an enemy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Oval 4" descr="Open with honest prais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6" name="TextBox 5" descr="Open with honest praise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Open with honest praise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Real appreciation first — it proves the critique comes from an ally, not an attacker.</a:t>
            </a:r>
          </a:p>
        </p:txBody>
      </p:sp>
      <p:sp>
        <p:nvSpPr>
          <p:cNvPr id="7" name="Oval 6" descr="Correct indirectly where you can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↷</a:t>
            </a:r>
          </a:p>
        </p:txBody>
      </p:sp>
      <p:sp>
        <p:nvSpPr>
          <p:cNvPr id="8" name="TextBox 7" descr="Correct indirectly where you can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Correct indirectly where you can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“Let's tighten the sourcing in section two” beats a public autopsy of who wrote it.</a:t>
            </a:r>
          </a:p>
        </p:txBody>
      </p:sp>
      <p:sp>
        <p:nvSpPr>
          <p:cNvPr id="9" name="Oval 8" descr="Your mistakes first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♟</a:t>
            </a:r>
          </a:p>
        </p:txBody>
      </p:sp>
      <p:sp>
        <p:nvSpPr>
          <p:cNvPr id="10" name="TextBox 9" descr="Your mistakes first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Your mistakes first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“I made this exact error my first year…” makes the lesson receivable.</a:t>
            </a:r>
          </a:p>
        </p:txBody>
      </p:sp>
      <p:sp>
        <p:nvSpPr>
          <p:cNvPr id="11" name="Oval 10" descr="Ask, don't order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2" name="TextBox 11" descr="Ask, don't order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Ask, don't order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“Could we try it with the summary up front?” preserves ownership and dignity.</a:t>
            </a:r>
          </a:p>
        </p:txBody>
      </p:sp>
      <p:sp>
        <p:nvSpPr>
          <p:cNvPr id="13" name="Oval 12" descr="Always leave a face-saving exit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⌂</a:t>
            </a:r>
          </a:p>
        </p:txBody>
      </p:sp>
      <p:sp>
        <p:nvSpPr>
          <p:cNvPr id="14" name="TextBox 13" descr="Always leave a face-saving exit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Always leave a face-saving exit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Let people retreat with dignity and they'll follow you again; corner them and they'll fight you forever.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aise progress — loudly, specifically, publicl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Praise progress — loudly, specifically, publicly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Catch people doing it right; behavior you spotlight repeats.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Give a reputation to live up to: “you're the most careful reviewer we have” recruits their identity to the standard.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Make the fault seem fixable — “you're 90% there” motivates; “this is all wrong” paralyzes.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Credit generously.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“That was Jordan's catch” costs you nothing and gains two allies: Jordan, and everyone who watched you do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thical line: influence vs. manipul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ethical line: influence vs. manipulation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 descr="Influence (build on this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Influence (build on this)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Genuine interest, honest appreciation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Finding real overlap between your goal and theirs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Both parties better off — and both would agree if the method were visible</a:t>
            </a:r>
          </a:p>
        </p:txBody>
      </p:sp>
      <p:sp>
        <p:nvSpPr>
          <p:cNvPr id="6" name="Rounded Rectangle 5" descr="Manipulation (never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Manipulation (never)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Fake warmth deployed to extract something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Framing designed to hide the real cost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 win, they lose — and it works only until they notice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 this course — and in your inbox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 this course — and in your inbox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Your 'Influencing Positively' assignment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is exactly this skill set in writing: frame the request in the reader's interests, open friendly, make yes easy.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Complaint handling: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let the customer talk, respect the frustration out loud, fix what's fixable, and leave them a dignified exit.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Persuasive messages (Chapter 8):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attention → interest → desire → action is Carnegie's overlap-hunting, formalized.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email is a rep.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 get a dozen chances a day to practice one of these habits in a low-stakes sentence.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areer Series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Career Series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Criticism triggers defense; curiosity triggers change.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Appreciation is specific and true — flattery is neither.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Frame every request in the other person's interests; find the genuine overlap.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You cannot win an argument — build agreements instead, and let ideas become theirs.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Correct with praise first, questions instead of orders, and a face-saving exit.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visibility test keeps influence honest: would they feel respected if they saw your technique?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Optional reading: Dale Carnegie, How to Win Friends and Influence People (1936) — the classic behind this lecture.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Recall a time criticism changed your behavior — and one where it just made you defensive. What was different?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Rewrite this request in the reader's interests: “I need everyone's status updates by 3 PM.”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Which is harder for you — admitting error first, or letting someone else take credit? Why?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Where's the line between adapting to your audience and manipulating them? Give an example of each.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Pick one habit from this deck to practice for one week. How will you know it's working?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Career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