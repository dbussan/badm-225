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3" r:id="rId17"/>
    <p:sldId id="274"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95" d="100"/>
          <a:sy n="95" d="100"/>
        </p:scale>
        <p:origin x="52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CED16-65A9-8E6E-D125-D83393ED8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ADB486-3CCD-D049-14D9-741B79BFA7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5C6330D-DB96-5FAD-B576-197D3E0D7C1A}"/>
              </a:ext>
            </a:extLst>
          </p:cNvPr>
          <p:cNvSpPr>
            <a:spLocks noGrp="1"/>
          </p:cNvSpPr>
          <p:nvPr>
            <p:ph type="dt" sz="half" idx="10"/>
          </p:nvPr>
        </p:nvSpPr>
        <p:spPr/>
        <p:txBody>
          <a:bodyPr/>
          <a:lstStyle/>
          <a:p>
            <a:fld id="{608075EF-5B47-494D-8BED-63D48C4A355A}" type="datetimeFigureOut">
              <a:rPr lang="en-US" smtClean="0"/>
              <a:t>11/10/2025</a:t>
            </a:fld>
            <a:endParaRPr lang="en-US"/>
          </a:p>
        </p:txBody>
      </p:sp>
      <p:sp>
        <p:nvSpPr>
          <p:cNvPr id="5" name="Footer Placeholder 4">
            <a:extLst>
              <a:ext uri="{FF2B5EF4-FFF2-40B4-BE49-F238E27FC236}">
                <a16:creationId xmlns:a16="http://schemas.microsoft.com/office/drawing/2014/main" id="{24A92004-5634-D9F2-BEB8-E48E4FCE45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64FF61-F3F2-6355-FB10-BE80910C319A}"/>
              </a:ext>
            </a:extLst>
          </p:cNvPr>
          <p:cNvSpPr>
            <a:spLocks noGrp="1"/>
          </p:cNvSpPr>
          <p:nvPr>
            <p:ph type="sldNum" sz="quarter" idx="12"/>
          </p:nvPr>
        </p:nvSpPr>
        <p:spPr/>
        <p:txBody>
          <a:bodyPr/>
          <a:lstStyle/>
          <a:p>
            <a:fld id="{6B5260AC-8940-4249-8ED2-EB42D8FC7BAB}" type="slidenum">
              <a:rPr lang="en-US" smtClean="0"/>
              <a:t>‹#›</a:t>
            </a:fld>
            <a:endParaRPr lang="en-US"/>
          </a:p>
        </p:txBody>
      </p:sp>
    </p:spTree>
    <p:extLst>
      <p:ext uri="{BB962C8B-B14F-4D97-AF65-F5344CB8AC3E}">
        <p14:creationId xmlns:p14="http://schemas.microsoft.com/office/powerpoint/2010/main" val="3877562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92075-6D13-F194-8BB5-5C52FE2A03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4DE3F8-636D-0D50-CABD-0BF0469A6B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1DC68A-5E46-1254-4476-136807BC1539}"/>
              </a:ext>
            </a:extLst>
          </p:cNvPr>
          <p:cNvSpPr>
            <a:spLocks noGrp="1"/>
          </p:cNvSpPr>
          <p:nvPr>
            <p:ph type="dt" sz="half" idx="10"/>
          </p:nvPr>
        </p:nvSpPr>
        <p:spPr/>
        <p:txBody>
          <a:bodyPr/>
          <a:lstStyle/>
          <a:p>
            <a:fld id="{608075EF-5B47-494D-8BED-63D48C4A355A}" type="datetimeFigureOut">
              <a:rPr lang="en-US" smtClean="0"/>
              <a:t>11/10/2025</a:t>
            </a:fld>
            <a:endParaRPr lang="en-US"/>
          </a:p>
        </p:txBody>
      </p:sp>
      <p:sp>
        <p:nvSpPr>
          <p:cNvPr id="5" name="Footer Placeholder 4">
            <a:extLst>
              <a:ext uri="{FF2B5EF4-FFF2-40B4-BE49-F238E27FC236}">
                <a16:creationId xmlns:a16="http://schemas.microsoft.com/office/drawing/2014/main" id="{19C1E1BC-B0C5-116A-2142-D7F94B752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4BC14A-9A2E-C70D-CEED-20E4A6E3B32A}"/>
              </a:ext>
            </a:extLst>
          </p:cNvPr>
          <p:cNvSpPr>
            <a:spLocks noGrp="1"/>
          </p:cNvSpPr>
          <p:nvPr>
            <p:ph type="sldNum" sz="quarter" idx="12"/>
          </p:nvPr>
        </p:nvSpPr>
        <p:spPr/>
        <p:txBody>
          <a:bodyPr/>
          <a:lstStyle/>
          <a:p>
            <a:fld id="{6B5260AC-8940-4249-8ED2-EB42D8FC7BAB}" type="slidenum">
              <a:rPr lang="en-US" smtClean="0"/>
              <a:t>‹#›</a:t>
            </a:fld>
            <a:endParaRPr lang="en-US"/>
          </a:p>
        </p:txBody>
      </p:sp>
    </p:spTree>
    <p:extLst>
      <p:ext uri="{BB962C8B-B14F-4D97-AF65-F5344CB8AC3E}">
        <p14:creationId xmlns:p14="http://schemas.microsoft.com/office/powerpoint/2010/main" val="2654393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7C337-C66E-10B5-D6F6-16F3764B76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CF1438-94E5-CE21-5E13-E2D80C8817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7738C0-9774-0A9D-1589-C21D7AFFD65A}"/>
              </a:ext>
            </a:extLst>
          </p:cNvPr>
          <p:cNvSpPr>
            <a:spLocks noGrp="1"/>
          </p:cNvSpPr>
          <p:nvPr>
            <p:ph type="dt" sz="half" idx="10"/>
          </p:nvPr>
        </p:nvSpPr>
        <p:spPr/>
        <p:txBody>
          <a:bodyPr/>
          <a:lstStyle/>
          <a:p>
            <a:fld id="{608075EF-5B47-494D-8BED-63D48C4A355A}" type="datetimeFigureOut">
              <a:rPr lang="en-US" smtClean="0"/>
              <a:t>11/10/2025</a:t>
            </a:fld>
            <a:endParaRPr lang="en-US"/>
          </a:p>
        </p:txBody>
      </p:sp>
      <p:sp>
        <p:nvSpPr>
          <p:cNvPr id="5" name="Footer Placeholder 4">
            <a:extLst>
              <a:ext uri="{FF2B5EF4-FFF2-40B4-BE49-F238E27FC236}">
                <a16:creationId xmlns:a16="http://schemas.microsoft.com/office/drawing/2014/main" id="{1CF55076-57E0-64CF-1CE9-1BE3F61706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684754-D75D-1A89-E7B0-3D8C450182DF}"/>
              </a:ext>
            </a:extLst>
          </p:cNvPr>
          <p:cNvSpPr>
            <a:spLocks noGrp="1"/>
          </p:cNvSpPr>
          <p:nvPr>
            <p:ph type="sldNum" sz="quarter" idx="12"/>
          </p:nvPr>
        </p:nvSpPr>
        <p:spPr/>
        <p:txBody>
          <a:bodyPr/>
          <a:lstStyle/>
          <a:p>
            <a:fld id="{6B5260AC-8940-4249-8ED2-EB42D8FC7BAB}" type="slidenum">
              <a:rPr lang="en-US" smtClean="0"/>
              <a:t>‹#›</a:t>
            </a:fld>
            <a:endParaRPr lang="en-US"/>
          </a:p>
        </p:txBody>
      </p:sp>
    </p:spTree>
    <p:extLst>
      <p:ext uri="{BB962C8B-B14F-4D97-AF65-F5344CB8AC3E}">
        <p14:creationId xmlns:p14="http://schemas.microsoft.com/office/powerpoint/2010/main" val="252686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A2F73-E6D3-F5E5-F3A6-918AD22FC6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5F939E-B19D-2DDE-983F-BA6FB557CA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D2479E-BD38-BBD2-EDAB-D07A33BE97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E36E98-D618-A1A7-E37A-913F729EA7DA}"/>
              </a:ext>
            </a:extLst>
          </p:cNvPr>
          <p:cNvSpPr>
            <a:spLocks noGrp="1"/>
          </p:cNvSpPr>
          <p:nvPr>
            <p:ph type="dt" sz="half" idx="10"/>
          </p:nvPr>
        </p:nvSpPr>
        <p:spPr/>
        <p:txBody>
          <a:bodyPr/>
          <a:lstStyle/>
          <a:p>
            <a:fld id="{608075EF-5B47-494D-8BED-63D48C4A355A}" type="datetimeFigureOut">
              <a:rPr lang="en-US" smtClean="0"/>
              <a:t>11/10/2025</a:t>
            </a:fld>
            <a:endParaRPr lang="en-US"/>
          </a:p>
        </p:txBody>
      </p:sp>
      <p:sp>
        <p:nvSpPr>
          <p:cNvPr id="6" name="Footer Placeholder 5">
            <a:extLst>
              <a:ext uri="{FF2B5EF4-FFF2-40B4-BE49-F238E27FC236}">
                <a16:creationId xmlns:a16="http://schemas.microsoft.com/office/drawing/2014/main" id="{FF32895F-45C0-6540-9CEF-FA1EBC4A58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BDEBAC-3273-E58D-E785-CCAAF5CB1037}"/>
              </a:ext>
            </a:extLst>
          </p:cNvPr>
          <p:cNvSpPr>
            <a:spLocks noGrp="1"/>
          </p:cNvSpPr>
          <p:nvPr>
            <p:ph type="sldNum" sz="quarter" idx="12"/>
          </p:nvPr>
        </p:nvSpPr>
        <p:spPr/>
        <p:txBody>
          <a:bodyPr/>
          <a:lstStyle/>
          <a:p>
            <a:fld id="{6B5260AC-8940-4249-8ED2-EB42D8FC7BAB}" type="slidenum">
              <a:rPr lang="en-US" smtClean="0"/>
              <a:t>‹#›</a:t>
            </a:fld>
            <a:endParaRPr lang="en-US"/>
          </a:p>
        </p:txBody>
      </p:sp>
    </p:spTree>
    <p:extLst>
      <p:ext uri="{BB962C8B-B14F-4D97-AF65-F5344CB8AC3E}">
        <p14:creationId xmlns:p14="http://schemas.microsoft.com/office/powerpoint/2010/main" val="4233028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B0793-B654-03FE-970E-1122AE5690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084AC0-2B08-9661-9574-22DE6041C7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C694DB-A7E0-1B91-DAFC-552E860F3B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FF7535-B993-5D4B-C092-BF47595C82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F52B21-A23F-E9CA-6D68-3D73FFE42F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79CC20-E20F-95CF-24E6-F0289B33A11B}"/>
              </a:ext>
            </a:extLst>
          </p:cNvPr>
          <p:cNvSpPr>
            <a:spLocks noGrp="1"/>
          </p:cNvSpPr>
          <p:nvPr>
            <p:ph type="dt" sz="half" idx="10"/>
          </p:nvPr>
        </p:nvSpPr>
        <p:spPr/>
        <p:txBody>
          <a:bodyPr/>
          <a:lstStyle/>
          <a:p>
            <a:fld id="{608075EF-5B47-494D-8BED-63D48C4A355A}" type="datetimeFigureOut">
              <a:rPr lang="en-US" smtClean="0"/>
              <a:t>11/10/2025</a:t>
            </a:fld>
            <a:endParaRPr lang="en-US"/>
          </a:p>
        </p:txBody>
      </p:sp>
      <p:sp>
        <p:nvSpPr>
          <p:cNvPr id="8" name="Footer Placeholder 7">
            <a:extLst>
              <a:ext uri="{FF2B5EF4-FFF2-40B4-BE49-F238E27FC236}">
                <a16:creationId xmlns:a16="http://schemas.microsoft.com/office/drawing/2014/main" id="{142A8567-E2CB-1EF2-AA0F-0D00501C30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EA702F-ABF1-091A-9740-CDAF9EF6ECE9}"/>
              </a:ext>
            </a:extLst>
          </p:cNvPr>
          <p:cNvSpPr>
            <a:spLocks noGrp="1"/>
          </p:cNvSpPr>
          <p:nvPr>
            <p:ph type="sldNum" sz="quarter" idx="12"/>
          </p:nvPr>
        </p:nvSpPr>
        <p:spPr/>
        <p:txBody>
          <a:bodyPr/>
          <a:lstStyle/>
          <a:p>
            <a:fld id="{6B5260AC-8940-4249-8ED2-EB42D8FC7BAB}" type="slidenum">
              <a:rPr lang="en-US" smtClean="0"/>
              <a:t>‹#›</a:t>
            </a:fld>
            <a:endParaRPr lang="en-US"/>
          </a:p>
        </p:txBody>
      </p:sp>
    </p:spTree>
    <p:extLst>
      <p:ext uri="{BB962C8B-B14F-4D97-AF65-F5344CB8AC3E}">
        <p14:creationId xmlns:p14="http://schemas.microsoft.com/office/powerpoint/2010/main" val="4054313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319E9-F3A6-FECB-0ED4-37D4725A18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83E42F-FB1A-DFFD-02A5-0E624257BF41}"/>
              </a:ext>
            </a:extLst>
          </p:cNvPr>
          <p:cNvSpPr>
            <a:spLocks noGrp="1"/>
          </p:cNvSpPr>
          <p:nvPr>
            <p:ph type="dt" sz="half" idx="10"/>
          </p:nvPr>
        </p:nvSpPr>
        <p:spPr/>
        <p:txBody>
          <a:bodyPr/>
          <a:lstStyle/>
          <a:p>
            <a:fld id="{608075EF-5B47-494D-8BED-63D48C4A355A}" type="datetimeFigureOut">
              <a:rPr lang="en-US" smtClean="0"/>
              <a:t>11/10/2025</a:t>
            </a:fld>
            <a:endParaRPr lang="en-US"/>
          </a:p>
        </p:txBody>
      </p:sp>
      <p:sp>
        <p:nvSpPr>
          <p:cNvPr id="4" name="Footer Placeholder 3">
            <a:extLst>
              <a:ext uri="{FF2B5EF4-FFF2-40B4-BE49-F238E27FC236}">
                <a16:creationId xmlns:a16="http://schemas.microsoft.com/office/drawing/2014/main" id="{C069D93A-7D29-0098-DBB8-23A7EA4BF53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2A317E-63E2-6129-96E6-928986D0A97D}"/>
              </a:ext>
            </a:extLst>
          </p:cNvPr>
          <p:cNvSpPr>
            <a:spLocks noGrp="1"/>
          </p:cNvSpPr>
          <p:nvPr>
            <p:ph type="sldNum" sz="quarter" idx="12"/>
          </p:nvPr>
        </p:nvSpPr>
        <p:spPr/>
        <p:txBody>
          <a:bodyPr/>
          <a:lstStyle/>
          <a:p>
            <a:fld id="{6B5260AC-8940-4249-8ED2-EB42D8FC7BAB}" type="slidenum">
              <a:rPr lang="en-US" smtClean="0"/>
              <a:t>‹#›</a:t>
            </a:fld>
            <a:endParaRPr lang="en-US"/>
          </a:p>
        </p:txBody>
      </p:sp>
    </p:spTree>
    <p:extLst>
      <p:ext uri="{BB962C8B-B14F-4D97-AF65-F5344CB8AC3E}">
        <p14:creationId xmlns:p14="http://schemas.microsoft.com/office/powerpoint/2010/main" val="354850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9C2A34-A526-B60D-3882-124D494E7DE3}"/>
              </a:ext>
            </a:extLst>
          </p:cNvPr>
          <p:cNvSpPr>
            <a:spLocks noGrp="1"/>
          </p:cNvSpPr>
          <p:nvPr>
            <p:ph type="dt" sz="half" idx="10"/>
          </p:nvPr>
        </p:nvSpPr>
        <p:spPr/>
        <p:txBody>
          <a:bodyPr/>
          <a:lstStyle/>
          <a:p>
            <a:fld id="{608075EF-5B47-494D-8BED-63D48C4A355A}" type="datetimeFigureOut">
              <a:rPr lang="en-US" smtClean="0"/>
              <a:t>11/10/2025</a:t>
            </a:fld>
            <a:endParaRPr lang="en-US"/>
          </a:p>
        </p:txBody>
      </p:sp>
      <p:sp>
        <p:nvSpPr>
          <p:cNvPr id="3" name="Footer Placeholder 2">
            <a:extLst>
              <a:ext uri="{FF2B5EF4-FFF2-40B4-BE49-F238E27FC236}">
                <a16:creationId xmlns:a16="http://schemas.microsoft.com/office/drawing/2014/main" id="{0EED6532-9C6E-136A-DA92-430436F45D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B9B854-0D52-65D3-60E9-849A42C17570}"/>
              </a:ext>
            </a:extLst>
          </p:cNvPr>
          <p:cNvSpPr>
            <a:spLocks noGrp="1"/>
          </p:cNvSpPr>
          <p:nvPr>
            <p:ph type="sldNum" sz="quarter" idx="12"/>
          </p:nvPr>
        </p:nvSpPr>
        <p:spPr/>
        <p:txBody>
          <a:bodyPr/>
          <a:lstStyle/>
          <a:p>
            <a:fld id="{6B5260AC-8940-4249-8ED2-EB42D8FC7BAB}" type="slidenum">
              <a:rPr lang="en-US" smtClean="0"/>
              <a:t>‹#›</a:t>
            </a:fld>
            <a:endParaRPr lang="en-US"/>
          </a:p>
        </p:txBody>
      </p:sp>
    </p:spTree>
    <p:extLst>
      <p:ext uri="{BB962C8B-B14F-4D97-AF65-F5344CB8AC3E}">
        <p14:creationId xmlns:p14="http://schemas.microsoft.com/office/powerpoint/2010/main" val="874041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8131B-9ED4-BDD5-FC1F-80F6DF4A34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129DAD-38C9-7FD6-EA09-D3F4C0A628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187EC0-1DDF-1B3E-E0FE-2C284F8203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DEA42E-E7F8-3FC1-B129-F3A51E6FEC61}"/>
              </a:ext>
            </a:extLst>
          </p:cNvPr>
          <p:cNvSpPr>
            <a:spLocks noGrp="1"/>
          </p:cNvSpPr>
          <p:nvPr>
            <p:ph type="dt" sz="half" idx="10"/>
          </p:nvPr>
        </p:nvSpPr>
        <p:spPr/>
        <p:txBody>
          <a:bodyPr/>
          <a:lstStyle/>
          <a:p>
            <a:fld id="{608075EF-5B47-494D-8BED-63D48C4A355A}" type="datetimeFigureOut">
              <a:rPr lang="en-US" smtClean="0"/>
              <a:t>11/10/2025</a:t>
            </a:fld>
            <a:endParaRPr lang="en-US"/>
          </a:p>
        </p:txBody>
      </p:sp>
      <p:sp>
        <p:nvSpPr>
          <p:cNvPr id="6" name="Footer Placeholder 5">
            <a:extLst>
              <a:ext uri="{FF2B5EF4-FFF2-40B4-BE49-F238E27FC236}">
                <a16:creationId xmlns:a16="http://schemas.microsoft.com/office/drawing/2014/main" id="{C6919509-2B63-84B8-7D61-8EB4531F57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261CA-E740-2025-2A1F-CBC645108FAE}"/>
              </a:ext>
            </a:extLst>
          </p:cNvPr>
          <p:cNvSpPr>
            <a:spLocks noGrp="1"/>
          </p:cNvSpPr>
          <p:nvPr>
            <p:ph type="sldNum" sz="quarter" idx="12"/>
          </p:nvPr>
        </p:nvSpPr>
        <p:spPr/>
        <p:txBody>
          <a:bodyPr/>
          <a:lstStyle/>
          <a:p>
            <a:fld id="{6B5260AC-8940-4249-8ED2-EB42D8FC7BAB}" type="slidenum">
              <a:rPr lang="en-US" smtClean="0"/>
              <a:t>‹#›</a:t>
            </a:fld>
            <a:endParaRPr lang="en-US"/>
          </a:p>
        </p:txBody>
      </p:sp>
    </p:spTree>
    <p:extLst>
      <p:ext uri="{BB962C8B-B14F-4D97-AF65-F5344CB8AC3E}">
        <p14:creationId xmlns:p14="http://schemas.microsoft.com/office/powerpoint/2010/main" val="3718286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9099B-C30B-C200-0377-41AF325AC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0390E7-12DE-88FA-C279-334D112729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E54DC9-92B9-DE46-0228-EAFCE52575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1C9571-074A-3FD8-A78E-482924D014DE}"/>
              </a:ext>
            </a:extLst>
          </p:cNvPr>
          <p:cNvSpPr>
            <a:spLocks noGrp="1"/>
          </p:cNvSpPr>
          <p:nvPr>
            <p:ph type="dt" sz="half" idx="10"/>
          </p:nvPr>
        </p:nvSpPr>
        <p:spPr/>
        <p:txBody>
          <a:bodyPr/>
          <a:lstStyle/>
          <a:p>
            <a:fld id="{608075EF-5B47-494D-8BED-63D48C4A355A}" type="datetimeFigureOut">
              <a:rPr lang="en-US" smtClean="0"/>
              <a:t>11/10/2025</a:t>
            </a:fld>
            <a:endParaRPr lang="en-US"/>
          </a:p>
        </p:txBody>
      </p:sp>
      <p:sp>
        <p:nvSpPr>
          <p:cNvPr id="6" name="Footer Placeholder 5">
            <a:extLst>
              <a:ext uri="{FF2B5EF4-FFF2-40B4-BE49-F238E27FC236}">
                <a16:creationId xmlns:a16="http://schemas.microsoft.com/office/drawing/2014/main" id="{227C3EA0-6A4E-AFF6-D580-078F8B33A4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AB12D1-4CA9-B536-898E-8E540910139B}"/>
              </a:ext>
            </a:extLst>
          </p:cNvPr>
          <p:cNvSpPr>
            <a:spLocks noGrp="1"/>
          </p:cNvSpPr>
          <p:nvPr>
            <p:ph type="sldNum" sz="quarter" idx="12"/>
          </p:nvPr>
        </p:nvSpPr>
        <p:spPr/>
        <p:txBody>
          <a:bodyPr/>
          <a:lstStyle/>
          <a:p>
            <a:fld id="{6B5260AC-8940-4249-8ED2-EB42D8FC7BAB}" type="slidenum">
              <a:rPr lang="en-US" smtClean="0"/>
              <a:t>‹#›</a:t>
            </a:fld>
            <a:endParaRPr lang="en-US"/>
          </a:p>
        </p:txBody>
      </p:sp>
    </p:spTree>
    <p:extLst>
      <p:ext uri="{BB962C8B-B14F-4D97-AF65-F5344CB8AC3E}">
        <p14:creationId xmlns:p14="http://schemas.microsoft.com/office/powerpoint/2010/main" val="2445966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9F13C-FEFC-FD9C-2B03-89789FAEE4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A20C47-7849-3C6F-55C8-FFC1EE8424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94EE02-AB04-3630-62E8-28981E96F2D7}"/>
              </a:ext>
            </a:extLst>
          </p:cNvPr>
          <p:cNvSpPr>
            <a:spLocks noGrp="1"/>
          </p:cNvSpPr>
          <p:nvPr>
            <p:ph type="dt" sz="half" idx="10"/>
          </p:nvPr>
        </p:nvSpPr>
        <p:spPr/>
        <p:txBody>
          <a:bodyPr/>
          <a:lstStyle/>
          <a:p>
            <a:fld id="{608075EF-5B47-494D-8BED-63D48C4A355A}" type="datetimeFigureOut">
              <a:rPr lang="en-US" smtClean="0"/>
              <a:t>11/10/2025</a:t>
            </a:fld>
            <a:endParaRPr lang="en-US"/>
          </a:p>
        </p:txBody>
      </p:sp>
      <p:sp>
        <p:nvSpPr>
          <p:cNvPr id="5" name="Footer Placeholder 4">
            <a:extLst>
              <a:ext uri="{FF2B5EF4-FFF2-40B4-BE49-F238E27FC236}">
                <a16:creationId xmlns:a16="http://schemas.microsoft.com/office/drawing/2014/main" id="{263B0D3E-0B59-3E81-0B8D-B9E121DFE6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DEF956-E1F0-2017-226A-077E3E29FCC8}"/>
              </a:ext>
            </a:extLst>
          </p:cNvPr>
          <p:cNvSpPr>
            <a:spLocks noGrp="1"/>
          </p:cNvSpPr>
          <p:nvPr>
            <p:ph type="sldNum" sz="quarter" idx="12"/>
          </p:nvPr>
        </p:nvSpPr>
        <p:spPr/>
        <p:txBody>
          <a:bodyPr/>
          <a:lstStyle/>
          <a:p>
            <a:fld id="{6B5260AC-8940-4249-8ED2-EB42D8FC7BAB}" type="slidenum">
              <a:rPr lang="en-US" smtClean="0"/>
              <a:t>‹#›</a:t>
            </a:fld>
            <a:endParaRPr lang="en-US"/>
          </a:p>
        </p:txBody>
      </p:sp>
    </p:spTree>
    <p:extLst>
      <p:ext uri="{BB962C8B-B14F-4D97-AF65-F5344CB8AC3E}">
        <p14:creationId xmlns:p14="http://schemas.microsoft.com/office/powerpoint/2010/main" val="3151012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1E13D8-6AB2-6D6B-A37B-443FC17C61F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D4CED5-97F7-556A-F2D1-933E5CF5C4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58642-8783-9AD5-6386-BEEDC007A1B4}"/>
              </a:ext>
            </a:extLst>
          </p:cNvPr>
          <p:cNvSpPr>
            <a:spLocks noGrp="1"/>
          </p:cNvSpPr>
          <p:nvPr>
            <p:ph type="dt" sz="half" idx="10"/>
          </p:nvPr>
        </p:nvSpPr>
        <p:spPr/>
        <p:txBody>
          <a:bodyPr/>
          <a:lstStyle/>
          <a:p>
            <a:fld id="{608075EF-5B47-494D-8BED-63D48C4A355A}" type="datetimeFigureOut">
              <a:rPr lang="en-US" smtClean="0"/>
              <a:t>11/10/2025</a:t>
            </a:fld>
            <a:endParaRPr lang="en-US"/>
          </a:p>
        </p:txBody>
      </p:sp>
      <p:sp>
        <p:nvSpPr>
          <p:cNvPr id="5" name="Footer Placeholder 4">
            <a:extLst>
              <a:ext uri="{FF2B5EF4-FFF2-40B4-BE49-F238E27FC236}">
                <a16:creationId xmlns:a16="http://schemas.microsoft.com/office/drawing/2014/main" id="{C4E2DB20-08DA-9383-7D30-E03EDB1506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7BA43-1D78-D264-7C01-8AE98293B493}"/>
              </a:ext>
            </a:extLst>
          </p:cNvPr>
          <p:cNvSpPr>
            <a:spLocks noGrp="1"/>
          </p:cNvSpPr>
          <p:nvPr>
            <p:ph type="sldNum" sz="quarter" idx="12"/>
          </p:nvPr>
        </p:nvSpPr>
        <p:spPr/>
        <p:txBody>
          <a:bodyPr/>
          <a:lstStyle/>
          <a:p>
            <a:fld id="{6B5260AC-8940-4249-8ED2-EB42D8FC7BAB}" type="slidenum">
              <a:rPr lang="en-US" smtClean="0"/>
              <a:t>‹#›</a:t>
            </a:fld>
            <a:endParaRPr lang="en-US"/>
          </a:p>
        </p:txBody>
      </p:sp>
    </p:spTree>
    <p:extLst>
      <p:ext uri="{BB962C8B-B14F-4D97-AF65-F5344CB8AC3E}">
        <p14:creationId xmlns:p14="http://schemas.microsoft.com/office/powerpoint/2010/main" val="3227475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CB676A-EDAF-DE98-4827-FCE67E9785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AEECED-B12F-C802-BEB4-4810420299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38A2F1-7F58-D824-9E73-6B30484F10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8075EF-5B47-494D-8BED-63D48C4A355A}" type="datetimeFigureOut">
              <a:rPr lang="en-US" smtClean="0"/>
              <a:t>11/10/2025</a:t>
            </a:fld>
            <a:endParaRPr lang="en-US"/>
          </a:p>
        </p:txBody>
      </p:sp>
      <p:sp>
        <p:nvSpPr>
          <p:cNvPr id="5" name="Footer Placeholder 4">
            <a:extLst>
              <a:ext uri="{FF2B5EF4-FFF2-40B4-BE49-F238E27FC236}">
                <a16:creationId xmlns:a16="http://schemas.microsoft.com/office/drawing/2014/main" id="{A8691764-B103-1C44-8921-7DB11AC15F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84BFAB4-E9C5-5501-2DCB-4A5A7B2CC6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5260AC-8940-4249-8ED2-EB42D8FC7BAB}" type="slidenum">
              <a:rPr lang="en-US" smtClean="0"/>
              <a:t>‹#›</a:t>
            </a:fld>
            <a:endParaRPr lang="en-US"/>
          </a:p>
        </p:txBody>
      </p:sp>
    </p:spTree>
    <p:extLst>
      <p:ext uri="{BB962C8B-B14F-4D97-AF65-F5344CB8AC3E}">
        <p14:creationId xmlns:p14="http://schemas.microsoft.com/office/powerpoint/2010/main" val="81477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CEA82-8579-066A-427C-0796BD4EACEC}"/>
              </a:ext>
            </a:extLst>
          </p:cNvPr>
          <p:cNvSpPr>
            <a:spLocks noGrp="1"/>
          </p:cNvSpPr>
          <p:nvPr>
            <p:ph type="ctrTitle"/>
          </p:nvPr>
        </p:nvSpPr>
        <p:spPr/>
        <p:txBody>
          <a:bodyPr/>
          <a:lstStyle/>
          <a:p>
            <a:r>
              <a:rPr lang="en-US" dirty="0"/>
              <a:t>Company Culture</a:t>
            </a:r>
          </a:p>
        </p:txBody>
      </p:sp>
      <p:sp>
        <p:nvSpPr>
          <p:cNvPr id="3" name="Subtitle 2">
            <a:extLst>
              <a:ext uri="{FF2B5EF4-FFF2-40B4-BE49-F238E27FC236}">
                <a16:creationId xmlns:a16="http://schemas.microsoft.com/office/drawing/2014/main" id="{A4C93D72-44E0-1B13-60E3-AF7C88D2D58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55664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B0C94-262F-3A4B-2DFF-8233A13C223D}"/>
              </a:ext>
            </a:extLst>
          </p:cNvPr>
          <p:cNvSpPr>
            <a:spLocks noGrp="1"/>
          </p:cNvSpPr>
          <p:nvPr>
            <p:ph type="title"/>
          </p:nvPr>
        </p:nvSpPr>
        <p:spPr>
          <a:xfrm>
            <a:off x="838200" y="393046"/>
            <a:ext cx="10515600" cy="1325563"/>
          </a:xfrm>
        </p:spPr>
        <p:txBody>
          <a:bodyPr/>
          <a:lstStyle/>
          <a:p>
            <a:r>
              <a:rPr lang="en-US" dirty="0"/>
              <a:t>Tell me your thoughts about company culture</a:t>
            </a:r>
          </a:p>
        </p:txBody>
      </p:sp>
      <p:sp>
        <p:nvSpPr>
          <p:cNvPr id="3" name="Content Placeholder 2">
            <a:extLst>
              <a:ext uri="{FF2B5EF4-FFF2-40B4-BE49-F238E27FC236}">
                <a16:creationId xmlns:a16="http://schemas.microsoft.com/office/drawing/2014/main" id="{925F4885-6CBD-BC04-ACB8-3E8BFB50A976}"/>
              </a:ext>
            </a:extLst>
          </p:cNvPr>
          <p:cNvSpPr>
            <a:spLocks noGrp="1"/>
          </p:cNvSpPr>
          <p:nvPr>
            <p:ph idx="1"/>
          </p:nvPr>
        </p:nvSpPr>
        <p:spPr/>
        <p:txBody>
          <a:bodyPr/>
          <a:lstStyle/>
          <a:p>
            <a:r>
              <a:rPr lang="en-US" dirty="0"/>
              <a:t>What does it mean to you?</a:t>
            </a:r>
          </a:p>
        </p:txBody>
      </p:sp>
    </p:spTree>
    <p:extLst>
      <p:ext uri="{BB962C8B-B14F-4D97-AF65-F5344CB8AC3E}">
        <p14:creationId xmlns:p14="http://schemas.microsoft.com/office/powerpoint/2010/main" val="247111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4D681-619A-3FA0-E663-168E9AB8A2D4}"/>
              </a:ext>
            </a:extLst>
          </p:cNvPr>
          <p:cNvSpPr>
            <a:spLocks noGrp="1"/>
          </p:cNvSpPr>
          <p:nvPr>
            <p:ph type="title"/>
          </p:nvPr>
        </p:nvSpPr>
        <p:spPr/>
        <p:txBody>
          <a:bodyPr/>
          <a:lstStyle/>
          <a:p>
            <a:r>
              <a:rPr lang="en-US" dirty="0"/>
              <a:t>It is a real thing</a:t>
            </a:r>
          </a:p>
        </p:txBody>
      </p:sp>
      <p:sp>
        <p:nvSpPr>
          <p:cNvPr id="3" name="Content Placeholder 2">
            <a:extLst>
              <a:ext uri="{FF2B5EF4-FFF2-40B4-BE49-F238E27FC236}">
                <a16:creationId xmlns:a16="http://schemas.microsoft.com/office/drawing/2014/main" id="{DB33F445-3458-6128-85BC-1E21D333596A}"/>
              </a:ext>
            </a:extLst>
          </p:cNvPr>
          <p:cNvSpPr>
            <a:spLocks noGrp="1"/>
          </p:cNvSpPr>
          <p:nvPr>
            <p:ph idx="1"/>
          </p:nvPr>
        </p:nvSpPr>
        <p:spPr/>
        <p:txBody>
          <a:bodyPr/>
          <a:lstStyle/>
          <a:p>
            <a:r>
              <a:rPr lang="en-US" dirty="0"/>
              <a:t>We can take it for granted if everything is going right!</a:t>
            </a:r>
          </a:p>
          <a:p>
            <a:endParaRPr lang="en-US" dirty="0"/>
          </a:p>
          <a:p>
            <a:endParaRPr lang="en-US" dirty="0"/>
          </a:p>
        </p:txBody>
      </p:sp>
    </p:spTree>
    <p:extLst>
      <p:ext uri="{BB962C8B-B14F-4D97-AF65-F5344CB8AC3E}">
        <p14:creationId xmlns:p14="http://schemas.microsoft.com/office/powerpoint/2010/main" val="4013625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5BD99-2FF6-D87A-DC74-EB9636FBA521}"/>
              </a:ext>
            </a:extLst>
          </p:cNvPr>
          <p:cNvSpPr>
            <a:spLocks noGrp="1"/>
          </p:cNvSpPr>
          <p:nvPr>
            <p:ph type="title"/>
          </p:nvPr>
        </p:nvSpPr>
        <p:spPr/>
        <p:txBody>
          <a:bodyPr/>
          <a:lstStyle/>
          <a:p>
            <a:r>
              <a:rPr lang="en-US" dirty="0"/>
              <a:t>What is a good company culture for someone might not be good for you.</a:t>
            </a:r>
          </a:p>
        </p:txBody>
      </p:sp>
      <p:sp>
        <p:nvSpPr>
          <p:cNvPr id="3" name="Content Placeholder 2">
            <a:extLst>
              <a:ext uri="{FF2B5EF4-FFF2-40B4-BE49-F238E27FC236}">
                <a16:creationId xmlns:a16="http://schemas.microsoft.com/office/drawing/2014/main" id="{39CAD4AB-486C-2809-EC43-9D6A5EF3E167}"/>
              </a:ext>
            </a:extLst>
          </p:cNvPr>
          <p:cNvSpPr>
            <a:spLocks noGrp="1"/>
          </p:cNvSpPr>
          <p:nvPr>
            <p:ph idx="1"/>
          </p:nvPr>
        </p:nvSpPr>
        <p:spPr/>
        <p:txBody>
          <a:bodyPr/>
          <a:lstStyle/>
          <a:p>
            <a:r>
              <a:rPr lang="en-US" dirty="0"/>
              <a:t>A toxic culture might be toxic to you but not someone else. </a:t>
            </a:r>
          </a:p>
          <a:p>
            <a:endParaRPr lang="en-US" dirty="0"/>
          </a:p>
          <a:p>
            <a:r>
              <a:rPr lang="en-US" dirty="0"/>
              <a:t>It could really work for some people or for the people there.</a:t>
            </a:r>
          </a:p>
          <a:p>
            <a:endParaRPr lang="en-US" dirty="0"/>
          </a:p>
          <a:p>
            <a:r>
              <a:rPr lang="en-US" dirty="0"/>
              <a:t>It could be normal for people to be yelling at meetings. – Parisian company culture it is more normal to do this. </a:t>
            </a:r>
          </a:p>
          <a:p>
            <a:endParaRPr lang="en-US" dirty="0"/>
          </a:p>
          <a:p>
            <a:r>
              <a:rPr lang="en-US" dirty="0"/>
              <a:t>In most American corporations this would not be tolerated. </a:t>
            </a:r>
          </a:p>
        </p:txBody>
      </p:sp>
    </p:spTree>
    <p:extLst>
      <p:ext uri="{BB962C8B-B14F-4D97-AF65-F5344CB8AC3E}">
        <p14:creationId xmlns:p14="http://schemas.microsoft.com/office/powerpoint/2010/main" val="2010981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17A9-C7BE-4DDE-5AB8-47E096A9F2C3}"/>
              </a:ext>
            </a:extLst>
          </p:cNvPr>
          <p:cNvSpPr>
            <a:spLocks noGrp="1"/>
          </p:cNvSpPr>
          <p:nvPr>
            <p:ph type="title"/>
          </p:nvPr>
        </p:nvSpPr>
        <p:spPr/>
        <p:txBody>
          <a:bodyPr/>
          <a:lstStyle/>
          <a:p>
            <a:r>
              <a:rPr lang="en-US" dirty="0"/>
              <a:t>Frustration</a:t>
            </a:r>
          </a:p>
        </p:txBody>
      </p:sp>
      <p:sp>
        <p:nvSpPr>
          <p:cNvPr id="3" name="Content Placeholder 2">
            <a:extLst>
              <a:ext uri="{FF2B5EF4-FFF2-40B4-BE49-F238E27FC236}">
                <a16:creationId xmlns:a16="http://schemas.microsoft.com/office/drawing/2014/main" id="{14785E7E-B4E1-637E-C4EB-E0890CF70571}"/>
              </a:ext>
            </a:extLst>
          </p:cNvPr>
          <p:cNvSpPr>
            <a:spLocks noGrp="1"/>
          </p:cNvSpPr>
          <p:nvPr>
            <p:ph idx="1"/>
          </p:nvPr>
        </p:nvSpPr>
        <p:spPr/>
        <p:txBody>
          <a:bodyPr/>
          <a:lstStyle/>
          <a:p>
            <a:r>
              <a:rPr lang="en-US" dirty="0"/>
              <a:t>Frustration can be perceived if you see incompetence. If you are trying new ideas and they are not being receptive, maybe it is time to leave?</a:t>
            </a:r>
          </a:p>
          <a:p>
            <a:endParaRPr lang="en-US" dirty="0"/>
          </a:p>
          <a:p>
            <a:endParaRPr lang="en-US" dirty="0"/>
          </a:p>
        </p:txBody>
      </p:sp>
    </p:spTree>
    <p:extLst>
      <p:ext uri="{BB962C8B-B14F-4D97-AF65-F5344CB8AC3E}">
        <p14:creationId xmlns:p14="http://schemas.microsoft.com/office/powerpoint/2010/main" val="253029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791A3-B6D8-0085-A4E8-F06A88A6E99A}"/>
              </a:ext>
            </a:extLst>
          </p:cNvPr>
          <p:cNvSpPr>
            <a:spLocks noGrp="1"/>
          </p:cNvSpPr>
          <p:nvPr>
            <p:ph type="title"/>
          </p:nvPr>
        </p:nvSpPr>
        <p:spPr/>
        <p:txBody>
          <a:bodyPr/>
          <a:lstStyle/>
          <a:p>
            <a:r>
              <a:rPr lang="en-US" dirty="0"/>
              <a:t>Two main points</a:t>
            </a:r>
          </a:p>
        </p:txBody>
      </p:sp>
      <p:sp>
        <p:nvSpPr>
          <p:cNvPr id="3" name="Content Placeholder 2">
            <a:extLst>
              <a:ext uri="{FF2B5EF4-FFF2-40B4-BE49-F238E27FC236}">
                <a16:creationId xmlns:a16="http://schemas.microsoft.com/office/drawing/2014/main" id="{8A222920-35E9-4E64-7F65-1661F8D63132}"/>
              </a:ext>
            </a:extLst>
          </p:cNvPr>
          <p:cNvSpPr>
            <a:spLocks noGrp="1"/>
          </p:cNvSpPr>
          <p:nvPr>
            <p:ph idx="1"/>
          </p:nvPr>
        </p:nvSpPr>
        <p:spPr/>
        <p:txBody>
          <a:bodyPr/>
          <a:lstStyle/>
          <a:p>
            <a:r>
              <a:rPr lang="en-US" dirty="0"/>
              <a:t>You will not change the company culture even as the CEO, unless it is a very small company. Large organizations you will not change the culture. If it is toxic it is toxic, if it is smooth running it will be smooth running. </a:t>
            </a:r>
          </a:p>
          <a:p>
            <a:endParaRPr lang="en-US" dirty="0"/>
          </a:p>
          <a:p>
            <a:r>
              <a:rPr lang="en-US" dirty="0"/>
              <a:t>Second point is, company culture that works for one person might not work for you. This is a real key to think about. It is about that personal relationship of how well you fit into that culture. </a:t>
            </a:r>
          </a:p>
          <a:p>
            <a:endParaRPr lang="en-US" dirty="0"/>
          </a:p>
          <a:p>
            <a:endParaRPr lang="en-US" dirty="0"/>
          </a:p>
        </p:txBody>
      </p:sp>
    </p:spTree>
    <p:extLst>
      <p:ext uri="{BB962C8B-B14F-4D97-AF65-F5344CB8AC3E}">
        <p14:creationId xmlns:p14="http://schemas.microsoft.com/office/powerpoint/2010/main" val="2030728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41553-5842-DFBE-8B6C-72DD3D098260}"/>
              </a:ext>
            </a:extLst>
          </p:cNvPr>
          <p:cNvSpPr>
            <a:spLocks noGrp="1"/>
          </p:cNvSpPr>
          <p:nvPr>
            <p:ph type="title"/>
          </p:nvPr>
        </p:nvSpPr>
        <p:spPr/>
        <p:txBody>
          <a:bodyPr>
            <a:normAutofit fontScale="90000"/>
          </a:bodyPr>
          <a:lstStyle/>
          <a:p>
            <a:r>
              <a:rPr lang="en-US" dirty="0"/>
              <a:t>Some cultures will fit you, others you might feel on edge, this could pertain to visiting different states/countries</a:t>
            </a:r>
          </a:p>
        </p:txBody>
      </p:sp>
      <p:sp>
        <p:nvSpPr>
          <p:cNvPr id="3" name="Content Placeholder 2">
            <a:extLst>
              <a:ext uri="{FF2B5EF4-FFF2-40B4-BE49-F238E27FC236}">
                <a16:creationId xmlns:a16="http://schemas.microsoft.com/office/drawing/2014/main" id="{EC46A84D-0FC2-D4AB-A7D4-6D95237DB88C}"/>
              </a:ext>
            </a:extLst>
          </p:cNvPr>
          <p:cNvSpPr>
            <a:spLocks noGrp="1"/>
          </p:cNvSpPr>
          <p:nvPr>
            <p:ph idx="1"/>
          </p:nvPr>
        </p:nvSpPr>
        <p:spPr/>
        <p:txBody>
          <a:bodyPr/>
          <a:lstStyle/>
          <a:p>
            <a:r>
              <a:rPr lang="en-US" dirty="0"/>
              <a:t>This pertains to companies too, you need to interview the company to see if you fit within their culture. You will bump up against unexpected things where you will have different expectations. </a:t>
            </a:r>
          </a:p>
          <a:p>
            <a:endParaRPr lang="en-US" dirty="0"/>
          </a:p>
          <a:p>
            <a:endParaRPr lang="en-US" dirty="0"/>
          </a:p>
        </p:txBody>
      </p:sp>
    </p:spTree>
    <p:extLst>
      <p:ext uri="{BB962C8B-B14F-4D97-AF65-F5344CB8AC3E}">
        <p14:creationId xmlns:p14="http://schemas.microsoft.com/office/powerpoint/2010/main" val="2547329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844EE-DCE2-32D2-85E4-EC6BE3272006}"/>
              </a:ext>
            </a:extLst>
          </p:cNvPr>
          <p:cNvSpPr>
            <a:spLocks noGrp="1"/>
          </p:cNvSpPr>
          <p:nvPr>
            <p:ph type="title"/>
          </p:nvPr>
        </p:nvSpPr>
        <p:spPr/>
        <p:txBody>
          <a:bodyPr/>
          <a:lstStyle/>
          <a:p>
            <a:r>
              <a:rPr lang="en-US" dirty="0"/>
              <a:t>Cultures that are very top down. </a:t>
            </a:r>
          </a:p>
        </p:txBody>
      </p:sp>
      <p:sp>
        <p:nvSpPr>
          <p:cNvPr id="3" name="Content Placeholder 2">
            <a:extLst>
              <a:ext uri="{FF2B5EF4-FFF2-40B4-BE49-F238E27FC236}">
                <a16:creationId xmlns:a16="http://schemas.microsoft.com/office/drawing/2014/main" id="{BDFFFF1E-20E5-C9C9-125D-499724F9E265}"/>
              </a:ext>
            </a:extLst>
          </p:cNvPr>
          <p:cNvSpPr>
            <a:spLocks noGrp="1"/>
          </p:cNvSpPr>
          <p:nvPr>
            <p:ph idx="1"/>
          </p:nvPr>
        </p:nvSpPr>
        <p:spPr/>
        <p:txBody>
          <a:bodyPr/>
          <a:lstStyle/>
          <a:p>
            <a:r>
              <a:rPr lang="en-US" dirty="0"/>
              <a:t>The CEO says something then everyone does it. Your input may not matter.</a:t>
            </a:r>
          </a:p>
          <a:p>
            <a:endParaRPr lang="en-US" dirty="0"/>
          </a:p>
          <a:p>
            <a:r>
              <a:rPr lang="en-US" dirty="0"/>
              <a:t>There are other cultures that are more collaborative, they ask for input its not just the emperors' new clothes. You will be involved in the decision-making process. The larger the organization gets usually the less collaborative it gets. These are some of the advantages of smaller companies/startups. Get great input.</a:t>
            </a:r>
          </a:p>
        </p:txBody>
      </p:sp>
    </p:spTree>
    <p:extLst>
      <p:ext uri="{BB962C8B-B14F-4D97-AF65-F5344CB8AC3E}">
        <p14:creationId xmlns:p14="http://schemas.microsoft.com/office/powerpoint/2010/main" val="4262775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88B6D-42F4-3184-D7C5-05DF8CB1103E}"/>
              </a:ext>
            </a:extLst>
          </p:cNvPr>
          <p:cNvSpPr>
            <a:spLocks noGrp="1"/>
          </p:cNvSpPr>
          <p:nvPr>
            <p:ph type="title"/>
          </p:nvPr>
        </p:nvSpPr>
        <p:spPr/>
        <p:txBody>
          <a:bodyPr/>
          <a:lstStyle/>
          <a:p>
            <a:r>
              <a:rPr lang="en-US" dirty="0"/>
              <a:t>Cultural fit is the key thing</a:t>
            </a:r>
          </a:p>
        </p:txBody>
      </p:sp>
      <p:sp>
        <p:nvSpPr>
          <p:cNvPr id="3" name="Content Placeholder 2">
            <a:extLst>
              <a:ext uri="{FF2B5EF4-FFF2-40B4-BE49-F238E27FC236}">
                <a16:creationId xmlns:a16="http://schemas.microsoft.com/office/drawing/2014/main" id="{047DC851-C9E6-0CD6-7969-DEE8BE971CDC}"/>
              </a:ext>
            </a:extLst>
          </p:cNvPr>
          <p:cNvSpPr>
            <a:spLocks noGrp="1"/>
          </p:cNvSpPr>
          <p:nvPr>
            <p:ph idx="1"/>
          </p:nvPr>
        </p:nvSpPr>
        <p:spPr/>
        <p:txBody>
          <a:bodyPr/>
          <a:lstStyle/>
          <a:p>
            <a:r>
              <a:rPr lang="en-US" dirty="0"/>
              <a:t>It is very unlikely you will be able to change the culture, if you are a manager, you might be able to put a “bubble” over your employees but eventually the toxicity encroaches on the team. </a:t>
            </a:r>
          </a:p>
          <a:p>
            <a:endParaRPr lang="en-US" dirty="0"/>
          </a:p>
          <a:p>
            <a:r>
              <a:rPr lang="en-US" dirty="0"/>
              <a:t>I would caution about trying to go for a lesser job given this situation. When you are in the interview process this is when you try to feel out the company culture. A better company culture that pays less would be a better option since you would be able to not bring the stress of the company back to your home life. </a:t>
            </a:r>
          </a:p>
        </p:txBody>
      </p:sp>
    </p:spTree>
    <p:extLst>
      <p:ext uri="{BB962C8B-B14F-4D97-AF65-F5344CB8AC3E}">
        <p14:creationId xmlns:p14="http://schemas.microsoft.com/office/powerpoint/2010/main" val="3389882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9C59-D691-92DD-DA04-71785D18990D}"/>
              </a:ext>
            </a:extLst>
          </p:cNvPr>
          <p:cNvSpPr>
            <a:spLocks noGrp="1"/>
          </p:cNvSpPr>
          <p:nvPr>
            <p:ph type="title"/>
          </p:nvPr>
        </p:nvSpPr>
        <p:spPr/>
        <p:txBody>
          <a:bodyPr/>
          <a:lstStyle/>
          <a:p>
            <a:r>
              <a:rPr lang="en-US" dirty="0"/>
              <a:t>During the interview</a:t>
            </a:r>
          </a:p>
        </p:txBody>
      </p:sp>
      <p:sp>
        <p:nvSpPr>
          <p:cNvPr id="3" name="Content Placeholder 2">
            <a:extLst>
              <a:ext uri="{FF2B5EF4-FFF2-40B4-BE49-F238E27FC236}">
                <a16:creationId xmlns:a16="http://schemas.microsoft.com/office/drawing/2014/main" id="{A664C579-1A94-8502-0F34-9EC8BCBD2652}"/>
              </a:ext>
            </a:extLst>
          </p:cNvPr>
          <p:cNvSpPr>
            <a:spLocks noGrp="1"/>
          </p:cNvSpPr>
          <p:nvPr>
            <p:ph idx="1"/>
          </p:nvPr>
        </p:nvSpPr>
        <p:spPr/>
        <p:txBody>
          <a:bodyPr/>
          <a:lstStyle/>
          <a:p>
            <a:r>
              <a:rPr lang="en-US" dirty="0"/>
              <a:t>Talk about the company culture if you are asked if you have any questions, but you might have to gather this information in a subtle way. Usually people put on their best fronts’ during the interview process. Would you want to spend hours with this person, the way to feel this out is to do a lot of interviews, with people you get along with to a great deal maybe you go for that organization over one that pays slightly more but you get bad vibes from them. </a:t>
            </a:r>
          </a:p>
        </p:txBody>
      </p:sp>
    </p:spTree>
    <p:extLst>
      <p:ext uri="{BB962C8B-B14F-4D97-AF65-F5344CB8AC3E}">
        <p14:creationId xmlns:p14="http://schemas.microsoft.com/office/powerpoint/2010/main" val="617317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C610A-51EE-79E1-5D3E-D39B4213DEAA}"/>
              </a:ext>
            </a:extLst>
          </p:cNvPr>
          <p:cNvSpPr>
            <a:spLocks noGrp="1"/>
          </p:cNvSpPr>
          <p:nvPr>
            <p:ph type="title"/>
          </p:nvPr>
        </p:nvSpPr>
        <p:spPr/>
        <p:txBody>
          <a:bodyPr/>
          <a:lstStyle/>
          <a:p>
            <a:r>
              <a:rPr lang="en-US" dirty="0"/>
              <a:t>Got the job</a:t>
            </a:r>
          </a:p>
        </p:txBody>
      </p:sp>
      <p:sp>
        <p:nvSpPr>
          <p:cNvPr id="3" name="Content Placeholder 2">
            <a:extLst>
              <a:ext uri="{FF2B5EF4-FFF2-40B4-BE49-F238E27FC236}">
                <a16:creationId xmlns:a16="http://schemas.microsoft.com/office/drawing/2014/main" id="{38EE2C11-FD33-0FDA-EBE5-9CBECCA2851F}"/>
              </a:ext>
            </a:extLst>
          </p:cNvPr>
          <p:cNvSpPr>
            <a:spLocks noGrp="1"/>
          </p:cNvSpPr>
          <p:nvPr>
            <p:ph idx="1"/>
          </p:nvPr>
        </p:nvSpPr>
        <p:spPr/>
        <p:txBody>
          <a:bodyPr>
            <a:normAutofit fontScale="92500" lnSpcReduction="20000"/>
          </a:bodyPr>
          <a:lstStyle/>
          <a:p>
            <a:r>
              <a:rPr lang="en-US" dirty="0"/>
              <a:t>Great compensation, terrible company culture. What do you do?</a:t>
            </a:r>
          </a:p>
          <a:p>
            <a:endParaRPr lang="en-US" dirty="0"/>
          </a:p>
          <a:p>
            <a:r>
              <a:rPr lang="en-US" dirty="0"/>
              <a:t>Some people will say they have no choice, however you always have a choice. The day you have no choice is the day you no longer alive. That being you ALWAYS HAVE A CHOICE. If you hate the job, you can always quit. If you want to give two weeks, go ahead, if you want to give four months go ahead, if you want to just walk out the door go ahead. You should be looking for a new job before this happens. You might have to make some sacrifices, however I am not telling you not to quit your job, do it wisely. Always BE APPLYING! Just move on!</a:t>
            </a:r>
          </a:p>
          <a:p>
            <a:endParaRPr lang="en-US" dirty="0"/>
          </a:p>
          <a:p>
            <a:r>
              <a:rPr lang="en-US" dirty="0"/>
              <a:t>It’s not them, it’s not you, it’s the combination. </a:t>
            </a:r>
          </a:p>
        </p:txBody>
      </p:sp>
    </p:spTree>
    <p:extLst>
      <p:ext uri="{BB962C8B-B14F-4D97-AF65-F5344CB8AC3E}">
        <p14:creationId xmlns:p14="http://schemas.microsoft.com/office/powerpoint/2010/main" val="3754084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AAD1C-C5BE-06EF-29AA-01FAC42F7668}"/>
              </a:ext>
            </a:extLst>
          </p:cNvPr>
          <p:cNvSpPr>
            <a:spLocks noGrp="1"/>
          </p:cNvSpPr>
          <p:nvPr>
            <p:ph type="title"/>
          </p:nvPr>
        </p:nvSpPr>
        <p:spPr/>
        <p:txBody>
          <a:bodyPr/>
          <a:lstStyle/>
          <a:p>
            <a:r>
              <a:rPr lang="en-US" dirty="0"/>
              <a:t>Find a new job or suffer through it</a:t>
            </a:r>
          </a:p>
        </p:txBody>
      </p:sp>
      <p:sp>
        <p:nvSpPr>
          <p:cNvPr id="3" name="Content Placeholder 2">
            <a:extLst>
              <a:ext uri="{FF2B5EF4-FFF2-40B4-BE49-F238E27FC236}">
                <a16:creationId xmlns:a16="http://schemas.microsoft.com/office/drawing/2014/main" id="{5D3773C8-3215-B7CE-6827-CA000EC57C28}"/>
              </a:ext>
            </a:extLst>
          </p:cNvPr>
          <p:cNvSpPr>
            <a:spLocks noGrp="1"/>
          </p:cNvSpPr>
          <p:nvPr>
            <p:ph idx="1"/>
          </p:nvPr>
        </p:nvSpPr>
        <p:spPr/>
        <p:txBody>
          <a:bodyPr/>
          <a:lstStyle/>
          <a:p>
            <a:r>
              <a:rPr lang="en-US" dirty="0"/>
              <a:t>You don’t have to suffer, you can let go. </a:t>
            </a:r>
          </a:p>
          <a:p>
            <a:endParaRPr lang="en-US" dirty="0"/>
          </a:p>
          <a:p>
            <a:r>
              <a:rPr lang="en-US" dirty="0"/>
              <a:t>It is very hard to change culture</a:t>
            </a:r>
          </a:p>
          <a:p>
            <a:endParaRPr lang="en-US" dirty="0"/>
          </a:p>
          <a:p>
            <a:r>
              <a:rPr lang="en-US" dirty="0"/>
              <a:t>People often make it personal</a:t>
            </a:r>
          </a:p>
        </p:txBody>
      </p:sp>
    </p:spTree>
    <p:extLst>
      <p:ext uri="{BB962C8B-B14F-4D97-AF65-F5344CB8AC3E}">
        <p14:creationId xmlns:p14="http://schemas.microsoft.com/office/powerpoint/2010/main" val="3764260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78D2D-EE16-E86D-12DA-68D4EA1E1CC6}"/>
              </a:ext>
            </a:extLst>
          </p:cNvPr>
          <p:cNvSpPr>
            <a:spLocks noGrp="1"/>
          </p:cNvSpPr>
          <p:nvPr>
            <p:ph type="title"/>
          </p:nvPr>
        </p:nvSpPr>
        <p:spPr/>
        <p:txBody>
          <a:bodyPr/>
          <a:lstStyle/>
          <a:p>
            <a:r>
              <a:rPr lang="en-US" dirty="0"/>
              <a:t>Start up vs large organization</a:t>
            </a:r>
          </a:p>
        </p:txBody>
      </p:sp>
      <p:sp>
        <p:nvSpPr>
          <p:cNvPr id="3" name="Content Placeholder 2">
            <a:extLst>
              <a:ext uri="{FF2B5EF4-FFF2-40B4-BE49-F238E27FC236}">
                <a16:creationId xmlns:a16="http://schemas.microsoft.com/office/drawing/2014/main" id="{8AC04069-36A0-FD9A-6EA1-876EA44B96A0}"/>
              </a:ext>
            </a:extLst>
          </p:cNvPr>
          <p:cNvSpPr>
            <a:spLocks noGrp="1"/>
          </p:cNvSpPr>
          <p:nvPr>
            <p:ph idx="1"/>
          </p:nvPr>
        </p:nvSpPr>
        <p:spPr/>
        <p:txBody>
          <a:bodyPr/>
          <a:lstStyle/>
          <a:p>
            <a:r>
              <a:rPr lang="en-US" dirty="0"/>
              <a:t>More collaborative, a bit more meritocratic. Will be more reward, will often be more intense. There is nothing wrong with this at all. – You might get less compensation, but you usually get more influence on the company culture. </a:t>
            </a:r>
          </a:p>
          <a:p>
            <a:endParaRPr lang="en-US" dirty="0"/>
          </a:p>
          <a:p>
            <a:r>
              <a:rPr lang="en-US" dirty="0"/>
              <a:t>Once you past about 10,000 employees very large organizations it is hard to make it collaborative or based on meritocracy. Just fill in the box and this is how it goes. </a:t>
            </a:r>
          </a:p>
        </p:txBody>
      </p:sp>
    </p:spTree>
    <p:extLst>
      <p:ext uri="{BB962C8B-B14F-4D97-AF65-F5344CB8AC3E}">
        <p14:creationId xmlns:p14="http://schemas.microsoft.com/office/powerpoint/2010/main" val="3761869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73BA7-0A31-64F7-6FD1-88D26765591A}"/>
              </a:ext>
            </a:extLst>
          </p:cNvPr>
          <p:cNvSpPr>
            <a:spLocks noGrp="1"/>
          </p:cNvSpPr>
          <p:nvPr>
            <p:ph type="title"/>
          </p:nvPr>
        </p:nvSpPr>
        <p:spPr/>
        <p:txBody>
          <a:bodyPr/>
          <a:lstStyle/>
          <a:p>
            <a:r>
              <a:rPr lang="en-US" dirty="0"/>
              <a:t>Even if you find the perfect culture now</a:t>
            </a:r>
          </a:p>
        </p:txBody>
      </p:sp>
      <p:sp>
        <p:nvSpPr>
          <p:cNvPr id="3" name="Content Placeholder 2">
            <a:extLst>
              <a:ext uri="{FF2B5EF4-FFF2-40B4-BE49-F238E27FC236}">
                <a16:creationId xmlns:a16="http://schemas.microsoft.com/office/drawing/2014/main" id="{8C02C4C8-38B2-52DE-A723-F992A47C88FE}"/>
              </a:ext>
            </a:extLst>
          </p:cNvPr>
          <p:cNvSpPr>
            <a:spLocks noGrp="1"/>
          </p:cNvSpPr>
          <p:nvPr>
            <p:ph idx="1"/>
          </p:nvPr>
        </p:nvSpPr>
        <p:spPr/>
        <p:txBody>
          <a:bodyPr/>
          <a:lstStyle/>
          <a:p>
            <a:r>
              <a:rPr lang="en-US" dirty="0"/>
              <a:t>Companies evolve, leadership changes. You may have a wonderful manager/CEO now but for that all to change in a year or two or even in a month as this has happened to me. </a:t>
            </a:r>
          </a:p>
          <a:p>
            <a:endParaRPr lang="en-US" dirty="0"/>
          </a:p>
          <a:p>
            <a:r>
              <a:rPr lang="en-US" dirty="0"/>
              <a:t>Don’t ever take anything personal, it is usually not you. </a:t>
            </a:r>
          </a:p>
        </p:txBody>
      </p:sp>
    </p:spTree>
    <p:extLst>
      <p:ext uri="{BB962C8B-B14F-4D97-AF65-F5344CB8AC3E}">
        <p14:creationId xmlns:p14="http://schemas.microsoft.com/office/powerpoint/2010/main" val="735263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A2C8A-EACF-F99F-3F56-865C7E9B5825}"/>
              </a:ext>
            </a:extLst>
          </p:cNvPr>
          <p:cNvSpPr>
            <a:spLocks noGrp="1"/>
          </p:cNvSpPr>
          <p:nvPr>
            <p:ph type="title"/>
          </p:nvPr>
        </p:nvSpPr>
        <p:spPr/>
        <p:txBody>
          <a:bodyPr/>
          <a:lstStyle/>
          <a:p>
            <a:r>
              <a:rPr lang="en-US" dirty="0"/>
              <a:t>Plan, PLAN, Plan</a:t>
            </a:r>
          </a:p>
        </p:txBody>
      </p:sp>
      <p:sp>
        <p:nvSpPr>
          <p:cNvPr id="3" name="Content Placeholder 2">
            <a:extLst>
              <a:ext uri="{FF2B5EF4-FFF2-40B4-BE49-F238E27FC236}">
                <a16:creationId xmlns:a16="http://schemas.microsoft.com/office/drawing/2014/main" id="{EFD5C48A-428F-C118-AA24-026EA79527C2}"/>
              </a:ext>
            </a:extLst>
          </p:cNvPr>
          <p:cNvSpPr>
            <a:spLocks noGrp="1"/>
          </p:cNvSpPr>
          <p:nvPr>
            <p:ph idx="1"/>
          </p:nvPr>
        </p:nvSpPr>
        <p:spPr/>
        <p:txBody>
          <a:bodyPr/>
          <a:lstStyle/>
          <a:p>
            <a:r>
              <a:rPr lang="en-US" dirty="0"/>
              <a:t>bored,, even if you believe you are in the most awesome opportunity, always be looking for ways to grow. When you stop growing, at least for me I get bored, when I get bored I start looking around for a better opportunity. Keep your employees engaged!</a:t>
            </a:r>
          </a:p>
          <a:p>
            <a:endParaRPr lang="en-US" dirty="0"/>
          </a:p>
          <a:p>
            <a:r>
              <a:rPr lang="en-US" dirty="0"/>
              <a:t>I had one person ask me what they should do for professional development. Sometimes you have to take this into your own hands and do it on your own time and dime. If you want it, you will make it happen, if you believe in yourself, I truly believe you can also make </a:t>
            </a:r>
            <a:r>
              <a:rPr lang="en-US"/>
              <a:t>it happen. </a:t>
            </a:r>
            <a:endParaRPr lang="en-US" dirty="0"/>
          </a:p>
        </p:txBody>
      </p:sp>
    </p:spTree>
    <p:extLst>
      <p:ext uri="{BB962C8B-B14F-4D97-AF65-F5344CB8AC3E}">
        <p14:creationId xmlns:p14="http://schemas.microsoft.com/office/powerpoint/2010/main" val="1072830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2F58C-9402-2343-A1F8-B7372A928BFE}"/>
              </a:ext>
            </a:extLst>
          </p:cNvPr>
          <p:cNvSpPr>
            <a:spLocks noGrp="1"/>
          </p:cNvSpPr>
          <p:nvPr>
            <p:ph type="title"/>
          </p:nvPr>
        </p:nvSpPr>
        <p:spPr/>
        <p:txBody>
          <a:bodyPr/>
          <a:lstStyle/>
          <a:p>
            <a:r>
              <a:rPr lang="en-US" dirty="0"/>
              <a:t>Always be preparing</a:t>
            </a:r>
          </a:p>
        </p:txBody>
      </p:sp>
      <p:sp>
        <p:nvSpPr>
          <p:cNvPr id="3" name="Content Placeholder 2">
            <a:extLst>
              <a:ext uri="{FF2B5EF4-FFF2-40B4-BE49-F238E27FC236}">
                <a16:creationId xmlns:a16="http://schemas.microsoft.com/office/drawing/2014/main" id="{070747A9-3584-8856-8405-C195D31EC343}"/>
              </a:ext>
            </a:extLst>
          </p:cNvPr>
          <p:cNvSpPr>
            <a:spLocks noGrp="1"/>
          </p:cNvSpPr>
          <p:nvPr>
            <p:ph idx="1"/>
          </p:nvPr>
        </p:nvSpPr>
        <p:spPr/>
        <p:txBody>
          <a:bodyPr>
            <a:normAutofit fontScale="92500" lnSpcReduction="10000"/>
          </a:bodyPr>
          <a:lstStyle/>
          <a:p>
            <a:r>
              <a:rPr lang="en-US" dirty="0"/>
              <a:t>Always invest in yourself</a:t>
            </a:r>
          </a:p>
          <a:p>
            <a:endParaRPr lang="en-US" dirty="0"/>
          </a:p>
          <a:p>
            <a:r>
              <a:rPr lang="en-US" dirty="0"/>
              <a:t>Find the time to do it.</a:t>
            </a:r>
          </a:p>
          <a:p>
            <a:endParaRPr lang="en-US" dirty="0"/>
          </a:p>
          <a:p>
            <a:r>
              <a:rPr lang="en-US" dirty="0"/>
              <a:t>Chance favors the bold</a:t>
            </a:r>
          </a:p>
          <a:p>
            <a:endParaRPr lang="en-US" dirty="0"/>
          </a:p>
          <a:p>
            <a:r>
              <a:rPr lang="en-US" dirty="0"/>
              <a:t>Be grateful, empathetic and likeable.</a:t>
            </a:r>
          </a:p>
          <a:p>
            <a:endParaRPr lang="en-US" dirty="0"/>
          </a:p>
          <a:p>
            <a:r>
              <a:rPr lang="en-US" dirty="0"/>
              <a:t>When the opportunity comes, take it. Noone will blame you for taking a better opportunity. </a:t>
            </a:r>
          </a:p>
        </p:txBody>
      </p:sp>
    </p:spTree>
    <p:extLst>
      <p:ext uri="{BB962C8B-B14F-4D97-AF65-F5344CB8AC3E}">
        <p14:creationId xmlns:p14="http://schemas.microsoft.com/office/powerpoint/2010/main" val="1443447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150B4-AEF3-6F3F-ED7E-26358CDB30F7}"/>
              </a:ext>
            </a:extLst>
          </p:cNvPr>
          <p:cNvSpPr>
            <a:spLocks noGrp="1"/>
          </p:cNvSpPr>
          <p:nvPr>
            <p:ph type="title"/>
          </p:nvPr>
        </p:nvSpPr>
        <p:spPr/>
        <p:txBody>
          <a:bodyPr/>
          <a:lstStyle/>
          <a:p>
            <a:r>
              <a:rPr lang="en-US" dirty="0"/>
              <a:t>Strategize</a:t>
            </a:r>
          </a:p>
        </p:txBody>
      </p:sp>
      <p:sp>
        <p:nvSpPr>
          <p:cNvPr id="3" name="Content Placeholder 2">
            <a:extLst>
              <a:ext uri="{FF2B5EF4-FFF2-40B4-BE49-F238E27FC236}">
                <a16:creationId xmlns:a16="http://schemas.microsoft.com/office/drawing/2014/main" id="{500A2653-A5C2-8F2C-155E-A8BED1FA5E44}"/>
              </a:ext>
            </a:extLst>
          </p:cNvPr>
          <p:cNvSpPr>
            <a:spLocks noGrp="1"/>
          </p:cNvSpPr>
          <p:nvPr>
            <p:ph idx="1"/>
          </p:nvPr>
        </p:nvSpPr>
        <p:spPr/>
        <p:txBody>
          <a:bodyPr/>
          <a:lstStyle/>
          <a:p>
            <a:r>
              <a:rPr lang="en-US" dirty="0"/>
              <a:t>With all work tasks you need to strategize.</a:t>
            </a:r>
          </a:p>
          <a:p>
            <a:endParaRPr lang="en-US" dirty="0"/>
          </a:p>
          <a:p>
            <a:r>
              <a:rPr lang="en-US" dirty="0"/>
              <a:t>Don’t be afraid to delegate tasks.</a:t>
            </a:r>
          </a:p>
          <a:p>
            <a:endParaRPr lang="en-US" dirty="0"/>
          </a:p>
          <a:p>
            <a:r>
              <a:rPr lang="en-US" dirty="0"/>
              <a:t>Learn who you need to keep happy at the company, your boss, the subject matter experts, long standing tenured folks</a:t>
            </a:r>
            <a:r>
              <a:rPr lang="en-US"/>
              <a:t>, etc. </a:t>
            </a:r>
          </a:p>
        </p:txBody>
      </p:sp>
    </p:spTree>
    <p:extLst>
      <p:ext uri="{BB962C8B-B14F-4D97-AF65-F5344CB8AC3E}">
        <p14:creationId xmlns:p14="http://schemas.microsoft.com/office/powerpoint/2010/main" val="1029554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1F1D0-EAD1-2A17-817D-A2159BBE61D1}"/>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507F3F99-060C-E387-7116-3140E077E8C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53467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5057</TotalTime>
  <Words>1111</Words>
  <Application>Microsoft Office PowerPoint</Application>
  <PresentationFormat>Widescreen</PresentationFormat>
  <Paragraphs>72</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Company Culture</vt:lpstr>
      <vt:lpstr>Tell me your thoughts about company culture</vt:lpstr>
      <vt:lpstr>It is a real thing</vt:lpstr>
      <vt:lpstr>What is a good company culture for someone might not be good for you.</vt:lpstr>
      <vt:lpstr>Frustration</vt:lpstr>
      <vt:lpstr>Two main points</vt:lpstr>
      <vt:lpstr>Some cultures will fit you, others you might feel on edge, this could pertain to visiting different states/countries</vt:lpstr>
      <vt:lpstr>Cultures that are very top down. </vt:lpstr>
      <vt:lpstr>Cultural fit is the key thing</vt:lpstr>
      <vt:lpstr>During the interview</vt:lpstr>
      <vt:lpstr>Got the job</vt:lpstr>
      <vt:lpstr>Find a new job or suffer through it</vt:lpstr>
      <vt:lpstr>Start up vs large organization</vt:lpstr>
      <vt:lpstr>Even if you find the perfect culture now</vt:lpstr>
      <vt:lpstr>Plan, PLAN, Plan</vt:lpstr>
      <vt:lpstr>Always be preparing</vt:lpstr>
      <vt:lpstr>Strategize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Derek Bussan</dc:creator>
  <cp:lastModifiedBy>Derek Bussan</cp:lastModifiedBy>
  <cp:revision>18</cp:revision>
  <dcterms:created xsi:type="dcterms:W3CDTF">2025-03-18T21:15:22Z</dcterms:created>
  <dcterms:modified xsi:type="dcterms:W3CDTF">2025-11-10T18:23:56Z</dcterms:modified>
</cp:coreProperties>
</file>