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71" r:id="rId14"/>
    <p:sldId id="272" r:id="rId15"/>
    <p:sldId id="267" r:id="rId16"/>
    <p:sldId id="269" r:id="rId17"/>
    <p:sldId id="273" r:id="rId18"/>
    <p:sldId id="274" r:id="rId19"/>
    <p:sldId id="26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6" autoAdjust="0"/>
    <p:restoredTop sz="94660"/>
  </p:normalViewPr>
  <p:slideViewPr>
    <p:cSldViewPr snapToGrid="0">
      <p:cViewPr varScale="1">
        <p:scale>
          <a:sx n="144" d="100"/>
          <a:sy n="144" d="100"/>
        </p:scale>
        <p:origin x="79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F23BE-86BE-CA3A-9C74-45ABCB950E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4A799C3-25F8-9122-039E-E7D04A8283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1DFBF3-80D2-C0CE-306D-F9301A250B7F}"/>
              </a:ext>
            </a:extLst>
          </p:cNvPr>
          <p:cNvSpPr>
            <a:spLocks noGrp="1"/>
          </p:cNvSpPr>
          <p:nvPr>
            <p:ph type="dt" sz="half" idx="10"/>
          </p:nvPr>
        </p:nvSpPr>
        <p:spPr/>
        <p:txBody>
          <a:bodyPr/>
          <a:lstStyle/>
          <a:p>
            <a:fld id="{7C283D7A-3ADE-4BA7-92D0-725882C241CD}" type="datetimeFigureOut">
              <a:rPr lang="en-US" smtClean="0"/>
              <a:t>3/25/2025</a:t>
            </a:fld>
            <a:endParaRPr lang="en-US"/>
          </a:p>
        </p:txBody>
      </p:sp>
      <p:sp>
        <p:nvSpPr>
          <p:cNvPr id="5" name="Footer Placeholder 4">
            <a:extLst>
              <a:ext uri="{FF2B5EF4-FFF2-40B4-BE49-F238E27FC236}">
                <a16:creationId xmlns:a16="http://schemas.microsoft.com/office/drawing/2014/main" id="{41534866-8988-16DF-E984-1132EFD120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0DCF94-97D5-72F5-16B9-84A0EA2DC785}"/>
              </a:ext>
            </a:extLst>
          </p:cNvPr>
          <p:cNvSpPr>
            <a:spLocks noGrp="1"/>
          </p:cNvSpPr>
          <p:nvPr>
            <p:ph type="sldNum" sz="quarter" idx="12"/>
          </p:nvPr>
        </p:nvSpPr>
        <p:spPr/>
        <p:txBody>
          <a:bodyPr/>
          <a:lstStyle/>
          <a:p>
            <a:fld id="{037F2B1B-271F-42C9-9CAD-E07F280B522F}" type="slidenum">
              <a:rPr lang="en-US" smtClean="0"/>
              <a:t>‹#›</a:t>
            </a:fld>
            <a:endParaRPr lang="en-US"/>
          </a:p>
        </p:txBody>
      </p:sp>
    </p:spTree>
    <p:extLst>
      <p:ext uri="{BB962C8B-B14F-4D97-AF65-F5344CB8AC3E}">
        <p14:creationId xmlns:p14="http://schemas.microsoft.com/office/powerpoint/2010/main" val="1959226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2ECAA-E697-B1D0-361B-2BCB250342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C935F0-3088-C660-5235-320DD86D2C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4C66E5-5524-9A73-84C9-02189B8F4472}"/>
              </a:ext>
            </a:extLst>
          </p:cNvPr>
          <p:cNvSpPr>
            <a:spLocks noGrp="1"/>
          </p:cNvSpPr>
          <p:nvPr>
            <p:ph type="dt" sz="half" idx="10"/>
          </p:nvPr>
        </p:nvSpPr>
        <p:spPr/>
        <p:txBody>
          <a:bodyPr/>
          <a:lstStyle/>
          <a:p>
            <a:fld id="{7C283D7A-3ADE-4BA7-92D0-725882C241CD}" type="datetimeFigureOut">
              <a:rPr lang="en-US" smtClean="0"/>
              <a:t>3/25/2025</a:t>
            </a:fld>
            <a:endParaRPr lang="en-US"/>
          </a:p>
        </p:txBody>
      </p:sp>
      <p:sp>
        <p:nvSpPr>
          <p:cNvPr id="5" name="Footer Placeholder 4">
            <a:extLst>
              <a:ext uri="{FF2B5EF4-FFF2-40B4-BE49-F238E27FC236}">
                <a16:creationId xmlns:a16="http://schemas.microsoft.com/office/drawing/2014/main" id="{B2DF61E2-EC71-522F-8D6A-46CF8BBC89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F52E0-8258-E58F-818C-AD904A92B635}"/>
              </a:ext>
            </a:extLst>
          </p:cNvPr>
          <p:cNvSpPr>
            <a:spLocks noGrp="1"/>
          </p:cNvSpPr>
          <p:nvPr>
            <p:ph type="sldNum" sz="quarter" idx="12"/>
          </p:nvPr>
        </p:nvSpPr>
        <p:spPr/>
        <p:txBody>
          <a:bodyPr/>
          <a:lstStyle/>
          <a:p>
            <a:fld id="{037F2B1B-271F-42C9-9CAD-E07F280B522F}" type="slidenum">
              <a:rPr lang="en-US" smtClean="0"/>
              <a:t>‹#›</a:t>
            </a:fld>
            <a:endParaRPr lang="en-US"/>
          </a:p>
        </p:txBody>
      </p:sp>
    </p:spTree>
    <p:extLst>
      <p:ext uri="{BB962C8B-B14F-4D97-AF65-F5344CB8AC3E}">
        <p14:creationId xmlns:p14="http://schemas.microsoft.com/office/powerpoint/2010/main" val="2020644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21224-1564-8A43-6E03-4E1E4DF578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75BCD5-3D4C-5145-1258-28B7C9F352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3687AB-8C6C-570D-3B7E-CF280205F71C}"/>
              </a:ext>
            </a:extLst>
          </p:cNvPr>
          <p:cNvSpPr>
            <a:spLocks noGrp="1"/>
          </p:cNvSpPr>
          <p:nvPr>
            <p:ph type="dt" sz="half" idx="10"/>
          </p:nvPr>
        </p:nvSpPr>
        <p:spPr/>
        <p:txBody>
          <a:bodyPr/>
          <a:lstStyle/>
          <a:p>
            <a:fld id="{7C283D7A-3ADE-4BA7-92D0-725882C241CD}" type="datetimeFigureOut">
              <a:rPr lang="en-US" smtClean="0"/>
              <a:t>3/25/2025</a:t>
            </a:fld>
            <a:endParaRPr lang="en-US"/>
          </a:p>
        </p:txBody>
      </p:sp>
      <p:sp>
        <p:nvSpPr>
          <p:cNvPr id="5" name="Footer Placeholder 4">
            <a:extLst>
              <a:ext uri="{FF2B5EF4-FFF2-40B4-BE49-F238E27FC236}">
                <a16:creationId xmlns:a16="http://schemas.microsoft.com/office/drawing/2014/main" id="{AA35B6BA-1BC4-DD14-499A-8A0A0DE80D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A55990-71C7-BF98-2402-7C2F175CC790}"/>
              </a:ext>
            </a:extLst>
          </p:cNvPr>
          <p:cNvSpPr>
            <a:spLocks noGrp="1"/>
          </p:cNvSpPr>
          <p:nvPr>
            <p:ph type="sldNum" sz="quarter" idx="12"/>
          </p:nvPr>
        </p:nvSpPr>
        <p:spPr/>
        <p:txBody>
          <a:bodyPr/>
          <a:lstStyle/>
          <a:p>
            <a:fld id="{037F2B1B-271F-42C9-9CAD-E07F280B522F}" type="slidenum">
              <a:rPr lang="en-US" smtClean="0"/>
              <a:t>‹#›</a:t>
            </a:fld>
            <a:endParaRPr lang="en-US"/>
          </a:p>
        </p:txBody>
      </p:sp>
    </p:spTree>
    <p:extLst>
      <p:ext uri="{BB962C8B-B14F-4D97-AF65-F5344CB8AC3E}">
        <p14:creationId xmlns:p14="http://schemas.microsoft.com/office/powerpoint/2010/main" val="622313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91FBB-DA8E-DAEF-177E-A991123B85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0357F6-95BC-6A8B-066C-C975F8104C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127692-B1A7-62D3-3E58-22EC5558B4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056EA9-6A69-9298-A86A-EA9B9660F83E}"/>
              </a:ext>
            </a:extLst>
          </p:cNvPr>
          <p:cNvSpPr>
            <a:spLocks noGrp="1"/>
          </p:cNvSpPr>
          <p:nvPr>
            <p:ph type="dt" sz="half" idx="10"/>
          </p:nvPr>
        </p:nvSpPr>
        <p:spPr/>
        <p:txBody>
          <a:bodyPr/>
          <a:lstStyle/>
          <a:p>
            <a:fld id="{7C283D7A-3ADE-4BA7-92D0-725882C241CD}" type="datetimeFigureOut">
              <a:rPr lang="en-US" smtClean="0"/>
              <a:t>3/25/2025</a:t>
            </a:fld>
            <a:endParaRPr lang="en-US"/>
          </a:p>
        </p:txBody>
      </p:sp>
      <p:sp>
        <p:nvSpPr>
          <p:cNvPr id="6" name="Footer Placeholder 5">
            <a:extLst>
              <a:ext uri="{FF2B5EF4-FFF2-40B4-BE49-F238E27FC236}">
                <a16:creationId xmlns:a16="http://schemas.microsoft.com/office/drawing/2014/main" id="{0F9768FD-0457-36AC-4A57-2A52F85B34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726173-B81B-0438-40E9-BD6D2CB223CC}"/>
              </a:ext>
            </a:extLst>
          </p:cNvPr>
          <p:cNvSpPr>
            <a:spLocks noGrp="1"/>
          </p:cNvSpPr>
          <p:nvPr>
            <p:ph type="sldNum" sz="quarter" idx="12"/>
          </p:nvPr>
        </p:nvSpPr>
        <p:spPr/>
        <p:txBody>
          <a:bodyPr/>
          <a:lstStyle/>
          <a:p>
            <a:fld id="{037F2B1B-271F-42C9-9CAD-E07F280B522F}" type="slidenum">
              <a:rPr lang="en-US" smtClean="0"/>
              <a:t>‹#›</a:t>
            </a:fld>
            <a:endParaRPr lang="en-US"/>
          </a:p>
        </p:txBody>
      </p:sp>
    </p:spTree>
    <p:extLst>
      <p:ext uri="{BB962C8B-B14F-4D97-AF65-F5344CB8AC3E}">
        <p14:creationId xmlns:p14="http://schemas.microsoft.com/office/powerpoint/2010/main" val="1820427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76AFB-88B4-6DAF-A955-E94004EA47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6AF07E-3C33-349B-757C-C30F75EDE5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0F51EE-26BA-A1C8-8CAD-3C283F9F6E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1E8BBC-6124-D8FB-88B8-57FD5308B7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F56C2D-B314-00CA-A420-70E9D71D8C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221279-4015-209C-115B-E15D9B420F32}"/>
              </a:ext>
            </a:extLst>
          </p:cNvPr>
          <p:cNvSpPr>
            <a:spLocks noGrp="1"/>
          </p:cNvSpPr>
          <p:nvPr>
            <p:ph type="dt" sz="half" idx="10"/>
          </p:nvPr>
        </p:nvSpPr>
        <p:spPr/>
        <p:txBody>
          <a:bodyPr/>
          <a:lstStyle/>
          <a:p>
            <a:fld id="{7C283D7A-3ADE-4BA7-92D0-725882C241CD}" type="datetimeFigureOut">
              <a:rPr lang="en-US" smtClean="0"/>
              <a:t>3/25/2025</a:t>
            </a:fld>
            <a:endParaRPr lang="en-US"/>
          </a:p>
        </p:txBody>
      </p:sp>
      <p:sp>
        <p:nvSpPr>
          <p:cNvPr id="8" name="Footer Placeholder 7">
            <a:extLst>
              <a:ext uri="{FF2B5EF4-FFF2-40B4-BE49-F238E27FC236}">
                <a16:creationId xmlns:a16="http://schemas.microsoft.com/office/drawing/2014/main" id="{63A8D275-BC65-2943-3F39-7878EA5B1E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96307B-6930-9098-8334-A3B1B6E813FF}"/>
              </a:ext>
            </a:extLst>
          </p:cNvPr>
          <p:cNvSpPr>
            <a:spLocks noGrp="1"/>
          </p:cNvSpPr>
          <p:nvPr>
            <p:ph type="sldNum" sz="quarter" idx="12"/>
          </p:nvPr>
        </p:nvSpPr>
        <p:spPr/>
        <p:txBody>
          <a:bodyPr/>
          <a:lstStyle/>
          <a:p>
            <a:fld id="{037F2B1B-271F-42C9-9CAD-E07F280B522F}" type="slidenum">
              <a:rPr lang="en-US" smtClean="0"/>
              <a:t>‹#›</a:t>
            </a:fld>
            <a:endParaRPr lang="en-US"/>
          </a:p>
        </p:txBody>
      </p:sp>
    </p:spTree>
    <p:extLst>
      <p:ext uri="{BB962C8B-B14F-4D97-AF65-F5344CB8AC3E}">
        <p14:creationId xmlns:p14="http://schemas.microsoft.com/office/powerpoint/2010/main" val="1038860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CA010-D60A-E295-5942-A9685F8A3CE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9047DE0-7301-BCBA-C85C-A9868E79FDB1}"/>
              </a:ext>
            </a:extLst>
          </p:cNvPr>
          <p:cNvSpPr>
            <a:spLocks noGrp="1"/>
          </p:cNvSpPr>
          <p:nvPr>
            <p:ph type="dt" sz="half" idx="10"/>
          </p:nvPr>
        </p:nvSpPr>
        <p:spPr/>
        <p:txBody>
          <a:bodyPr/>
          <a:lstStyle/>
          <a:p>
            <a:fld id="{7C283D7A-3ADE-4BA7-92D0-725882C241CD}" type="datetimeFigureOut">
              <a:rPr lang="en-US" smtClean="0"/>
              <a:t>3/25/2025</a:t>
            </a:fld>
            <a:endParaRPr lang="en-US"/>
          </a:p>
        </p:txBody>
      </p:sp>
      <p:sp>
        <p:nvSpPr>
          <p:cNvPr id="4" name="Footer Placeholder 3">
            <a:extLst>
              <a:ext uri="{FF2B5EF4-FFF2-40B4-BE49-F238E27FC236}">
                <a16:creationId xmlns:a16="http://schemas.microsoft.com/office/drawing/2014/main" id="{81480FEC-0FBB-4720-421E-559A652B88E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7A8135-87EB-B60A-1DCA-E4D0C151BAB9}"/>
              </a:ext>
            </a:extLst>
          </p:cNvPr>
          <p:cNvSpPr>
            <a:spLocks noGrp="1"/>
          </p:cNvSpPr>
          <p:nvPr>
            <p:ph type="sldNum" sz="quarter" idx="12"/>
          </p:nvPr>
        </p:nvSpPr>
        <p:spPr/>
        <p:txBody>
          <a:bodyPr/>
          <a:lstStyle/>
          <a:p>
            <a:fld id="{037F2B1B-271F-42C9-9CAD-E07F280B522F}" type="slidenum">
              <a:rPr lang="en-US" smtClean="0"/>
              <a:t>‹#›</a:t>
            </a:fld>
            <a:endParaRPr lang="en-US"/>
          </a:p>
        </p:txBody>
      </p:sp>
    </p:spTree>
    <p:extLst>
      <p:ext uri="{BB962C8B-B14F-4D97-AF65-F5344CB8AC3E}">
        <p14:creationId xmlns:p14="http://schemas.microsoft.com/office/powerpoint/2010/main" val="1119235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CFC588-9F37-44B8-8BBE-95DC3EB63688}"/>
              </a:ext>
            </a:extLst>
          </p:cNvPr>
          <p:cNvSpPr>
            <a:spLocks noGrp="1"/>
          </p:cNvSpPr>
          <p:nvPr>
            <p:ph type="dt" sz="half" idx="10"/>
          </p:nvPr>
        </p:nvSpPr>
        <p:spPr/>
        <p:txBody>
          <a:bodyPr/>
          <a:lstStyle/>
          <a:p>
            <a:fld id="{7C283D7A-3ADE-4BA7-92D0-725882C241CD}" type="datetimeFigureOut">
              <a:rPr lang="en-US" smtClean="0"/>
              <a:t>3/25/2025</a:t>
            </a:fld>
            <a:endParaRPr lang="en-US"/>
          </a:p>
        </p:txBody>
      </p:sp>
      <p:sp>
        <p:nvSpPr>
          <p:cNvPr id="3" name="Footer Placeholder 2">
            <a:extLst>
              <a:ext uri="{FF2B5EF4-FFF2-40B4-BE49-F238E27FC236}">
                <a16:creationId xmlns:a16="http://schemas.microsoft.com/office/drawing/2014/main" id="{E566A634-D3ED-0F24-C076-8A48F6A3CB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3AE6AE-10E4-2EE7-06EA-2FD4C5C3597D}"/>
              </a:ext>
            </a:extLst>
          </p:cNvPr>
          <p:cNvSpPr>
            <a:spLocks noGrp="1"/>
          </p:cNvSpPr>
          <p:nvPr>
            <p:ph type="sldNum" sz="quarter" idx="12"/>
          </p:nvPr>
        </p:nvSpPr>
        <p:spPr/>
        <p:txBody>
          <a:bodyPr/>
          <a:lstStyle/>
          <a:p>
            <a:fld id="{037F2B1B-271F-42C9-9CAD-E07F280B522F}" type="slidenum">
              <a:rPr lang="en-US" smtClean="0"/>
              <a:t>‹#›</a:t>
            </a:fld>
            <a:endParaRPr lang="en-US"/>
          </a:p>
        </p:txBody>
      </p:sp>
    </p:spTree>
    <p:extLst>
      <p:ext uri="{BB962C8B-B14F-4D97-AF65-F5344CB8AC3E}">
        <p14:creationId xmlns:p14="http://schemas.microsoft.com/office/powerpoint/2010/main" val="4174967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683DD-F411-819E-1D03-222F96DD8A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B52517-72D8-5AE4-4381-D6092FF9CA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C869E1-3C33-981A-A166-D016F9CA19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C0B794-9E8D-7CF8-55A6-9B1A2FBBDBF6}"/>
              </a:ext>
            </a:extLst>
          </p:cNvPr>
          <p:cNvSpPr>
            <a:spLocks noGrp="1"/>
          </p:cNvSpPr>
          <p:nvPr>
            <p:ph type="dt" sz="half" idx="10"/>
          </p:nvPr>
        </p:nvSpPr>
        <p:spPr/>
        <p:txBody>
          <a:bodyPr/>
          <a:lstStyle/>
          <a:p>
            <a:fld id="{7C283D7A-3ADE-4BA7-92D0-725882C241CD}" type="datetimeFigureOut">
              <a:rPr lang="en-US" smtClean="0"/>
              <a:t>3/25/2025</a:t>
            </a:fld>
            <a:endParaRPr lang="en-US"/>
          </a:p>
        </p:txBody>
      </p:sp>
      <p:sp>
        <p:nvSpPr>
          <p:cNvPr id="6" name="Footer Placeholder 5">
            <a:extLst>
              <a:ext uri="{FF2B5EF4-FFF2-40B4-BE49-F238E27FC236}">
                <a16:creationId xmlns:a16="http://schemas.microsoft.com/office/drawing/2014/main" id="{B762137F-C934-FAE3-DF54-EFA631E789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38D119-2395-7C15-0ED3-8BB26E160C2D}"/>
              </a:ext>
            </a:extLst>
          </p:cNvPr>
          <p:cNvSpPr>
            <a:spLocks noGrp="1"/>
          </p:cNvSpPr>
          <p:nvPr>
            <p:ph type="sldNum" sz="quarter" idx="12"/>
          </p:nvPr>
        </p:nvSpPr>
        <p:spPr/>
        <p:txBody>
          <a:bodyPr/>
          <a:lstStyle/>
          <a:p>
            <a:fld id="{037F2B1B-271F-42C9-9CAD-E07F280B522F}" type="slidenum">
              <a:rPr lang="en-US" smtClean="0"/>
              <a:t>‹#›</a:t>
            </a:fld>
            <a:endParaRPr lang="en-US"/>
          </a:p>
        </p:txBody>
      </p:sp>
    </p:spTree>
    <p:extLst>
      <p:ext uri="{BB962C8B-B14F-4D97-AF65-F5344CB8AC3E}">
        <p14:creationId xmlns:p14="http://schemas.microsoft.com/office/powerpoint/2010/main" val="2613855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90D14-7795-3177-FE6F-C2C5B23DE7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3ACA1B-04DE-9619-3CAA-C8C1C3DA18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96861FA-9719-589F-8C91-95149388E7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DA63FB-B610-6220-6E08-315BDBB39C1F}"/>
              </a:ext>
            </a:extLst>
          </p:cNvPr>
          <p:cNvSpPr>
            <a:spLocks noGrp="1"/>
          </p:cNvSpPr>
          <p:nvPr>
            <p:ph type="dt" sz="half" idx="10"/>
          </p:nvPr>
        </p:nvSpPr>
        <p:spPr/>
        <p:txBody>
          <a:bodyPr/>
          <a:lstStyle/>
          <a:p>
            <a:fld id="{7C283D7A-3ADE-4BA7-92D0-725882C241CD}" type="datetimeFigureOut">
              <a:rPr lang="en-US" smtClean="0"/>
              <a:t>3/25/2025</a:t>
            </a:fld>
            <a:endParaRPr lang="en-US"/>
          </a:p>
        </p:txBody>
      </p:sp>
      <p:sp>
        <p:nvSpPr>
          <p:cNvPr id="6" name="Footer Placeholder 5">
            <a:extLst>
              <a:ext uri="{FF2B5EF4-FFF2-40B4-BE49-F238E27FC236}">
                <a16:creationId xmlns:a16="http://schemas.microsoft.com/office/drawing/2014/main" id="{F12D5D05-BCD7-AA8C-4C9E-6300D06BD2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47E4C0-E525-E8C9-A620-F0B1877DBC3D}"/>
              </a:ext>
            </a:extLst>
          </p:cNvPr>
          <p:cNvSpPr>
            <a:spLocks noGrp="1"/>
          </p:cNvSpPr>
          <p:nvPr>
            <p:ph type="sldNum" sz="quarter" idx="12"/>
          </p:nvPr>
        </p:nvSpPr>
        <p:spPr/>
        <p:txBody>
          <a:bodyPr/>
          <a:lstStyle/>
          <a:p>
            <a:fld id="{037F2B1B-271F-42C9-9CAD-E07F280B522F}" type="slidenum">
              <a:rPr lang="en-US" smtClean="0"/>
              <a:t>‹#›</a:t>
            </a:fld>
            <a:endParaRPr lang="en-US"/>
          </a:p>
        </p:txBody>
      </p:sp>
    </p:spTree>
    <p:extLst>
      <p:ext uri="{BB962C8B-B14F-4D97-AF65-F5344CB8AC3E}">
        <p14:creationId xmlns:p14="http://schemas.microsoft.com/office/powerpoint/2010/main" val="1230768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00F30-6564-F364-F41C-8F3B5C7A47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879CAC-4171-7730-9556-B62F81D003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DC3CA7-049D-64B9-D481-037306EC97E1}"/>
              </a:ext>
            </a:extLst>
          </p:cNvPr>
          <p:cNvSpPr>
            <a:spLocks noGrp="1"/>
          </p:cNvSpPr>
          <p:nvPr>
            <p:ph type="dt" sz="half" idx="10"/>
          </p:nvPr>
        </p:nvSpPr>
        <p:spPr/>
        <p:txBody>
          <a:bodyPr/>
          <a:lstStyle/>
          <a:p>
            <a:fld id="{7C283D7A-3ADE-4BA7-92D0-725882C241CD}" type="datetimeFigureOut">
              <a:rPr lang="en-US" smtClean="0"/>
              <a:t>3/25/2025</a:t>
            </a:fld>
            <a:endParaRPr lang="en-US"/>
          </a:p>
        </p:txBody>
      </p:sp>
      <p:sp>
        <p:nvSpPr>
          <p:cNvPr id="5" name="Footer Placeholder 4">
            <a:extLst>
              <a:ext uri="{FF2B5EF4-FFF2-40B4-BE49-F238E27FC236}">
                <a16:creationId xmlns:a16="http://schemas.microsoft.com/office/drawing/2014/main" id="{C35021AA-C018-5AA5-E4CD-60F8436D73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B008D3-A8E6-84C1-DC2A-12B2E87F20C6}"/>
              </a:ext>
            </a:extLst>
          </p:cNvPr>
          <p:cNvSpPr>
            <a:spLocks noGrp="1"/>
          </p:cNvSpPr>
          <p:nvPr>
            <p:ph type="sldNum" sz="quarter" idx="12"/>
          </p:nvPr>
        </p:nvSpPr>
        <p:spPr/>
        <p:txBody>
          <a:bodyPr/>
          <a:lstStyle/>
          <a:p>
            <a:fld id="{037F2B1B-271F-42C9-9CAD-E07F280B522F}" type="slidenum">
              <a:rPr lang="en-US" smtClean="0"/>
              <a:t>‹#›</a:t>
            </a:fld>
            <a:endParaRPr lang="en-US"/>
          </a:p>
        </p:txBody>
      </p:sp>
    </p:spTree>
    <p:extLst>
      <p:ext uri="{BB962C8B-B14F-4D97-AF65-F5344CB8AC3E}">
        <p14:creationId xmlns:p14="http://schemas.microsoft.com/office/powerpoint/2010/main" val="3716340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E7E489-8745-ABDC-D9F6-294D201365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8EC60E-B1F4-3EFE-C941-C403208649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4151D3-2C68-694E-98F5-3089EF8ED60E}"/>
              </a:ext>
            </a:extLst>
          </p:cNvPr>
          <p:cNvSpPr>
            <a:spLocks noGrp="1"/>
          </p:cNvSpPr>
          <p:nvPr>
            <p:ph type="dt" sz="half" idx="10"/>
          </p:nvPr>
        </p:nvSpPr>
        <p:spPr/>
        <p:txBody>
          <a:bodyPr/>
          <a:lstStyle/>
          <a:p>
            <a:fld id="{7C283D7A-3ADE-4BA7-92D0-725882C241CD}" type="datetimeFigureOut">
              <a:rPr lang="en-US" smtClean="0"/>
              <a:t>3/25/2025</a:t>
            </a:fld>
            <a:endParaRPr lang="en-US"/>
          </a:p>
        </p:txBody>
      </p:sp>
      <p:sp>
        <p:nvSpPr>
          <p:cNvPr id="5" name="Footer Placeholder 4">
            <a:extLst>
              <a:ext uri="{FF2B5EF4-FFF2-40B4-BE49-F238E27FC236}">
                <a16:creationId xmlns:a16="http://schemas.microsoft.com/office/drawing/2014/main" id="{AC38FB0E-9AD0-EF0A-C5D8-214EEF14D1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7F9630-B470-5118-935F-4462228ED446}"/>
              </a:ext>
            </a:extLst>
          </p:cNvPr>
          <p:cNvSpPr>
            <a:spLocks noGrp="1"/>
          </p:cNvSpPr>
          <p:nvPr>
            <p:ph type="sldNum" sz="quarter" idx="12"/>
          </p:nvPr>
        </p:nvSpPr>
        <p:spPr/>
        <p:txBody>
          <a:bodyPr/>
          <a:lstStyle/>
          <a:p>
            <a:fld id="{037F2B1B-271F-42C9-9CAD-E07F280B522F}" type="slidenum">
              <a:rPr lang="en-US" smtClean="0"/>
              <a:t>‹#›</a:t>
            </a:fld>
            <a:endParaRPr lang="en-US"/>
          </a:p>
        </p:txBody>
      </p:sp>
    </p:spTree>
    <p:extLst>
      <p:ext uri="{BB962C8B-B14F-4D97-AF65-F5344CB8AC3E}">
        <p14:creationId xmlns:p14="http://schemas.microsoft.com/office/powerpoint/2010/main" val="1780379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71DDC3-B12F-1F7C-6B8F-43484F3721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5B9303-298E-53F7-6C35-CB8CF9C5C0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B412B-D475-E641-05F6-767050EBAB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C283D7A-3ADE-4BA7-92D0-725882C241CD}" type="datetimeFigureOut">
              <a:rPr lang="en-US" smtClean="0"/>
              <a:t>3/25/2025</a:t>
            </a:fld>
            <a:endParaRPr lang="en-US"/>
          </a:p>
        </p:txBody>
      </p:sp>
      <p:sp>
        <p:nvSpPr>
          <p:cNvPr id="5" name="Footer Placeholder 4">
            <a:extLst>
              <a:ext uri="{FF2B5EF4-FFF2-40B4-BE49-F238E27FC236}">
                <a16:creationId xmlns:a16="http://schemas.microsoft.com/office/drawing/2014/main" id="{4BC64135-EC78-C5AC-1E43-DAC86E9E16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92A45B0-55DE-E168-00AE-53D9E7FABA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7F2B1B-271F-42C9-9CAD-E07F280B522F}" type="slidenum">
              <a:rPr lang="en-US" smtClean="0"/>
              <a:t>‹#›</a:t>
            </a:fld>
            <a:endParaRPr lang="en-US"/>
          </a:p>
        </p:txBody>
      </p:sp>
    </p:spTree>
    <p:extLst>
      <p:ext uri="{BB962C8B-B14F-4D97-AF65-F5344CB8AC3E}">
        <p14:creationId xmlns:p14="http://schemas.microsoft.com/office/powerpoint/2010/main" val="1672273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DA649-42B3-9E4D-1EAA-4ED50FABD00B}"/>
              </a:ext>
            </a:extLst>
          </p:cNvPr>
          <p:cNvSpPr>
            <a:spLocks noGrp="1"/>
          </p:cNvSpPr>
          <p:nvPr>
            <p:ph type="ctrTitle"/>
          </p:nvPr>
        </p:nvSpPr>
        <p:spPr/>
        <p:txBody>
          <a:bodyPr/>
          <a:lstStyle/>
          <a:p>
            <a:r>
              <a:rPr lang="en-US" dirty="0"/>
              <a:t>Always Be Applying!</a:t>
            </a:r>
          </a:p>
        </p:txBody>
      </p:sp>
      <p:sp>
        <p:nvSpPr>
          <p:cNvPr id="3" name="Subtitle 2">
            <a:extLst>
              <a:ext uri="{FF2B5EF4-FFF2-40B4-BE49-F238E27FC236}">
                <a16:creationId xmlns:a16="http://schemas.microsoft.com/office/drawing/2014/main" id="{0FB04473-DF31-C9B5-1A6F-48408C1D637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84725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BEDBF-8397-D72B-92CA-732766617FDE}"/>
              </a:ext>
            </a:extLst>
          </p:cNvPr>
          <p:cNvSpPr>
            <a:spLocks noGrp="1"/>
          </p:cNvSpPr>
          <p:nvPr>
            <p:ph type="title"/>
          </p:nvPr>
        </p:nvSpPr>
        <p:spPr/>
        <p:txBody>
          <a:bodyPr/>
          <a:lstStyle/>
          <a:p>
            <a:r>
              <a:rPr lang="en-US" dirty="0"/>
              <a:t>First off, it could sound weird</a:t>
            </a:r>
          </a:p>
        </p:txBody>
      </p:sp>
      <p:sp>
        <p:nvSpPr>
          <p:cNvPr id="3" name="Content Placeholder 2">
            <a:extLst>
              <a:ext uri="{FF2B5EF4-FFF2-40B4-BE49-F238E27FC236}">
                <a16:creationId xmlns:a16="http://schemas.microsoft.com/office/drawing/2014/main" id="{BBA83504-3123-AE9C-D1A9-7BE8EE7D4FA3}"/>
              </a:ext>
            </a:extLst>
          </p:cNvPr>
          <p:cNvSpPr>
            <a:spLocks noGrp="1"/>
          </p:cNvSpPr>
          <p:nvPr>
            <p:ph idx="1"/>
          </p:nvPr>
        </p:nvSpPr>
        <p:spPr/>
        <p:txBody>
          <a:bodyPr/>
          <a:lstStyle/>
          <a:p>
            <a:r>
              <a:rPr lang="en-US" dirty="0"/>
              <a:t>Think about this, you have a good job, you have an excellent job, why am I even bringing this up?</a:t>
            </a:r>
          </a:p>
          <a:p>
            <a:endParaRPr lang="en-US" dirty="0"/>
          </a:p>
          <a:p>
            <a:r>
              <a:rPr lang="en-US" dirty="0"/>
              <a:t>There is always the unknown and uncertainties out there. </a:t>
            </a:r>
          </a:p>
          <a:p>
            <a:endParaRPr lang="en-US" dirty="0"/>
          </a:p>
          <a:p>
            <a:r>
              <a:rPr lang="en-US" dirty="0"/>
              <a:t>This applies to many different types and flavors of workplaces, you have to take responsibility to know the health of your organization!</a:t>
            </a:r>
          </a:p>
        </p:txBody>
      </p:sp>
    </p:spTree>
    <p:extLst>
      <p:ext uri="{BB962C8B-B14F-4D97-AF65-F5344CB8AC3E}">
        <p14:creationId xmlns:p14="http://schemas.microsoft.com/office/powerpoint/2010/main" val="1717717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35A13-F54C-2B82-8D28-549B9B5D1CCC}"/>
              </a:ext>
            </a:extLst>
          </p:cNvPr>
          <p:cNvSpPr>
            <a:spLocks noGrp="1"/>
          </p:cNvSpPr>
          <p:nvPr>
            <p:ph type="title"/>
          </p:nvPr>
        </p:nvSpPr>
        <p:spPr/>
        <p:txBody>
          <a:bodyPr/>
          <a:lstStyle/>
          <a:p>
            <a:r>
              <a:rPr lang="en-US" dirty="0"/>
              <a:t>What does this mean</a:t>
            </a:r>
          </a:p>
        </p:txBody>
      </p:sp>
      <p:sp>
        <p:nvSpPr>
          <p:cNvPr id="3" name="Content Placeholder 2">
            <a:extLst>
              <a:ext uri="{FF2B5EF4-FFF2-40B4-BE49-F238E27FC236}">
                <a16:creationId xmlns:a16="http://schemas.microsoft.com/office/drawing/2014/main" id="{4BCA2585-BC85-123F-4E55-282B549CCB07}"/>
              </a:ext>
            </a:extLst>
          </p:cNvPr>
          <p:cNvSpPr>
            <a:spLocks noGrp="1"/>
          </p:cNvSpPr>
          <p:nvPr>
            <p:ph idx="1"/>
          </p:nvPr>
        </p:nvSpPr>
        <p:spPr/>
        <p:txBody>
          <a:bodyPr/>
          <a:lstStyle/>
          <a:p>
            <a:r>
              <a:rPr lang="en-US" dirty="0"/>
              <a:t>If you are employed, apply strategically. Don’t always apply to just any job out there. </a:t>
            </a:r>
          </a:p>
          <a:p>
            <a:endParaRPr lang="en-US" dirty="0"/>
          </a:p>
          <a:p>
            <a:r>
              <a:rPr lang="en-US" dirty="0"/>
              <a:t>Be very specific and targeted, you already have a great job, so what would it take you to move or to accept a new job?</a:t>
            </a:r>
          </a:p>
        </p:txBody>
      </p:sp>
    </p:spTree>
    <p:extLst>
      <p:ext uri="{BB962C8B-B14F-4D97-AF65-F5344CB8AC3E}">
        <p14:creationId xmlns:p14="http://schemas.microsoft.com/office/powerpoint/2010/main" val="1869786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4B42-D2FB-5F0E-3DC7-498FCD48E979}"/>
              </a:ext>
            </a:extLst>
          </p:cNvPr>
          <p:cNvSpPr>
            <a:spLocks noGrp="1"/>
          </p:cNvSpPr>
          <p:nvPr>
            <p:ph type="title"/>
          </p:nvPr>
        </p:nvSpPr>
        <p:spPr/>
        <p:txBody>
          <a:bodyPr/>
          <a:lstStyle/>
          <a:p>
            <a:r>
              <a:rPr lang="en-US" dirty="0"/>
              <a:t>How to strategically apply</a:t>
            </a:r>
          </a:p>
        </p:txBody>
      </p:sp>
      <p:sp>
        <p:nvSpPr>
          <p:cNvPr id="3" name="Content Placeholder 2">
            <a:extLst>
              <a:ext uri="{FF2B5EF4-FFF2-40B4-BE49-F238E27FC236}">
                <a16:creationId xmlns:a16="http://schemas.microsoft.com/office/drawing/2014/main" id="{E086C538-9FAB-DF3E-DC42-EA0F56DC7C99}"/>
              </a:ext>
            </a:extLst>
          </p:cNvPr>
          <p:cNvSpPr>
            <a:spLocks noGrp="1"/>
          </p:cNvSpPr>
          <p:nvPr>
            <p:ph idx="1"/>
          </p:nvPr>
        </p:nvSpPr>
        <p:spPr/>
        <p:txBody>
          <a:bodyPr/>
          <a:lstStyle/>
          <a:p>
            <a:r>
              <a:rPr lang="en-US" dirty="0"/>
              <a:t>Look for opportunities that you wouldn’t be able to turn down.</a:t>
            </a:r>
          </a:p>
          <a:p>
            <a:endParaRPr lang="en-US" dirty="0"/>
          </a:p>
          <a:p>
            <a:r>
              <a:rPr lang="en-US" dirty="0"/>
              <a:t>Be very selective!</a:t>
            </a:r>
          </a:p>
          <a:p>
            <a:endParaRPr lang="en-US" dirty="0"/>
          </a:p>
          <a:p>
            <a:endParaRPr lang="en-US" dirty="0"/>
          </a:p>
        </p:txBody>
      </p:sp>
    </p:spTree>
    <p:extLst>
      <p:ext uri="{BB962C8B-B14F-4D97-AF65-F5344CB8AC3E}">
        <p14:creationId xmlns:p14="http://schemas.microsoft.com/office/powerpoint/2010/main" val="693695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9C9D5-8901-6EE1-E410-BDA23EA553F2}"/>
              </a:ext>
            </a:extLst>
          </p:cNvPr>
          <p:cNvSpPr>
            <a:spLocks noGrp="1"/>
          </p:cNvSpPr>
          <p:nvPr>
            <p:ph type="title"/>
          </p:nvPr>
        </p:nvSpPr>
        <p:spPr/>
        <p:txBody>
          <a:bodyPr/>
          <a:lstStyle/>
          <a:p>
            <a:r>
              <a:rPr lang="en-US" dirty="0"/>
              <a:t>What should you be doing</a:t>
            </a:r>
          </a:p>
        </p:txBody>
      </p:sp>
      <p:sp>
        <p:nvSpPr>
          <p:cNvPr id="3" name="Content Placeholder 2">
            <a:extLst>
              <a:ext uri="{FF2B5EF4-FFF2-40B4-BE49-F238E27FC236}">
                <a16:creationId xmlns:a16="http://schemas.microsoft.com/office/drawing/2014/main" id="{4D1D1D92-3101-B5A0-F525-10419C9CEF26}"/>
              </a:ext>
            </a:extLst>
          </p:cNvPr>
          <p:cNvSpPr>
            <a:spLocks noGrp="1"/>
          </p:cNvSpPr>
          <p:nvPr>
            <p:ph idx="1"/>
          </p:nvPr>
        </p:nvSpPr>
        <p:spPr/>
        <p:txBody>
          <a:bodyPr/>
          <a:lstStyle/>
          <a:p>
            <a:r>
              <a:rPr lang="en-US" dirty="0"/>
              <a:t>Networking</a:t>
            </a:r>
          </a:p>
          <a:p>
            <a:endParaRPr lang="en-US" dirty="0"/>
          </a:p>
          <a:p>
            <a:r>
              <a:rPr lang="en-US" dirty="0"/>
              <a:t>Interviewing</a:t>
            </a:r>
          </a:p>
          <a:p>
            <a:endParaRPr lang="en-US" dirty="0"/>
          </a:p>
          <a:p>
            <a:r>
              <a:rPr lang="en-US" dirty="0"/>
              <a:t>Applying</a:t>
            </a:r>
          </a:p>
          <a:p>
            <a:endParaRPr lang="en-US" dirty="0"/>
          </a:p>
          <a:p>
            <a:r>
              <a:rPr lang="en-US" dirty="0"/>
              <a:t>Keeping your skillset up</a:t>
            </a:r>
          </a:p>
        </p:txBody>
      </p:sp>
    </p:spTree>
    <p:extLst>
      <p:ext uri="{BB962C8B-B14F-4D97-AF65-F5344CB8AC3E}">
        <p14:creationId xmlns:p14="http://schemas.microsoft.com/office/powerpoint/2010/main" val="2640088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FFA0E-9C37-B3D6-476D-234D62CD1352}"/>
              </a:ext>
            </a:extLst>
          </p:cNvPr>
          <p:cNvSpPr>
            <a:spLocks noGrp="1"/>
          </p:cNvSpPr>
          <p:nvPr>
            <p:ph type="title"/>
          </p:nvPr>
        </p:nvSpPr>
        <p:spPr/>
        <p:txBody>
          <a:bodyPr/>
          <a:lstStyle/>
          <a:p>
            <a:r>
              <a:rPr lang="en-US" dirty="0"/>
              <a:t>Don’t get surprised </a:t>
            </a:r>
          </a:p>
        </p:txBody>
      </p:sp>
      <p:sp>
        <p:nvSpPr>
          <p:cNvPr id="3" name="Content Placeholder 2">
            <a:extLst>
              <a:ext uri="{FF2B5EF4-FFF2-40B4-BE49-F238E27FC236}">
                <a16:creationId xmlns:a16="http://schemas.microsoft.com/office/drawing/2014/main" id="{0FC89B61-E21F-031D-575F-573928E6DA60}"/>
              </a:ext>
            </a:extLst>
          </p:cNvPr>
          <p:cNvSpPr>
            <a:spLocks noGrp="1"/>
          </p:cNvSpPr>
          <p:nvPr>
            <p:ph idx="1"/>
          </p:nvPr>
        </p:nvSpPr>
        <p:spPr/>
        <p:txBody>
          <a:bodyPr/>
          <a:lstStyle/>
          <a:p>
            <a:r>
              <a:rPr lang="en-US" dirty="0"/>
              <a:t>If you ever get fired, </a:t>
            </a:r>
            <a:r>
              <a:rPr lang="en-US" dirty="0" err="1"/>
              <a:t>rif’d</a:t>
            </a:r>
            <a:r>
              <a:rPr lang="en-US" dirty="0"/>
              <a:t>, relocate, reorganization, maybe a spouse has to move. Be ready.</a:t>
            </a:r>
          </a:p>
          <a:p>
            <a:endParaRPr lang="en-US" dirty="0"/>
          </a:p>
          <a:p>
            <a:endParaRPr lang="en-US" dirty="0"/>
          </a:p>
        </p:txBody>
      </p:sp>
    </p:spTree>
    <p:extLst>
      <p:ext uri="{BB962C8B-B14F-4D97-AF65-F5344CB8AC3E}">
        <p14:creationId xmlns:p14="http://schemas.microsoft.com/office/powerpoint/2010/main" val="643927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DA16D-DECC-03A1-2A9F-148C59D6C34D}"/>
              </a:ext>
            </a:extLst>
          </p:cNvPr>
          <p:cNvSpPr>
            <a:spLocks noGrp="1"/>
          </p:cNvSpPr>
          <p:nvPr>
            <p:ph type="title"/>
          </p:nvPr>
        </p:nvSpPr>
        <p:spPr/>
        <p:txBody>
          <a:bodyPr/>
          <a:lstStyle/>
          <a:p>
            <a:r>
              <a:rPr lang="en-US" dirty="0"/>
              <a:t>Something happens</a:t>
            </a:r>
          </a:p>
        </p:txBody>
      </p:sp>
      <p:sp>
        <p:nvSpPr>
          <p:cNvPr id="3" name="Content Placeholder 2">
            <a:extLst>
              <a:ext uri="{FF2B5EF4-FFF2-40B4-BE49-F238E27FC236}">
                <a16:creationId xmlns:a16="http://schemas.microsoft.com/office/drawing/2014/main" id="{3321EF96-7BBF-53FF-5630-779EACEEE0D4}"/>
              </a:ext>
            </a:extLst>
          </p:cNvPr>
          <p:cNvSpPr>
            <a:spLocks noGrp="1"/>
          </p:cNvSpPr>
          <p:nvPr>
            <p:ph idx="1"/>
          </p:nvPr>
        </p:nvSpPr>
        <p:spPr/>
        <p:txBody>
          <a:bodyPr/>
          <a:lstStyle/>
          <a:p>
            <a:r>
              <a:rPr lang="en-US" dirty="0"/>
              <a:t>Lots of different reasons.</a:t>
            </a:r>
          </a:p>
          <a:p>
            <a:endParaRPr lang="en-US" dirty="0"/>
          </a:p>
          <a:p>
            <a:r>
              <a:rPr lang="en-US" dirty="0"/>
              <a:t>Now you resumes; find a new job. People panic to update their jobs; they get desperate to networking and reaching out. </a:t>
            </a:r>
          </a:p>
          <a:p>
            <a:endParaRPr lang="en-US" dirty="0"/>
          </a:p>
          <a:p>
            <a:r>
              <a:rPr lang="en-US" dirty="0"/>
              <a:t>If you were always applying/jobs; then you wouldn’t be in this panic.</a:t>
            </a:r>
          </a:p>
          <a:p>
            <a:endParaRPr lang="en-US" dirty="0"/>
          </a:p>
          <a:p>
            <a:r>
              <a:rPr lang="en-US" dirty="0"/>
              <a:t>You don’t need 50 jobs; you need one good job. </a:t>
            </a:r>
          </a:p>
        </p:txBody>
      </p:sp>
    </p:spTree>
    <p:extLst>
      <p:ext uri="{BB962C8B-B14F-4D97-AF65-F5344CB8AC3E}">
        <p14:creationId xmlns:p14="http://schemas.microsoft.com/office/powerpoint/2010/main" val="1005020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04E6A-66E8-725C-C6F3-1682FFFD3E2A}"/>
              </a:ext>
            </a:extLst>
          </p:cNvPr>
          <p:cNvSpPr>
            <a:spLocks noGrp="1"/>
          </p:cNvSpPr>
          <p:nvPr>
            <p:ph type="title"/>
          </p:nvPr>
        </p:nvSpPr>
        <p:spPr/>
        <p:txBody>
          <a:bodyPr/>
          <a:lstStyle/>
          <a:p>
            <a:r>
              <a:rPr lang="en-US" dirty="0"/>
              <a:t>If you feel out that you need to make a move. </a:t>
            </a:r>
          </a:p>
        </p:txBody>
      </p:sp>
      <p:sp>
        <p:nvSpPr>
          <p:cNvPr id="3" name="Content Placeholder 2">
            <a:extLst>
              <a:ext uri="{FF2B5EF4-FFF2-40B4-BE49-F238E27FC236}">
                <a16:creationId xmlns:a16="http://schemas.microsoft.com/office/drawing/2014/main" id="{8D3C8607-E843-0C04-3569-DD3D77D39F09}"/>
              </a:ext>
            </a:extLst>
          </p:cNvPr>
          <p:cNvSpPr>
            <a:spLocks noGrp="1"/>
          </p:cNvSpPr>
          <p:nvPr>
            <p:ph idx="1"/>
          </p:nvPr>
        </p:nvSpPr>
        <p:spPr/>
        <p:txBody>
          <a:bodyPr/>
          <a:lstStyle/>
          <a:p>
            <a:r>
              <a:rPr lang="en-US" dirty="0"/>
              <a:t>Resume needs to be updated ready to role. Think about this, with all the federal </a:t>
            </a:r>
            <a:r>
              <a:rPr lang="en-US" dirty="0" err="1"/>
              <a:t>rif’s</a:t>
            </a:r>
            <a:r>
              <a:rPr lang="en-US" dirty="0"/>
              <a:t> going on do you not think I don’t have my resume ready and am not already applying? </a:t>
            </a:r>
          </a:p>
          <a:p>
            <a:endParaRPr lang="en-US" dirty="0"/>
          </a:p>
          <a:p>
            <a:endParaRPr lang="en-US" dirty="0"/>
          </a:p>
        </p:txBody>
      </p:sp>
    </p:spTree>
    <p:extLst>
      <p:ext uri="{BB962C8B-B14F-4D97-AF65-F5344CB8AC3E}">
        <p14:creationId xmlns:p14="http://schemas.microsoft.com/office/powerpoint/2010/main" val="1822677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9892F-3C6A-96D9-7E0D-DF5D57B9F740}"/>
              </a:ext>
            </a:extLst>
          </p:cNvPr>
          <p:cNvSpPr>
            <a:spLocks noGrp="1"/>
          </p:cNvSpPr>
          <p:nvPr>
            <p:ph type="title"/>
          </p:nvPr>
        </p:nvSpPr>
        <p:spPr/>
        <p:txBody>
          <a:bodyPr/>
          <a:lstStyle/>
          <a:p>
            <a:r>
              <a:rPr lang="en-US" dirty="0"/>
              <a:t>Inefficient market</a:t>
            </a:r>
          </a:p>
        </p:txBody>
      </p:sp>
      <p:sp>
        <p:nvSpPr>
          <p:cNvPr id="3" name="Content Placeholder 2">
            <a:extLst>
              <a:ext uri="{FF2B5EF4-FFF2-40B4-BE49-F238E27FC236}">
                <a16:creationId xmlns:a16="http://schemas.microsoft.com/office/drawing/2014/main" id="{DD6CE34C-5798-C90E-4AEB-45C0F872EBEC}"/>
              </a:ext>
            </a:extLst>
          </p:cNvPr>
          <p:cNvSpPr>
            <a:spLocks noGrp="1"/>
          </p:cNvSpPr>
          <p:nvPr>
            <p:ph idx="1"/>
          </p:nvPr>
        </p:nvSpPr>
        <p:spPr/>
        <p:txBody>
          <a:bodyPr/>
          <a:lstStyle/>
          <a:p>
            <a:r>
              <a:rPr lang="en-US" dirty="0"/>
              <a:t>It takes a while to find a good paying job. </a:t>
            </a:r>
          </a:p>
          <a:p>
            <a:endParaRPr lang="en-US" dirty="0"/>
          </a:p>
          <a:p>
            <a:r>
              <a:rPr lang="en-US" dirty="0"/>
              <a:t>When I apply for a job, I usually apply for a job that would probably not be open for the next 5 years. Think director, provost, president, etc. </a:t>
            </a:r>
          </a:p>
          <a:p>
            <a:endParaRPr lang="en-US" dirty="0"/>
          </a:p>
          <a:p>
            <a:r>
              <a:rPr lang="en-US" dirty="0"/>
              <a:t>So, if I apply and don’t get it, no one really is going to remember my name, if they think I am applying too soon. </a:t>
            </a:r>
          </a:p>
        </p:txBody>
      </p:sp>
    </p:spTree>
    <p:extLst>
      <p:ext uri="{BB962C8B-B14F-4D97-AF65-F5344CB8AC3E}">
        <p14:creationId xmlns:p14="http://schemas.microsoft.com/office/powerpoint/2010/main" val="2556553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8615F-28AE-7A42-2EA0-271F59876B5A}"/>
              </a:ext>
            </a:extLst>
          </p:cNvPr>
          <p:cNvSpPr>
            <a:spLocks noGrp="1"/>
          </p:cNvSpPr>
          <p:nvPr>
            <p:ph type="title"/>
          </p:nvPr>
        </p:nvSpPr>
        <p:spPr/>
        <p:txBody>
          <a:bodyPr/>
          <a:lstStyle/>
          <a:p>
            <a:r>
              <a:rPr lang="en-US" dirty="0"/>
              <a:t>Takes a </a:t>
            </a:r>
            <a:r>
              <a:rPr lang="en-US" dirty="0" err="1"/>
              <a:t>looooong</a:t>
            </a:r>
            <a:r>
              <a:rPr lang="en-US" dirty="0"/>
              <a:t> time to find a good job. </a:t>
            </a:r>
          </a:p>
        </p:txBody>
      </p:sp>
      <p:sp>
        <p:nvSpPr>
          <p:cNvPr id="3" name="Content Placeholder 2">
            <a:extLst>
              <a:ext uri="{FF2B5EF4-FFF2-40B4-BE49-F238E27FC236}">
                <a16:creationId xmlns:a16="http://schemas.microsoft.com/office/drawing/2014/main" id="{0099922A-D0D9-1D7D-EB67-3B841ED44E11}"/>
              </a:ext>
            </a:extLst>
          </p:cNvPr>
          <p:cNvSpPr>
            <a:spLocks noGrp="1"/>
          </p:cNvSpPr>
          <p:nvPr>
            <p:ph idx="1"/>
          </p:nvPr>
        </p:nvSpPr>
        <p:spPr/>
        <p:txBody>
          <a:bodyPr>
            <a:normAutofit fontScale="92500" lnSpcReduction="20000"/>
          </a:bodyPr>
          <a:lstStyle/>
          <a:p>
            <a:r>
              <a:rPr lang="en-US" dirty="0"/>
              <a:t>Don’t be caught in a reorg, and don’t think it can’t happen to you. When you get too comfortable that is when the possible event could happen.</a:t>
            </a:r>
          </a:p>
          <a:p>
            <a:endParaRPr lang="en-US" dirty="0"/>
          </a:p>
          <a:p>
            <a:r>
              <a:rPr lang="en-US" dirty="0"/>
              <a:t>If you are the right person they will wait. Look at my current job, I accepted the job in August, and told them I couldn’t be their until December. Don’t have this conversation until after you are offered the job. </a:t>
            </a:r>
          </a:p>
          <a:p>
            <a:endParaRPr lang="en-US" dirty="0"/>
          </a:p>
          <a:p>
            <a:r>
              <a:rPr lang="en-US" dirty="0"/>
              <a:t>The higher up you go, the longer it takes. Even though you could just be an IC, it still can take a long time to find a new opportunity. If a recruiter reaches out to you, and you currently have a job and it is just a friendly conversation just have a friendly conversation back.</a:t>
            </a:r>
          </a:p>
        </p:txBody>
      </p:sp>
    </p:spTree>
    <p:extLst>
      <p:ext uri="{BB962C8B-B14F-4D97-AF65-F5344CB8AC3E}">
        <p14:creationId xmlns:p14="http://schemas.microsoft.com/office/powerpoint/2010/main" val="3783181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64359-A696-ADEC-5B15-1C87D31014E2}"/>
              </a:ext>
            </a:extLst>
          </p:cNvPr>
          <p:cNvSpPr>
            <a:spLocks noGrp="1"/>
          </p:cNvSpPr>
          <p:nvPr>
            <p:ph type="title"/>
          </p:nvPr>
        </p:nvSpPr>
        <p:spPr/>
        <p:txBody>
          <a:bodyPr/>
          <a:lstStyle/>
          <a:p>
            <a:r>
              <a:rPr lang="en-US" dirty="0"/>
              <a:t>Companies do the same thing</a:t>
            </a:r>
          </a:p>
        </p:txBody>
      </p:sp>
      <p:sp>
        <p:nvSpPr>
          <p:cNvPr id="3" name="Content Placeholder 2">
            <a:extLst>
              <a:ext uri="{FF2B5EF4-FFF2-40B4-BE49-F238E27FC236}">
                <a16:creationId xmlns:a16="http://schemas.microsoft.com/office/drawing/2014/main" id="{7E43E476-55D0-0D7A-C72C-5E302B33295F}"/>
              </a:ext>
            </a:extLst>
          </p:cNvPr>
          <p:cNvSpPr>
            <a:spLocks noGrp="1"/>
          </p:cNvSpPr>
          <p:nvPr>
            <p:ph idx="1"/>
          </p:nvPr>
        </p:nvSpPr>
        <p:spPr/>
        <p:txBody>
          <a:bodyPr>
            <a:normAutofit fontScale="92500"/>
          </a:bodyPr>
          <a:lstStyle/>
          <a:p>
            <a:r>
              <a:rPr lang="en-US" dirty="0"/>
              <a:t>What do you think ghost positions are?</a:t>
            </a:r>
          </a:p>
          <a:p>
            <a:endParaRPr lang="en-US" dirty="0"/>
          </a:p>
          <a:p>
            <a:r>
              <a:rPr lang="en-US" dirty="0"/>
              <a:t>Ghost positions still cost a lot of money on advertising, usually they are real jobs. If they find the right candidate they will hire that person. If they wait until Bob is ready to retire they will be scrambling themselves. </a:t>
            </a:r>
          </a:p>
          <a:p>
            <a:endParaRPr lang="en-US" dirty="0"/>
          </a:p>
          <a:p>
            <a:r>
              <a:rPr lang="en-US" dirty="0"/>
              <a:t>Reach out to recruiters. Usually the recruiter will be happy to connect with you and have that friendly conversation. Recruiters get 20-30 percent of your first years salary if they close the deal. Maybe you want to be a recruiter?</a:t>
            </a:r>
          </a:p>
        </p:txBody>
      </p:sp>
    </p:spTree>
    <p:extLst>
      <p:ext uri="{BB962C8B-B14F-4D97-AF65-F5344CB8AC3E}">
        <p14:creationId xmlns:p14="http://schemas.microsoft.com/office/powerpoint/2010/main" val="4269238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6E18-305F-818F-4F54-9068AF3130BD}"/>
              </a:ext>
            </a:extLst>
          </p:cNvPr>
          <p:cNvSpPr>
            <a:spLocks noGrp="1"/>
          </p:cNvSpPr>
          <p:nvPr>
            <p:ph type="title"/>
          </p:nvPr>
        </p:nvSpPr>
        <p:spPr/>
        <p:txBody>
          <a:bodyPr/>
          <a:lstStyle/>
          <a:p>
            <a:r>
              <a:rPr lang="en-US" dirty="0"/>
              <a:t>Be intentional with your job search</a:t>
            </a:r>
          </a:p>
        </p:txBody>
      </p:sp>
      <p:sp>
        <p:nvSpPr>
          <p:cNvPr id="3" name="Content Placeholder 2">
            <a:extLst>
              <a:ext uri="{FF2B5EF4-FFF2-40B4-BE49-F238E27FC236}">
                <a16:creationId xmlns:a16="http://schemas.microsoft.com/office/drawing/2014/main" id="{D3AE3560-DBED-F554-0049-CA6F440A497C}"/>
              </a:ext>
            </a:extLst>
          </p:cNvPr>
          <p:cNvSpPr>
            <a:spLocks noGrp="1"/>
          </p:cNvSpPr>
          <p:nvPr>
            <p:ph idx="1"/>
          </p:nvPr>
        </p:nvSpPr>
        <p:spPr/>
        <p:txBody>
          <a:bodyPr>
            <a:normAutofit fontScale="92500" lnSpcReduction="10000"/>
          </a:bodyPr>
          <a:lstStyle/>
          <a:p>
            <a:r>
              <a:rPr lang="en-US" dirty="0"/>
              <a:t>When you get into a routine at work, its good but sometimes you start to develop blinders. What do I mean you may stop developing your skillset if the job doesn’t have a lot of opportunities.</a:t>
            </a:r>
          </a:p>
          <a:p>
            <a:endParaRPr lang="en-US" dirty="0"/>
          </a:p>
          <a:p>
            <a:r>
              <a:rPr lang="en-US" dirty="0"/>
              <a:t>Some jobs you will develop key skillsets such as advancing your knowledge, real life management skills- What is taught in a book isn’t always the way it goes. Think about dealing with people that may not have a college education. It doesn’t mean they are lesser human beings, but they could have had different values, or different life circumstances. I manage many people that do not have a college degree, that are very intelligent. Case in point the guys that work in the machine shop. </a:t>
            </a:r>
          </a:p>
        </p:txBody>
      </p:sp>
    </p:spTree>
    <p:extLst>
      <p:ext uri="{BB962C8B-B14F-4D97-AF65-F5344CB8AC3E}">
        <p14:creationId xmlns:p14="http://schemas.microsoft.com/office/powerpoint/2010/main" val="1912516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C2C48-B12F-BBD9-4B27-D04324135CE4}"/>
              </a:ext>
            </a:extLst>
          </p:cNvPr>
          <p:cNvSpPr>
            <a:spLocks noGrp="1"/>
          </p:cNvSpPr>
          <p:nvPr>
            <p:ph type="title"/>
          </p:nvPr>
        </p:nvSpPr>
        <p:spPr/>
        <p:txBody>
          <a:bodyPr/>
          <a:lstStyle/>
          <a:p>
            <a:r>
              <a:rPr lang="en-US" dirty="0"/>
              <a:t>Focus</a:t>
            </a:r>
          </a:p>
        </p:txBody>
      </p:sp>
      <p:sp>
        <p:nvSpPr>
          <p:cNvPr id="3" name="Content Placeholder 2">
            <a:extLst>
              <a:ext uri="{FF2B5EF4-FFF2-40B4-BE49-F238E27FC236}">
                <a16:creationId xmlns:a16="http://schemas.microsoft.com/office/drawing/2014/main" id="{0F682C87-9AE2-2040-FF80-8B3EA65DBE79}"/>
              </a:ext>
            </a:extLst>
          </p:cNvPr>
          <p:cNvSpPr>
            <a:spLocks noGrp="1"/>
          </p:cNvSpPr>
          <p:nvPr>
            <p:ph idx="1"/>
          </p:nvPr>
        </p:nvSpPr>
        <p:spPr/>
        <p:txBody>
          <a:bodyPr>
            <a:normAutofit fontScale="92500" lnSpcReduction="20000"/>
          </a:bodyPr>
          <a:lstStyle/>
          <a:p>
            <a:r>
              <a:rPr lang="en-US" dirty="0"/>
              <a:t>Focus, when planning your career. </a:t>
            </a:r>
          </a:p>
          <a:p>
            <a:endParaRPr lang="en-US" dirty="0"/>
          </a:p>
          <a:p>
            <a:r>
              <a:rPr lang="en-US" dirty="0"/>
              <a:t>Be intentional- when I was looking into going into management, even though I knew how to manage people I needed the credentials.</a:t>
            </a:r>
          </a:p>
          <a:p>
            <a:endParaRPr lang="en-US" dirty="0"/>
          </a:p>
          <a:p>
            <a:r>
              <a:rPr lang="en-US" dirty="0"/>
              <a:t>Are you happy with your current position or where do you see yourself in 5 years.</a:t>
            </a:r>
          </a:p>
          <a:p>
            <a:endParaRPr lang="en-US" dirty="0"/>
          </a:p>
          <a:p>
            <a:r>
              <a:rPr lang="en-US" dirty="0"/>
              <a:t>Think outside of the box. Don’t just sit in a chair and wait for time to go by. Yes, you may have just arrived to your new position but don’t get to complacent. Complacency can lead to less of a drive. </a:t>
            </a:r>
          </a:p>
        </p:txBody>
      </p:sp>
    </p:spTree>
    <p:extLst>
      <p:ext uri="{BB962C8B-B14F-4D97-AF65-F5344CB8AC3E}">
        <p14:creationId xmlns:p14="http://schemas.microsoft.com/office/powerpoint/2010/main" val="1029774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07D22-01E1-3A93-DC53-2299C8D717D5}"/>
              </a:ext>
            </a:extLst>
          </p:cNvPr>
          <p:cNvSpPr>
            <a:spLocks noGrp="1"/>
          </p:cNvSpPr>
          <p:nvPr>
            <p:ph type="title"/>
          </p:nvPr>
        </p:nvSpPr>
        <p:spPr/>
        <p:txBody>
          <a:bodyPr/>
          <a:lstStyle/>
          <a:p>
            <a:r>
              <a:rPr lang="en-US" dirty="0"/>
              <a:t>What if you have realized you are in the wrong career?</a:t>
            </a:r>
          </a:p>
        </p:txBody>
      </p:sp>
      <p:sp>
        <p:nvSpPr>
          <p:cNvPr id="3" name="Content Placeholder 2">
            <a:extLst>
              <a:ext uri="{FF2B5EF4-FFF2-40B4-BE49-F238E27FC236}">
                <a16:creationId xmlns:a16="http://schemas.microsoft.com/office/drawing/2014/main" id="{90E1842A-36A4-AEE2-8B10-B8A36FD166EB}"/>
              </a:ext>
            </a:extLst>
          </p:cNvPr>
          <p:cNvSpPr>
            <a:spLocks noGrp="1"/>
          </p:cNvSpPr>
          <p:nvPr>
            <p:ph idx="1"/>
          </p:nvPr>
        </p:nvSpPr>
        <p:spPr/>
        <p:txBody>
          <a:bodyPr>
            <a:normAutofit fontScale="70000" lnSpcReduction="20000"/>
          </a:bodyPr>
          <a:lstStyle/>
          <a:p>
            <a:r>
              <a:rPr lang="en-US" dirty="0"/>
              <a:t>I had this realization, when I was teaching chemistry. I knew I was in the wrong career. Honestly I was financially motivated because I wanted to be able to provide for my family better.</a:t>
            </a:r>
          </a:p>
          <a:p>
            <a:endParaRPr lang="en-US" dirty="0"/>
          </a:p>
          <a:p>
            <a:r>
              <a:rPr lang="en-US" dirty="0"/>
              <a:t>I was seeing people that didn’t have the credentials, maybe didn’t have to work as hard to get their degree, have more success financially.</a:t>
            </a:r>
          </a:p>
          <a:p>
            <a:endParaRPr lang="en-US" dirty="0"/>
          </a:p>
          <a:p>
            <a:r>
              <a:rPr lang="en-US" dirty="0"/>
              <a:t>No one taught me this while going through graduate school.</a:t>
            </a:r>
          </a:p>
          <a:p>
            <a:endParaRPr lang="en-US" dirty="0"/>
          </a:p>
          <a:p>
            <a:r>
              <a:rPr lang="en-US" dirty="0"/>
              <a:t>Even if you are majoring in business, if you really want to excel I have learned that you just have to keep going. If you make a decision, think about it but there is always risk involved.</a:t>
            </a:r>
          </a:p>
          <a:p>
            <a:endParaRPr lang="en-US" dirty="0"/>
          </a:p>
          <a:p>
            <a:r>
              <a:rPr lang="en-US" dirty="0"/>
              <a:t>This can set you back many, many, many years! I took what I had, I don’t deny I have a science background, but I have now gone into the more admin, managerial role. </a:t>
            </a:r>
          </a:p>
        </p:txBody>
      </p:sp>
    </p:spTree>
    <p:extLst>
      <p:ext uri="{BB962C8B-B14F-4D97-AF65-F5344CB8AC3E}">
        <p14:creationId xmlns:p14="http://schemas.microsoft.com/office/powerpoint/2010/main" val="2982990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74C97-0690-3EDF-2CBE-AA51BBFEA548}"/>
              </a:ext>
            </a:extLst>
          </p:cNvPr>
          <p:cNvSpPr>
            <a:spLocks noGrp="1"/>
          </p:cNvSpPr>
          <p:nvPr>
            <p:ph type="title"/>
          </p:nvPr>
        </p:nvSpPr>
        <p:spPr/>
        <p:txBody>
          <a:bodyPr/>
          <a:lstStyle/>
          <a:p>
            <a:r>
              <a:rPr lang="en-US" dirty="0" err="1"/>
              <a:t>Linkedin</a:t>
            </a:r>
            <a:r>
              <a:rPr lang="en-US" dirty="0"/>
              <a:t>	</a:t>
            </a:r>
          </a:p>
        </p:txBody>
      </p:sp>
      <p:sp>
        <p:nvSpPr>
          <p:cNvPr id="3" name="Content Placeholder 2">
            <a:extLst>
              <a:ext uri="{FF2B5EF4-FFF2-40B4-BE49-F238E27FC236}">
                <a16:creationId xmlns:a16="http://schemas.microsoft.com/office/drawing/2014/main" id="{E3EE43A0-48AD-8A1C-DFCF-ACE20E1636D2}"/>
              </a:ext>
            </a:extLst>
          </p:cNvPr>
          <p:cNvSpPr>
            <a:spLocks noGrp="1"/>
          </p:cNvSpPr>
          <p:nvPr>
            <p:ph idx="1"/>
          </p:nvPr>
        </p:nvSpPr>
        <p:spPr/>
        <p:txBody>
          <a:bodyPr/>
          <a:lstStyle/>
          <a:p>
            <a:r>
              <a:rPr lang="en-US" dirty="0"/>
              <a:t>There are options stating you are open for work, always be open for new opportunities.</a:t>
            </a:r>
          </a:p>
          <a:p>
            <a:endParaRPr lang="en-US" dirty="0"/>
          </a:p>
          <a:p>
            <a:r>
              <a:rPr lang="en-US" dirty="0"/>
              <a:t>You might find the right opportunity at the wrong time. It can take many months to go through the recruiting process.</a:t>
            </a:r>
          </a:p>
          <a:p>
            <a:endParaRPr lang="en-US" dirty="0"/>
          </a:p>
          <a:p>
            <a:r>
              <a:rPr lang="en-US" dirty="0"/>
              <a:t>Certain industries are small and word gets around you are looking for a job, but that could open up a conversation about why you are looking. </a:t>
            </a:r>
          </a:p>
        </p:txBody>
      </p:sp>
    </p:spTree>
    <p:extLst>
      <p:ext uri="{BB962C8B-B14F-4D97-AF65-F5344CB8AC3E}">
        <p14:creationId xmlns:p14="http://schemas.microsoft.com/office/powerpoint/2010/main" val="4069404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4ACF7-2F4F-9D79-68F7-5F055FB0445D}"/>
              </a:ext>
            </a:extLst>
          </p:cNvPr>
          <p:cNvSpPr>
            <a:spLocks noGrp="1"/>
          </p:cNvSpPr>
          <p:nvPr>
            <p:ph type="title"/>
          </p:nvPr>
        </p:nvSpPr>
        <p:spPr/>
        <p:txBody>
          <a:bodyPr/>
          <a:lstStyle/>
          <a:p>
            <a:r>
              <a:rPr lang="en-US" dirty="0"/>
              <a:t>It shows you what you are worth</a:t>
            </a:r>
          </a:p>
        </p:txBody>
      </p:sp>
      <p:sp>
        <p:nvSpPr>
          <p:cNvPr id="3" name="Content Placeholder 2">
            <a:extLst>
              <a:ext uri="{FF2B5EF4-FFF2-40B4-BE49-F238E27FC236}">
                <a16:creationId xmlns:a16="http://schemas.microsoft.com/office/drawing/2014/main" id="{885DD539-F133-07D1-6156-988B53E2329D}"/>
              </a:ext>
            </a:extLst>
          </p:cNvPr>
          <p:cNvSpPr>
            <a:spLocks noGrp="1"/>
          </p:cNvSpPr>
          <p:nvPr>
            <p:ph idx="1"/>
          </p:nvPr>
        </p:nvSpPr>
        <p:spPr/>
        <p:txBody>
          <a:bodyPr/>
          <a:lstStyle/>
          <a:p>
            <a:r>
              <a:rPr lang="en-US" dirty="0"/>
              <a:t>Maybe you are being underpaid.</a:t>
            </a:r>
          </a:p>
          <a:p>
            <a:endParaRPr lang="en-US" dirty="0"/>
          </a:p>
          <a:p>
            <a:r>
              <a:rPr lang="en-US" dirty="0"/>
              <a:t>Maybe you are at the top of the pay scale.</a:t>
            </a:r>
          </a:p>
          <a:p>
            <a:endParaRPr lang="en-US" dirty="0"/>
          </a:p>
          <a:p>
            <a:r>
              <a:rPr lang="en-US" dirty="0"/>
              <a:t>By applying you get to find out your market value!</a:t>
            </a:r>
          </a:p>
          <a:p>
            <a:endParaRPr lang="en-US" dirty="0"/>
          </a:p>
          <a:p>
            <a:r>
              <a:rPr lang="en-US" dirty="0"/>
              <a:t>If you think you are underpaid, what do you think you should be doing?</a:t>
            </a:r>
          </a:p>
        </p:txBody>
      </p:sp>
    </p:spTree>
    <p:extLst>
      <p:ext uri="{BB962C8B-B14F-4D97-AF65-F5344CB8AC3E}">
        <p14:creationId xmlns:p14="http://schemas.microsoft.com/office/powerpoint/2010/main" val="1526794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9B105-1743-991A-8280-CE1F8600487C}"/>
              </a:ext>
            </a:extLst>
          </p:cNvPr>
          <p:cNvSpPr>
            <a:spLocks noGrp="1"/>
          </p:cNvSpPr>
          <p:nvPr>
            <p:ph type="title"/>
          </p:nvPr>
        </p:nvSpPr>
        <p:spPr/>
        <p:txBody>
          <a:bodyPr/>
          <a:lstStyle/>
          <a:p>
            <a:r>
              <a:rPr lang="en-US" dirty="0"/>
              <a:t>Be open to a different type of organization</a:t>
            </a:r>
          </a:p>
        </p:txBody>
      </p:sp>
      <p:sp>
        <p:nvSpPr>
          <p:cNvPr id="3" name="Content Placeholder 2">
            <a:extLst>
              <a:ext uri="{FF2B5EF4-FFF2-40B4-BE49-F238E27FC236}">
                <a16:creationId xmlns:a16="http://schemas.microsoft.com/office/drawing/2014/main" id="{12DD152E-7D2D-A969-CD58-C2681E126350}"/>
              </a:ext>
            </a:extLst>
          </p:cNvPr>
          <p:cNvSpPr>
            <a:spLocks noGrp="1"/>
          </p:cNvSpPr>
          <p:nvPr>
            <p:ph idx="1"/>
          </p:nvPr>
        </p:nvSpPr>
        <p:spPr/>
        <p:txBody>
          <a:bodyPr/>
          <a:lstStyle/>
          <a:p>
            <a:r>
              <a:rPr lang="en-US" dirty="0"/>
              <a:t>I went from a chemistry department</a:t>
            </a:r>
          </a:p>
          <a:p>
            <a:endParaRPr lang="en-US" dirty="0"/>
          </a:p>
          <a:p>
            <a:r>
              <a:rPr lang="en-US" dirty="0"/>
              <a:t>To a human nutrition research department.</a:t>
            </a:r>
          </a:p>
          <a:p>
            <a:endParaRPr lang="en-US" dirty="0"/>
          </a:p>
          <a:p>
            <a:r>
              <a:rPr lang="en-US" dirty="0"/>
              <a:t>To managing all operations including, a warehouse, and a hydraulics lab.</a:t>
            </a:r>
          </a:p>
          <a:p>
            <a:endParaRPr lang="en-US" dirty="0"/>
          </a:p>
          <a:p>
            <a:r>
              <a:rPr lang="en-US" dirty="0"/>
              <a:t>You don’t have to be an expert in the particular field you are managing, you just need to be able to hire the right people. </a:t>
            </a:r>
          </a:p>
        </p:txBody>
      </p:sp>
    </p:spTree>
    <p:extLst>
      <p:ext uri="{BB962C8B-B14F-4D97-AF65-F5344CB8AC3E}">
        <p14:creationId xmlns:p14="http://schemas.microsoft.com/office/powerpoint/2010/main" val="2750009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16F1A-724C-4CEC-395C-8168584D1346}"/>
              </a:ext>
            </a:extLst>
          </p:cNvPr>
          <p:cNvSpPr>
            <a:spLocks noGrp="1"/>
          </p:cNvSpPr>
          <p:nvPr>
            <p:ph type="title"/>
          </p:nvPr>
        </p:nvSpPr>
        <p:spPr/>
        <p:txBody>
          <a:bodyPr/>
          <a:lstStyle/>
          <a:p>
            <a:r>
              <a:rPr lang="en-US" dirty="0"/>
              <a:t>With that</a:t>
            </a:r>
          </a:p>
        </p:txBody>
      </p:sp>
      <p:sp>
        <p:nvSpPr>
          <p:cNvPr id="3" name="Content Placeholder 2">
            <a:extLst>
              <a:ext uri="{FF2B5EF4-FFF2-40B4-BE49-F238E27FC236}">
                <a16:creationId xmlns:a16="http://schemas.microsoft.com/office/drawing/2014/main" id="{7CA718B2-1A25-3627-F8BA-C65679D1831C}"/>
              </a:ext>
            </a:extLst>
          </p:cNvPr>
          <p:cNvSpPr>
            <a:spLocks noGrp="1"/>
          </p:cNvSpPr>
          <p:nvPr>
            <p:ph idx="1"/>
          </p:nvPr>
        </p:nvSpPr>
        <p:spPr/>
        <p:txBody>
          <a:bodyPr/>
          <a:lstStyle/>
          <a:p>
            <a:r>
              <a:rPr lang="en-US" dirty="0"/>
              <a:t>If you were in pharmaceutical sales.</a:t>
            </a:r>
          </a:p>
          <a:p>
            <a:endParaRPr lang="en-US" dirty="0"/>
          </a:p>
          <a:p>
            <a:r>
              <a:rPr lang="en-US" dirty="0"/>
              <a:t>Maybe you go into instrument sales.</a:t>
            </a:r>
          </a:p>
          <a:p>
            <a:endParaRPr lang="en-US" dirty="0"/>
          </a:p>
          <a:p>
            <a:r>
              <a:rPr lang="en-US" dirty="0"/>
              <a:t>Maybe you go into academics on the administrative side. </a:t>
            </a:r>
          </a:p>
        </p:txBody>
      </p:sp>
    </p:spTree>
    <p:extLst>
      <p:ext uri="{BB962C8B-B14F-4D97-AF65-F5344CB8AC3E}">
        <p14:creationId xmlns:p14="http://schemas.microsoft.com/office/powerpoint/2010/main" val="367298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C017A-1D00-5E4B-F330-FCF7A2F1D977}"/>
              </a:ext>
            </a:extLst>
          </p:cNvPr>
          <p:cNvSpPr>
            <a:spLocks noGrp="1"/>
          </p:cNvSpPr>
          <p:nvPr>
            <p:ph type="title"/>
          </p:nvPr>
        </p:nvSpPr>
        <p:spPr/>
        <p:txBody>
          <a:bodyPr/>
          <a:lstStyle/>
          <a:p>
            <a:r>
              <a:rPr lang="en-US" dirty="0"/>
              <a:t>Case example. </a:t>
            </a:r>
          </a:p>
        </p:txBody>
      </p:sp>
      <p:sp>
        <p:nvSpPr>
          <p:cNvPr id="3" name="Content Placeholder 2">
            <a:extLst>
              <a:ext uri="{FF2B5EF4-FFF2-40B4-BE49-F238E27FC236}">
                <a16:creationId xmlns:a16="http://schemas.microsoft.com/office/drawing/2014/main" id="{F3485535-1DA1-9E59-A77C-7A510626D939}"/>
              </a:ext>
            </a:extLst>
          </p:cNvPr>
          <p:cNvSpPr>
            <a:spLocks noGrp="1"/>
          </p:cNvSpPr>
          <p:nvPr>
            <p:ph idx="1"/>
          </p:nvPr>
        </p:nvSpPr>
        <p:spPr/>
        <p:txBody>
          <a:bodyPr>
            <a:normAutofit fontScale="92500" lnSpcReduction="10000"/>
          </a:bodyPr>
          <a:lstStyle/>
          <a:p>
            <a:r>
              <a:rPr lang="en-US" dirty="0"/>
              <a:t>I knew a guy who was employed by a very good company, he was with this company for 8 years. Everything was going well, he was being promoted treated well, etc. </a:t>
            </a:r>
          </a:p>
          <a:p>
            <a:endParaRPr lang="en-US" dirty="0"/>
          </a:p>
          <a:p>
            <a:r>
              <a:rPr lang="en-US" dirty="0"/>
              <a:t>All of a sudden he gets a new manager, and issues develop. During this process he was downgraded from a manager to an IC.</a:t>
            </a:r>
          </a:p>
          <a:p>
            <a:endParaRPr lang="en-US" dirty="0"/>
          </a:p>
          <a:p>
            <a:r>
              <a:rPr lang="en-US" dirty="0"/>
              <a:t>Before he encountered this new manager he had a recruiter reach out from a different company, he wasn’t quite ready, however now he was. He decided to go with the new company, increased his salary by 50 percent and was happier with his work life balance of being remote.</a:t>
            </a:r>
          </a:p>
        </p:txBody>
      </p:sp>
    </p:spTree>
    <p:extLst>
      <p:ext uri="{BB962C8B-B14F-4D97-AF65-F5344CB8AC3E}">
        <p14:creationId xmlns:p14="http://schemas.microsoft.com/office/powerpoint/2010/main" val="1486128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2015</TotalTime>
  <Words>1339</Words>
  <Application>Microsoft Office PowerPoint</Application>
  <PresentationFormat>Widescreen</PresentationFormat>
  <Paragraphs>109</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Aptos Display</vt:lpstr>
      <vt:lpstr>Arial</vt:lpstr>
      <vt:lpstr>Office Theme</vt:lpstr>
      <vt:lpstr>Always Be Applying!</vt:lpstr>
      <vt:lpstr>First off, it could sound weird</vt:lpstr>
      <vt:lpstr>What does this mean</vt:lpstr>
      <vt:lpstr>How to strategically apply</vt:lpstr>
      <vt:lpstr>What should you be doing</vt:lpstr>
      <vt:lpstr>Don’t get surprised </vt:lpstr>
      <vt:lpstr>Something happens</vt:lpstr>
      <vt:lpstr>If you feel out that you need to make a move. </vt:lpstr>
      <vt:lpstr>Inefficient market</vt:lpstr>
      <vt:lpstr>Takes a looooong time to find a good job. </vt:lpstr>
      <vt:lpstr>Companies do the same thing</vt:lpstr>
      <vt:lpstr>Be intentional with your job search</vt:lpstr>
      <vt:lpstr>Focus</vt:lpstr>
      <vt:lpstr>What if you have realized you are in the wrong career?</vt:lpstr>
      <vt:lpstr>Linkedin </vt:lpstr>
      <vt:lpstr>It shows you what you are worth</vt:lpstr>
      <vt:lpstr>Be open to a different type of organization</vt:lpstr>
      <vt:lpstr>With that</vt:lpstr>
      <vt:lpstr>Case example.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Derek Bussan</dc:creator>
  <cp:lastModifiedBy>Derek Bussan</cp:lastModifiedBy>
  <cp:revision>13</cp:revision>
  <dcterms:created xsi:type="dcterms:W3CDTF">2025-03-25T13:54:56Z</dcterms:created>
  <dcterms:modified xsi:type="dcterms:W3CDTF">2025-03-26T23:29:59Z</dcterms:modified>
</cp:coreProperties>
</file>