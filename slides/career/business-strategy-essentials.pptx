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lecture built from what the instructor studied in HBS Online's Business Strategy course (Prof. Felix Oberholzer-Gee). Concepts credited; every slide's text is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this is the instructor's synthesis, not Harvard's materials. The final slide sends students to the primary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Attribution slide. Oberholzer-Gee's book is the backbone of the HBS Online course; recommend it as the single best follow-up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1: WTP, WTS, and value creation.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value stick: draw it vertically on the board — WTP on top, WTS on the bottom. Firms compete on the size of the wedge they create, not just the price they charge.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Lowering WTS is NOT squeezing people — it's making the relationship more valuable so both sides win. That distinction is the ethical heart of the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to course content: the same discipline as purpose-first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2: customer side of the stick.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Near-customers question for the class: name a product you almost buy. What one change would convert you? That answer is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3: complements and platforms.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 example: the Epic Games v. Apple litigation was a complement relationship turned rivalrous — both made each other valuable, then fought over the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math light: the point is compounding value, tipping dynamics, and the underdog playbook.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4: WTS side — employees and suppliers.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strategy and this course fully merge: communication quality changes WTS. It's measurable strategy, not soft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5: execution and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Balanced Scorecard credited to Kaplan &amp; Norton (HBR, 1992). Execution failures are mostly communication failures — which is why this course matters to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 application to the course's market research and feasibility study assignments.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Recap; point to the new Chapter 17 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Genuine exposure to the HBS materials: send students to the primary, public sources rather than reproducing course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5 doubles as a writing exercise tying strategy to the course's persuasive writing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usiness Strategy Essentials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Business Strategy Essentials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PROFESSIONAL DEVELOPMENT · INSTRUCTOR'S NOTES FROM HARVARD BUSINESS SCHOOL ONLINE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Value-based strategy — where profit actually comes from, and why it matters to everyone who writes a proposal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Professional Development  ·  Original instructional material —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y a strategy lecture in a communication course?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Why a strategy lecture in a communication course?</a:t>
            </a:r>
          </a:p>
        </p:txBody>
      </p:sp>
      <p:sp>
        <p:nvSpPr>
          <p:cNvPr id="3" name="TextBox 2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Strategy is an argument.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strategy lives or dies by how clearly it can be explained — to employees, investors, and customers.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You will pitch ideas your whole career.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Understanding where value comes from turns 'I have an idea' into 'here is why this wins.'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 sharpens every proposal you write.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frameworks in this deck give you the vocabulary decision-makers already think in.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Your instructor studied this at HBS Online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and this deck shares the ideas that most changed how he evaluates plans — with pointers to the original sources at the 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core idea, in one sentenc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The core idea, in one sentence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“Great strategy is simpler than you think: create more value for customers, employees, and suppliers than your rivals do — and the profit follows.”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the central argument of value-based strategy, as developed in Felix Oberholzer-Gee's Better, Simpler Strategy (Harvard Business Review Press, 2021)</a:t>
            </a:r>
          </a:p>
        </p:txBody>
      </p:sp>
      <p:sp>
        <p:nvSpPr>
          <p:cNvPr id="5" name="TextBox 4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6" name="TextBox 5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value stick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value stick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One picture that explains where profit comes from.</a:t>
            </a:r>
          </a:p>
        </p:txBody>
      </p:sp>
      <p:sp>
        <p:nvSpPr>
          <p:cNvPr id="5" name="TextBox 4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6" name="TextBox 5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Four numbers that decide every busines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Four numbers that decide every business</a:t>
            </a:r>
          </a:p>
        </p:txBody>
      </p:sp>
      <p:sp>
        <p:nvSpPr>
          <p:cNvPr id="3" name="TextBox 2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4" name="TextBox 3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  <p:sp>
        <p:nvSpPr>
          <p:cNvPr id="5" name="Chevron 4" descr="Step 1: Willingness to pay (WTP)"/>
          <p:cNvSpPr/>
          <p:nvPr/>
        </p:nvSpPr>
        <p:spPr>
          <a:xfrm>
            <a:off x="548640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Willingness to pay (WTP)</a:t>
            </a:r>
          </a:p>
        </p:txBody>
      </p:sp>
      <p:sp>
        <p:nvSpPr>
          <p:cNvPr id="6" name="TextBox 5" descr="Willingness to pay (WTP) detail"/>
          <p:cNvSpPr txBox="1"/>
          <p:nvPr/>
        </p:nvSpPr>
        <p:spPr>
          <a:xfrm>
            <a:off x="548640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MOST a customer would ever pay for your product. Delight raises it.</a:t>
            </a:r>
          </a:p>
        </p:txBody>
      </p:sp>
      <p:sp>
        <p:nvSpPr>
          <p:cNvPr id="7" name="Chevron 6" descr="Step 2: Price"/>
          <p:cNvSpPr/>
          <p:nvPr/>
        </p:nvSpPr>
        <p:spPr>
          <a:xfrm>
            <a:off x="3364992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Price</a:t>
            </a:r>
          </a:p>
        </p:txBody>
      </p:sp>
      <p:sp>
        <p:nvSpPr>
          <p:cNvPr id="8" name="TextBox 7" descr="Price detail"/>
          <p:cNvSpPr txBox="1"/>
          <p:nvPr/>
        </p:nvSpPr>
        <p:spPr>
          <a:xfrm>
            <a:off x="3364992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 you actually charge. The gap below WTP is the customer's happy surplus.</a:t>
            </a:r>
          </a:p>
        </p:txBody>
      </p:sp>
      <p:sp>
        <p:nvSpPr>
          <p:cNvPr id="9" name="Chevron 8" descr="Step 3: Cost"/>
          <p:cNvSpPr/>
          <p:nvPr/>
        </p:nvSpPr>
        <p:spPr>
          <a:xfrm>
            <a:off x="6181344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0" name="TextBox 9" descr="Cost detail"/>
          <p:cNvSpPr txBox="1"/>
          <p:nvPr/>
        </p:nvSpPr>
        <p:spPr>
          <a:xfrm>
            <a:off x="6181344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 you pay for labor and inputs. The gap above WTS is your suppliers' and employees' surplus.</a:t>
            </a:r>
          </a:p>
        </p:txBody>
      </p:sp>
      <p:sp>
        <p:nvSpPr>
          <p:cNvPr id="11" name="Chevron 10" descr="Step 4: Willingness to sell (WTS)"/>
          <p:cNvSpPr/>
          <p:nvPr/>
        </p:nvSpPr>
        <p:spPr>
          <a:xfrm>
            <a:off x="8997696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Willingness to sell (WTS)</a:t>
            </a:r>
          </a:p>
        </p:txBody>
      </p:sp>
      <p:sp>
        <p:nvSpPr>
          <p:cNvPr id="12" name="TextBox 11" descr="Willingness to sell (WTS) detail"/>
          <p:cNvSpPr txBox="1"/>
          <p:nvPr/>
        </p:nvSpPr>
        <p:spPr>
          <a:xfrm>
            <a:off x="8997696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LEAST employees and suppliers would accept. Better jobs and partnerships lower it.</a:t>
            </a:r>
          </a:p>
        </p:txBody>
      </p:sp>
      <p:sp>
        <p:nvSpPr>
          <p:cNvPr id="13" name="Rounded Rectangle 12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Total value created = WTP minus WTS. Strategy has exactly two jobs: raise WTP or lower WTS. Everything else is decoration.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aising WTP vs. lowering WTS — the only two mov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Raising WTP vs. lowering WTS — the only two moves</a:t>
            </a:r>
          </a:p>
        </p:txBody>
      </p:sp>
      <p:sp>
        <p:nvSpPr>
          <p:cNvPr id="3" name="TextBox 2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4" name="TextBox 3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 descr="Raise willingness to pay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Raise willingness to pay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Make the product genuinely better or more delightful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Make it easier to buy, use, and love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Add complements that make it more valuable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Example: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 phone gets more valuable with every great app</a:t>
            </a:r>
          </a:p>
        </p:txBody>
      </p:sp>
      <p:sp>
        <p:nvSpPr>
          <p:cNvPr id="6" name="Rounded Rectangle 5" descr="Lower willingness to sell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Lower willingness to sell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Make jobs better so great people accept fair pay — passion, flexibility, respect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Make suppliers more productive so they can charge you less profitably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Share data, training, and forecasts with partners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Example: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 stable schedule is worth real money to an hourly worker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simplicity tes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simplicity test</a:t>
            </a:r>
          </a:p>
        </p:txBody>
      </p:sp>
      <p:sp>
        <p:nvSpPr>
          <p:cNvPr id="3" name="TextBox 2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4" name="TextBox 3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Strategy fails by addition.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Ten initiatives, three visions, dashboards nobody reads — complexity is where strategies go to die.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one-question filter: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does this initiative raise customers' willingness to pay, or lower willingness to sell? If neither — why are we doing it?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Communicators take note: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if you cannot state a plan's value logic in one sentence, the plan probably doesn't have one.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This is your Chapter 2 lesson at company scale: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purpose first, audience benefit first, everything else after.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ustomer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Customers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Delight, near-customers, and learning what people actually value.</a:t>
            </a:r>
          </a:p>
        </p:txBody>
      </p:sp>
      <p:sp>
        <p:nvSpPr>
          <p:cNvPr id="5" name="TextBox 4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6" name="TextBox 5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Finding room to raise WTP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Finding room to raise WTP</a:t>
            </a:r>
          </a:p>
        </p:txBody>
      </p:sp>
      <p:sp>
        <p:nvSpPr>
          <p:cNvPr id="3" name="TextBox 2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4" name="TextBox 3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  <p:sp>
        <p:nvSpPr>
          <p:cNvPr id="5" name="Oval 4" descr="Create delight, not just satisfaction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6" name="TextBox 5" descr="Create delight, not just satisfaction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Create delight, not just satisfaction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Satisfied customers shop around; delighted ones stay and recruit. Ask what would make someone cheer.</a:t>
            </a:r>
          </a:p>
        </p:txBody>
      </p:sp>
      <p:sp>
        <p:nvSpPr>
          <p:cNvPr id="7" name="Oval 6" descr="Hunt the near-customers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◔</a:t>
            </a:r>
          </a:p>
        </p:txBody>
      </p:sp>
      <p:sp>
        <p:nvSpPr>
          <p:cNvPr id="8" name="TextBox 7" descr="Hunt the near-customers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Hunt the near-customers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People who ALMOST buy from you — the growth hiding in plain sight. One removed obstacle can unlock a whole segment.</a:t>
            </a:r>
          </a:p>
        </p:txBody>
      </p:sp>
      <p:sp>
        <p:nvSpPr>
          <p:cNvPr id="9" name="Oval 8" descr="Measure real trade-offs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⚖</a:t>
            </a:r>
          </a:p>
        </p:txBody>
      </p:sp>
      <p:sp>
        <p:nvSpPr>
          <p:cNvPr id="10" name="TextBox 9" descr="Measure real trade-offs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Measure real trade-offs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Don't ask 'do you like it?' — force choices. Techniques like conjoint analysis reveal what people actually pay for versus what they say they value.</a:t>
            </a:r>
          </a:p>
        </p:txBody>
      </p:sp>
      <p:sp>
        <p:nvSpPr>
          <p:cNvPr id="11" name="Oval 10" descr="Cut what customers don't value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✂</a:t>
            </a:r>
          </a:p>
        </p:txBody>
      </p:sp>
      <p:sp>
        <p:nvSpPr>
          <p:cNvPr id="12" name="TextBox 11" descr="Cut what customers don't value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Cut what customers don't value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Every feature costs something; features nobody pays for are pure WTS with no WTP.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omplements &amp; network effect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Complements &amp; network effects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Why some products get stronger as the world around them grows.</a:t>
            </a:r>
          </a:p>
        </p:txBody>
      </p:sp>
      <p:sp>
        <p:nvSpPr>
          <p:cNvPr id="5" name="TextBox 4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6" name="TextBox 5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omplements: the helpers that raise your valu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Complements: the helpers that raise your value</a:t>
            </a:r>
          </a:p>
        </p:txBody>
      </p:sp>
      <p:sp>
        <p:nvSpPr>
          <p:cNvPr id="3" name="TextBox 2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4" name="TextBox 3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 descr="How complements work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How complements work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 complement is a different product that raises YOUR product's WTP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Cheaper, better complements = more valuable core product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Apps make phones worth more; chargers make EVs practical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Smart firms invest in their complements' success</a:t>
            </a:r>
          </a:p>
        </p:txBody>
      </p:sp>
      <p:sp>
        <p:nvSpPr>
          <p:cNvPr id="6" name="Rounded Rectangle 5" descr="Friend or foe?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Friend or foe?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Today's complementor can become tomorrow's competitor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Platform disputes (like app stores vs. developers) are fights over who captures the value both create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Watch who controls the customer relationship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Lesson: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map who makes you valuable — and who could replace you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Network effects and tipping point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Network effects and tipping points</a:t>
            </a:r>
          </a:p>
        </p:txBody>
      </p:sp>
      <p:sp>
        <p:nvSpPr>
          <p:cNvPr id="3" name="TextBox 2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n²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In network businesses, each new user makes the product more valuable for every other user — growth compounds.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Tipping: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past a critical mass, markets can tip toward one winner — being early and dense beats being slightly better.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But networks aren't destiny: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underdogs win by serving niches deeply, differentiating, or building local density the giant ignores.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Career note: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your professional network works the same way — every genuine connection raises the value of the rest.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eople — the other half of the stick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People — the other half of the stick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Value for employees and suppliers is strategy, not charity.</a:t>
            </a:r>
          </a:p>
        </p:txBody>
      </p:sp>
      <p:sp>
        <p:nvSpPr>
          <p:cNvPr id="5" name="TextBox 4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6" name="TextBox 5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Value for employees: 'feeling heard' is a strateg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Value for employees: 'feeling heard' is a strategy</a:t>
            </a:r>
          </a:p>
        </p:txBody>
      </p:sp>
      <p:sp>
        <p:nvSpPr>
          <p:cNvPr id="3" name="TextBox 2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4" name="TextBox 3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People accept better jobs for less pay.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Flexibility, respect, growth, and being heard all lower WTS — honestly.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Listening is a profit lever.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Employees who feel heard stay longer, work better, and tell you the truth early — every one of those shows up in cost.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communication tie-in is direct: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Chapter 1's listening skills and Chapter 16's leadership habits are literally value-creating activities.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Same logic for suppliers: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train them, share forecasts, pay promptly — a more productive partner can serve you better for less.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Execution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Execution</a:t>
            </a:r>
          </a:p>
        </p:txBody>
      </p:sp>
      <p:sp>
        <p:nvSpPr>
          <p:cNvPr id="3" name="TextBox 2" descr="Section number 05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05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A strategy nobody understands is a strategy that doesn't exist.</a:t>
            </a:r>
          </a:p>
        </p:txBody>
      </p:sp>
      <p:sp>
        <p:nvSpPr>
          <p:cNvPr id="5" name="TextBox 4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6" name="TextBox 5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From idea to action: making strategy visibl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From idea to action: making strategy visible</a:t>
            </a:r>
          </a:p>
        </p:txBody>
      </p:sp>
      <p:sp>
        <p:nvSpPr>
          <p:cNvPr id="3" name="TextBox 2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4" name="TextBox 3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  <p:sp>
        <p:nvSpPr>
          <p:cNvPr id="5" name="Oval 4" descr="The Balanced Scorecard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▦</a:t>
            </a:r>
          </a:p>
        </p:txBody>
      </p:sp>
      <p:sp>
        <p:nvSpPr>
          <p:cNvPr id="6" name="TextBox 5" descr="The Balanced Scorecard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Balanced Scorecard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Track four views at once — financial, customer, internal process, and learning/growth — so 'success' isn't just last quarter's number. (Kaplan &amp; Norton's classic framework.)</a:t>
            </a:r>
          </a:p>
        </p:txBody>
      </p:sp>
      <p:sp>
        <p:nvSpPr>
          <p:cNvPr id="7" name="Oval 6" descr="Connect the dots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8" name="TextBox 7" descr="Connect the dots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Connect the dots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Every team should be able to say which value driver their work moves. If they can't, the strategy hasn't been communicated — it's been filed.</a:t>
            </a:r>
          </a:p>
        </p:txBody>
      </p:sp>
      <p:sp>
        <p:nvSpPr>
          <p:cNvPr id="9" name="Oval 8" descr="Guide investment by value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10" name="TextBox 9" descr="Guide investment by value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Guide investment by value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Fund what raises WTP or lowers WTS; starve what doesn't. Budgets are the strategy, whatever the slide deck says.</a:t>
            </a:r>
          </a:p>
        </p:txBody>
      </p:sp>
      <p:sp>
        <p:nvSpPr>
          <p:cNvPr id="11" name="Oval 10" descr="Write it simply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✎</a:t>
            </a:r>
          </a:p>
        </p:txBody>
      </p:sp>
      <p:sp>
        <p:nvSpPr>
          <p:cNvPr id="12" name="TextBox 11" descr="Write it simply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Write it simply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strategy that wins is the one every employee can repeat in one sentence.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Using this in BADM 225 — and in your first job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Using this in BADM 225 — and in your first job</a:t>
            </a:r>
          </a:p>
        </p:txBody>
      </p:sp>
      <p:sp>
        <p:nvSpPr>
          <p:cNvPr id="3" name="TextBox 2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4" name="TextBox 3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Write value-first proposals.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Lead with the value logic: 'This raises what customers will pay by…' or 'This lowers our costs by making the work better…'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Frame for the reader's stick.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 boss thinks in WTP and WTS even if they've never heard the words. Speak margin, not features.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Use it in interviews.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'Here's how I'd create value in this role' is a stronger answer than any list of duties.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Your feasibility study is a value argument.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executive summary should say, in one sentence, where the value comes from.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4" name="TextBox 3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Value created = willingness to pay minus willingness to sell. Strategy raises the top or lowers the bottom.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Delight raises WTP; near-customers are growth hiding in plain sight; measure trade-offs, not opinions.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Complements raise your value — and can become rivals. Network effects compound and tip markets.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49300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Better jobs and stronger partners lower WTS honestly — listening is a profit lever.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413308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Execution is communication: scorecards, connected dots, and a strategy anyone can repeat.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Every proposal you ever write should answer one question: where does the value come from?</a:t>
            </a:r>
          </a:p>
        </p:txBody>
      </p:sp>
      <p:sp>
        <p:nvSpPr>
          <p:cNvPr id="17" name="Rounded Rectangle 16" descr="Practice reminder"/>
          <p:cNvSpPr/>
          <p:nvPr/>
        </p:nvSpPr>
        <p:spPr>
          <a:xfrm>
            <a:off x="548640" y="5468112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Try Chapter 17 on the course site — practice questions and writing prompts on exactly these ideas.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Go to the source — strongly recommende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Go to the source — strongly recommended</a:t>
            </a:r>
          </a:p>
        </p:txBody>
      </p:sp>
      <p:sp>
        <p:nvSpPr>
          <p:cNvPr id="3" name="TextBox 2" descr="Footer: BADM 225 · Professional Development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Professional Development</a:t>
            </a:r>
          </a:p>
        </p:txBody>
      </p:sp>
      <p:sp>
        <p:nvSpPr>
          <p:cNvPr id="4" name="TextBox 3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book behind it all: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Felix Oberholzer-Gee, Better, Simpler Strategy: A Value-Based Guide to Exceptional Performance (Harvard Business Review Press, 2021) — readable, practical, and the backbone of what you just saw.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classic on measurement: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Robert Kaplan &amp; David Norton, “The Balanced Scorecard — Measures That Drive Performance,” Harvard Business Review (1992).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Free reading: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HBS Online's Business Insights blog (online.hbs.edu/blog) publishes open articles on these frameworks, including conjoint analysis.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full experience: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HBS Online's Business Strategy course — your instructor took it and recommends it; ask him about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Pick a product you love. What creates its willingness-to-pay premium — and what complement makes it better?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Name a company you ALMOST buy from. What one change would convert you, and what would it cost them?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How could your current (or future) employer lower willingness-to-sell for its best people without raising pay?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Take any campus service and sketch one Balanced Scorecard measure for each of the four perspectives.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Rewrite this feature-first pitch as value-first: “Our app now has 14 new settings and a dark mode.”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Professional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