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87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0919-BFCA-CE5B-CA39-D77678BEF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8148A-8142-AD26-A9D9-36B5F3A48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03CA9-4CDD-3AA8-0FF2-AADFF9CD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185C3-1EC5-D81B-FA29-A6C2C37E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F541-2AD2-9061-E3FB-228CABD0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2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EB59-4591-F810-D041-358A39E5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58351-6681-F5CC-0A47-4034821F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F4AE-12F8-F1CC-6E98-53FD25DD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FDF7A-0C24-5C3B-0D83-88C04C82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F283E-7B3E-982C-5054-096F9DA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3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15EF-8B82-12A3-E917-0D931462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FBD77-881F-EE39-8109-6A03BBAF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038C1-774A-7F13-50BC-3533DE60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F50C8-0676-EC9E-4B39-67AA9077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988BF-1F08-028B-2435-66A88A31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0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3A63-EC96-8ACC-688B-C94C6A44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961C-6242-7A1F-5C22-8DB0554FB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AD503-B74A-5C83-F241-58A0F9FD4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52DC6-30DB-2A79-B927-B7A0F088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98808-C705-CC94-20F1-5CC59B18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215A8-1A06-DDBB-9258-8E6EE6E6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3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E79E-6B62-94B5-1E84-9B1ECC548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291C1-7EC1-C407-47CA-DF029200B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6C826-88CE-DF4D-495A-30CA75CA0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57DAE-9788-4EA5-7F36-8170E3C38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1CC54-0E68-93A5-29DB-E2DEF8E02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E2784-A4D8-E352-5533-80D5F6D2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D883E6-1D41-CFA5-5EDC-57E12361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D8382-4CCE-22BE-F14B-37BF6681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9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E416-2BB9-691F-0164-5F6C355F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4D61C-35AF-53AF-57BF-1C68FF33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E0336-14BA-BEF8-904E-92797913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ADEE4-8A11-9165-95AE-04ADA6CF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4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FB13F-6DBB-6F97-0C58-C0758938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7B787-E40F-A386-4936-EDE0A128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C10AD-F3B1-5A07-905B-856ADA11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3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F996-1B34-D458-4BBA-43729F2B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A3F1-A840-6400-1D45-DF4B1099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795E6-F087-787D-2BD1-3758B60F4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A661A-AEFB-9B0E-EB71-A299576B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5F9C7-733C-F98C-0148-D0733196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98B87-4CD3-672E-52DC-20827022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D989-AEA9-6323-37C5-546E3C56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B7BAF-4347-AA08-793A-AB60A4E13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BFE91-D498-A5F7-1F33-062E66C2F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CD7EF-7A5E-7F25-7132-C8DAF17A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A1915-FEEA-C483-0AC1-49D7B1BC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DE3AC-F9A8-7FF1-DBF2-D85BDD51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7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D5A5-4F77-1B7A-12BC-B181A35B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8C232-8568-2591-9875-0FF0AB1C9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9DC2-B22F-A990-3C53-76CD91FB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9369A-B7C7-F847-D107-C0019FDF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0D8FC-A55E-F98F-8E3C-09752866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13C51-1743-B0A7-2634-E49E0FE80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3BA75-5D39-4563-58C1-FE99DEC9B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B8AB3-C5D3-EC92-E795-F98AC892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B66B-10F3-CF5C-E9C3-CC62528F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1F9F-3A73-5189-EBE7-4056751F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9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814AD-19DA-6F5F-81A9-BDF9BFAC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FF68-ED3D-880B-AD93-2DE7C4BB2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1A5B-44D3-5D02-D8D8-2ECE00A9F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22AE1-F099-47F2-AADB-3AAA9F5A231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ECF3-D568-D89D-6853-DBF17EDB1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41AD-EFFF-0128-E32A-37D6411E4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52F89-0A4A-4FF5-9514-2C1B9EFBA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9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D325-6E2C-3224-6648-766324D76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of Persuasion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E46FC-1361-0445-04D7-2BA698378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7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67B5-E4C9-79FA-4E9F-6F88CA55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654A0-2A22-6575-4ECA-BAEF4151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Influencing Ideas, Decisions, and Outcomes</a:t>
            </a:r>
          </a:p>
        </p:txBody>
      </p:sp>
      <p:pic>
        <p:nvPicPr>
          <p:cNvPr id="1026" name="Picture 2" descr="Innovative Business Ideas: Where Do ...">
            <a:extLst>
              <a:ext uri="{FF2B5EF4-FFF2-40B4-BE49-F238E27FC236}">
                <a16:creationId xmlns:a16="http://schemas.microsoft.com/office/drawing/2014/main" id="{A8BD819B-B533-08D7-EC3E-4B6AE358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09" y="292973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siness Decision-Making Mistakes ...">
            <a:extLst>
              <a:ext uri="{FF2B5EF4-FFF2-40B4-BE49-F238E27FC236}">
                <a16:creationId xmlns:a16="http://schemas.microsoft.com/office/drawing/2014/main" id="{A4B35276-0B89-5EC8-3B9E-210454D3B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10" y="2929731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SGS Wire Weight Gage">
            <a:extLst>
              <a:ext uri="{FF2B5EF4-FFF2-40B4-BE49-F238E27FC236}">
                <a16:creationId xmlns:a16="http://schemas.microsoft.com/office/drawing/2014/main" id="{8E61FE33-8FF2-4E15-2A02-DD6A41BC3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184" y="2929731"/>
            <a:ext cx="22383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21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7033-A5DA-ECD4-82A4-3FFFC2A8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is the ability to influence others' beliefs, attitudes, or behaviors.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E54E-4D0C-0FC0-3A8D-B8429C00F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Persuasion is a </a:t>
            </a:r>
            <a:r>
              <a:rPr lang="en-US" b="1" dirty="0"/>
              <a:t>core communication skill used in leadership, business, politics, and everyday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2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F206-5010-2922-CE90-84368693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vs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CB804-AA97-FD01-DA6E-9933E52AB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Persuasion</a:t>
            </a:r>
            <a:br>
              <a:rPr lang="en-US" dirty="0"/>
            </a:br>
            <a:r>
              <a:rPr lang="en-US" dirty="0"/>
              <a:t>• transparent</a:t>
            </a:r>
            <a:br>
              <a:rPr lang="en-US" dirty="0"/>
            </a:br>
            <a:r>
              <a:rPr lang="en-US" dirty="0"/>
              <a:t>• ethical</a:t>
            </a:r>
            <a:br>
              <a:rPr lang="en-US" dirty="0"/>
            </a:br>
            <a:r>
              <a:rPr lang="en-US" dirty="0"/>
              <a:t>• evidence-based</a:t>
            </a:r>
          </a:p>
          <a:p>
            <a:r>
              <a:rPr lang="en-US" b="1" dirty="0"/>
              <a:t>Manipulation</a:t>
            </a:r>
            <a:br>
              <a:rPr lang="en-US" dirty="0"/>
            </a:br>
            <a:r>
              <a:rPr lang="en-US" dirty="0"/>
              <a:t>• deceptive</a:t>
            </a:r>
            <a:br>
              <a:rPr lang="en-US" dirty="0"/>
            </a:br>
            <a:r>
              <a:rPr lang="en-US" dirty="0"/>
              <a:t>• self-serving</a:t>
            </a:r>
            <a:br>
              <a:rPr lang="en-US" dirty="0"/>
            </a:br>
            <a:r>
              <a:rPr lang="en-US" dirty="0"/>
              <a:t>• misleading</a:t>
            </a:r>
          </a:p>
          <a:p>
            <a:r>
              <a:rPr lang="en-US" dirty="0"/>
              <a:t>Ethical persuasion builds </a:t>
            </a:r>
            <a:r>
              <a:rPr lang="en-US" b="1" dirty="0"/>
              <a:t>trust and credibility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0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B843-BC38-7B1A-344C-4F587A53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Persuasion Matters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87A7-22DF-9CC9-4086-8FBD99BB3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Persuasion plays a role in:</a:t>
            </a:r>
          </a:p>
          <a:p>
            <a:pPr marL="0" indent="0">
              <a:buNone/>
            </a:pPr>
            <a:r>
              <a:rPr lang="en-US" dirty="0"/>
              <a:t>• pitching ideas to leadership</a:t>
            </a:r>
            <a:br>
              <a:rPr lang="en-US" dirty="0"/>
            </a:br>
            <a:r>
              <a:rPr lang="en-US" dirty="0"/>
              <a:t>• negotiating contracts</a:t>
            </a:r>
            <a:br>
              <a:rPr lang="en-US" dirty="0"/>
            </a:br>
            <a:r>
              <a:rPr lang="en-US" dirty="0"/>
              <a:t>• influencing team members</a:t>
            </a:r>
            <a:br>
              <a:rPr lang="en-US" dirty="0"/>
            </a:br>
            <a:r>
              <a:rPr lang="en-US" dirty="0"/>
              <a:t>• marketing products</a:t>
            </a:r>
            <a:br>
              <a:rPr lang="en-US" dirty="0"/>
            </a:br>
            <a:r>
              <a:rPr lang="en-US" dirty="0"/>
              <a:t>• leading change within organizations</a:t>
            </a:r>
          </a:p>
          <a:p>
            <a:r>
              <a:rPr lang="en-US" dirty="0"/>
              <a:t>Even technical professionals must persuade 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5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99D5-CEC9-BB57-294A-CFD16A79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Everyday Examples of Persuasion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EEED-5113-7D26-59F0-E61368C4C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Persuasion happens constantly:</a:t>
            </a:r>
          </a:p>
          <a:p>
            <a:r>
              <a:rPr lang="en-US" dirty="0"/>
              <a:t>• advertisements</a:t>
            </a:r>
            <a:br>
              <a:rPr lang="en-US" dirty="0"/>
            </a:br>
            <a:r>
              <a:rPr lang="en-US" dirty="0"/>
              <a:t>• political campaigns</a:t>
            </a:r>
            <a:br>
              <a:rPr lang="en-US" dirty="0"/>
            </a:br>
            <a:r>
              <a:rPr lang="en-US" dirty="0"/>
              <a:t>• job interviews</a:t>
            </a:r>
            <a:br>
              <a:rPr lang="en-US" dirty="0"/>
            </a:br>
            <a:r>
              <a:rPr lang="en-US" dirty="0"/>
              <a:t>• sales pitches</a:t>
            </a:r>
            <a:br>
              <a:rPr lang="en-US" dirty="0"/>
            </a:br>
            <a:r>
              <a:rPr lang="en-US" dirty="0"/>
              <a:t>• social media influence</a:t>
            </a:r>
          </a:p>
          <a:p>
            <a:r>
              <a:rPr lang="en-US" dirty="0"/>
              <a:t>Companies spend </a:t>
            </a:r>
            <a:r>
              <a:rPr lang="en-US" b="1" dirty="0"/>
              <a:t>billions of dollars annually</a:t>
            </a:r>
            <a:r>
              <a:rPr lang="en-US" dirty="0"/>
              <a:t> studying persuasion.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29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C25B-0A97-84E9-9F32-2F549956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Aristotle and Persuasion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A7D4-41D0-48FE-D28C-1F7643C39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philosopher Aristotle identified </a:t>
            </a:r>
            <a:r>
              <a:rPr lang="en-US" b="1" dirty="0"/>
              <a:t>three persuasive appeals</a:t>
            </a:r>
            <a:r>
              <a:rPr lang="en-US" dirty="0"/>
              <a:t> over 2,000 years ago.</a:t>
            </a:r>
          </a:p>
          <a:p>
            <a:r>
              <a:rPr lang="en-US" dirty="0"/>
              <a:t>Ethos</a:t>
            </a:r>
            <a:br>
              <a:rPr lang="en-US" dirty="0"/>
            </a:br>
            <a:r>
              <a:rPr lang="en-US" dirty="0"/>
              <a:t>Pathos</a:t>
            </a:r>
            <a:br>
              <a:rPr lang="en-US" dirty="0"/>
            </a:br>
            <a:r>
              <a:rPr lang="en-US" dirty="0"/>
              <a:t>Logos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remain the foundation of persuasive communication today.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9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7A6B-BE7C-D7B4-3890-3554923D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Ethos: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8F93-4585-7C52-1591-A84C59BDC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Ethos refers to the </a:t>
            </a:r>
            <a:r>
              <a:rPr lang="en-US" b="1" dirty="0"/>
              <a:t>credibility of the speaker.</a:t>
            </a:r>
            <a:endParaRPr lang="en-US" dirty="0"/>
          </a:p>
          <a:p>
            <a:r>
              <a:rPr lang="en-US" dirty="0"/>
              <a:t>People ask:</a:t>
            </a:r>
          </a:p>
          <a:p>
            <a:r>
              <a:rPr lang="en-US" dirty="0"/>
              <a:t>Why should I trust this person?</a:t>
            </a:r>
          </a:p>
          <a:p>
            <a:r>
              <a:rPr lang="en-US" dirty="0"/>
              <a:t>Ethos comes from:</a:t>
            </a:r>
          </a:p>
          <a:p>
            <a:r>
              <a:rPr lang="en-US" dirty="0"/>
              <a:t>• expertise</a:t>
            </a:r>
            <a:br>
              <a:rPr lang="en-US" dirty="0"/>
            </a:br>
            <a:r>
              <a:rPr lang="en-US" dirty="0"/>
              <a:t>• experience</a:t>
            </a:r>
            <a:br>
              <a:rPr lang="en-US" dirty="0"/>
            </a:br>
            <a:r>
              <a:rPr lang="en-US" dirty="0"/>
              <a:t>• professionalism</a:t>
            </a:r>
            <a:br>
              <a:rPr lang="en-US" dirty="0"/>
            </a:br>
            <a:r>
              <a:rPr lang="en-US" dirty="0"/>
              <a:t>• honesty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4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DBAF-4E12-2D92-4EEF-2655BEBF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1289B-036D-344C-33AE-486740942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Ways to strengthen ethos:</a:t>
            </a:r>
          </a:p>
          <a:p>
            <a:r>
              <a:rPr lang="en-US" dirty="0"/>
              <a:t>• cite credible sources</a:t>
            </a:r>
            <a:br>
              <a:rPr lang="en-US" dirty="0"/>
            </a:br>
            <a:r>
              <a:rPr lang="en-US" dirty="0"/>
              <a:t>• demonstrate knowledge</a:t>
            </a:r>
            <a:br>
              <a:rPr lang="en-US" dirty="0"/>
            </a:br>
            <a:r>
              <a:rPr lang="en-US" dirty="0"/>
              <a:t>• acknowledge limitations</a:t>
            </a:r>
            <a:br>
              <a:rPr lang="en-US" dirty="0"/>
            </a:br>
            <a:r>
              <a:rPr lang="en-US" dirty="0"/>
              <a:t>• communicate professionally</a:t>
            </a:r>
            <a:br>
              <a:rPr lang="en-US" dirty="0"/>
            </a:br>
            <a:r>
              <a:rPr lang="en-US" dirty="0"/>
              <a:t>• show confidence</a:t>
            </a:r>
          </a:p>
          <a:p>
            <a:r>
              <a:rPr lang="en-US" dirty="0"/>
              <a:t>Credibility takes </a:t>
            </a:r>
            <a:r>
              <a:rPr lang="en-US" b="1" dirty="0"/>
              <a:t>years to build and seconds to lose.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49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FB70-EC67-4344-9572-7C2DCD5C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Pathos: Emotional Appeal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E92A-182A-91FB-A536-0B00CDF6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Pathos connects with the </a:t>
            </a:r>
            <a:r>
              <a:rPr lang="en-US" b="1" dirty="0"/>
              <a:t>audience’s emotions.</a:t>
            </a:r>
            <a:endParaRPr lang="en-US" dirty="0"/>
          </a:p>
          <a:p>
            <a:r>
              <a:rPr lang="en-US" dirty="0"/>
              <a:t>Emotions influence decision-making more than we often realize.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storytelling</a:t>
            </a:r>
            <a:br>
              <a:rPr lang="en-US" dirty="0"/>
            </a:br>
            <a:r>
              <a:rPr lang="en-US" dirty="0"/>
              <a:t>• relatable examples</a:t>
            </a:r>
            <a:br>
              <a:rPr lang="en-US" dirty="0"/>
            </a:br>
            <a:r>
              <a:rPr lang="en-US" dirty="0"/>
              <a:t>• personal experiences</a:t>
            </a:r>
            <a:br>
              <a:rPr lang="en-US" dirty="0"/>
            </a:br>
            <a:r>
              <a:rPr lang="en-US" dirty="0"/>
              <a:t>• emotional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1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4E64-43FC-E62B-EBB1-C32ED8FB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Emotion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3E7B-7391-2394-8021-AFBA461FF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shows:</a:t>
            </a:r>
          </a:p>
          <a:p>
            <a:r>
              <a:rPr lang="en-US" dirty="0"/>
              <a:t>People often make </a:t>
            </a:r>
            <a:r>
              <a:rPr lang="en-US" b="1" dirty="0"/>
              <a:t>emotional decisions first</a:t>
            </a:r>
            <a:r>
              <a:rPr lang="en-US" dirty="0"/>
              <a:t>, then justify them logically.</a:t>
            </a:r>
          </a:p>
          <a:p>
            <a:r>
              <a:rPr lang="en-US" dirty="0"/>
              <a:t>Emotions commonly used in persuasion:</a:t>
            </a:r>
          </a:p>
          <a:p>
            <a:r>
              <a:rPr lang="en-US" dirty="0"/>
              <a:t>• hope</a:t>
            </a:r>
            <a:br>
              <a:rPr lang="en-US" dirty="0"/>
            </a:br>
            <a:r>
              <a:rPr lang="en-US" dirty="0"/>
              <a:t>• fear</a:t>
            </a:r>
            <a:br>
              <a:rPr lang="en-US" dirty="0"/>
            </a:br>
            <a:r>
              <a:rPr lang="en-US" dirty="0"/>
              <a:t>• excitement</a:t>
            </a:r>
            <a:br>
              <a:rPr lang="en-US" dirty="0"/>
            </a:br>
            <a:r>
              <a:rPr lang="en-US" dirty="0"/>
              <a:t>• empathy</a:t>
            </a:r>
            <a:br>
              <a:rPr lang="en-US" dirty="0"/>
            </a:br>
            <a:r>
              <a:rPr lang="en-US" dirty="0"/>
              <a:t>• pride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0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A414-A48C-EC9F-4420-990C3F3C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Logos: Logical Appeal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8F09-3381-D1F5-059F-9AC9ABC6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Logos relies on </a:t>
            </a:r>
            <a:r>
              <a:rPr lang="en-US" b="1" dirty="0"/>
              <a:t>logic and evidence</a:t>
            </a:r>
            <a:r>
              <a:rPr lang="en-US" dirty="0"/>
              <a:t>.</a:t>
            </a:r>
          </a:p>
          <a:p>
            <a:r>
              <a:rPr lang="en-US" dirty="0"/>
              <a:t>Examples include:</a:t>
            </a:r>
          </a:p>
          <a:p>
            <a:r>
              <a:rPr lang="en-US" dirty="0"/>
              <a:t>• statistics</a:t>
            </a:r>
            <a:br>
              <a:rPr lang="en-US" dirty="0"/>
            </a:br>
            <a:r>
              <a:rPr lang="en-US" dirty="0"/>
              <a:t>• data</a:t>
            </a:r>
            <a:br>
              <a:rPr lang="en-US" dirty="0"/>
            </a:br>
            <a:r>
              <a:rPr lang="en-US" dirty="0"/>
              <a:t>• research findings</a:t>
            </a:r>
            <a:br>
              <a:rPr lang="en-US" dirty="0"/>
            </a:br>
            <a:r>
              <a:rPr lang="en-US" dirty="0"/>
              <a:t>• financial projections</a:t>
            </a:r>
            <a:br>
              <a:rPr lang="en-US" dirty="0"/>
            </a:br>
            <a:r>
              <a:rPr lang="en-US" dirty="0"/>
              <a:t>• structured arguments</a:t>
            </a:r>
          </a:p>
          <a:p>
            <a:r>
              <a:rPr lang="en-US" dirty="0"/>
              <a:t>Strong persuasion requires </a:t>
            </a:r>
            <a:r>
              <a:rPr lang="en-US" b="1" dirty="0"/>
              <a:t>clear reasoning.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4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5F96-EFED-D5C3-60B7-1B057C14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Ethos, Pathos, and Logos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BDBDE-AD10-F1A9-1045-C94B9F60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persuasive arguments combine:</a:t>
            </a:r>
          </a:p>
          <a:p>
            <a:r>
              <a:rPr lang="en-US" dirty="0"/>
              <a:t>credibility</a:t>
            </a:r>
            <a:br>
              <a:rPr lang="en-US" dirty="0"/>
            </a:br>
            <a:r>
              <a:rPr lang="en-US" dirty="0"/>
              <a:t>emotion</a:t>
            </a:r>
            <a:br>
              <a:rPr lang="en-US" dirty="0"/>
            </a:br>
            <a:r>
              <a:rPr lang="en-US" dirty="0"/>
              <a:t>logic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 business proposal that includes:</a:t>
            </a:r>
          </a:p>
          <a:p>
            <a:r>
              <a:rPr lang="en-US" dirty="0"/>
              <a:t>• expert knowledge</a:t>
            </a:r>
            <a:br>
              <a:rPr lang="en-US" dirty="0"/>
            </a:br>
            <a:r>
              <a:rPr lang="en-US" dirty="0"/>
              <a:t>• compelling story</a:t>
            </a:r>
            <a:br>
              <a:rPr lang="en-US" dirty="0"/>
            </a:br>
            <a:r>
              <a:rPr lang="en-US" dirty="0"/>
              <a:t>• strong financial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683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FDEF-FA1E-7363-EB25-A73DD1BA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Psychology of Persuasion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4370-9B89-6AD1-D96D-01C9BCC1C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Psychologist </a:t>
            </a:r>
            <a:r>
              <a:rPr lang="en-US" b="1" dirty="0"/>
              <a:t>Robert Cialdini</a:t>
            </a:r>
            <a:r>
              <a:rPr lang="en-US" dirty="0"/>
              <a:t> identified key persuasion principles.</a:t>
            </a:r>
          </a:p>
          <a:p>
            <a:r>
              <a:rPr lang="en-US" dirty="0"/>
              <a:t>These principles explain why people say </a:t>
            </a:r>
            <a:r>
              <a:rPr lang="en-US" b="1" dirty="0"/>
              <a:t>yes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3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A1A7-FC05-5555-0A7C-5B73496B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1: Reciprocity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E7223-6061-31E5-54BA-DC789E52A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feel obligated to return favors.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free samples</a:t>
            </a:r>
            <a:br>
              <a:rPr lang="en-US" dirty="0"/>
            </a:br>
            <a:r>
              <a:rPr lang="en-US" dirty="0"/>
              <a:t>• free trials</a:t>
            </a:r>
            <a:br>
              <a:rPr lang="en-US" dirty="0"/>
            </a:br>
            <a:r>
              <a:rPr lang="en-US" dirty="0"/>
              <a:t>• helpful advice</a:t>
            </a:r>
          </a:p>
          <a:p>
            <a:r>
              <a:rPr lang="en-US" dirty="0"/>
              <a:t>When someone gives something first, people feel pressure to respond.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32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C7EA-286E-EFE4-DBC8-1F3075DF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2: Social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98F1-D295-2DBD-CFED-E7124785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look to others when deciding how to behave.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product reviews</a:t>
            </a:r>
            <a:br>
              <a:rPr lang="en-US" dirty="0"/>
            </a:br>
            <a:r>
              <a:rPr lang="en-US" dirty="0"/>
              <a:t>• testimonials</a:t>
            </a:r>
            <a:br>
              <a:rPr lang="en-US" dirty="0"/>
            </a:br>
            <a:r>
              <a:rPr lang="en-US" dirty="0"/>
              <a:t>• popularity indicators</a:t>
            </a:r>
          </a:p>
          <a:p>
            <a:r>
              <a:rPr lang="en-US" dirty="0"/>
              <a:t>“If everyone else is doing it, it must be good.”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96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BD93-634C-93DF-8E61-68971D0A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3: 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B59C-C7F7-1C81-EF2E-1846B2DA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trust experts and authority figures.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doctors in advertisements</a:t>
            </a:r>
            <a:br>
              <a:rPr lang="en-US" dirty="0"/>
            </a:br>
            <a:r>
              <a:rPr lang="en-US" dirty="0"/>
              <a:t>• industry experts</a:t>
            </a:r>
            <a:br>
              <a:rPr lang="en-US" dirty="0"/>
            </a:br>
            <a:r>
              <a:rPr lang="en-US" dirty="0"/>
              <a:t>• certifications</a:t>
            </a:r>
          </a:p>
          <a:p>
            <a:r>
              <a:rPr lang="en-US" dirty="0"/>
              <a:t>Authority increases credibility.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49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0DAA-9871-3A7E-89BB-77436949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4: 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1B22-8DC4-453C-0187-A816B8E0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value things that are limited.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limited-time offers</a:t>
            </a:r>
            <a:br>
              <a:rPr lang="en-US" dirty="0"/>
            </a:br>
            <a:r>
              <a:rPr lang="en-US" dirty="0"/>
              <a:t>• exclusive memberships</a:t>
            </a:r>
            <a:br>
              <a:rPr lang="en-US" dirty="0"/>
            </a:br>
            <a:r>
              <a:rPr lang="en-US" dirty="0"/>
              <a:t>• limited product supply</a:t>
            </a:r>
          </a:p>
          <a:p>
            <a:r>
              <a:rPr lang="en-US" dirty="0"/>
              <a:t>Scarcity increases perceived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24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1337-FA73-B57D-4126-689B294C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5: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7E75-206C-F838-F315-33D01303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prefer to remain consistent with their commitments.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If someone agrees with a small request, they are more likely to agree with a larger request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62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3B71-7814-48BF-926F-02FD852A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6: Liking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FD5B7-77DF-C5C9-6341-8611D5D8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are more easily persuaded by people they like.</a:t>
            </a:r>
          </a:p>
          <a:p>
            <a:r>
              <a:rPr lang="en-US" dirty="0"/>
              <a:t>Factors include:</a:t>
            </a:r>
          </a:p>
          <a:p>
            <a:r>
              <a:rPr lang="en-US" dirty="0"/>
              <a:t>• similarity</a:t>
            </a:r>
            <a:br>
              <a:rPr lang="en-US" dirty="0"/>
            </a:br>
            <a:r>
              <a:rPr lang="en-US" dirty="0"/>
              <a:t>• friendliness</a:t>
            </a:r>
            <a:br>
              <a:rPr lang="en-US" dirty="0"/>
            </a:br>
            <a:r>
              <a:rPr lang="en-US" dirty="0"/>
              <a:t>• attractiveness</a:t>
            </a:r>
            <a:br>
              <a:rPr lang="en-US" dirty="0"/>
            </a:br>
            <a:r>
              <a:rPr lang="en-US" dirty="0"/>
              <a:t>• shared interests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79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66EC-726C-8124-DA1A-653935AC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in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823C-A330-0E8F-14D3-62011F26C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persuade constantly.</a:t>
            </a:r>
          </a:p>
          <a:p>
            <a:r>
              <a:rPr lang="en-US" dirty="0"/>
              <a:t>Examples include:</a:t>
            </a:r>
          </a:p>
          <a:p>
            <a:r>
              <a:rPr lang="en-US" dirty="0"/>
              <a:t>• gaining support for strategic decisions</a:t>
            </a:r>
            <a:br>
              <a:rPr lang="en-US" dirty="0"/>
            </a:br>
            <a:r>
              <a:rPr lang="en-US" dirty="0"/>
              <a:t>• motivating teams</a:t>
            </a:r>
            <a:br>
              <a:rPr lang="en-US" dirty="0"/>
            </a:br>
            <a:r>
              <a:rPr lang="en-US" dirty="0"/>
              <a:t>• resolving conflict</a:t>
            </a:r>
            <a:br>
              <a:rPr lang="en-US" dirty="0"/>
            </a:br>
            <a:r>
              <a:rPr lang="en-US" dirty="0"/>
              <a:t>• managing change</a:t>
            </a:r>
          </a:p>
          <a:p>
            <a:r>
              <a:rPr lang="en-US" dirty="0"/>
              <a:t>Leadership requires </a:t>
            </a:r>
            <a:r>
              <a:rPr lang="en-US" b="1" dirty="0"/>
              <a:t>influence, not just authority.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93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84C3-F2FC-F33A-29BD-5F5B20A1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in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38BC8-7532-3AC7-3E54-A5A8C2907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persuasive presentations:</a:t>
            </a:r>
          </a:p>
          <a:p>
            <a:r>
              <a:rPr lang="en-US" dirty="0"/>
              <a:t>• focus on audience needs</a:t>
            </a:r>
            <a:br>
              <a:rPr lang="en-US" dirty="0"/>
            </a:br>
            <a:r>
              <a:rPr lang="en-US" dirty="0"/>
              <a:t>• use clear structure</a:t>
            </a:r>
            <a:br>
              <a:rPr lang="en-US" dirty="0"/>
            </a:br>
            <a:r>
              <a:rPr lang="en-US" dirty="0"/>
              <a:t>• provide strong evidence</a:t>
            </a:r>
            <a:br>
              <a:rPr lang="en-US" dirty="0"/>
            </a:br>
            <a:r>
              <a:rPr lang="en-US" dirty="0"/>
              <a:t>• anticipate objections</a:t>
            </a:r>
          </a:p>
          <a:p>
            <a:r>
              <a:rPr lang="en-US" dirty="0"/>
              <a:t>Always ask:</a:t>
            </a:r>
          </a:p>
          <a:p>
            <a:r>
              <a:rPr lang="en-US" dirty="0"/>
              <a:t>“What matters to the audience?”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53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CA18-EDAC-957E-5992-DA11A801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in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63F3B-7E3F-CE59-6A0D-5F673971A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Negotiation involves persuasion.</a:t>
            </a:r>
          </a:p>
          <a:p>
            <a:r>
              <a:rPr lang="en-US" dirty="0"/>
              <a:t>Key strategies include:</a:t>
            </a:r>
          </a:p>
          <a:p>
            <a:r>
              <a:rPr lang="en-US" dirty="0"/>
              <a:t>• understanding interests</a:t>
            </a:r>
            <a:br>
              <a:rPr lang="en-US" dirty="0"/>
            </a:br>
            <a:r>
              <a:rPr lang="en-US" dirty="0"/>
              <a:t>• framing proposals effectively</a:t>
            </a:r>
            <a:br>
              <a:rPr lang="en-US" dirty="0"/>
            </a:br>
            <a:r>
              <a:rPr lang="en-US" dirty="0"/>
              <a:t>• highlighting mutual benefit</a:t>
            </a:r>
          </a:p>
          <a:p>
            <a:r>
              <a:rPr lang="en-US" dirty="0"/>
              <a:t>Persuasion helps create </a:t>
            </a:r>
            <a:r>
              <a:rPr lang="en-US" b="1" dirty="0"/>
              <a:t>win-win outcomes.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81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9BB6-488B-A685-8A5A-0E1920E1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Persuasion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FCBD4-6FD4-2D28-FC49-EFD63D11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Ethical persuasion requires:</a:t>
            </a:r>
          </a:p>
          <a:p>
            <a:r>
              <a:rPr lang="en-US" dirty="0"/>
              <a:t>• honesty</a:t>
            </a:r>
            <a:br>
              <a:rPr lang="en-US" dirty="0"/>
            </a:br>
            <a:r>
              <a:rPr lang="en-US" dirty="0"/>
              <a:t>• transparency</a:t>
            </a:r>
            <a:br>
              <a:rPr lang="en-US" dirty="0"/>
            </a:br>
            <a:r>
              <a:rPr lang="en-US" dirty="0"/>
              <a:t>• accuracy</a:t>
            </a:r>
            <a:br>
              <a:rPr lang="en-US" dirty="0"/>
            </a:br>
            <a:r>
              <a:rPr lang="en-US" dirty="0"/>
              <a:t>• respect for the audience</a:t>
            </a:r>
          </a:p>
          <a:p>
            <a:r>
              <a:rPr lang="en-US" dirty="0"/>
              <a:t>Ethical communicators build </a:t>
            </a:r>
            <a:r>
              <a:rPr lang="en-US" b="1" dirty="0"/>
              <a:t>long-term trust.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47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E85A-737F-F66B-96C8-E6EFDEEB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Dangers of Unethical Persuasion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4BA7-CFD0-9ACA-E588-DD27A8FA4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Unethical persuasion includes:</a:t>
            </a:r>
          </a:p>
          <a:p>
            <a:r>
              <a:rPr lang="en-US" dirty="0"/>
              <a:t>• misleading statistics</a:t>
            </a:r>
            <a:br>
              <a:rPr lang="en-US" dirty="0"/>
            </a:br>
            <a:r>
              <a:rPr lang="en-US" dirty="0"/>
              <a:t>• emotional manipulation</a:t>
            </a:r>
            <a:br>
              <a:rPr lang="en-US" dirty="0"/>
            </a:br>
            <a:r>
              <a:rPr lang="en-US" dirty="0"/>
              <a:t>• false claims</a:t>
            </a:r>
            <a:br>
              <a:rPr lang="en-US" dirty="0"/>
            </a:br>
            <a:r>
              <a:rPr lang="en-US" dirty="0"/>
              <a:t>• hidden motives</a:t>
            </a:r>
          </a:p>
          <a:p>
            <a:r>
              <a:rPr lang="en-US" dirty="0"/>
              <a:t>This damages </a:t>
            </a:r>
            <a:r>
              <a:rPr lang="en-US" b="1" dirty="0"/>
              <a:t>reputation and credibility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10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2FD0-B8A2-E253-9FBF-D5BB4C38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Becoming a More Persuasive Communicator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29B7-BFEF-CF0A-2D57-8B646AA8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 to improve persuasion:</a:t>
            </a:r>
          </a:p>
          <a:p>
            <a:r>
              <a:rPr lang="en-US" dirty="0"/>
              <a:t>• understand your audience</a:t>
            </a:r>
            <a:br>
              <a:rPr lang="en-US" dirty="0"/>
            </a:br>
            <a:r>
              <a:rPr lang="en-US" dirty="0"/>
              <a:t>• organize your argument clearly</a:t>
            </a:r>
            <a:br>
              <a:rPr lang="en-US" dirty="0"/>
            </a:br>
            <a:r>
              <a:rPr lang="en-US" dirty="0"/>
              <a:t>• support claims with evidence</a:t>
            </a:r>
            <a:br>
              <a:rPr lang="en-US" dirty="0"/>
            </a:br>
            <a:r>
              <a:rPr lang="en-US" dirty="0"/>
              <a:t>• build credibility</a:t>
            </a:r>
            <a:br>
              <a:rPr lang="en-US" dirty="0"/>
            </a:br>
            <a:r>
              <a:rPr lang="en-US" dirty="0"/>
              <a:t>• practice communication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04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BDC7-F2BD-5E81-9674-3552D76F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751D2-5EF0-CD7A-EE48-339095A5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Persuasion is a critical communication skill.</a:t>
            </a:r>
          </a:p>
          <a:p>
            <a:r>
              <a:rPr lang="en-US" dirty="0"/>
              <a:t>Remember:</a:t>
            </a:r>
          </a:p>
          <a:p>
            <a:r>
              <a:rPr lang="en-US" dirty="0"/>
              <a:t>• credibility builds trust</a:t>
            </a:r>
            <a:br>
              <a:rPr lang="en-US" dirty="0"/>
            </a:br>
            <a:r>
              <a:rPr lang="en-US" dirty="0"/>
              <a:t>• emotions influence decisions</a:t>
            </a:r>
            <a:br>
              <a:rPr lang="en-US" dirty="0"/>
            </a:br>
            <a:r>
              <a:rPr lang="en-US" dirty="0"/>
              <a:t>• logic supports arguments</a:t>
            </a:r>
            <a:br>
              <a:rPr lang="en-US" dirty="0"/>
            </a:br>
            <a:r>
              <a:rPr lang="en-US" dirty="0"/>
              <a:t>• psychology shapes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65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6CB1-C79B-2CD7-DD59-B33491BA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Discussion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A50E-F5F0-ABB1-AF90-83B5203C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have you been persuaded to change your mind?</a:t>
            </a:r>
          </a:p>
          <a:p>
            <a:r>
              <a:rPr lang="en-US"/>
              <a:t>What made the argument effective?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2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862</Words>
  <Application>Microsoft Office PowerPoint</Application>
  <PresentationFormat>Widescreen</PresentationFormat>
  <Paragraphs>116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 of Persuasion</vt:lpstr>
      <vt:lpstr>PowerPoint Presentation</vt:lpstr>
      <vt:lpstr>Persuasion is the ability to influence others' beliefs, attitudes, or behaviors.</vt:lpstr>
      <vt:lpstr>Persuasion vs Manipulation</vt:lpstr>
      <vt:lpstr>Why Persuasion Matters in Business</vt:lpstr>
      <vt:lpstr>Everyday Examples of Persuasion</vt:lpstr>
      <vt:lpstr>Aristotle and Persuasion</vt:lpstr>
      <vt:lpstr>Ethos: Credibility</vt:lpstr>
      <vt:lpstr>Building Credibility</vt:lpstr>
      <vt:lpstr>Pathos: Emotional Appeal</vt:lpstr>
      <vt:lpstr>Why Emotion Matters</vt:lpstr>
      <vt:lpstr>Logos: Logical Appeal</vt:lpstr>
      <vt:lpstr>Combining Ethos, Pathos, and Logos</vt:lpstr>
      <vt:lpstr>The Psychology of Persuasion</vt:lpstr>
      <vt:lpstr>Principle 1: Reciprocity</vt:lpstr>
      <vt:lpstr>Principle 2: Social Proof</vt:lpstr>
      <vt:lpstr>Principle 3: Authority</vt:lpstr>
      <vt:lpstr>Principle 4: Scarcity</vt:lpstr>
      <vt:lpstr>Principle 5: Consistency</vt:lpstr>
      <vt:lpstr>Principle 6: Liking</vt:lpstr>
      <vt:lpstr>Persuasion in Leadership</vt:lpstr>
      <vt:lpstr>Persuasion in Presentations</vt:lpstr>
      <vt:lpstr>Persuasion in Negotiation</vt:lpstr>
      <vt:lpstr>Ethical Persuasion</vt:lpstr>
      <vt:lpstr>Dangers of Unethical Persuasion</vt:lpstr>
      <vt:lpstr>Becoming a More Persuasive Communicator</vt:lpstr>
      <vt:lpstr>Key Takeaways</vt:lpstr>
      <vt:lpstr>Final Discussion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Bussan</dc:creator>
  <cp:lastModifiedBy>Derek Bussan</cp:lastModifiedBy>
  <cp:revision>5</cp:revision>
  <dcterms:created xsi:type="dcterms:W3CDTF">2026-03-04T03:26:39Z</dcterms:created>
  <dcterms:modified xsi:type="dcterms:W3CDTF">2026-03-04T03:50:51Z</dcterms:modified>
</cp:coreProperties>
</file>