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58" d="100"/>
          <a:sy n="158" d="100"/>
        </p:scale>
        <p:origin x="22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4A00-EB57-BEEF-A8DC-4FC371F87E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B8A397-0905-B50D-8D09-55F6901E17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2EC5B9-CAF3-4B56-10C1-C8590FCDE035}"/>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5" name="Footer Placeholder 4">
            <a:extLst>
              <a:ext uri="{FF2B5EF4-FFF2-40B4-BE49-F238E27FC236}">
                <a16:creationId xmlns:a16="http://schemas.microsoft.com/office/drawing/2014/main" id="{991741B9-3C34-39FE-AFB4-2D798BB1FA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BA5935-876C-391B-5375-2C3501F7D384}"/>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3520599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C6F7C-D79A-8F5B-E784-28CAAAFFE7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F5E2A2-F9AB-B93C-9023-10A5676C0D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4179D8-E5D9-ECDD-C339-C1A84690789C}"/>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5" name="Footer Placeholder 4">
            <a:extLst>
              <a:ext uri="{FF2B5EF4-FFF2-40B4-BE49-F238E27FC236}">
                <a16:creationId xmlns:a16="http://schemas.microsoft.com/office/drawing/2014/main" id="{583DB4FF-BD53-6A56-82FB-A2C3C9C597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39A737-C54A-5ACA-40BF-708EB1A9CBCF}"/>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3973677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2FCAB-5E30-21A8-0A41-18B698B8DB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95B94-F9F0-4FEC-1CF7-848D089255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F90EC9-4F80-00D9-5C5E-3D071CFC49C4}"/>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5" name="Footer Placeholder 4">
            <a:extLst>
              <a:ext uri="{FF2B5EF4-FFF2-40B4-BE49-F238E27FC236}">
                <a16:creationId xmlns:a16="http://schemas.microsoft.com/office/drawing/2014/main" id="{6F0884A8-D781-2F92-6A93-60823D4129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E5A358-E8B9-4B26-B824-B9152864794C}"/>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4097881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DFDE3-5A9A-BD36-EFC7-9B4645928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4D4A2-90E9-564C-3A0F-C2F9F47DEB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DAE2C4-E467-0175-35A6-C9939B9FE9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59A509-517F-4A0F-5D0E-FCBFBABEA64B}"/>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6" name="Footer Placeholder 5">
            <a:extLst>
              <a:ext uri="{FF2B5EF4-FFF2-40B4-BE49-F238E27FC236}">
                <a16:creationId xmlns:a16="http://schemas.microsoft.com/office/drawing/2014/main" id="{7A518918-9A4C-8CD5-B5FD-861C4DC41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A7D747-0760-9D2F-03D5-D8711E84ED3E}"/>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2544349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07B7-7BD5-7833-3AF0-AC740BCDFA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12F22E-E331-C693-3801-1506A5D697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A61E29-D373-729B-9724-22D8F75837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18DA28-7CDA-F52E-E60E-44F2D7A1C8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830FC6-CE3A-9AD0-C964-0348543063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044869-5475-A58B-2013-FEA52445939A}"/>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8" name="Footer Placeholder 7">
            <a:extLst>
              <a:ext uri="{FF2B5EF4-FFF2-40B4-BE49-F238E27FC236}">
                <a16:creationId xmlns:a16="http://schemas.microsoft.com/office/drawing/2014/main" id="{81DFA1A8-F493-5980-915A-B4BDBD3070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EC30C8-2A75-9055-E3C2-424BFF473C81}"/>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3742103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EEDC-4DC3-BE58-1FBD-926A3B4ED0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218AA8-6AEE-01AA-11FB-FE9176670149}"/>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4" name="Footer Placeholder 3">
            <a:extLst>
              <a:ext uri="{FF2B5EF4-FFF2-40B4-BE49-F238E27FC236}">
                <a16:creationId xmlns:a16="http://schemas.microsoft.com/office/drawing/2014/main" id="{4B681E7F-E0A2-4FC5-DB40-FF519116A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4DE805-6394-CEFA-7035-33C33B852047}"/>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397188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FF2CB2-746B-9E26-0595-817D9E145960}"/>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3" name="Footer Placeholder 2">
            <a:extLst>
              <a:ext uri="{FF2B5EF4-FFF2-40B4-BE49-F238E27FC236}">
                <a16:creationId xmlns:a16="http://schemas.microsoft.com/office/drawing/2014/main" id="{EB751E4D-6CFF-1E3F-BA05-3A5E90D9F6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C0D03D-3C8C-B903-9DC6-82885724112C}"/>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1092775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0D2A-EC65-B43C-7350-7D8D5903A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D71C09-5ACE-13B9-9E89-346FD556CD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602FF1-15AD-57DC-486B-ECDD5B8C9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1E427-6636-AFFA-F753-F5A90C0E8E7C}"/>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6" name="Footer Placeholder 5">
            <a:extLst>
              <a:ext uri="{FF2B5EF4-FFF2-40B4-BE49-F238E27FC236}">
                <a16:creationId xmlns:a16="http://schemas.microsoft.com/office/drawing/2014/main" id="{2EBF0DCA-9949-3F37-3DD4-976007C2BC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81E041-B0AC-FCA2-62AC-4DCCA7478F1D}"/>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3410115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288B8-07C8-B4D3-B5FD-F2A2A6F0D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90990D-1759-B70D-2893-EC270A33DE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05D2A3-6B4B-AB81-BBE7-0F81D64893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DBEB2C-AB84-1EE2-D25D-AE6AD405335F}"/>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6" name="Footer Placeholder 5">
            <a:extLst>
              <a:ext uri="{FF2B5EF4-FFF2-40B4-BE49-F238E27FC236}">
                <a16:creationId xmlns:a16="http://schemas.microsoft.com/office/drawing/2014/main" id="{6C66A364-EB22-D8B8-7AF7-58CB07C99D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113071-450F-6B6F-6B77-1A68D98ABC5A}"/>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3725476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10D3-B501-B0D4-FE84-4F7E499591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12B04E-ADB4-9A67-C3A5-CA32886E66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87EF36-AC35-813F-859E-0F1896EA305D}"/>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5" name="Footer Placeholder 4">
            <a:extLst>
              <a:ext uri="{FF2B5EF4-FFF2-40B4-BE49-F238E27FC236}">
                <a16:creationId xmlns:a16="http://schemas.microsoft.com/office/drawing/2014/main" id="{5BC80A2D-2537-37A2-510B-05C028CC0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3A0D7-F023-9236-B7A5-2C80D12628A8}"/>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43338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F27855-239E-4693-DB4C-3F22B352DC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130418-E024-FEB5-657E-4BC18994EB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D306B7-939C-7815-2E0A-2F6243D73CC1}"/>
              </a:ext>
            </a:extLst>
          </p:cNvPr>
          <p:cNvSpPr>
            <a:spLocks noGrp="1"/>
          </p:cNvSpPr>
          <p:nvPr>
            <p:ph type="dt" sz="half" idx="10"/>
          </p:nvPr>
        </p:nvSpPr>
        <p:spPr/>
        <p:txBody>
          <a:bodyPr/>
          <a:lstStyle/>
          <a:p>
            <a:fld id="{360FCDD8-9673-41B3-B758-8209DA367CDA}" type="datetimeFigureOut">
              <a:rPr lang="en-US" smtClean="0"/>
              <a:t>8/29/2025</a:t>
            </a:fld>
            <a:endParaRPr lang="en-US"/>
          </a:p>
        </p:txBody>
      </p:sp>
      <p:sp>
        <p:nvSpPr>
          <p:cNvPr id="5" name="Footer Placeholder 4">
            <a:extLst>
              <a:ext uri="{FF2B5EF4-FFF2-40B4-BE49-F238E27FC236}">
                <a16:creationId xmlns:a16="http://schemas.microsoft.com/office/drawing/2014/main" id="{C2F13ED4-9B97-B097-A9F3-241BCCBA2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2ED5E-07E0-327F-AB5C-19E4EC175D80}"/>
              </a:ext>
            </a:extLst>
          </p:cNvPr>
          <p:cNvSpPr>
            <a:spLocks noGrp="1"/>
          </p:cNvSpPr>
          <p:nvPr>
            <p:ph type="sldNum" sz="quarter" idx="12"/>
          </p:nvPr>
        </p:nvSpPr>
        <p:spPr/>
        <p:txBody>
          <a:bodyPr/>
          <a:lstStyle/>
          <a:p>
            <a:fld id="{8D394827-C7BB-4813-A44B-D59190ED6983}" type="slidenum">
              <a:rPr lang="en-US" smtClean="0"/>
              <a:t>‹#›</a:t>
            </a:fld>
            <a:endParaRPr lang="en-US"/>
          </a:p>
        </p:txBody>
      </p:sp>
    </p:spTree>
    <p:extLst>
      <p:ext uri="{BB962C8B-B14F-4D97-AF65-F5344CB8AC3E}">
        <p14:creationId xmlns:p14="http://schemas.microsoft.com/office/powerpoint/2010/main" val="12839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70F947-B1F7-5438-4A11-59FE893B3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8E4008-AC5A-805A-82A2-71B8391693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E91BF-517C-9A16-281C-D9E88DBDD4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0FCDD8-9673-41B3-B758-8209DA367CDA}" type="datetimeFigureOut">
              <a:rPr lang="en-US" smtClean="0"/>
              <a:t>8/29/2025</a:t>
            </a:fld>
            <a:endParaRPr lang="en-US"/>
          </a:p>
        </p:txBody>
      </p:sp>
      <p:sp>
        <p:nvSpPr>
          <p:cNvPr id="5" name="Footer Placeholder 4">
            <a:extLst>
              <a:ext uri="{FF2B5EF4-FFF2-40B4-BE49-F238E27FC236}">
                <a16:creationId xmlns:a16="http://schemas.microsoft.com/office/drawing/2014/main" id="{515BB038-A91B-5E46-DB91-48939A77CD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F7550B-B1DB-8366-C197-7E3B82CCAF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394827-C7BB-4813-A44B-D59190ED6983}" type="slidenum">
              <a:rPr lang="en-US" smtClean="0"/>
              <a:t>‹#›</a:t>
            </a:fld>
            <a:endParaRPr lang="en-US"/>
          </a:p>
        </p:txBody>
      </p:sp>
    </p:spTree>
    <p:extLst>
      <p:ext uri="{BB962C8B-B14F-4D97-AF65-F5344CB8AC3E}">
        <p14:creationId xmlns:p14="http://schemas.microsoft.com/office/powerpoint/2010/main" val="1805173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EA70A-FEC4-AC90-ED52-3D74BE2C3CA7}"/>
              </a:ext>
            </a:extLst>
          </p:cNvPr>
          <p:cNvSpPr>
            <a:spLocks noGrp="1"/>
          </p:cNvSpPr>
          <p:nvPr>
            <p:ph type="ctrTitle"/>
          </p:nvPr>
        </p:nvSpPr>
        <p:spPr/>
        <p:txBody>
          <a:bodyPr/>
          <a:lstStyle/>
          <a:p>
            <a:r>
              <a:rPr lang="en-US" dirty="0"/>
              <a:t>Market Research</a:t>
            </a:r>
          </a:p>
        </p:txBody>
      </p:sp>
      <p:sp>
        <p:nvSpPr>
          <p:cNvPr id="3" name="Subtitle 2">
            <a:extLst>
              <a:ext uri="{FF2B5EF4-FFF2-40B4-BE49-F238E27FC236}">
                <a16:creationId xmlns:a16="http://schemas.microsoft.com/office/drawing/2014/main" id="{124B13BF-DC08-D93B-3BD9-374BFCCC186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7274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D103-78CE-17CD-E8A1-F821D4DA3C78}"/>
              </a:ext>
            </a:extLst>
          </p:cNvPr>
          <p:cNvSpPr>
            <a:spLocks noGrp="1"/>
          </p:cNvSpPr>
          <p:nvPr>
            <p:ph type="title"/>
          </p:nvPr>
        </p:nvSpPr>
        <p:spPr/>
        <p:txBody>
          <a:bodyPr/>
          <a:lstStyle/>
          <a:p>
            <a:r>
              <a:rPr lang="en-US" dirty="0"/>
              <a:t>What is Market Research?</a:t>
            </a:r>
          </a:p>
        </p:txBody>
      </p:sp>
      <p:sp>
        <p:nvSpPr>
          <p:cNvPr id="3" name="Content Placeholder 2">
            <a:extLst>
              <a:ext uri="{FF2B5EF4-FFF2-40B4-BE49-F238E27FC236}">
                <a16:creationId xmlns:a16="http://schemas.microsoft.com/office/drawing/2014/main" id="{C0AB3721-DD36-4AF7-8BF7-FA4CFB754EFB}"/>
              </a:ext>
            </a:extLst>
          </p:cNvPr>
          <p:cNvSpPr>
            <a:spLocks noGrp="1"/>
          </p:cNvSpPr>
          <p:nvPr>
            <p:ph idx="1"/>
          </p:nvPr>
        </p:nvSpPr>
        <p:spPr/>
        <p:txBody>
          <a:bodyPr/>
          <a:lstStyle/>
          <a:p>
            <a:r>
              <a:rPr lang="en-US" b="0" i="0" dirty="0">
                <a:solidFill>
                  <a:srgbClr val="374151"/>
                </a:solidFill>
                <a:effectLst/>
                <a:latin typeface="Söhne"/>
              </a:rPr>
              <a:t>Market research is the process of gathering, analyzing, and interpreting information about a market, including its potential customers, competitors, and overall industry. The goal of market research is to provide businesses with insights and data that can help them make informed decisions about their products, services, marketing strategies, and overall business operations.</a:t>
            </a:r>
            <a:endParaRPr lang="en-US" dirty="0"/>
          </a:p>
        </p:txBody>
      </p:sp>
    </p:spTree>
    <p:extLst>
      <p:ext uri="{BB962C8B-B14F-4D97-AF65-F5344CB8AC3E}">
        <p14:creationId xmlns:p14="http://schemas.microsoft.com/office/powerpoint/2010/main" val="239075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49AD-9BA3-2872-0CCE-F533E1241B1C}"/>
              </a:ext>
            </a:extLst>
          </p:cNvPr>
          <p:cNvSpPr>
            <a:spLocks noGrp="1"/>
          </p:cNvSpPr>
          <p:nvPr>
            <p:ph type="title"/>
          </p:nvPr>
        </p:nvSpPr>
        <p:spPr/>
        <p:txBody>
          <a:bodyPr/>
          <a:lstStyle/>
          <a:p>
            <a:r>
              <a:rPr lang="en-US" dirty="0"/>
              <a:t>Why am I talking about Market Research</a:t>
            </a:r>
          </a:p>
        </p:txBody>
      </p:sp>
      <p:sp>
        <p:nvSpPr>
          <p:cNvPr id="3" name="Content Placeholder 2">
            <a:extLst>
              <a:ext uri="{FF2B5EF4-FFF2-40B4-BE49-F238E27FC236}">
                <a16:creationId xmlns:a16="http://schemas.microsoft.com/office/drawing/2014/main" id="{5AD87F04-66C6-D434-550A-90EDD5CD577D}"/>
              </a:ext>
            </a:extLst>
          </p:cNvPr>
          <p:cNvSpPr>
            <a:spLocks noGrp="1"/>
          </p:cNvSpPr>
          <p:nvPr>
            <p:ph idx="1"/>
          </p:nvPr>
        </p:nvSpPr>
        <p:spPr/>
        <p:txBody>
          <a:bodyPr/>
          <a:lstStyle/>
          <a:p>
            <a:r>
              <a:rPr lang="en-US" dirty="0"/>
              <a:t>In many communication scenarios you will have to conduct market research to know the product/customer/client etc. ¡! ¡</a:t>
            </a:r>
          </a:p>
        </p:txBody>
      </p:sp>
    </p:spTree>
    <p:extLst>
      <p:ext uri="{BB962C8B-B14F-4D97-AF65-F5344CB8AC3E}">
        <p14:creationId xmlns:p14="http://schemas.microsoft.com/office/powerpoint/2010/main" val="2310407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FF70D-FED2-6F21-7796-F304BF7579AB}"/>
              </a:ext>
            </a:extLst>
          </p:cNvPr>
          <p:cNvSpPr>
            <a:spLocks noGrp="1"/>
          </p:cNvSpPr>
          <p:nvPr>
            <p:ph type="title"/>
          </p:nvPr>
        </p:nvSpPr>
        <p:spPr/>
        <p:txBody>
          <a:bodyPr/>
          <a:lstStyle/>
          <a:p>
            <a:r>
              <a:rPr lang="en-US" dirty="0"/>
              <a:t>Two Main types of Market Research</a:t>
            </a:r>
          </a:p>
        </p:txBody>
      </p:sp>
      <p:sp>
        <p:nvSpPr>
          <p:cNvPr id="3" name="Content Placeholder 2">
            <a:extLst>
              <a:ext uri="{FF2B5EF4-FFF2-40B4-BE49-F238E27FC236}">
                <a16:creationId xmlns:a16="http://schemas.microsoft.com/office/drawing/2014/main" id="{C4F2076F-A7C4-1032-FB9A-6CB054D69E8E}"/>
              </a:ext>
            </a:extLst>
          </p:cNvPr>
          <p:cNvSpPr>
            <a:spLocks noGrp="1"/>
          </p:cNvSpPr>
          <p:nvPr>
            <p:ph idx="1"/>
          </p:nvPr>
        </p:nvSpPr>
        <p:spPr/>
        <p:txBody>
          <a:bodyPr/>
          <a:lstStyle/>
          <a:p>
            <a:r>
              <a:rPr lang="en-US" b="1" i="0" dirty="0">
                <a:effectLst/>
                <a:latin typeface="Söhne"/>
              </a:rPr>
              <a:t>Primary Research</a:t>
            </a:r>
            <a:r>
              <a:rPr lang="en-US" b="0" i="0" dirty="0">
                <a:solidFill>
                  <a:srgbClr val="374151"/>
                </a:solidFill>
                <a:effectLst/>
                <a:latin typeface="Söhne"/>
              </a:rPr>
              <a:t>: This involves collecting new data directly from potential customers, competitors, or other relevant sources. Primary research methods include surveys, interviews, observations, and focus groups. It provides specific and tailored information that is directly related to the research objectives.</a:t>
            </a:r>
            <a:endParaRPr lang="en-US" dirty="0"/>
          </a:p>
        </p:txBody>
      </p:sp>
    </p:spTree>
    <p:extLst>
      <p:ext uri="{BB962C8B-B14F-4D97-AF65-F5344CB8AC3E}">
        <p14:creationId xmlns:p14="http://schemas.microsoft.com/office/powerpoint/2010/main" val="4219987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FF70D-FED2-6F21-7796-F304BF7579AB}"/>
              </a:ext>
            </a:extLst>
          </p:cNvPr>
          <p:cNvSpPr>
            <a:spLocks noGrp="1"/>
          </p:cNvSpPr>
          <p:nvPr>
            <p:ph type="title"/>
          </p:nvPr>
        </p:nvSpPr>
        <p:spPr/>
        <p:txBody>
          <a:bodyPr/>
          <a:lstStyle/>
          <a:p>
            <a:r>
              <a:rPr lang="en-US" dirty="0"/>
              <a:t>Two Main types of Market Research</a:t>
            </a:r>
          </a:p>
        </p:txBody>
      </p:sp>
      <p:sp>
        <p:nvSpPr>
          <p:cNvPr id="3" name="Content Placeholder 2">
            <a:extLst>
              <a:ext uri="{FF2B5EF4-FFF2-40B4-BE49-F238E27FC236}">
                <a16:creationId xmlns:a16="http://schemas.microsoft.com/office/drawing/2014/main" id="{C4F2076F-A7C4-1032-FB9A-6CB054D69E8E}"/>
              </a:ext>
            </a:extLst>
          </p:cNvPr>
          <p:cNvSpPr>
            <a:spLocks noGrp="1"/>
          </p:cNvSpPr>
          <p:nvPr>
            <p:ph idx="1"/>
          </p:nvPr>
        </p:nvSpPr>
        <p:spPr/>
        <p:txBody>
          <a:bodyPr/>
          <a:lstStyle/>
          <a:p>
            <a:r>
              <a:rPr lang="en-US" b="1" i="0" dirty="0">
                <a:effectLst/>
                <a:latin typeface="Söhne"/>
              </a:rPr>
              <a:t>Secondary Research</a:t>
            </a:r>
            <a:r>
              <a:rPr lang="en-US" b="0" i="0" dirty="0">
                <a:solidFill>
                  <a:srgbClr val="374151"/>
                </a:solidFill>
                <a:effectLst/>
                <a:latin typeface="Söhne"/>
              </a:rPr>
              <a:t>: This involves analyzing existing data that has been collected by someone else, such as government agencies, industry associations, market reports, and academic research. Secondary research helps to gain a broader understanding of the market landscape and can be a cost-effective way to gather information.</a:t>
            </a:r>
            <a:endParaRPr lang="en-US" dirty="0"/>
          </a:p>
        </p:txBody>
      </p:sp>
    </p:spTree>
    <p:extLst>
      <p:ext uri="{BB962C8B-B14F-4D97-AF65-F5344CB8AC3E}">
        <p14:creationId xmlns:p14="http://schemas.microsoft.com/office/powerpoint/2010/main" val="881583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7AB31-6985-7806-78FA-788595FBE324}"/>
              </a:ext>
            </a:extLst>
          </p:cNvPr>
          <p:cNvSpPr>
            <a:spLocks noGrp="1"/>
          </p:cNvSpPr>
          <p:nvPr>
            <p:ph type="title"/>
          </p:nvPr>
        </p:nvSpPr>
        <p:spPr/>
        <p:txBody>
          <a:bodyPr/>
          <a:lstStyle/>
          <a:p>
            <a:r>
              <a:rPr lang="en-US" dirty="0"/>
              <a:t>What purpose does market research have?</a:t>
            </a:r>
          </a:p>
        </p:txBody>
      </p:sp>
      <p:sp>
        <p:nvSpPr>
          <p:cNvPr id="3" name="Content Placeholder 2">
            <a:extLst>
              <a:ext uri="{FF2B5EF4-FFF2-40B4-BE49-F238E27FC236}">
                <a16:creationId xmlns:a16="http://schemas.microsoft.com/office/drawing/2014/main" id="{454EFBA3-387C-B8BE-5285-817C81E4657E}"/>
              </a:ext>
            </a:extLst>
          </p:cNvPr>
          <p:cNvSpPr>
            <a:spLocks noGrp="1"/>
          </p:cNvSpPr>
          <p:nvPr>
            <p:ph idx="1"/>
          </p:nvPr>
        </p:nvSpPr>
        <p:spPr/>
        <p:txBody>
          <a:bodyPr/>
          <a:lstStyle/>
          <a:p>
            <a:r>
              <a:rPr lang="en-US" dirty="0"/>
              <a:t>1) Identify opportunities </a:t>
            </a:r>
          </a:p>
          <a:p>
            <a:r>
              <a:rPr lang="en-US" dirty="0"/>
              <a:t>2) Assessing demand</a:t>
            </a:r>
          </a:p>
          <a:p>
            <a:r>
              <a:rPr lang="en-US" dirty="0"/>
              <a:t>3) Understanding Competition</a:t>
            </a:r>
          </a:p>
          <a:p>
            <a:r>
              <a:rPr lang="en-US" dirty="0"/>
              <a:t>4) Making informed decisions</a:t>
            </a:r>
          </a:p>
          <a:p>
            <a:r>
              <a:rPr lang="en-US" dirty="0"/>
              <a:t>5) Minimizing risks</a:t>
            </a:r>
          </a:p>
          <a:p>
            <a:r>
              <a:rPr lang="en-US" dirty="0"/>
              <a:t>6) Evaluating marketing effectiveness</a:t>
            </a:r>
          </a:p>
        </p:txBody>
      </p:sp>
    </p:spTree>
    <p:extLst>
      <p:ext uri="{BB962C8B-B14F-4D97-AF65-F5344CB8AC3E}">
        <p14:creationId xmlns:p14="http://schemas.microsoft.com/office/powerpoint/2010/main" val="2738042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04447-78D1-1DF0-0941-6FFC20793686}"/>
              </a:ext>
            </a:extLst>
          </p:cNvPr>
          <p:cNvSpPr>
            <a:spLocks noGrp="1"/>
          </p:cNvSpPr>
          <p:nvPr>
            <p:ph type="title"/>
          </p:nvPr>
        </p:nvSpPr>
        <p:spPr/>
        <p:txBody>
          <a:bodyPr/>
          <a:lstStyle/>
          <a:p>
            <a:r>
              <a:rPr lang="en-US" dirty="0"/>
              <a:t>We could talk about ICP-MS manufacturers</a:t>
            </a:r>
          </a:p>
        </p:txBody>
      </p:sp>
      <p:pic>
        <p:nvPicPr>
          <p:cNvPr id="4" name="Picture 3">
            <a:extLst>
              <a:ext uri="{FF2B5EF4-FFF2-40B4-BE49-F238E27FC236}">
                <a16:creationId xmlns:a16="http://schemas.microsoft.com/office/drawing/2014/main" id="{9B972E9A-7A97-DE64-D494-3DD5174E1B19}"/>
              </a:ext>
            </a:extLst>
          </p:cNvPr>
          <p:cNvPicPr>
            <a:picLocks noChangeAspect="1"/>
          </p:cNvPicPr>
          <p:nvPr/>
        </p:nvPicPr>
        <p:blipFill>
          <a:blip r:embed="rId2"/>
          <a:stretch>
            <a:fillRect/>
          </a:stretch>
        </p:blipFill>
        <p:spPr>
          <a:xfrm>
            <a:off x="654819" y="2078173"/>
            <a:ext cx="2143125" cy="2143125"/>
          </a:xfrm>
          <a:prstGeom prst="rect">
            <a:avLst/>
          </a:prstGeom>
        </p:spPr>
      </p:pic>
      <p:pic>
        <p:nvPicPr>
          <p:cNvPr id="5" name="Picture 4">
            <a:extLst>
              <a:ext uri="{FF2B5EF4-FFF2-40B4-BE49-F238E27FC236}">
                <a16:creationId xmlns:a16="http://schemas.microsoft.com/office/drawing/2014/main" id="{8D205DC6-8B2C-C62F-6E77-52AE9BD87AD1}"/>
              </a:ext>
            </a:extLst>
          </p:cNvPr>
          <p:cNvPicPr>
            <a:picLocks noChangeAspect="1"/>
          </p:cNvPicPr>
          <p:nvPr/>
        </p:nvPicPr>
        <p:blipFill>
          <a:blip r:embed="rId3"/>
          <a:stretch>
            <a:fillRect/>
          </a:stretch>
        </p:blipFill>
        <p:spPr>
          <a:xfrm>
            <a:off x="3272328" y="3898966"/>
            <a:ext cx="1895475" cy="2409825"/>
          </a:xfrm>
          <a:prstGeom prst="rect">
            <a:avLst/>
          </a:prstGeom>
        </p:spPr>
      </p:pic>
      <p:pic>
        <p:nvPicPr>
          <p:cNvPr id="6" name="Picture 5">
            <a:extLst>
              <a:ext uri="{FF2B5EF4-FFF2-40B4-BE49-F238E27FC236}">
                <a16:creationId xmlns:a16="http://schemas.microsoft.com/office/drawing/2014/main" id="{B9AD3E18-2EE1-6B34-347A-BF77FF826E26}"/>
              </a:ext>
            </a:extLst>
          </p:cNvPr>
          <p:cNvPicPr>
            <a:picLocks noChangeAspect="1"/>
          </p:cNvPicPr>
          <p:nvPr/>
        </p:nvPicPr>
        <p:blipFill>
          <a:blip r:embed="rId4"/>
          <a:stretch>
            <a:fillRect/>
          </a:stretch>
        </p:blipFill>
        <p:spPr>
          <a:xfrm>
            <a:off x="5781772" y="1650623"/>
            <a:ext cx="2874243" cy="2874243"/>
          </a:xfrm>
          <a:prstGeom prst="rect">
            <a:avLst/>
          </a:prstGeom>
        </p:spPr>
      </p:pic>
      <p:pic>
        <p:nvPicPr>
          <p:cNvPr id="1026" name="Picture 2" descr="ICPMS-2030 : SHIMADZU (Shimadzu Corporation)">
            <a:extLst>
              <a:ext uri="{FF2B5EF4-FFF2-40B4-BE49-F238E27FC236}">
                <a16:creationId xmlns:a16="http://schemas.microsoft.com/office/drawing/2014/main" id="{000B3C7E-D97B-2DAD-5B96-0116FB835248}"/>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8812833" y="4375216"/>
            <a:ext cx="2371725" cy="193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947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04447-78D1-1DF0-0941-6FFC20793686}"/>
              </a:ext>
            </a:extLst>
          </p:cNvPr>
          <p:cNvSpPr>
            <a:spLocks noGrp="1"/>
          </p:cNvSpPr>
          <p:nvPr>
            <p:ph type="title"/>
          </p:nvPr>
        </p:nvSpPr>
        <p:spPr/>
        <p:txBody>
          <a:bodyPr/>
          <a:lstStyle/>
          <a:p>
            <a:r>
              <a:rPr lang="en-US" dirty="0"/>
              <a:t>We could talk about market research as it pertains to aircraft navigation systems</a:t>
            </a:r>
          </a:p>
        </p:txBody>
      </p:sp>
      <p:pic>
        <p:nvPicPr>
          <p:cNvPr id="3" name="Picture 2">
            <a:extLst>
              <a:ext uri="{FF2B5EF4-FFF2-40B4-BE49-F238E27FC236}">
                <a16:creationId xmlns:a16="http://schemas.microsoft.com/office/drawing/2014/main" id="{A2C4A763-419D-C71A-55BE-8BBE29D84E75}"/>
              </a:ext>
            </a:extLst>
          </p:cNvPr>
          <p:cNvPicPr>
            <a:picLocks noChangeAspect="1"/>
          </p:cNvPicPr>
          <p:nvPr/>
        </p:nvPicPr>
        <p:blipFill>
          <a:blip r:embed="rId2"/>
          <a:stretch>
            <a:fillRect/>
          </a:stretch>
        </p:blipFill>
        <p:spPr>
          <a:xfrm>
            <a:off x="767794" y="2083839"/>
            <a:ext cx="2228850" cy="2047875"/>
          </a:xfrm>
          <a:prstGeom prst="rect">
            <a:avLst/>
          </a:prstGeom>
        </p:spPr>
      </p:pic>
      <p:pic>
        <p:nvPicPr>
          <p:cNvPr id="7" name="Picture 6">
            <a:extLst>
              <a:ext uri="{FF2B5EF4-FFF2-40B4-BE49-F238E27FC236}">
                <a16:creationId xmlns:a16="http://schemas.microsoft.com/office/drawing/2014/main" id="{06ED18D2-9EAD-E33D-FA08-451480B96077}"/>
              </a:ext>
            </a:extLst>
          </p:cNvPr>
          <p:cNvPicPr>
            <a:picLocks noChangeAspect="1"/>
          </p:cNvPicPr>
          <p:nvPr/>
        </p:nvPicPr>
        <p:blipFill>
          <a:blip r:embed="rId3"/>
          <a:stretch>
            <a:fillRect/>
          </a:stretch>
        </p:blipFill>
        <p:spPr>
          <a:xfrm>
            <a:off x="2676133" y="4713402"/>
            <a:ext cx="2857500" cy="1600200"/>
          </a:xfrm>
          <a:prstGeom prst="rect">
            <a:avLst/>
          </a:prstGeom>
        </p:spPr>
      </p:pic>
      <p:pic>
        <p:nvPicPr>
          <p:cNvPr id="8" name="Picture 7">
            <a:extLst>
              <a:ext uri="{FF2B5EF4-FFF2-40B4-BE49-F238E27FC236}">
                <a16:creationId xmlns:a16="http://schemas.microsoft.com/office/drawing/2014/main" id="{7B3A0A14-8630-2E90-3523-571E8326B79D}"/>
              </a:ext>
            </a:extLst>
          </p:cNvPr>
          <p:cNvPicPr>
            <a:picLocks noChangeAspect="1"/>
          </p:cNvPicPr>
          <p:nvPr/>
        </p:nvPicPr>
        <p:blipFill>
          <a:blip r:embed="rId4"/>
          <a:stretch>
            <a:fillRect/>
          </a:stretch>
        </p:blipFill>
        <p:spPr>
          <a:xfrm>
            <a:off x="6562038" y="2009014"/>
            <a:ext cx="2857500" cy="1600200"/>
          </a:xfrm>
          <a:prstGeom prst="rect">
            <a:avLst/>
          </a:prstGeom>
        </p:spPr>
      </p:pic>
      <p:pic>
        <p:nvPicPr>
          <p:cNvPr id="10" name="Content Placeholder 9">
            <a:extLst>
              <a:ext uri="{FF2B5EF4-FFF2-40B4-BE49-F238E27FC236}">
                <a16:creationId xmlns:a16="http://schemas.microsoft.com/office/drawing/2014/main" id="{55308545-6036-B827-885A-BAB25FC6C3A7}"/>
              </a:ext>
            </a:extLst>
          </p:cNvPr>
          <p:cNvPicPr>
            <a:picLocks noGrp="1" noChangeAspect="1"/>
          </p:cNvPicPr>
          <p:nvPr>
            <p:ph idx="1"/>
          </p:nvPr>
        </p:nvPicPr>
        <p:blipFill>
          <a:blip r:embed="rId5"/>
          <a:stretch>
            <a:fillRect/>
          </a:stretch>
        </p:blipFill>
        <p:spPr>
          <a:xfrm>
            <a:off x="8210550" y="4524866"/>
            <a:ext cx="3143250" cy="1457325"/>
          </a:xfrm>
          <a:prstGeom prst="rect">
            <a:avLst/>
          </a:prstGeom>
        </p:spPr>
      </p:pic>
    </p:spTree>
    <p:extLst>
      <p:ext uri="{BB962C8B-B14F-4D97-AF65-F5344CB8AC3E}">
        <p14:creationId xmlns:p14="http://schemas.microsoft.com/office/powerpoint/2010/main" val="1207058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04447-78D1-1DF0-0941-6FFC20793686}"/>
              </a:ext>
            </a:extLst>
          </p:cNvPr>
          <p:cNvSpPr>
            <a:spLocks noGrp="1"/>
          </p:cNvSpPr>
          <p:nvPr>
            <p:ph type="title"/>
          </p:nvPr>
        </p:nvSpPr>
        <p:spPr/>
        <p:txBody>
          <a:bodyPr/>
          <a:lstStyle/>
          <a:p>
            <a:r>
              <a:rPr lang="en-US" dirty="0"/>
              <a:t>This could be applied to salaries</a:t>
            </a:r>
          </a:p>
        </p:txBody>
      </p:sp>
      <p:pic>
        <p:nvPicPr>
          <p:cNvPr id="4" name="Picture 3">
            <a:extLst>
              <a:ext uri="{FF2B5EF4-FFF2-40B4-BE49-F238E27FC236}">
                <a16:creationId xmlns:a16="http://schemas.microsoft.com/office/drawing/2014/main" id="{46F88089-13C2-0579-2BC1-4539A8A7F5B2}"/>
              </a:ext>
            </a:extLst>
          </p:cNvPr>
          <p:cNvPicPr>
            <a:picLocks noChangeAspect="1"/>
          </p:cNvPicPr>
          <p:nvPr/>
        </p:nvPicPr>
        <p:blipFill>
          <a:blip r:embed="rId2"/>
          <a:stretch>
            <a:fillRect/>
          </a:stretch>
        </p:blipFill>
        <p:spPr>
          <a:xfrm>
            <a:off x="962025" y="1952998"/>
            <a:ext cx="2952750" cy="1552575"/>
          </a:xfrm>
          <a:prstGeom prst="rect">
            <a:avLst/>
          </a:prstGeom>
        </p:spPr>
      </p:pic>
      <p:pic>
        <p:nvPicPr>
          <p:cNvPr id="5" name="Picture 4">
            <a:extLst>
              <a:ext uri="{FF2B5EF4-FFF2-40B4-BE49-F238E27FC236}">
                <a16:creationId xmlns:a16="http://schemas.microsoft.com/office/drawing/2014/main" id="{305F64C9-8E49-D1C9-CEC9-E4FE96A6D98B}"/>
              </a:ext>
            </a:extLst>
          </p:cNvPr>
          <p:cNvPicPr>
            <a:picLocks noChangeAspect="1"/>
          </p:cNvPicPr>
          <p:nvPr/>
        </p:nvPicPr>
        <p:blipFill>
          <a:blip r:embed="rId3"/>
          <a:stretch>
            <a:fillRect/>
          </a:stretch>
        </p:blipFill>
        <p:spPr>
          <a:xfrm>
            <a:off x="4657727" y="1677382"/>
            <a:ext cx="3619500" cy="1257300"/>
          </a:xfrm>
          <a:prstGeom prst="rect">
            <a:avLst/>
          </a:prstGeom>
        </p:spPr>
      </p:pic>
      <p:pic>
        <p:nvPicPr>
          <p:cNvPr id="6" name="Picture 5">
            <a:extLst>
              <a:ext uri="{FF2B5EF4-FFF2-40B4-BE49-F238E27FC236}">
                <a16:creationId xmlns:a16="http://schemas.microsoft.com/office/drawing/2014/main" id="{95EC3FEF-4F15-2173-BB44-A9EC248D2ECA}"/>
              </a:ext>
            </a:extLst>
          </p:cNvPr>
          <p:cNvPicPr>
            <a:picLocks noChangeAspect="1"/>
          </p:cNvPicPr>
          <p:nvPr/>
        </p:nvPicPr>
        <p:blipFill>
          <a:blip r:embed="rId4"/>
          <a:stretch>
            <a:fillRect/>
          </a:stretch>
        </p:blipFill>
        <p:spPr>
          <a:xfrm>
            <a:off x="838200" y="4320077"/>
            <a:ext cx="5248275" cy="866775"/>
          </a:xfrm>
          <a:prstGeom prst="rect">
            <a:avLst/>
          </a:prstGeom>
        </p:spPr>
      </p:pic>
      <p:pic>
        <p:nvPicPr>
          <p:cNvPr id="12" name="Content Placeholder 11">
            <a:extLst>
              <a:ext uri="{FF2B5EF4-FFF2-40B4-BE49-F238E27FC236}">
                <a16:creationId xmlns:a16="http://schemas.microsoft.com/office/drawing/2014/main" id="{2478388E-6A7D-3DF6-580B-126BF02ADFC1}"/>
              </a:ext>
            </a:extLst>
          </p:cNvPr>
          <p:cNvPicPr>
            <a:picLocks noGrp="1" noChangeAspect="1"/>
          </p:cNvPicPr>
          <p:nvPr>
            <p:ph idx="1"/>
          </p:nvPr>
        </p:nvPicPr>
        <p:blipFill>
          <a:blip r:embed="rId5"/>
          <a:stretch>
            <a:fillRect/>
          </a:stretch>
        </p:blipFill>
        <p:spPr>
          <a:xfrm>
            <a:off x="6658368" y="4461479"/>
            <a:ext cx="2457450" cy="1866900"/>
          </a:xfrm>
          <a:prstGeom prst="rect">
            <a:avLst/>
          </a:prstGeom>
        </p:spPr>
      </p:pic>
      <p:pic>
        <p:nvPicPr>
          <p:cNvPr id="13" name="Picture 12">
            <a:extLst>
              <a:ext uri="{FF2B5EF4-FFF2-40B4-BE49-F238E27FC236}">
                <a16:creationId xmlns:a16="http://schemas.microsoft.com/office/drawing/2014/main" id="{14D13C0F-DF4F-1A13-DE6C-83570C346AA1}"/>
              </a:ext>
            </a:extLst>
          </p:cNvPr>
          <p:cNvPicPr>
            <a:picLocks noChangeAspect="1"/>
          </p:cNvPicPr>
          <p:nvPr/>
        </p:nvPicPr>
        <p:blipFill>
          <a:blip r:embed="rId6"/>
          <a:stretch>
            <a:fillRect/>
          </a:stretch>
        </p:blipFill>
        <p:spPr>
          <a:xfrm>
            <a:off x="9060931" y="2539591"/>
            <a:ext cx="2952750" cy="1552575"/>
          </a:xfrm>
          <a:prstGeom prst="rect">
            <a:avLst/>
          </a:prstGeom>
        </p:spPr>
      </p:pic>
    </p:spTree>
    <p:extLst>
      <p:ext uri="{BB962C8B-B14F-4D97-AF65-F5344CB8AC3E}">
        <p14:creationId xmlns:p14="http://schemas.microsoft.com/office/powerpoint/2010/main" val="2112008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0373-AA29-84DB-018D-ADA27A8BC868}"/>
              </a:ext>
            </a:extLst>
          </p:cNvPr>
          <p:cNvSpPr>
            <a:spLocks noGrp="1"/>
          </p:cNvSpPr>
          <p:nvPr>
            <p:ph type="title"/>
          </p:nvPr>
        </p:nvSpPr>
        <p:spPr/>
        <p:txBody>
          <a:bodyPr/>
          <a:lstStyle/>
          <a:p>
            <a:r>
              <a:rPr lang="en-US" dirty="0"/>
              <a:t>I am thinking outside the box here!!</a:t>
            </a:r>
          </a:p>
        </p:txBody>
      </p:sp>
      <p:sp>
        <p:nvSpPr>
          <p:cNvPr id="3" name="Content Placeholder 2">
            <a:extLst>
              <a:ext uri="{FF2B5EF4-FFF2-40B4-BE49-F238E27FC236}">
                <a16:creationId xmlns:a16="http://schemas.microsoft.com/office/drawing/2014/main" id="{1C074BD9-C6C0-843E-F3FA-92B3A4BD35D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9A887B0-6411-FFD1-CBA2-EAF907B1FAB5}"/>
              </a:ext>
            </a:extLst>
          </p:cNvPr>
          <p:cNvPicPr>
            <a:picLocks noChangeAspect="1"/>
          </p:cNvPicPr>
          <p:nvPr/>
        </p:nvPicPr>
        <p:blipFill>
          <a:blip r:embed="rId2"/>
          <a:stretch>
            <a:fillRect/>
          </a:stretch>
        </p:blipFill>
        <p:spPr>
          <a:xfrm>
            <a:off x="3973809" y="2207001"/>
            <a:ext cx="4244383" cy="3969962"/>
          </a:xfrm>
          <a:prstGeom prst="rect">
            <a:avLst/>
          </a:prstGeom>
        </p:spPr>
      </p:pic>
    </p:spTree>
    <p:extLst>
      <p:ext uri="{BB962C8B-B14F-4D97-AF65-F5344CB8AC3E}">
        <p14:creationId xmlns:p14="http://schemas.microsoft.com/office/powerpoint/2010/main" val="3951761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0373-AA29-84DB-018D-ADA27A8BC868}"/>
              </a:ext>
            </a:extLst>
          </p:cNvPr>
          <p:cNvSpPr>
            <a:spLocks noGrp="1"/>
          </p:cNvSpPr>
          <p:nvPr>
            <p:ph type="title"/>
          </p:nvPr>
        </p:nvSpPr>
        <p:spPr/>
        <p:txBody>
          <a:bodyPr/>
          <a:lstStyle/>
          <a:p>
            <a:r>
              <a:rPr lang="en-US" dirty="0"/>
              <a:t>So, what I think could be relatable to everyone would be a vehicle</a:t>
            </a:r>
          </a:p>
        </p:txBody>
      </p:sp>
      <p:pic>
        <p:nvPicPr>
          <p:cNvPr id="1026" name="Picture 2" descr="Ford F-Series - Wikipedia">
            <a:extLst>
              <a:ext uri="{FF2B5EF4-FFF2-40B4-BE49-F238E27FC236}">
                <a16:creationId xmlns:a16="http://schemas.microsoft.com/office/drawing/2014/main" id="{E498E8A8-CE3C-FD20-988E-C947105D0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887" y="2143568"/>
            <a:ext cx="2905125" cy="15716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2023 Chevy Silverado 1500 Prices, Reviews, and Pictures | Edmunds">
            <a:extLst>
              <a:ext uri="{FF2B5EF4-FFF2-40B4-BE49-F238E27FC236}">
                <a16:creationId xmlns:a16="http://schemas.microsoft.com/office/drawing/2014/main" id="{6496E24C-DE91-D446-E939-F351FD5B4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449" y="4584225"/>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2022 RAM 1500 | Prestige Chrysler Dodge Jeep Ram">
            <a:extLst>
              <a:ext uri="{FF2B5EF4-FFF2-40B4-BE49-F238E27FC236}">
                <a16:creationId xmlns:a16="http://schemas.microsoft.com/office/drawing/2014/main" id="{3DE63C9F-715A-0CB6-1A13-2C14507CB1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549" y="2431624"/>
            <a:ext cx="2847975"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oyota redesigns Tacoma pickup amid increased midsize competition">
            <a:extLst>
              <a:ext uri="{FF2B5EF4-FFF2-40B4-BE49-F238E27FC236}">
                <a16:creationId xmlns:a16="http://schemas.microsoft.com/office/drawing/2014/main" id="{F157F34A-F6A9-599F-5F97-7B47EC49F9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3649" y="4584224"/>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2023 GMC Sierra 1500 Prices, Reviews, and Pictures | Edmunds">
            <a:extLst>
              <a:ext uri="{FF2B5EF4-FFF2-40B4-BE49-F238E27FC236}">
                <a16:creationId xmlns:a16="http://schemas.microsoft.com/office/drawing/2014/main" id="{FD3FB216-2AD5-0A6B-F234-D278DBAB5A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2061" y="2143568"/>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412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17E6F-B133-E81B-4ECC-3BE21A0771D2}"/>
              </a:ext>
            </a:extLst>
          </p:cNvPr>
          <p:cNvSpPr>
            <a:spLocks noGrp="1"/>
          </p:cNvSpPr>
          <p:nvPr>
            <p:ph type="title"/>
          </p:nvPr>
        </p:nvSpPr>
        <p:spPr/>
        <p:txBody>
          <a:bodyPr>
            <a:normAutofit fontScale="90000"/>
          </a:bodyPr>
          <a:lstStyle/>
          <a:p>
            <a:r>
              <a:rPr lang="en-US" dirty="0"/>
              <a:t>Let’s say we are in the market to purchase a vehicle for the organization we either own or work for. </a:t>
            </a:r>
          </a:p>
        </p:txBody>
      </p:sp>
      <p:sp>
        <p:nvSpPr>
          <p:cNvPr id="3" name="Content Placeholder 2">
            <a:extLst>
              <a:ext uri="{FF2B5EF4-FFF2-40B4-BE49-F238E27FC236}">
                <a16:creationId xmlns:a16="http://schemas.microsoft.com/office/drawing/2014/main" id="{AC0E6B56-428A-168B-92AC-D182EDD03FF7}"/>
              </a:ext>
            </a:extLst>
          </p:cNvPr>
          <p:cNvSpPr>
            <a:spLocks noGrp="1"/>
          </p:cNvSpPr>
          <p:nvPr>
            <p:ph idx="1"/>
          </p:nvPr>
        </p:nvSpPr>
        <p:spPr/>
        <p:txBody>
          <a:bodyPr/>
          <a:lstStyle/>
          <a:p>
            <a:r>
              <a:rPr lang="en-US" dirty="0"/>
              <a:t>Let’s imagine that we need to purchase a truck</a:t>
            </a:r>
          </a:p>
          <a:p>
            <a:pPr marL="0" indent="0">
              <a:buNone/>
            </a:pPr>
            <a:r>
              <a:rPr lang="en-US" dirty="0"/>
              <a:t>.</a:t>
            </a:r>
          </a:p>
        </p:txBody>
      </p:sp>
      <p:pic>
        <p:nvPicPr>
          <p:cNvPr id="4" name="Picture 3">
            <a:extLst>
              <a:ext uri="{FF2B5EF4-FFF2-40B4-BE49-F238E27FC236}">
                <a16:creationId xmlns:a16="http://schemas.microsoft.com/office/drawing/2014/main" id="{12DB7720-505E-DEB5-DD46-E7964120DC5E}"/>
              </a:ext>
            </a:extLst>
          </p:cNvPr>
          <p:cNvPicPr>
            <a:picLocks noChangeAspect="1"/>
          </p:cNvPicPr>
          <p:nvPr/>
        </p:nvPicPr>
        <p:blipFill>
          <a:blip r:embed="rId2"/>
          <a:stretch>
            <a:fillRect/>
          </a:stretch>
        </p:blipFill>
        <p:spPr>
          <a:xfrm>
            <a:off x="703770" y="3081632"/>
            <a:ext cx="1847850" cy="2466975"/>
          </a:xfrm>
          <a:prstGeom prst="rect">
            <a:avLst/>
          </a:prstGeom>
        </p:spPr>
      </p:pic>
      <p:pic>
        <p:nvPicPr>
          <p:cNvPr id="2052" name="Picture 4" descr="Ode Street Tribune: guy with pickup truck does local hauling and moving">
            <a:extLst>
              <a:ext uri="{FF2B5EF4-FFF2-40B4-BE49-F238E27FC236}">
                <a16:creationId xmlns:a16="http://schemas.microsoft.com/office/drawing/2014/main" id="{C53D6C1C-531F-B788-0388-D05D5F021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3608" y="2989845"/>
            <a:ext cx="3120065" cy="196244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etting Up A Hitch For The Perfect Tow | BoatUS">
            <a:extLst>
              <a:ext uri="{FF2B5EF4-FFF2-40B4-BE49-F238E27FC236}">
                <a16:creationId xmlns:a16="http://schemas.microsoft.com/office/drawing/2014/main" id="{C31ED236-BFF6-39B3-8D72-D765F7D7D4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9454" y="3059735"/>
            <a:ext cx="5178450" cy="263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104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D69C-9588-B939-BF3E-EC3E88AEC754}"/>
              </a:ext>
            </a:extLst>
          </p:cNvPr>
          <p:cNvSpPr>
            <a:spLocks noGrp="1"/>
          </p:cNvSpPr>
          <p:nvPr>
            <p:ph type="title"/>
          </p:nvPr>
        </p:nvSpPr>
        <p:spPr/>
        <p:txBody>
          <a:bodyPr/>
          <a:lstStyle/>
          <a:p>
            <a:r>
              <a:rPr lang="en-US" dirty="0"/>
              <a:t>Some stipulations	</a:t>
            </a:r>
          </a:p>
        </p:txBody>
      </p:sp>
      <p:sp>
        <p:nvSpPr>
          <p:cNvPr id="3" name="Content Placeholder 2">
            <a:extLst>
              <a:ext uri="{FF2B5EF4-FFF2-40B4-BE49-F238E27FC236}">
                <a16:creationId xmlns:a16="http://schemas.microsoft.com/office/drawing/2014/main" id="{3E592BDC-24CE-58E3-F935-78F67EB5F8FE}"/>
              </a:ext>
            </a:extLst>
          </p:cNvPr>
          <p:cNvSpPr>
            <a:spLocks noGrp="1"/>
          </p:cNvSpPr>
          <p:nvPr>
            <p:ph idx="1"/>
          </p:nvPr>
        </p:nvSpPr>
        <p:spPr/>
        <p:txBody>
          <a:bodyPr>
            <a:normAutofit fontScale="62500" lnSpcReduction="20000"/>
          </a:bodyPr>
          <a:lstStyle/>
          <a:p>
            <a:r>
              <a:rPr lang="en-US" dirty="0"/>
              <a:t>Brand new vehicle</a:t>
            </a:r>
          </a:p>
          <a:p>
            <a:endParaRPr lang="en-US" dirty="0"/>
          </a:p>
          <a:p>
            <a:r>
              <a:rPr lang="en-US" dirty="0"/>
              <a:t>Crew cab – think about hauling around 3-4 people at a time</a:t>
            </a:r>
          </a:p>
          <a:p>
            <a:endParaRPr lang="en-US" dirty="0"/>
          </a:p>
          <a:p>
            <a:r>
              <a:rPr lang="en-US" dirty="0"/>
              <a:t>Towing capacity 15,000 lbs.</a:t>
            </a:r>
          </a:p>
          <a:p>
            <a:endParaRPr lang="en-US" dirty="0"/>
          </a:p>
          <a:p>
            <a:r>
              <a:rPr lang="en-US" dirty="0"/>
              <a:t>Fictitious incentive if the truck is at least 70% manufactured in America. Incentive is 15k. </a:t>
            </a:r>
          </a:p>
          <a:p>
            <a:endParaRPr lang="en-US" dirty="0"/>
          </a:p>
          <a:p>
            <a:r>
              <a:rPr lang="en-US" dirty="0"/>
              <a:t>Truck to get at least 20 mpg /city/highway to keep the incentive</a:t>
            </a:r>
          </a:p>
          <a:p>
            <a:endParaRPr lang="en-US" dirty="0"/>
          </a:p>
          <a:p>
            <a:r>
              <a:rPr lang="en-US" dirty="0"/>
              <a:t>Budget of $90,000</a:t>
            </a:r>
          </a:p>
          <a:p>
            <a:endParaRPr lang="en-US" dirty="0"/>
          </a:p>
          <a:p>
            <a:r>
              <a:rPr lang="en-US" dirty="0"/>
              <a:t>Please think about safety features!</a:t>
            </a:r>
          </a:p>
          <a:p>
            <a:endParaRPr lang="en-US" dirty="0"/>
          </a:p>
          <a:p>
            <a:endParaRPr lang="en-US" dirty="0"/>
          </a:p>
        </p:txBody>
      </p:sp>
    </p:spTree>
    <p:extLst>
      <p:ext uri="{BB962C8B-B14F-4D97-AF65-F5344CB8AC3E}">
        <p14:creationId xmlns:p14="http://schemas.microsoft.com/office/powerpoint/2010/main" val="2118358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1ADC-04A8-D47A-B67F-6DD04A34A061}"/>
              </a:ext>
            </a:extLst>
          </p:cNvPr>
          <p:cNvSpPr>
            <a:spLocks noGrp="1"/>
          </p:cNvSpPr>
          <p:nvPr>
            <p:ph type="title"/>
          </p:nvPr>
        </p:nvSpPr>
        <p:spPr/>
        <p:txBody>
          <a:bodyPr/>
          <a:lstStyle/>
          <a:p>
            <a:r>
              <a:rPr lang="en-US" dirty="0"/>
              <a:t>Where to conduct market research</a:t>
            </a:r>
          </a:p>
        </p:txBody>
      </p:sp>
      <p:sp>
        <p:nvSpPr>
          <p:cNvPr id="3" name="Content Placeholder 2">
            <a:extLst>
              <a:ext uri="{FF2B5EF4-FFF2-40B4-BE49-F238E27FC236}">
                <a16:creationId xmlns:a16="http://schemas.microsoft.com/office/drawing/2014/main" id="{E532021C-DBBC-39A8-1DAB-DD640CCE1799}"/>
              </a:ext>
            </a:extLst>
          </p:cNvPr>
          <p:cNvSpPr>
            <a:spLocks noGrp="1"/>
          </p:cNvSpPr>
          <p:nvPr>
            <p:ph idx="1"/>
          </p:nvPr>
        </p:nvSpPr>
        <p:spPr/>
        <p:txBody>
          <a:bodyPr>
            <a:normAutofit lnSpcReduction="10000"/>
          </a:bodyPr>
          <a:lstStyle/>
          <a:p>
            <a:r>
              <a:rPr lang="en-US" dirty="0"/>
              <a:t>Some examples:</a:t>
            </a:r>
          </a:p>
          <a:p>
            <a:endParaRPr lang="en-US" dirty="0"/>
          </a:p>
          <a:p>
            <a:r>
              <a:rPr lang="en-US" dirty="0"/>
              <a:t>Manufacturers website:</a:t>
            </a:r>
          </a:p>
          <a:p>
            <a:endParaRPr lang="en-US" dirty="0"/>
          </a:p>
          <a:p>
            <a:r>
              <a:rPr lang="en-US" dirty="0"/>
              <a:t>Cars.com</a:t>
            </a:r>
          </a:p>
          <a:p>
            <a:endParaRPr lang="en-US" dirty="0"/>
          </a:p>
          <a:p>
            <a:r>
              <a:rPr lang="en-US" dirty="0"/>
              <a:t>Cargurus.com</a:t>
            </a:r>
          </a:p>
          <a:p>
            <a:endParaRPr lang="en-US" dirty="0"/>
          </a:p>
          <a:p>
            <a:r>
              <a:rPr lang="en-US" dirty="0"/>
              <a:t>Caredge.com</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69337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E4AFF-2607-9689-8747-6A2EE1F27B4B}"/>
              </a:ext>
            </a:extLst>
          </p:cNvPr>
          <p:cNvSpPr>
            <a:spLocks noGrp="1"/>
          </p:cNvSpPr>
          <p:nvPr>
            <p:ph type="title"/>
          </p:nvPr>
        </p:nvSpPr>
        <p:spPr/>
        <p:txBody>
          <a:bodyPr/>
          <a:lstStyle/>
          <a:p>
            <a:r>
              <a:rPr lang="en-US" dirty="0"/>
              <a:t>What to include</a:t>
            </a:r>
          </a:p>
        </p:txBody>
      </p:sp>
      <p:sp>
        <p:nvSpPr>
          <p:cNvPr id="3" name="Content Placeholder 2">
            <a:extLst>
              <a:ext uri="{FF2B5EF4-FFF2-40B4-BE49-F238E27FC236}">
                <a16:creationId xmlns:a16="http://schemas.microsoft.com/office/drawing/2014/main" id="{C86A6F14-25BF-92ED-280D-25A1F85FB746}"/>
              </a:ext>
            </a:extLst>
          </p:cNvPr>
          <p:cNvSpPr>
            <a:spLocks noGrp="1"/>
          </p:cNvSpPr>
          <p:nvPr>
            <p:ph idx="1"/>
          </p:nvPr>
        </p:nvSpPr>
        <p:spPr/>
        <p:txBody>
          <a:bodyPr>
            <a:normAutofit fontScale="85000" lnSpcReduction="20000"/>
          </a:bodyPr>
          <a:lstStyle/>
          <a:p>
            <a:r>
              <a:rPr lang="en-US" dirty="0"/>
              <a:t>Charts</a:t>
            </a:r>
          </a:p>
          <a:p>
            <a:endParaRPr lang="en-US" dirty="0"/>
          </a:p>
          <a:p>
            <a:r>
              <a:rPr lang="en-US" dirty="0"/>
              <a:t>Graphs</a:t>
            </a:r>
          </a:p>
          <a:p>
            <a:endParaRPr lang="en-US" dirty="0"/>
          </a:p>
          <a:p>
            <a:r>
              <a:rPr lang="en-US" dirty="0"/>
              <a:t>MSRP stickers</a:t>
            </a:r>
          </a:p>
          <a:p>
            <a:endParaRPr lang="en-US" dirty="0"/>
          </a:p>
          <a:p>
            <a:r>
              <a:rPr lang="en-US" dirty="0"/>
              <a:t>Screenshots </a:t>
            </a:r>
          </a:p>
          <a:p>
            <a:endParaRPr lang="en-US" dirty="0"/>
          </a:p>
          <a:p>
            <a:r>
              <a:rPr lang="en-US" dirty="0"/>
              <a:t>Tables</a:t>
            </a:r>
          </a:p>
          <a:p>
            <a:endParaRPr lang="en-US" dirty="0"/>
          </a:p>
          <a:p>
            <a:r>
              <a:rPr lang="en-US" dirty="0"/>
              <a:t>ETC. </a:t>
            </a:r>
          </a:p>
        </p:txBody>
      </p:sp>
    </p:spTree>
    <p:extLst>
      <p:ext uri="{BB962C8B-B14F-4D97-AF65-F5344CB8AC3E}">
        <p14:creationId xmlns:p14="http://schemas.microsoft.com/office/powerpoint/2010/main" val="2461345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450A-B417-C121-0777-518E067C718E}"/>
              </a:ext>
            </a:extLst>
          </p:cNvPr>
          <p:cNvSpPr>
            <a:spLocks noGrp="1"/>
          </p:cNvSpPr>
          <p:nvPr>
            <p:ph type="title"/>
          </p:nvPr>
        </p:nvSpPr>
        <p:spPr/>
        <p:txBody>
          <a:bodyPr/>
          <a:lstStyle/>
          <a:p>
            <a:r>
              <a:rPr lang="en-US" dirty="0"/>
              <a:t>The end!</a:t>
            </a:r>
          </a:p>
        </p:txBody>
      </p:sp>
      <p:sp>
        <p:nvSpPr>
          <p:cNvPr id="3" name="Content Placeholder 2">
            <a:extLst>
              <a:ext uri="{FF2B5EF4-FFF2-40B4-BE49-F238E27FC236}">
                <a16:creationId xmlns:a16="http://schemas.microsoft.com/office/drawing/2014/main" id="{8AFD75E5-CE16-B1F1-019C-8770EFFEC4D4}"/>
              </a:ext>
            </a:extLst>
          </p:cNvPr>
          <p:cNvSpPr>
            <a:spLocks noGrp="1"/>
          </p:cNvSpPr>
          <p:nvPr>
            <p:ph idx="1"/>
          </p:nvPr>
        </p:nvSpPr>
        <p:spPr/>
        <p:txBody>
          <a:bodyPr/>
          <a:lstStyle/>
          <a:p>
            <a:r>
              <a:rPr lang="en-US" dirty="0"/>
              <a:t>The assignment details along with student examples can be found in Blackboard.</a:t>
            </a:r>
          </a:p>
        </p:txBody>
      </p:sp>
    </p:spTree>
    <p:extLst>
      <p:ext uri="{BB962C8B-B14F-4D97-AF65-F5344CB8AC3E}">
        <p14:creationId xmlns:p14="http://schemas.microsoft.com/office/powerpoint/2010/main" val="1041463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437</Words>
  <Application>Microsoft Office PowerPoint</Application>
  <PresentationFormat>Widescreen</PresentationFormat>
  <Paragraphs>65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Söhne</vt:lpstr>
      <vt:lpstr>Office Theme</vt:lpstr>
      <vt:lpstr>Market Research</vt:lpstr>
      <vt:lpstr>What is Market Research?</vt:lpstr>
      <vt:lpstr>Why am I talking about Market Research</vt:lpstr>
      <vt:lpstr>Two Main types of Market Research</vt:lpstr>
      <vt:lpstr>Two Main types of Market Research</vt:lpstr>
      <vt:lpstr>What purpose does market research have?</vt:lpstr>
      <vt:lpstr>We could talk about ICP-MS manufacturers</vt:lpstr>
      <vt:lpstr>We could talk about market research as it pertains to aircraft navigation systems</vt:lpstr>
      <vt:lpstr>This could be applied to salaries</vt:lpstr>
      <vt:lpstr>I am thinking outside the box here!!</vt:lpstr>
      <vt:lpstr>So, what I think could be relatable to everyone would be a vehicle</vt:lpstr>
      <vt:lpstr>Let’s say we are in the market to purchase a vehicle for the organization we either own or work for. </vt:lpstr>
      <vt:lpstr>Some stipulations </vt:lpstr>
      <vt:lpstr>Where to conduct market research</vt:lpstr>
      <vt:lpstr>What to include</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Research</dc:title>
  <dc:creator>Bussan, Derek</dc:creator>
  <cp:lastModifiedBy>Derek Bussan</cp:lastModifiedBy>
  <cp:revision>12</cp:revision>
  <dcterms:created xsi:type="dcterms:W3CDTF">2023-08-26T15:56:54Z</dcterms:created>
  <dcterms:modified xsi:type="dcterms:W3CDTF">2025-08-29T21:01:03Z</dcterms:modified>
</cp:coreProperties>
</file>